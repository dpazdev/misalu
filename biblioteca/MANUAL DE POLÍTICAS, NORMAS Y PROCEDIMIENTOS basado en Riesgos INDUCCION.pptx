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diagrams/drawing2.xml" ContentType="application/vnd.ms-office.drawingml.diagramDrawing+xml"/>
  <Override PartName="/ppt/diagrams/data17.xml" ContentType="application/vnd.openxmlformats-officedocument.drawingml.diagramData+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colors11.xml" ContentType="application/vnd.openxmlformats-officedocument.drawingml.diagramColors+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diagrams/quickStyle17.xml" ContentType="application/vnd.openxmlformats-officedocument.drawingml.diagramStyl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layout17.xml" ContentType="application/vnd.openxmlformats-officedocument.drawingml.diagramLayout+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drawing7.xml" ContentType="application/vnd.ms-office.drawingml.diagramDrawing+xml"/>
  <Override PartName="/ppt/diagrams/layout13.xml" ContentType="application/vnd.openxmlformats-officedocument.drawingml.diagramLayout+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diagrams/drawing10.xml" ContentType="application/vnd.ms-office.drawingml.diagramDrawing+xml"/>
  <Override PartName="/ppt/diagrams/colors16.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diagrams/colors12.xml" ContentType="application/vnd.openxmlformats-officedocument.drawingml.diagramColors+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diagrams/quickStyle3.xml" ContentType="application/vnd.openxmlformats-officedocument.drawingml.diagramStyle+xml"/>
  <Override PartName="/ppt/diagrams/data14.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ppt/diagrams/data9.xml" ContentType="application/vnd.openxmlformats-officedocument.drawingml.diagramData+xml"/>
  <Override PartName="/ppt/diagrams/data10.xml" ContentType="application/vnd.openxmlformats-officedocument.drawingml.diagramData+xml"/>
  <Override PartName="/ppt/diagrams/quickStyle16.xml" ContentType="application/vnd.openxmlformats-officedocument.drawingml.diagramStyle+xml"/>
  <Override PartName="/ppt/diagrams/drawing17.xml" ContentType="application/vnd.ms-office.drawingml.diagramDrawing+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drawing8.xml" ContentType="application/vnd.ms-office.drawingml.diagramDrawing+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diagrams/quickStyle8.xml" ContentType="application/vnd.openxmlformats-officedocument.drawingml.diagramStyle+xml"/>
  <Override PartName="/ppt/diagrams/quickStyle10.xml" ContentType="application/vnd.openxmlformats-officedocument.drawingml.diagramStyle+xml"/>
  <Override PartName="/ppt/diagrams/drawing11.xml" ContentType="application/vnd.ms-office.drawingml.diagramDrawing+xml"/>
  <Override PartName="/ppt/diagrams/layout14.xml" ContentType="application/vnd.openxmlformats-officedocument.drawingml.diagramLayout+xml"/>
  <Override PartName="/ppt/diagrams/colors17.xml" ContentType="application/vnd.openxmlformats-officedocument.drawingml.diagramColors+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diagrams/data15.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diagrams/data11.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drawing16.xml" ContentType="application/vnd.ms-office.drawingml.diagramDrawing+xml"/>
  <Override PartName="/ppt/diagrams/layout3.xml" ContentType="application/vnd.openxmlformats-officedocument.drawingml.diagramLayout+xml"/>
  <Override PartName="/ppt/diagrams/data4.xml" ContentType="application/vnd.openxmlformats-officedocument.drawingml.diagramData+xml"/>
  <Override PartName="/ppt/diagrams/drawing9.xml" ContentType="application/vnd.ms-office.drawingml.diagramDrawing+xml"/>
  <Override PartName="/ppt/diagrams/layout15.xml" ContentType="application/vnd.openxmlformats-officedocument.drawingml.diagramLayout+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drawing12.xml" ContentType="application/vnd.ms-office.drawingml.diagramDrawing+xml"/>
  <Override PartName="/ppt/slides/slide7.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diagrams/colors10.xml" ContentType="application/vnd.openxmlformats-officedocument.drawingml.diagramColors+xml"/>
  <Override PartName="/ppt/slides/slide24.xml" ContentType="application/vnd.openxmlformats-officedocument.presentationml.slide+xml"/>
  <Override PartName="/ppt/slides/slide35.xml" ContentType="application/vnd.openxmlformats-officedocument.presentationml.slide+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81" r:id="rId3"/>
    <p:sldId id="258" r:id="rId4"/>
    <p:sldId id="259" r:id="rId5"/>
    <p:sldId id="264" r:id="rId6"/>
    <p:sldId id="315" r:id="rId7"/>
    <p:sldId id="314" r:id="rId8"/>
    <p:sldId id="265" r:id="rId9"/>
    <p:sldId id="266" r:id="rId10"/>
    <p:sldId id="316" r:id="rId11"/>
    <p:sldId id="271" r:id="rId12"/>
    <p:sldId id="272" r:id="rId13"/>
    <p:sldId id="317" r:id="rId14"/>
    <p:sldId id="274" r:id="rId15"/>
    <p:sldId id="275" r:id="rId16"/>
    <p:sldId id="276" r:id="rId17"/>
    <p:sldId id="277" r:id="rId18"/>
    <p:sldId id="319" r:id="rId19"/>
    <p:sldId id="287" r:id="rId20"/>
    <p:sldId id="279" r:id="rId21"/>
    <p:sldId id="283" r:id="rId22"/>
    <p:sldId id="320" r:id="rId23"/>
    <p:sldId id="288" r:id="rId24"/>
    <p:sldId id="289" r:id="rId25"/>
    <p:sldId id="290" r:id="rId26"/>
    <p:sldId id="291" r:id="rId27"/>
    <p:sldId id="293" r:id="rId28"/>
    <p:sldId id="294" r:id="rId29"/>
    <p:sldId id="292" r:id="rId30"/>
    <p:sldId id="295" r:id="rId31"/>
    <p:sldId id="296" r:id="rId32"/>
    <p:sldId id="297" r:id="rId33"/>
    <p:sldId id="298" r:id="rId34"/>
    <p:sldId id="299" r:id="rId35"/>
    <p:sldId id="321"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22" r:id="rId50"/>
    <p:sldId id="323" r:id="rId51"/>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6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40B20A-1A89-473A-8014-9E09568B13E0}"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s-VE"/>
        </a:p>
      </dgm:t>
    </dgm:pt>
    <dgm:pt modelId="{46FC7131-1343-4500-B049-F53526E46361}" type="pres">
      <dgm:prSet presAssocID="{FD40B20A-1A89-473A-8014-9E09568B13E0}" presName="outerComposite" presStyleCnt="0">
        <dgm:presLayoutVars>
          <dgm:chMax val="5"/>
          <dgm:dir/>
          <dgm:resizeHandles val="exact"/>
        </dgm:presLayoutVars>
      </dgm:prSet>
      <dgm:spPr/>
      <dgm:t>
        <a:bodyPr/>
        <a:lstStyle/>
        <a:p>
          <a:endParaRPr lang="es-VE"/>
        </a:p>
      </dgm:t>
    </dgm:pt>
    <dgm:pt modelId="{F8649C1E-479B-422B-A025-C2496C7BFABB}" type="pres">
      <dgm:prSet presAssocID="{FD40B20A-1A89-473A-8014-9E09568B13E0}" presName="dummyMaxCanvas" presStyleCnt="0">
        <dgm:presLayoutVars/>
      </dgm:prSet>
      <dgm:spPr/>
    </dgm:pt>
  </dgm:ptLst>
  <dgm:cxnLst>
    <dgm:cxn modelId="{2AC7ECD1-F5B5-4644-AEEF-AA2C3D6121FE}" type="presOf" srcId="{FD40B20A-1A89-473A-8014-9E09568B13E0}" destId="{46FC7131-1343-4500-B049-F53526E46361}" srcOrd="0" destOrd="0" presId="urn:microsoft.com/office/officeart/2005/8/layout/vProcess5"/>
    <dgm:cxn modelId="{18008C2C-917E-46D1-879A-7DE4B205A974}" type="presParOf" srcId="{46FC7131-1343-4500-B049-F53526E46361}" destId="{F8649C1E-479B-422B-A025-C2496C7BFABB}" srcOrd="0" destOrd="0" presId="urn:microsoft.com/office/officeart/2005/8/layout/vProcess5"/>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3009FD-1FD8-416F-8C34-C63ADBC8FFA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3A3F1DD9-7E08-4D5F-96C0-6612EB93F42C}">
      <dgm:prSet phldrT="[Texto]" custT="1"/>
      <dgm:spPr>
        <a:solidFill>
          <a:schemeClr val="bg1"/>
        </a:solidFill>
      </dgm:spPr>
      <dgm:t>
        <a:bodyPr/>
        <a:lstStyle/>
        <a:p>
          <a:pPr algn="just"/>
          <a:r>
            <a:rPr lang="es-VE" sz="1800" b="1" dirty="0" smtClean="0">
              <a:solidFill>
                <a:schemeClr val="tx1"/>
              </a:solidFill>
            </a:rPr>
            <a:t>Elaborado de conformidad con la Providencia  N°        SAA-8-004-2021, de fecha 08 de febrero de 2021, emanada de la Superintendencia de la Actividad Aseguradora, y publicada en Gaceta Oficial Nº 42.128, de fecha 17 de mayo de 2.021.</a:t>
          </a:r>
          <a:endParaRPr lang="es-VE" sz="1800" dirty="0">
            <a:solidFill>
              <a:schemeClr val="tx1"/>
            </a:solidFill>
          </a:endParaRPr>
        </a:p>
      </dgm:t>
    </dgm:pt>
    <dgm:pt modelId="{2E249D33-7B90-41D5-B73C-6AE2D5A6DF5C}" type="parTrans" cxnId="{091F9956-B6CC-4D8A-A7E2-71491C1EAFE9}">
      <dgm:prSet/>
      <dgm:spPr/>
      <dgm:t>
        <a:bodyPr/>
        <a:lstStyle/>
        <a:p>
          <a:endParaRPr lang="es-VE"/>
        </a:p>
      </dgm:t>
    </dgm:pt>
    <dgm:pt modelId="{18D6632F-5BF2-4E41-87B1-CEE51BB54BC1}" type="sibTrans" cxnId="{091F9956-B6CC-4D8A-A7E2-71491C1EAFE9}">
      <dgm:prSet/>
      <dgm:spPr/>
      <dgm:t>
        <a:bodyPr/>
        <a:lstStyle/>
        <a:p>
          <a:endParaRPr lang="es-VE"/>
        </a:p>
      </dgm:t>
    </dgm:pt>
    <dgm:pt modelId="{7132A70C-FED9-476E-9ADC-87FB4489CFF4}">
      <dgm:prSet phldrT="[Texto]" custT="1"/>
      <dgm:spPr>
        <a:solidFill>
          <a:schemeClr val="bg1"/>
        </a:solidFill>
      </dgm:spPr>
      <dgm:t>
        <a:bodyPr/>
        <a:lstStyle/>
        <a:p>
          <a:pPr algn="just"/>
          <a:r>
            <a:rPr lang="es-VE" sz="1800" b="1" dirty="0" smtClean="0">
              <a:solidFill>
                <a:schemeClr val="tx1"/>
              </a:solidFill>
            </a:rPr>
            <a:t>Contiene</a:t>
          </a:r>
          <a:r>
            <a:rPr lang="es-VE" sz="2000" b="1" dirty="0" smtClean="0">
              <a:solidFill>
                <a:schemeClr val="tx1"/>
              </a:solidFill>
            </a:rPr>
            <a:t> las “Normas sobre Administración de Riesgos de LC/FT/FPADM en la Actividad Aseguradora”, </a:t>
          </a:r>
          <a:endParaRPr lang="es-VE" sz="2000" dirty="0">
            <a:solidFill>
              <a:schemeClr val="tx1"/>
            </a:solidFill>
          </a:endParaRPr>
        </a:p>
      </dgm:t>
    </dgm:pt>
    <dgm:pt modelId="{463077DD-DAB9-45A4-AABC-503101C04579}" type="parTrans" cxnId="{75BF19D9-D4FB-431E-8057-67C91455578D}">
      <dgm:prSet/>
      <dgm:spPr/>
      <dgm:t>
        <a:bodyPr/>
        <a:lstStyle/>
        <a:p>
          <a:endParaRPr lang="es-VE"/>
        </a:p>
      </dgm:t>
    </dgm:pt>
    <dgm:pt modelId="{556286EE-BF2A-4745-BF23-DEC9616BA67A}" type="sibTrans" cxnId="{75BF19D9-D4FB-431E-8057-67C91455578D}">
      <dgm:prSet/>
      <dgm:spPr/>
      <dgm:t>
        <a:bodyPr/>
        <a:lstStyle/>
        <a:p>
          <a:endParaRPr lang="es-VE"/>
        </a:p>
      </dgm:t>
    </dgm:pt>
    <dgm:pt modelId="{ADABE43F-882B-40A9-8A8E-748A7CEEA5BF}">
      <dgm:prSet phldrT="[Texto]" custT="1"/>
      <dgm:spPr>
        <a:solidFill>
          <a:schemeClr val="bg1"/>
        </a:solidFill>
      </dgm:spPr>
      <dgm:t>
        <a:bodyPr/>
        <a:lstStyle/>
        <a:p>
          <a:r>
            <a:rPr lang="es-VE" sz="1800" b="1" dirty="0" smtClean="0">
              <a:solidFill>
                <a:schemeClr val="tx1"/>
              </a:solidFill>
            </a:rPr>
            <a:t>Directrices emanadas de la Unidad Nacional de Inteligencia Financiera (UNIF). </a:t>
          </a:r>
          <a:endParaRPr lang="es-VE" sz="1800" dirty="0">
            <a:solidFill>
              <a:schemeClr val="tx1"/>
            </a:solidFill>
          </a:endParaRPr>
        </a:p>
      </dgm:t>
    </dgm:pt>
    <dgm:pt modelId="{2F5D87DB-48E6-4BA7-9820-289C5FE705C7}" type="parTrans" cxnId="{5FDFE448-AE97-4041-A405-498E396FF04D}">
      <dgm:prSet/>
      <dgm:spPr/>
      <dgm:t>
        <a:bodyPr/>
        <a:lstStyle/>
        <a:p>
          <a:endParaRPr lang="es-VE"/>
        </a:p>
      </dgm:t>
    </dgm:pt>
    <dgm:pt modelId="{825DE611-E1E7-42D2-A8A9-BDE73DEF18B2}" type="sibTrans" cxnId="{5FDFE448-AE97-4041-A405-498E396FF04D}">
      <dgm:prSet/>
      <dgm:spPr/>
      <dgm:t>
        <a:bodyPr/>
        <a:lstStyle/>
        <a:p>
          <a:endParaRPr lang="es-VE"/>
        </a:p>
      </dgm:t>
    </dgm:pt>
    <dgm:pt modelId="{1EA1FDEB-9385-4FF8-9E55-724FDD7668D5}" type="pres">
      <dgm:prSet presAssocID="{C43009FD-1FD8-416F-8C34-C63ADBC8FFAE}" presName="linear" presStyleCnt="0">
        <dgm:presLayoutVars>
          <dgm:animLvl val="lvl"/>
          <dgm:resizeHandles val="exact"/>
        </dgm:presLayoutVars>
      </dgm:prSet>
      <dgm:spPr/>
      <dgm:t>
        <a:bodyPr/>
        <a:lstStyle/>
        <a:p>
          <a:endParaRPr lang="es-VE"/>
        </a:p>
      </dgm:t>
    </dgm:pt>
    <dgm:pt modelId="{2283D3F2-858D-4214-BDE9-2995319AD0D5}" type="pres">
      <dgm:prSet presAssocID="{3A3F1DD9-7E08-4D5F-96C0-6612EB93F42C}" presName="parentText" presStyleLbl="node1" presStyleIdx="0" presStyleCnt="3" custScaleY="128702" custLinFactNeighborY="-12771">
        <dgm:presLayoutVars>
          <dgm:chMax val="0"/>
          <dgm:bulletEnabled val="1"/>
        </dgm:presLayoutVars>
      </dgm:prSet>
      <dgm:spPr/>
      <dgm:t>
        <a:bodyPr/>
        <a:lstStyle/>
        <a:p>
          <a:endParaRPr lang="es-VE"/>
        </a:p>
      </dgm:t>
    </dgm:pt>
    <dgm:pt modelId="{3D2403BD-CF5A-4465-B165-7D861B45CBD5}" type="pres">
      <dgm:prSet presAssocID="{18D6632F-5BF2-4E41-87B1-CEE51BB54BC1}" presName="spacer" presStyleCnt="0"/>
      <dgm:spPr/>
    </dgm:pt>
    <dgm:pt modelId="{1C584D9F-6582-4F64-AF07-2202FBFDC973}" type="pres">
      <dgm:prSet presAssocID="{7132A70C-FED9-476E-9ADC-87FB4489CFF4}" presName="parentText" presStyleLbl="node1" presStyleIdx="1" presStyleCnt="3" custScaleY="87098">
        <dgm:presLayoutVars>
          <dgm:chMax val="0"/>
          <dgm:bulletEnabled val="1"/>
        </dgm:presLayoutVars>
      </dgm:prSet>
      <dgm:spPr/>
      <dgm:t>
        <a:bodyPr/>
        <a:lstStyle/>
        <a:p>
          <a:endParaRPr lang="es-VE"/>
        </a:p>
      </dgm:t>
    </dgm:pt>
    <dgm:pt modelId="{DA24A646-4F5F-41CA-BCA3-C0078BBFDA1F}" type="pres">
      <dgm:prSet presAssocID="{556286EE-BF2A-4745-BF23-DEC9616BA67A}" presName="spacer" presStyleCnt="0"/>
      <dgm:spPr/>
    </dgm:pt>
    <dgm:pt modelId="{E49FC6E5-F480-4E74-8179-659409128E37}" type="pres">
      <dgm:prSet presAssocID="{ADABE43F-882B-40A9-8A8E-748A7CEEA5BF}" presName="parentText" presStyleLbl="node1" presStyleIdx="2" presStyleCnt="3">
        <dgm:presLayoutVars>
          <dgm:chMax val="0"/>
          <dgm:bulletEnabled val="1"/>
        </dgm:presLayoutVars>
      </dgm:prSet>
      <dgm:spPr/>
      <dgm:t>
        <a:bodyPr/>
        <a:lstStyle/>
        <a:p>
          <a:endParaRPr lang="es-VE"/>
        </a:p>
      </dgm:t>
    </dgm:pt>
  </dgm:ptLst>
  <dgm:cxnLst>
    <dgm:cxn modelId="{091F9956-B6CC-4D8A-A7E2-71491C1EAFE9}" srcId="{C43009FD-1FD8-416F-8C34-C63ADBC8FFAE}" destId="{3A3F1DD9-7E08-4D5F-96C0-6612EB93F42C}" srcOrd="0" destOrd="0" parTransId="{2E249D33-7B90-41D5-B73C-6AE2D5A6DF5C}" sibTransId="{18D6632F-5BF2-4E41-87B1-CEE51BB54BC1}"/>
    <dgm:cxn modelId="{820FD661-3298-428D-8272-A081442AA43B}" type="presOf" srcId="{C43009FD-1FD8-416F-8C34-C63ADBC8FFAE}" destId="{1EA1FDEB-9385-4FF8-9E55-724FDD7668D5}" srcOrd="0" destOrd="0" presId="urn:microsoft.com/office/officeart/2005/8/layout/vList2"/>
    <dgm:cxn modelId="{5FDFE448-AE97-4041-A405-498E396FF04D}" srcId="{C43009FD-1FD8-416F-8C34-C63ADBC8FFAE}" destId="{ADABE43F-882B-40A9-8A8E-748A7CEEA5BF}" srcOrd="2" destOrd="0" parTransId="{2F5D87DB-48E6-4BA7-9820-289C5FE705C7}" sibTransId="{825DE611-E1E7-42D2-A8A9-BDE73DEF18B2}"/>
    <dgm:cxn modelId="{75BF19D9-D4FB-431E-8057-67C91455578D}" srcId="{C43009FD-1FD8-416F-8C34-C63ADBC8FFAE}" destId="{7132A70C-FED9-476E-9ADC-87FB4489CFF4}" srcOrd="1" destOrd="0" parTransId="{463077DD-DAB9-45A4-AABC-503101C04579}" sibTransId="{556286EE-BF2A-4745-BF23-DEC9616BA67A}"/>
    <dgm:cxn modelId="{29389DED-8B33-47CB-BB28-FAFEF598BA57}" type="presOf" srcId="{ADABE43F-882B-40A9-8A8E-748A7CEEA5BF}" destId="{E49FC6E5-F480-4E74-8179-659409128E37}" srcOrd="0" destOrd="0" presId="urn:microsoft.com/office/officeart/2005/8/layout/vList2"/>
    <dgm:cxn modelId="{363AA592-7C98-44ED-87D1-2C5DE86A3B3B}" type="presOf" srcId="{3A3F1DD9-7E08-4D5F-96C0-6612EB93F42C}" destId="{2283D3F2-858D-4214-BDE9-2995319AD0D5}" srcOrd="0" destOrd="0" presId="urn:microsoft.com/office/officeart/2005/8/layout/vList2"/>
    <dgm:cxn modelId="{0FAC545E-9BFC-459E-8FBC-8C089C3E4990}" type="presOf" srcId="{7132A70C-FED9-476E-9ADC-87FB4489CFF4}" destId="{1C584D9F-6582-4F64-AF07-2202FBFDC973}" srcOrd="0" destOrd="0" presId="urn:microsoft.com/office/officeart/2005/8/layout/vList2"/>
    <dgm:cxn modelId="{17256CE4-27B7-4BF9-AC79-9819AB67152D}" type="presParOf" srcId="{1EA1FDEB-9385-4FF8-9E55-724FDD7668D5}" destId="{2283D3F2-858D-4214-BDE9-2995319AD0D5}" srcOrd="0" destOrd="0" presId="urn:microsoft.com/office/officeart/2005/8/layout/vList2"/>
    <dgm:cxn modelId="{039533EE-7ECD-446E-9E4A-0049F95982B9}" type="presParOf" srcId="{1EA1FDEB-9385-4FF8-9E55-724FDD7668D5}" destId="{3D2403BD-CF5A-4465-B165-7D861B45CBD5}" srcOrd="1" destOrd="0" presId="urn:microsoft.com/office/officeart/2005/8/layout/vList2"/>
    <dgm:cxn modelId="{36C28578-2B3A-4D0E-868F-25E7075E1B59}" type="presParOf" srcId="{1EA1FDEB-9385-4FF8-9E55-724FDD7668D5}" destId="{1C584D9F-6582-4F64-AF07-2202FBFDC973}" srcOrd="2" destOrd="0" presId="urn:microsoft.com/office/officeart/2005/8/layout/vList2"/>
    <dgm:cxn modelId="{35BCA7F8-EFD3-4A33-A28E-DEBBA0281496}" type="presParOf" srcId="{1EA1FDEB-9385-4FF8-9E55-724FDD7668D5}" destId="{DA24A646-4F5F-41CA-BCA3-C0078BBFDA1F}" srcOrd="3" destOrd="0" presId="urn:microsoft.com/office/officeart/2005/8/layout/vList2"/>
    <dgm:cxn modelId="{90CE1A0D-E2FA-4700-84E7-38C4F06ECC74}" type="presParOf" srcId="{1EA1FDEB-9385-4FF8-9E55-724FDD7668D5}" destId="{E49FC6E5-F480-4E74-8179-659409128E37}" srcOrd="4" destOrd="0" presId="urn:microsoft.com/office/officeart/2005/8/layout/vList2"/>
  </dgm:cxnLst>
  <dgm:bg/>
  <dgm:whole/>
  <dgm:extLst>
    <a:ext uri="http://schemas.microsoft.com/office/drawing/2008/diagram">
      <dsp:dataModelExt xmlns:dsp="http://schemas.microsoft.com/office/drawing/2008/diagram" xmlns=""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1EF81C-5DC1-4CBE-8280-FAA229AABC47}"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VE"/>
        </a:p>
      </dgm:t>
    </dgm:pt>
    <dgm:pt modelId="{E10231A5-23F2-4A9F-8093-495ABBE94D33}">
      <dgm:prSet phldrT="[Texto]" custT="1"/>
      <dgm:spPr>
        <a:solidFill>
          <a:schemeClr val="bg1"/>
        </a:solidFill>
      </dgm:spPr>
      <dgm:t>
        <a:bodyPr/>
        <a:lstStyle/>
        <a:p>
          <a:r>
            <a:rPr lang="es-VE" sz="2000" b="1" dirty="0" smtClean="0">
              <a:solidFill>
                <a:schemeClr val="tx1"/>
              </a:solidFill>
            </a:rPr>
            <a:t>Finalidad</a:t>
          </a:r>
          <a:endParaRPr lang="es-VE" sz="2000" b="1" dirty="0">
            <a:solidFill>
              <a:schemeClr val="tx1"/>
            </a:solidFill>
          </a:endParaRPr>
        </a:p>
      </dgm:t>
    </dgm:pt>
    <dgm:pt modelId="{C8FB9116-CAA3-4EB2-8C02-58BC89C5BE5A}" type="parTrans" cxnId="{0DF7CCC7-4F00-41B4-A3C1-6EEDE20E94AE}">
      <dgm:prSet/>
      <dgm:spPr/>
      <dgm:t>
        <a:bodyPr/>
        <a:lstStyle/>
        <a:p>
          <a:endParaRPr lang="es-VE"/>
        </a:p>
      </dgm:t>
    </dgm:pt>
    <dgm:pt modelId="{C5DD6066-9191-4008-9BCC-7724320E1540}" type="sibTrans" cxnId="{0DF7CCC7-4F00-41B4-A3C1-6EEDE20E94AE}">
      <dgm:prSet/>
      <dgm:spPr/>
      <dgm:t>
        <a:bodyPr/>
        <a:lstStyle/>
        <a:p>
          <a:endParaRPr lang="es-VE"/>
        </a:p>
      </dgm:t>
    </dgm:pt>
    <dgm:pt modelId="{E0FFA507-C7B6-4970-9C8C-11181665576D}">
      <dgm:prSet phldrT="[Texto]" custT="1"/>
      <dgm:spPr>
        <a:solidFill>
          <a:schemeClr val="bg1"/>
        </a:solidFill>
      </dgm:spPr>
      <dgm:t>
        <a:bodyPr/>
        <a:lstStyle/>
        <a:p>
          <a:r>
            <a:rPr lang="es-VE" sz="1400" b="1" dirty="0" smtClean="0">
              <a:solidFill>
                <a:schemeClr val="tx1"/>
              </a:solidFill>
            </a:rPr>
            <a:t>Dar a conocer las </a:t>
          </a:r>
          <a:r>
            <a:rPr lang="es-VE" sz="1400" b="1" dirty="0" smtClean="0">
              <a:solidFill>
                <a:schemeClr val="accent1">
                  <a:lumMod val="50000"/>
                </a:schemeClr>
              </a:solidFill>
            </a:rPr>
            <a:t>obligaciones legales, procesos y actividades </a:t>
          </a:r>
          <a:r>
            <a:rPr lang="es-VE" sz="1400" b="1" dirty="0" smtClean="0">
              <a:solidFill>
                <a:schemeClr val="tx1"/>
              </a:solidFill>
            </a:rPr>
            <a:t>que deberá cumplir CLINISALUD MEDICINA PREPAGADA S.A., como sujeto obligado de la actividad aseguradora.  </a:t>
          </a:r>
          <a:endParaRPr lang="es-VE" sz="1400" dirty="0">
            <a:solidFill>
              <a:schemeClr val="tx1"/>
            </a:solidFill>
          </a:endParaRPr>
        </a:p>
      </dgm:t>
    </dgm:pt>
    <dgm:pt modelId="{99A8A225-C295-4859-B6AD-FDA40FC29082}" type="parTrans" cxnId="{15B617E5-FE5F-46C6-9F29-2555E3AE1A6B}">
      <dgm:prSet/>
      <dgm:spPr/>
      <dgm:t>
        <a:bodyPr/>
        <a:lstStyle/>
        <a:p>
          <a:endParaRPr lang="es-VE"/>
        </a:p>
      </dgm:t>
    </dgm:pt>
    <dgm:pt modelId="{3D61D622-E754-48D2-8C5E-9BCD4176DE6B}" type="sibTrans" cxnId="{15B617E5-FE5F-46C6-9F29-2555E3AE1A6B}">
      <dgm:prSet/>
      <dgm:spPr/>
      <dgm:t>
        <a:bodyPr/>
        <a:lstStyle/>
        <a:p>
          <a:endParaRPr lang="es-VE"/>
        </a:p>
      </dgm:t>
    </dgm:pt>
    <dgm:pt modelId="{EB765D75-0F38-4FA0-856F-0DCF7D3EA390}">
      <dgm:prSet phldrT="[Texto]" custT="1"/>
      <dgm:spPr>
        <a:solidFill>
          <a:schemeClr val="bg1"/>
        </a:solidFill>
      </dgm:spPr>
      <dgm:t>
        <a:bodyPr/>
        <a:lstStyle/>
        <a:p>
          <a:r>
            <a:rPr lang="es-VE" sz="2000" b="1" dirty="0" smtClean="0">
              <a:solidFill>
                <a:schemeClr val="tx1"/>
              </a:solidFill>
            </a:rPr>
            <a:t>Objetivo General</a:t>
          </a:r>
          <a:endParaRPr lang="es-VE" sz="2000" b="1" dirty="0">
            <a:solidFill>
              <a:schemeClr val="tx1"/>
            </a:solidFill>
          </a:endParaRPr>
        </a:p>
      </dgm:t>
    </dgm:pt>
    <dgm:pt modelId="{EE5DEEA7-4113-4989-9733-C7311F2061D4}" type="parTrans" cxnId="{7ECD24D3-BCE8-4423-9483-6A2903ABBAD0}">
      <dgm:prSet/>
      <dgm:spPr/>
      <dgm:t>
        <a:bodyPr/>
        <a:lstStyle/>
        <a:p>
          <a:endParaRPr lang="es-VE"/>
        </a:p>
      </dgm:t>
    </dgm:pt>
    <dgm:pt modelId="{094099CB-CB0D-4AC7-99E8-4E6926D48DB7}" type="sibTrans" cxnId="{7ECD24D3-BCE8-4423-9483-6A2903ABBAD0}">
      <dgm:prSet/>
      <dgm:spPr/>
      <dgm:t>
        <a:bodyPr/>
        <a:lstStyle/>
        <a:p>
          <a:endParaRPr lang="es-VE"/>
        </a:p>
      </dgm:t>
    </dgm:pt>
    <dgm:pt modelId="{9512D492-D540-4AB3-93F8-07BAC66ACF46}">
      <dgm:prSet phldrT="[Texto]" custT="1"/>
      <dgm:spPr>
        <a:solidFill>
          <a:schemeClr val="bg1"/>
        </a:solidFill>
      </dgm:spPr>
      <dgm:t>
        <a:bodyPr/>
        <a:lstStyle/>
        <a:p>
          <a:r>
            <a:rPr lang="es-VE" sz="1400" b="1" dirty="0" smtClean="0">
              <a:solidFill>
                <a:schemeClr val="tx1"/>
              </a:solidFill>
            </a:rPr>
            <a:t>Especifica los lineamientos de carácter normativo y procedimental.</a:t>
          </a:r>
          <a:endParaRPr lang="es-VE" sz="1200" b="1" dirty="0">
            <a:solidFill>
              <a:schemeClr val="tx1"/>
            </a:solidFill>
          </a:endParaRPr>
        </a:p>
      </dgm:t>
    </dgm:pt>
    <dgm:pt modelId="{DF942F32-BE8C-4ACF-BCE8-9A640C2C1E73}" type="parTrans" cxnId="{F49ABC40-37AE-4855-ADA8-4F3F7CF6DC6F}">
      <dgm:prSet/>
      <dgm:spPr/>
      <dgm:t>
        <a:bodyPr/>
        <a:lstStyle/>
        <a:p>
          <a:endParaRPr lang="es-VE"/>
        </a:p>
      </dgm:t>
    </dgm:pt>
    <dgm:pt modelId="{7FE813FF-AFFB-4D5A-A85A-F93670D7B077}" type="sibTrans" cxnId="{F49ABC40-37AE-4855-ADA8-4F3F7CF6DC6F}">
      <dgm:prSet/>
      <dgm:spPr/>
      <dgm:t>
        <a:bodyPr/>
        <a:lstStyle/>
        <a:p>
          <a:endParaRPr lang="es-VE"/>
        </a:p>
      </dgm:t>
    </dgm:pt>
    <dgm:pt modelId="{9C056D2F-5EBC-4C1D-85F4-F8748021EEB3}">
      <dgm:prSet phldrT="[Texto]" custT="1"/>
      <dgm:spPr>
        <a:solidFill>
          <a:schemeClr val="bg1"/>
        </a:solidFill>
      </dgm:spPr>
      <dgm:t>
        <a:bodyPr/>
        <a:lstStyle/>
        <a:p>
          <a:r>
            <a:rPr lang="es-VE" sz="2000" b="1" dirty="0" smtClean="0">
              <a:solidFill>
                <a:schemeClr val="tx1"/>
              </a:solidFill>
            </a:rPr>
            <a:t>Medio de Consulta</a:t>
          </a:r>
          <a:endParaRPr lang="es-VE" sz="2000" b="1" dirty="0">
            <a:solidFill>
              <a:schemeClr val="tx1"/>
            </a:solidFill>
          </a:endParaRPr>
        </a:p>
      </dgm:t>
    </dgm:pt>
    <dgm:pt modelId="{549991A5-DF19-4BA2-A4FB-FA1DC86881D4}" type="parTrans" cxnId="{BED6B5AC-ABEC-4D48-9DED-F471A0FA63D7}">
      <dgm:prSet/>
      <dgm:spPr/>
      <dgm:t>
        <a:bodyPr/>
        <a:lstStyle/>
        <a:p>
          <a:endParaRPr lang="es-VE"/>
        </a:p>
      </dgm:t>
    </dgm:pt>
    <dgm:pt modelId="{758FF0B6-64D1-4C8B-B166-0C5846E66A9B}" type="sibTrans" cxnId="{BED6B5AC-ABEC-4D48-9DED-F471A0FA63D7}">
      <dgm:prSet/>
      <dgm:spPr/>
      <dgm:t>
        <a:bodyPr/>
        <a:lstStyle/>
        <a:p>
          <a:endParaRPr lang="es-VE"/>
        </a:p>
      </dgm:t>
    </dgm:pt>
    <dgm:pt modelId="{916D06A8-8FD8-4869-AEDF-D4660272FDCD}">
      <dgm:prSet phldrT="[Texto]" custT="1"/>
      <dgm:spPr>
        <a:solidFill>
          <a:schemeClr val="bg1"/>
        </a:solidFill>
      </dgm:spPr>
      <dgm:t>
        <a:bodyPr/>
        <a:lstStyle/>
        <a:p>
          <a:r>
            <a:rPr lang="es-VE" sz="1400" b="1" dirty="0" smtClean="0">
              <a:solidFill>
                <a:schemeClr val="tx1"/>
              </a:solidFill>
            </a:rPr>
            <a:t>Medio de consulta y capacitación para el Personal Directivo, Gerencia y empleados en general, que deben desarrollar las actividades propias del negocio en función de garantizar el cumplimiento de la normativa en materia de Administración de Riesgos de LC/FT/FPADM.</a:t>
          </a:r>
          <a:endParaRPr lang="es-VE" sz="1400" b="1" dirty="0">
            <a:solidFill>
              <a:schemeClr val="tx1"/>
            </a:solidFill>
          </a:endParaRPr>
        </a:p>
      </dgm:t>
    </dgm:pt>
    <dgm:pt modelId="{AF91C773-BFB0-463C-93DC-41162A3A2298}" type="parTrans" cxnId="{343523E7-4231-4BDA-A4BE-F9C37C63CFA4}">
      <dgm:prSet/>
      <dgm:spPr/>
      <dgm:t>
        <a:bodyPr/>
        <a:lstStyle/>
        <a:p>
          <a:endParaRPr lang="es-VE"/>
        </a:p>
      </dgm:t>
    </dgm:pt>
    <dgm:pt modelId="{CCBE2053-DC1A-40E1-AD64-83EF8A84373F}" type="sibTrans" cxnId="{343523E7-4231-4BDA-A4BE-F9C37C63CFA4}">
      <dgm:prSet/>
      <dgm:spPr/>
      <dgm:t>
        <a:bodyPr/>
        <a:lstStyle/>
        <a:p>
          <a:endParaRPr lang="es-VE"/>
        </a:p>
      </dgm:t>
    </dgm:pt>
    <dgm:pt modelId="{9A042953-2429-4DA4-8215-FCB09B0BB205}">
      <dgm:prSet phldrT="[Texto]" custT="1"/>
      <dgm:spPr>
        <a:solidFill>
          <a:schemeClr val="bg1"/>
        </a:solidFill>
      </dgm:spPr>
      <dgm:t>
        <a:bodyPr/>
        <a:lstStyle/>
        <a:p>
          <a:r>
            <a:rPr lang="es-VE" sz="1400" b="1" dirty="0" smtClean="0">
              <a:solidFill>
                <a:schemeClr val="tx1"/>
              </a:solidFill>
            </a:rPr>
            <a:t>Basamento legal que rige los procesos administrativos, operativos y de gestión, referentes a la Administración de Riesgos de LC/FT/FPADM en CLINISALUD MEDICINA PREPAGADA, S.A</a:t>
          </a:r>
          <a:r>
            <a:rPr lang="es-VE" sz="1200" b="1" dirty="0" smtClean="0">
              <a:solidFill>
                <a:schemeClr val="tx1"/>
              </a:solidFill>
            </a:rPr>
            <a:t>..  </a:t>
          </a:r>
          <a:endParaRPr lang="es-VE" sz="1200" b="1" dirty="0">
            <a:solidFill>
              <a:schemeClr val="tx1"/>
            </a:solidFill>
          </a:endParaRPr>
        </a:p>
      </dgm:t>
    </dgm:pt>
    <dgm:pt modelId="{BEB1D401-B942-4279-A018-9B35D2E25522}" type="parTrans" cxnId="{9EB2DB0D-9DD9-415A-80C5-1E22C366FFBA}">
      <dgm:prSet/>
      <dgm:spPr/>
      <dgm:t>
        <a:bodyPr/>
        <a:lstStyle/>
        <a:p>
          <a:endParaRPr lang="es-VE"/>
        </a:p>
      </dgm:t>
    </dgm:pt>
    <dgm:pt modelId="{2167C549-25A1-4595-9BBF-699AEBCF4A47}" type="sibTrans" cxnId="{9EB2DB0D-9DD9-415A-80C5-1E22C366FFBA}">
      <dgm:prSet/>
      <dgm:spPr/>
      <dgm:t>
        <a:bodyPr/>
        <a:lstStyle/>
        <a:p>
          <a:endParaRPr lang="es-VE"/>
        </a:p>
      </dgm:t>
    </dgm:pt>
    <dgm:pt modelId="{409EFF6E-3679-4FDD-AD3A-5253CC7DBDBE}" type="pres">
      <dgm:prSet presAssocID="{A11EF81C-5DC1-4CBE-8280-FAA229AABC47}" presName="Name0" presStyleCnt="0">
        <dgm:presLayoutVars>
          <dgm:dir/>
          <dgm:resizeHandles val="exact"/>
        </dgm:presLayoutVars>
      </dgm:prSet>
      <dgm:spPr/>
      <dgm:t>
        <a:bodyPr/>
        <a:lstStyle/>
        <a:p>
          <a:endParaRPr lang="es-VE"/>
        </a:p>
      </dgm:t>
    </dgm:pt>
    <dgm:pt modelId="{B3CE9CE8-E211-4E27-8AF5-A14BF826F690}" type="pres">
      <dgm:prSet presAssocID="{E10231A5-23F2-4A9F-8093-495ABBE94D33}" presName="node" presStyleLbl="node1" presStyleIdx="0" presStyleCnt="3">
        <dgm:presLayoutVars>
          <dgm:bulletEnabled val="1"/>
        </dgm:presLayoutVars>
      </dgm:prSet>
      <dgm:spPr/>
      <dgm:t>
        <a:bodyPr/>
        <a:lstStyle/>
        <a:p>
          <a:endParaRPr lang="es-VE"/>
        </a:p>
      </dgm:t>
    </dgm:pt>
    <dgm:pt modelId="{BAD0BC2E-743B-4C1E-AF8F-BC7D329F6F9F}" type="pres">
      <dgm:prSet presAssocID="{C5DD6066-9191-4008-9BCC-7724320E1540}" presName="sibTrans" presStyleCnt="0"/>
      <dgm:spPr/>
    </dgm:pt>
    <dgm:pt modelId="{99AB7950-624D-4BFC-BFEE-123CB9A6085D}" type="pres">
      <dgm:prSet presAssocID="{EB765D75-0F38-4FA0-856F-0DCF7D3EA390}" presName="node" presStyleLbl="node1" presStyleIdx="1" presStyleCnt="3">
        <dgm:presLayoutVars>
          <dgm:bulletEnabled val="1"/>
        </dgm:presLayoutVars>
      </dgm:prSet>
      <dgm:spPr/>
      <dgm:t>
        <a:bodyPr/>
        <a:lstStyle/>
        <a:p>
          <a:endParaRPr lang="es-VE"/>
        </a:p>
      </dgm:t>
    </dgm:pt>
    <dgm:pt modelId="{6C537BCF-4E37-4532-BCD2-58488672C996}" type="pres">
      <dgm:prSet presAssocID="{094099CB-CB0D-4AC7-99E8-4E6926D48DB7}" presName="sibTrans" presStyleCnt="0"/>
      <dgm:spPr/>
    </dgm:pt>
    <dgm:pt modelId="{D19BAB6D-C8A4-47D5-B047-995ADE005C1E}" type="pres">
      <dgm:prSet presAssocID="{9C056D2F-5EBC-4C1D-85F4-F8748021EEB3}" presName="node" presStyleLbl="node1" presStyleIdx="2" presStyleCnt="3" custLinFactNeighborX="513" custLinFactNeighborY="0">
        <dgm:presLayoutVars>
          <dgm:bulletEnabled val="1"/>
        </dgm:presLayoutVars>
      </dgm:prSet>
      <dgm:spPr/>
      <dgm:t>
        <a:bodyPr/>
        <a:lstStyle/>
        <a:p>
          <a:endParaRPr lang="es-VE"/>
        </a:p>
      </dgm:t>
    </dgm:pt>
  </dgm:ptLst>
  <dgm:cxnLst>
    <dgm:cxn modelId="{7ECD24D3-BCE8-4423-9483-6A2903ABBAD0}" srcId="{A11EF81C-5DC1-4CBE-8280-FAA229AABC47}" destId="{EB765D75-0F38-4FA0-856F-0DCF7D3EA390}" srcOrd="1" destOrd="0" parTransId="{EE5DEEA7-4113-4989-9733-C7311F2061D4}" sibTransId="{094099CB-CB0D-4AC7-99E8-4E6926D48DB7}"/>
    <dgm:cxn modelId="{F49ABC40-37AE-4855-ADA8-4F3F7CF6DC6F}" srcId="{EB765D75-0F38-4FA0-856F-0DCF7D3EA390}" destId="{9512D492-D540-4AB3-93F8-07BAC66ACF46}" srcOrd="0" destOrd="0" parTransId="{DF942F32-BE8C-4ACF-BCE8-9A640C2C1E73}" sibTransId="{7FE813FF-AFFB-4D5A-A85A-F93670D7B077}"/>
    <dgm:cxn modelId="{DC6697D5-476A-4FE7-A544-E147999AA677}" type="presOf" srcId="{EB765D75-0F38-4FA0-856F-0DCF7D3EA390}" destId="{99AB7950-624D-4BFC-BFEE-123CB9A6085D}" srcOrd="0" destOrd="0" presId="urn:microsoft.com/office/officeart/2005/8/layout/hList6"/>
    <dgm:cxn modelId="{0DF7CCC7-4F00-41B4-A3C1-6EEDE20E94AE}" srcId="{A11EF81C-5DC1-4CBE-8280-FAA229AABC47}" destId="{E10231A5-23F2-4A9F-8093-495ABBE94D33}" srcOrd="0" destOrd="0" parTransId="{C8FB9116-CAA3-4EB2-8C02-58BC89C5BE5A}" sibTransId="{C5DD6066-9191-4008-9BCC-7724320E1540}"/>
    <dgm:cxn modelId="{29F11A93-1A8C-4AD0-8911-2EE55F2A58DD}" type="presOf" srcId="{A11EF81C-5DC1-4CBE-8280-FAA229AABC47}" destId="{409EFF6E-3679-4FDD-AD3A-5253CC7DBDBE}" srcOrd="0" destOrd="0" presId="urn:microsoft.com/office/officeart/2005/8/layout/hList6"/>
    <dgm:cxn modelId="{492EF7D7-399B-464E-82B5-ADF1F20CF840}" type="presOf" srcId="{9512D492-D540-4AB3-93F8-07BAC66ACF46}" destId="{99AB7950-624D-4BFC-BFEE-123CB9A6085D}" srcOrd="0" destOrd="1" presId="urn:microsoft.com/office/officeart/2005/8/layout/hList6"/>
    <dgm:cxn modelId="{9EB2DB0D-9DD9-415A-80C5-1E22C366FFBA}" srcId="{EB765D75-0F38-4FA0-856F-0DCF7D3EA390}" destId="{9A042953-2429-4DA4-8215-FCB09B0BB205}" srcOrd="1" destOrd="0" parTransId="{BEB1D401-B942-4279-A018-9B35D2E25522}" sibTransId="{2167C549-25A1-4595-9BBF-699AEBCF4A47}"/>
    <dgm:cxn modelId="{241C1C65-3211-407E-9407-02986406431D}" type="presOf" srcId="{E10231A5-23F2-4A9F-8093-495ABBE94D33}" destId="{B3CE9CE8-E211-4E27-8AF5-A14BF826F690}" srcOrd="0" destOrd="0" presId="urn:microsoft.com/office/officeart/2005/8/layout/hList6"/>
    <dgm:cxn modelId="{B166C58A-8B88-4F48-A06F-09B0B8760CE6}" type="presOf" srcId="{916D06A8-8FD8-4869-AEDF-D4660272FDCD}" destId="{D19BAB6D-C8A4-47D5-B047-995ADE005C1E}" srcOrd="0" destOrd="1" presId="urn:microsoft.com/office/officeart/2005/8/layout/hList6"/>
    <dgm:cxn modelId="{919CEFE5-A01D-461E-A65F-A828FBA4AEF9}" type="presOf" srcId="{E0FFA507-C7B6-4970-9C8C-11181665576D}" destId="{B3CE9CE8-E211-4E27-8AF5-A14BF826F690}" srcOrd="0" destOrd="1" presId="urn:microsoft.com/office/officeart/2005/8/layout/hList6"/>
    <dgm:cxn modelId="{343523E7-4231-4BDA-A4BE-F9C37C63CFA4}" srcId="{9C056D2F-5EBC-4C1D-85F4-F8748021EEB3}" destId="{916D06A8-8FD8-4869-AEDF-D4660272FDCD}" srcOrd="0" destOrd="0" parTransId="{AF91C773-BFB0-463C-93DC-41162A3A2298}" sibTransId="{CCBE2053-DC1A-40E1-AD64-83EF8A84373F}"/>
    <dgm:cxn modelId="{4B6F480D-E7E1-4CD0-8BC0-AD492E1B982F}" type="presOf" srcId="{9A042953-2429-4DA4-8215-FCB09B0BB205}" destId="{99AB7950-624D-4BFC-BFEE-123CB9A6085D}" srcOrd="0" destOrd="2" presId="urn:microsoft.com/office/officeart/2005/8/layout/hList6"/>
    <dgm:cxn modelId="{899B503F-4FF0-4DF1-BED9-7BD77F5E749C}" type="presOf" srcId="{9C056D2F-5EBC-4C1D-85F4-F8748021EEB3}" destId="{D19BAB6D-C8A4-47D5-B047-995ADE005C1E}" srcOrd="0" destOrd="0" presId="urn:microsoft.com/office/officeart/2005/8/layout/hList6"/>
    <dgm:cxn modelId="{15B617E5-FE5F-46C6-9F29-2555E3AE1A6B}" srcId="{E10231A5-23F2-4A9F-8093-495ABBE94D33}" destId="{E0FFA507-C7B6-4970-9C8C-11181665576D}" srcOrd="0" destOrd="0" parTransId="{99A8A225-C295-4859-B6AD-FDA40FC29082}" sibTransId="{3D61D622-E754-48D2-8C5E-9BCD4176DE6B}"/>
    <dgm:cxn modelId="{BED6B5AC-ABEC-4D48-9DED-F471A0FA63D7}" srcId="{A11EF81C-5DC1-4CBE-8280-FAA229AABC47}" destId="{9C056D2F-5EBC-4C1D-85F4-F8748021EEB3}" srcOrd="2" destOrd="0" parTransId="{549991A5-DF19-4BA2-A4FB-FA1DC86881D4}" sibTransId="{758FF0B6-64D1-4C8B-B166-0C5846E66A9B}"/>
    <dgm:cxn modelId="{75670C19-3F6F-4A54-8B33-B9941C5AA79A}" type="presParOf" srcId="{409EFF6E-3679-4FDD-AD3A-5253CC7DBDBE}" destId="{B3CE9CE8-E211-4E27-8AF5-A14BF826F690}" srcOrd="0" destOrd="0" presId="urn:microsoft.com/office/officeart/2005/8/layout/hList6"/>
    <dgm:cxn modelId="{BB7A273C-2F0A-4B12-B4EC-47ABFD788129}" type="presParOf" srcId="{409EFF6E-3679-4FDD-AD3A-5253CC7DBDBE}" destId="{BAD0BC2E-743B-4C1E-AF8F-BC7D329F6F9F}" srcOrd="1" destOrd="0" presId="urn:microsoft.com/office/officeart/2005/8/layout/hList6"/>
    <dgm:cxn modelId="{2AFD001E-C198-4138-B7B1-02F0FB281496}" type="presParOf" srcId="{409EFF6E-3679-4FDD-AD3A-5253CC7DBDBE}" destId="{99AB7950-624D-4BFC-BFEE-123CB9A6085D}" srcOrd="2" destOrd="0" presId="urn:microsoft.com/office/officeart/2005/8/layout/hList6"/>
    <dgm:cxn modelId="{CD15676B-B1C9-445A-99A7-5AE36965FDA1}" type="presParOf" srcId="{409EFF6E-3679-4FDD-AD3A-5253CC7DBDBE}" destId="{6C537BCF-4E37-4532-BCD2-58488672C996}" srcOrd="3" destOrd="0" presId="urn:microsoft.com/office/officeart/2005/8/layout/hList6"/>
    <dgm:cxn modelId="{7F44F16C-CDD6-440F-944E-EEDFCF38F386}" type="presParOf" srcId="{409EFF6E-3679-4FDD-AD3A-5253CC7DBDBE}" destId="{D19BAB6D-C8A4-47D5-B047-995ADE005C1E}" srcOrd="4" destOrd="0" presId="urn:microsoft.com/office/officeart/2005/8/layout/h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116913-7D4F-4E6D-B068-D39B1959B079}" type="doc">
      <dgm:prSet loTypeId="urn:microsoft.com/office/officeart/2005/8/layout/lProcess2" loCatId="list" qsTypeId="urn:microsoft.com/office/officeart/2005/8/quickstyle/simple3" qsCatId="simple" csTypeId="urn:microsoft.com/office/officeart/2005/8/colors/accent1_2" csCatId="accent1" phldr="1"/>
      <dgm:spPr/>
      <dgm:t>
        <a:bodyPr/>
        <a:lstStyle/>
        <a:p>
          <a:endParaRPr lang="es-VE"/>
        </a:p>
      </dgm:t>
    </dgm:pt>
    <dgm:pt modelId="{6E77BEB5-38FA-464A-9D76-99FFAF6B04D5}">
      <dgm:prSet phldrT="[Texto]" custT="1"/>
      <dgm:spPr>
        <a:solidFill>
          <a:schemeClr val="bg1"/>
        </a:solidFill>
      </dgm:spPr>
      <dgm:t>
        <a:bodyPr/>
        <a:lstStyle/>
        <a:p>
          <a:r>
            <a:rPr lang="es-VE" sz="1600" b="1" dirty="0" smtClean="0"/>
            <a:t>NORMATIVA LEGAL VENEZOLANA</a:t>
          </a:r>
          <a:endParaRPr lang="es-VE" sz="1600" b="1" dirty="0"/>
        </a:p>
      </dgm:t>
    </dgm:pt>
    <dgm:pt modelId="{F505B6A4-ED92-4595-B655-56DBC7B67FF8}" type="parTrans" cxnId="{96E61D82-B29B-4F51-8E76-E9D3202F9084}">
      <dgm:prSet/>
      <dgm:spPr/>
      <dgm:t>
        <a:bodyPr/>
        <a:lstStyle/>
        <a:p>
          <a:endParaRPr lang="es-VE"/>
        </a:p>
      </dgm:t>
    </dgm:pt>
    <dgm:pt modelId="{10C9ECC1-9E21-49D3-ABD2-43430429C542}" type="sibTrans" cxnId="{96E61D82-B29B-4F51-8E76-E9D3202F9084}">
      <dgm:prSet/>
      <dgm:spPr/>
      <dgm:t>
        <a:bodyPr/>
        <a:lstStyle/>
        <a:p>
          <a:endParaRPr lang="es-VE"/>
        </a:p>
      </dgm:t>
    </dgm:pt>
    <dgm:pt modelId="{7753A9D6-FD8A-4CC2-8880-7DB7F5417431}">
      <dgm:prSet phldrT="[Texto]" custT="1"/>
      <dgm:spPr>
        <a:solidFill>
          <a:schemeClr val="accent5">
            <a:lumMod val="20000"/>
            <a:lumOff val="80000"/>
          </a:schemeClr>
        </a:solidFill>
      </dgm:spPr>
      <dgm:t>
        <a:bodyPr/>
        <a:lstStyle/>
        <a:p>
          <a:r>
            <a:rPr lang="es-VE" sz="1400" b="1" dirty="0" smtClean="0"/>
            <a:t>Constitución de la República Bolivariana de Venezuela</a:t>
          </a:r>
          <a:endParaRPr lang="es-VE" sz="1400" b="1" dirty="0"/>
        </a:p>
      </dgm:t>
    </dgm:pt>
    <dgm:pt modelId="{BC0EFB27-025E-4160-8B32-72BE50C759A2}" type="parTrans" cxnId="{E7D78C65-FF02-42C3-9552-8426DD275EAD}">
      <dgm:prSet/>
      <dgm:spPr/>
      <dgm:t>
        <a:bodyPr/>
        <a:lstStyle/>
        <a:p>
          <a:endParaRPr lang="es-VE"/>
        </a:p>
      </dgm:t>
    </dgm:pt>
    <dgm:pt modelId="{265FF3B1-4DC5-4685-9BA6-06E3DECC8BDE}" type="sibTrans" cxnId="{E7D78C65-FF02-42C3-9552-8426DD275EAD}">
      <dgm:prSet/>
      <dgm:spPr/>
      <dgm:t>
        <a:bodyPr/>
        <a:lstStyle/>
        <a:p>
          <a:endParaRPr lang="es-VE"/>
        </a:p>
      </dgm:t>
    </dgm:pt>
    <dgm:pt modelId="{B8206901-C924-48BE-BDC4-81BC1C80140D}">
      <dgm:prSet phldrT="[Texto]" custT="1"/>
      <dgm:spPr>
        <a:solidFill>
          <a:schemeClr val="accent5">
            <a:lumMod val="20000"/>
            <a:lumOff val="80000"/>
          </a:schemeClr>
        </a:solidFill>
      </dgm:spPr>
      <dgm:t>
        <a:bodyPr/>
        <a:lstStyle/>
        <a:p>
          <a:r>
            <a:rPr lang="es-VE" sz="1400" b="1" dirty="0" smtClean="0"/>
            <a:t>Ley Orgánica contra la Delincuencia Organizada y    Financiamiento al Terrorismo. Gaceta Oficial N° 39.912 del 30 de abril de 2012. </a:t>
          </a:r>
          <a:endParaRPr lang="es-VE" sz="1400" b="1" dirty="0"/>
        </a:p>
      </dgm:t>
    </dgm:pt>
    <dgm:pt modelId="{66FA8BF4-7197-48BB-A239-A6981908A634}" type="parTrans" cxnId="{CF035962-536B-4921-BFF8-A790F002B4C3}">
      <dgm:prSet/>
      <dgm:spPr/>
      <dgm:t>
        <a:bodyPr/>
        <a:lstStyle/>
        <a:p>
          <a:endParaRPr lang="es-VE"/>
        </a:p>
      </dgm:t>
    </dgm:pt>
    <dgm:pt modelId="{8C3C7A4D-072F-432F-AB15-FEF614C7D35F}" type="sibTrans" cxnId="{CF035962-536B-4921-BFF8-A790F002B4C3}">
      <dgm:prSet/>
      <dgm:spPr/>
      <dgm:t>
        <a:bodyPr/>
        <a:lstStyle/>
        <a:p>
          <a:endParaRPr lang="es-VE"/>
        </a:p>
      </dgm:t>
    </dgm:pt>
    <dgm:pt modelId="{54B02560-7B98-445A-B450-F30A5630A34B}">
      <dgm:prSet phldrT="[Texto]" custT="1"/>
      <dgm:spPr>
        <a:solidFill>
          <a:schemeClr val="bg1"/>
        </a:solidFill>
      </dgm:spPr>
      <dgm:t>
        <a:bodyPr/>
        <a:lstStyle/>
        <a:p>
          <a:r>
            <a:rPr lang="es-VE" sz="1600" b="1" dirty="0" smtClean="0"/>
            <a:t>NORMATIVA A NIVEL INTERNACIONAL</a:t>
          </a:r>
          <a:endParaRPr lang="es-VE" sz="1600" dirty="0"/>
        </a:p>
      </dgm:t>
    </dgm:pt>
    <dgm:pt modelId="{B882438F-E796-404E-9880-3F0D47D7F385}" type="parTrans" cxnId="{A52CA386-AE61-42BC-9C6E-FDA794315D82}">
      <dgm:prSet/>
      <dgm:spPr/>
      <dgm:t>
        <a:bodyPr/>
        <a:lstStyle/>
        <a:p>
          <a:endParaRPr lang="es-VE"/>
        </a:p>
      </dgm:t>
    </dgm:pt>
    <dgm:pt modelId="{9A182845-607D-41DE-9B16-CA4DD8B353EB}" type="sibTrans" cxnId="{A52CA386-AE61-42BC-9C6E-FDA794315D82}">
      <dgm:prSet/>
      <dgm:spPr/>
      <dgm:t>
        <a:bodyPr/>
        <a:lstStyle/>
        <a:p>
          <a:endParaRPr lang="es-VE"/>
        </a:p>
      </dgm:t>
    </dgm:pt>
    <dgm:pt modelId="{66B65A66-58B9-4079-9D15-DA513B70C1D4}">
      <dgm:prSet phldrT="[Texto]" custT="1"/>
      <dgm:spPr>
        <a:solidFill>
          <a:schemeClr val="accent5">
            <a:lumMod val="20000"/>
            <a:lumOff val="80000"/>
          </a:schemeClr>
        </a:solidFill>
        <a:scene3d>
          <a:camera prst="orthographicFront"/>
          <a:lightRig rig="flat" dir="t"/>
        </a:scene3d>
      </dgm:spPr>
      <dgm:t>
        <a:bodyPr/>
        <a:lstStyle/>
        <a:p>
          <a:r>
            <a:rPr lang="es-VE" sz="1400" b="1" dirty="0" smtClean="0"/>
            <a:t>Convención de Viena de 1988: Convención de Naciones Unidas contra el tráfico de estupefacientes y sustancias psicotrópicas. Gaceta Oficial N° 34.741 del 21 de junio de 1991</a:t>
          </a:r>
          <a:r>
            <a:rPr lang="es-VE" sz="1400" dirty="0" smtClean="0"/>
            <a:t>. </a:t>
          </a:r>
          <a:endParaRPr lang="es-VE" sz="1400" dirty="0"/>
        </a:p>
      </dgm:t>
    </dgm:pt>
    <dgm:pt modelId="{E83C2318-7315-40F6-96DC-859AC5B3AAAC}" type="parTrans" cxnId="{930DDDE3-21CB-4FA7-BD84-7142B7113CDB}">
      <dgm:prSet/>
      <dgm:spPr/>
      <dgm:t>
        <a:bodyPr/>
        <a:lstStyle/>
        <a:p>
          <a:endParaRPr lang="es-VE"/>
        </a:p>
      </dgm:t>
    </dgm:pt>
    <dgm:pt modelId="{B2922078-4240-48D2-BE7B-755E7DA64B3B}" type="sibTrans" cxnId="{930DDDE3-21CB-4FA7-BD84-7142B7113CDB}">
      <dgm:prSet/>
      <dgm:spPr/>
      <dgm:t>
        <a:bodyPr/>
        <a:lstStyle/>
        <a:p>
          <a:endParaRPr lang="es-VE"/>
        </a:p>
      </dgm:t>
    </dgm:pt>
    <dgm:pt modelId="{2CE4F329-E411-43B9-9A7A-FCBA1BA94025}">
      <dgm:prSet phldrT="[Texto]" custT="1"/>
      <dgm:spPr>
        <a:solidFill>
          <a:schemeClr val="accent5">
            <a:lumMod val="20000"/>
            <a:lumOff val="80000"/>
          </a:schemeClr>
        </a:solidFill>
      </dgm:spPr>
      <dgm:t>
        <a:bodyPr/>
        <a:lstStyle/>
        <a:p>
          <a:r>
            <a:rPr lang="es-VE" sz="1400" b="1" dirty="0" smtClean="0"/>
            <a:t>Convenio de Naciones Unidas para la represión de la financiación del terrorismo de 1989. Gaceta Oficial N° 37.727 del 8 de julio de 2003</a:t>
          </a:r>
          <a:endParaRPr lang="es-VE" sz="1400" b="1" dirty="0"/>
        </a:p>
      </dgm:t>
    </dgm:pt>
    <dgm:pt modelId="{3B486F37-595F-409B-9788-94D4D6C15D7C}" type="parTrans" cxnId="{AC242B8D-21D1-4C7C-8D11-59C92D04D131}">
      <dgm:prSet/>
      <dgm:spPr/>
      <dgm:t>
        <a:bodyPr/>
        <a:lstStyle/>
        <a:p>
          <a:endParaRPr lang="es-VE"/>
        </a:p>
      </dgm:t>
    </dgm:pt>
    <dgm:pt modelId="{B1576A51-55D2-4F17-9783-9DF0FB932869}" type="sibTrans" cxnId="{AC242B8D-21D1-4C7C-8D11-59C92D04D131}">
      <dgm:prSet/>
      <dgm:spPr/>
      <dgm:t>
        <a:bodyPr/>
        <a:lstStyle/>
        <a:p>
          <a:endParaRPr lang="es-VE"/>
        </a:p>
      </dgm:t>
    </dgm:pt>
    <dgm:pt modelId="{9ED6E565-2B1C-4402-B4F0-9EF11355FE06}">
      <dgm:prSet phldrT="[Texto]" custT="1"/>
      <dgm:spPr>
        <a:solidFill>
          <a:schemeClr val="bg1"/>
        </a:solidFill>
      </dgm:spPr>
      <dgm:t>
        <a:bodyPr/>
        <a:lstStyle/>
        <a:p>
          <a:r>
            <a:rPr lang="es-VE" sz="1600" b="1" dirty="0" smtClean="0"/>
            <a:t>NORMATIVAS REFERENCIALES</a:t>
          </a:r>
          <a:endParaRPr lang="es-VE" sz="1600" b="1" dirty="0"/>
        </a:p>
      </dgm:t>
    </dgm:pt>
    <dgm:pt modelId="{31C99DB8-FEA9-456B-AB16-C143B7BD6DF3}" type="parTrans" cxnId="{0A1C7375-E099-4E98-B401-8CD9E0C562CD}">
      <dgm:prSet/>
      <dgm:spPr/>
      <dgm:t>
        <a:bodyPr/>
        <a:lstStyle/>
        <a:p>
          <a:endParaRPr lang="es-VE"/>
        </a:p>
      </dgm:t>
    </dgm:pt>
    <dgm:pt modelId="{BE802F7F-B796-4FF0-8142-8E590A8740CA}" type="sibTrans" cxnId="{0A1C7375-E099-4E98-B401-8CD9E0C562CD}">
      <dgm:prSet/>
      <dgm:spPr/>
      <dgm:t>
        <a:bodyPr/>
        <a:lstStyle/>
        <a:p>
          <a:endParaRPr lang="es-VE"/>
        </a:p>
      </dgm:t>
    </dgm:pt>
    <dgm:pt modelId="{55C0C65C-44FB-4CB6-BC5E-BF1287AD3F95}">
      <dgm:prSet phldrT="[Texto]" custT="1"/>
      <dgm:spPr>
        <a:solidFill>
          <a:schemeClr val="accent5">
            <a:lumMod val="20000"/>
            <a:lumOff val="80000"/>
          </a:schemeClr>
        </a:solidFill>
      </dgm:spPr>
      <dgm:t>
        <a:bodyPr/>
        <a:lstStyle/>
        <a:p>
          <a:r>
            <a:rPr lang="es-VE" sz="1400" b="1" dirty="0" smtClean="0"/>
            <a:t>Decreto No. 1.402 mediante el cual se dicta el Decreto con Rango, Valor y Fuerza de Ley de Instituciones del Sector Bancario, de fecha 13 de noviembre de 2014, publicada en Gaceta Oficial de la República Bolivariana de Venezuela No. 6.154 Extraordinario de fecha 19 de noviembre de 2014</a:t>
          </a:r>
          <a:r>
            <a:rPr lang="es-VE" sz="1200" b="1" dirty="0" smtClean="0"/>
            <a:t>. </a:t>
          </a:r>
          <a:endParaRPr lang="es-VE" sz="1200" b="1" dirty="0"/>
        </a:p>
      </dgm:t>
    </dgm:pt>
    <dgm:pt modelId="{94D20D8F-9123-42EC-BE77-72C5C6D99B60}" type="parTrans" cxnId="{FBD05736-6B96-4696-979D-E098F3A23476}">
      <dgm:prSet/>
      <dgm:spPr/>
      <dgm:t>
        <a:bodyPr/>
        <a:lstStyle/>
        <a:p>
          <a:endParaRPr lang="es-VE"/>
        </a:p>
      </dgm:t>
    </dgm:pt>
    <dgm:pt modelId="{CBE15894-6131-4D14-8CFA-895E366DF2B7}" type="sibTrans" cxnId="{FBD05736-6B96-4696-979D-E098F3A23476}">
      <dgm:prSet/>
      <dgm:spPr/>
      <dgm:t>
        <a:bodyPr/>
        <a:lstStyle/>
        <a:p>
          <a:endParaRPr lang="es-VE"/>
        </a:p>
      </dgm:t>
    </dgm:pt>
    <dgm:pt modelId="{6A6661DC-6E6B-41BC-A9AB-1D1F2F040998}">
      <dgm:prSet phldrT="[Texto]" custT="1"/>
      <dgm:spPr>
        <a:solidFill>
          <a:schemeClr val="accent5">
            <a:lumMod val="20000"/>
            <a:lumOff val="80000"/>
          </a:schemeClr>
        </a:solidFill>
      </dgm:spPr>
      <dgm:t>
        <a:bodyPr/>
        <a:lstStyle/>
        <a:p>
          <a:r>
            <a:rPr lang="es-VE" sz="1400" b="1" dirty="0" smtClean="0"/>
            <a:t>Providencia 209 de la Superintendencia Nacional de Valores, publicada en Gaceta Oficial de la República de Venezuela No. 42.115 de fecha 08 de abril de 2021</a:t>
          </a:r>
          <a:r>
            <a:rPr lang="es-VE" sz="1050" b="1" dirty="0" smtClean="0"/>
            <a:t>.</a:t>
          </a:r>
          <a:endParaRPr lang="es-VE" sz="1050" b="1" dirty="0"/>
        </a:p>
      </dgm:t>
    </dgm:pt>
    <dgm:pt modelId="{AB70F8B3-D0F8-431C-99BA-98A884A99C7F}" type="parTrans" cxnId="{43A2062F-74E4-40F3-81CB-BFCAFC3E9C88}">
      <dgm:prSet/>
      <dgm:spPr/>
      <dgm:t>
        <a:bodyPr/>
        <a:lstStyle/>
        <a:p>
          <a:endParaRPr lang="es-VE"/>
        </a:p>
      </dgm:t>
    </dgm:pt>
    <dgm:pt modelId="{3D228C75-40E1-4164-8712-478801A16CE6}" type="sibTrans" cxnId="{43A2062F-74E4-40F3-81CB-BFCAFC3E9C88}">
      <dgm:prSet/>
      <dgm:spPr/>
      <dgm:t>
        <a:bodyPr/>
        <a:lstStyle/>
        <a:p>
          <a:endParaRPr lang="es-VE"/>
        </a:p>
      </dgm:t>
    </dgm:pt>
    <dgm:pt modelId="{2AD9C89B-9ED7-498E-8317-57304E66C205}">
      <dgm:prSet phldrT="[Texto]" custT="1"/>
      <dgm:spPr>
        <a:solidFill>
          <a:schemeClr val="accent5">
            <a:lumMod val="20000"/>
            <a:lumOff val="80000"/>
          </a:schemeClr>
        </a:solidFill>
      </dgm:spPr>
      <dgm:t>
        <a:bodyPr/>
        <a:lstStyle/>
        <a:p>
          <a:r>
            <a:rPr lang="es-VE" sz="1400" b="1" dirty="0" smtClean="0"/>
            <a:t>Ley Orgánica de Drogas. Gaceta Oficial N° 39.510 del 15 de septiembre de 2010</a:t>
          </a:r>
          <a:endParaRPr lang="es-VE" sz="1400" b="1" dirty="0"/>
        </a:p>
      </dgm:t>
    </dgm:pt>
    <dgm:pt modelId="{6CE66A85-5C29-4D45-9379-B347A15FA0FE}" type="parTrans" cxnId="{13C08BA8-097A-4E9E-830A-065E46E3ECB2}">
      <dgm:prSet/>
      <dgm:spPr/>
      <dgm:t>
        <a:bodyPr/>
        <a:lstStyle/>
        <a:p>
          <a:endParaRPr lang="es-VE"/>
        </a:p>
      </dgm:t>
    </dgm:pt>
    <dgm:pt modelId="{BDA82A12-380A-468A-BB99-864E7C30BB90}" type="sibTrans" cxnId="{13C08BA8-097A-4E9E-830A-065E46E3ECB2}">
      <dgm:prSet/>
      <dgm:spPr/>
      <dgm:t>
        <a:bodyPr/>
        <a:lstStyle/>
        <a:p>
          <a:endParaRPr lang="es-VE"/>
        </a:p>
      </dgm:t>
    </dgm:pt>
    <dgm:pt modelId="{A4815225-B6C1-4513-B96B-53835A1EC97B}">
      <dgm:prSet phldrT="[Texto]" custT="1"/>
      <dgm:spPr>
        <a:solidFill>
          <a:schemeClr val="accent5">
            <a:lumMod val="20000"/>
            <a:lumOff val="80000"/>
          </a:schemeClr>
        </a:solidFill>
      </dgm:spPr>
      <dgm:t>
        <a:bodyPr/>
        <a:lstStyle/>
        <a:p>
          <a:r>
            <a:rPr lang="es-VE" sz="1400" b="1" dirty="0" smtClean="0"/>
            <a:t>Ley de la Actividad Aseguradora. Gaceta Oficial N° 6.220 Extraordinario de 15 de marzo de 2016. </a:t>
          </a:r>
          <a:endParaRPr lang="es-VE" sz="1400" b="1" dirty="0"/>
        </a:p>
      </dgm:t>
    </dgm:pt>
    <dgm:pt modelId="{23E0C26E-21DC-4BCA-B5F1-996DEC4A5D35}" type="parTrans" cxnId="{7F6DD8E1-ACA3-4797-B067-6EB7D4EB3A86}">
      <dgm:prSet/>
      <dgm:spPr/>
      <dgm:t>
        <a:bodyPr/>
        <a:lstStyle/>
        <a:p>
          <a:endParaRPr lang="es-VE"/>
        </a:p>
      </dgm:t>
    </dgm:pt>
    <dgm:pt modelId="{022101C2-8520-4685-84D1-1C983FB8F716}" type="sibTrans" cxnId="{7F6DD8E1-ACA3-4797-B067-6EB7D4EB3A86}">
      <dgm:prSet/>
      <dgm:spPr/>
      <dgm:t>
        <a:bodyPr/>
        <a:lstStyle/>
        <a:p>
          <a:endParaRPr lang="es-VE"/>
        </a:p>
      </dgm:t>
    </dgm:pt>
    <dgm:pt modelId="{413C47F7-17AE-400A-83CF-8B1A115FD53D}" type="pres">
      <dgm:prSet presAssocID="{9E116913-7D4F-4E6D-B068-D39B1959B079}" presName="theList" presStyleCnt="0">
        <dgm:presLayoutVars>
          <dgm:dir/>
          <dgm:animLvl val="lvl"/>
          <dgm:resizeHandles val="exact"/>
        </dgm:presLayoutVars>
      </dgm:prSet>
      <dgm:spPr/>
      <dgm:t>
        <a:bodyPr/>
        <a:lstStyle/>
        <a:p>
          <a:endParaRPr lang="es-VE"/>
        </a:p>
      </dgm:t>
    </dgm:pt>
    <dgm:pt modelId="{A279A46F-94A5-4875-B2A6-F915973CE679}" type="pres">
      <dgm:prSet presAssocID="{6E77BEB5-38FA-464A-9D76-99FFAF6B04D5}" presName="compNode" presStyleCnt="0"/>
      <dgm:spPr/>
    </dgm:pt>
    <dgm:pt modelId="{AF7585B5-9FA5-4602-957E-3C1E2A7CFE14}" type="pres">
      <dgm:prSet presAssocID="{6E77BEB5-38FA-464A-9D76-99FFAF6B04D5}" presName="aNode" presStyleLbl="bgShp" presStyleIdx="0" presStyleCnt="3" custLinFactNeighborX="-5530" custLinFactNeighborY="0"/>
      <dgm:spPr/>
      <dgm:t>
        <a:bodyPr/>
        <a:lstStyle/>
        <a:p>
          <a:endParaRPr lang="es-VE"/>
        </a:p>
      </dgm:t>
    </dgm:pt>
    <dgm:pt modelId="{D60B0787-F39C-4035-B29F-45D176B4B778}" type="pres">
      <dgm:prSet presAssocID="{6E77BEB5-38FA-464A-9D76-99FFAF6B04D5}" presName="textNode" presStyleLbl="bgShp" presStyleIdx="0" presStyleCnt="3"/>
      <dgm:spPr/>
      <dgm:t>
        <a:bodyPr/>
        <a:lstStyle/>
        <a:p>
          <a:endParaRPr lang="es-VE"/>
        </a:p>
      </dgm:t>
    </dgm:pt>
    <dgm:pt modelId="{4A6836B6-8461-4289-924F-B988FF0B00BB}" type="pres">
      <dgm:prSet presAssocID="{6E77BEB5-38FA-464A-9D76-99FFAF6B04D5}" presName="compChildNode" presStyleCnt="0"/>
      <dgm:spPr/>
    </dgm:pt>
    <dgm:pt modelId="{B31EC433-F8A4-4F9B-B711-49061D937776}" type="pres">
      <dgm:prSet presAssocID="{6E77BEB5-38FA-464A-9D76-99FFAF6B04D5}" presName="theInnerList" presStyleCnt="0"/>
      <dgm:spPr/>
    </dgm:pt>
    <dgm:pt modelId="{45AC4544-C428-4EB5-99A4-B7E0C96C659B}" type="pres">
      <dgm:prSet presAssocID="{7753A9D6-FD8A-4CC2-8880-7DB7F5417431}" presName="childNode" presStyleLbl="node1" presStyleIdx="0" presStyleCnt="8" custScaleY="936122" custLinFactY="-424838" custLinFactNeighborX="-5873" custLinFactNeighborY="-500000">
        <dgm:presLayoutVars>
          <dgm:bulletEnabled val="1"/>
        </dgm:presLayoutVars>
      </dgm:prSet>
      <dgm:spPr/>
      <dgm:t>
        <a:bodyPr/>
        <a:lstStyle/>
        <a:p>
          <a:endParaRPr lang="es-VE"/>
        </a:p>
      </dgm:t>
    </dgm:pt>
    <dgm:pt modelId="{7905FF3A-C75B-4E34-B3B3-C02742851F9E}" type="pres">
      <dgm:prSet presAssocID="{7753A9D6-FD8A-4CC2-8880-7DB7F5417431}" presName="aSpace2" presStyleCnt="0"/>
      <dgm:spPr/>
    </dgm:pt>
    <dgm:pt modelId="{4C8FA99B-9EE4-4096-BF55-4C3502C8EA3C}" type="pres">
      <dgm:prSet presAssocID="{B8206901-C924-48BE-BDC4-81BC1C80140D}" presName="childNode" presStyleLbl="node1" presStyleIdx="1" presStyleCnt="8" custScaleX="107903" custScaleY="1695920" custLinFactY="-287564" custLinFactNeighborX="-1921" custLinFactNeighborY="-300000">
        <dgm:presLayoutVars>
          <dgm:bulletEnabled val="1"/>
        </dgm:presLayoutVars>
      </dgm:prSet>
      <dgm:spPr/>
      <dgm:t>
        <a:bodyPr/>
        <a:lstStyle/>
        <a:p>
          <a:endParaRPr lang="es-VE"/>
        </a:p>
      </dgm:t>
    </dgm:pt>
    <dgm:pt modelId="{89C0CD3C-D0A6-4AA4-B285-FF3FB0F04F81}" type="pres">
      <dgm:prSet presAssocID="{B8206901-C924-48BE-BDC4-81BC1C80140D}" presName="aSpace2" presStyleCnt="0"/>
      <dgm:spPr/>
    </dgm:pt>
    <dgm:pt modelId="{49B749A0-9912-4478-A4F3-A83BC5C11F9D}" type="pres">
      <dgm:prSet presAssocID="{2AD9C89B-9ED7-498E-8317-57304E66C205}" presName="childNode" presStyleLbl="node1" presStyleIdx="2" presStyleCnt="8" custScaleX="105485" custScaleY="1248511" custLinFactY="7562" custLinFactNeighborX="-3130" custLinFactNeighborY="100000">
        <dgm:presLayoutVars>
          <dgm:bulletEnabled val="1"/>
        </dgm:presLayoutVars>
      </dgm:prSet>
      <dgm:spPr/>
      <dgm:t>
        <a:bodyPr/>
        <a:lstStyle/>
        <a:p>
          <a:endParaRPr lang="es-VE"/>
        </a:p>
      </dgm:t>
    </dgm:pt>
    <dgm:pt modelId="{BDA6243F-33F2-4DE3-9E05-8EBD756CC125}" type="pres">
      <dgm:prSet presAssocID="{2AD9C89B-9ED7-498E-8317-57304E66C205}" presName="aSpace2" presStyleCnt="0"/>
      <dgm:spPr/>
    </dgm:pt>
    <dgm:pt modelId="{A3E0E94E-129F-45E6-82F1-CD9DE6828187}" type="pres">
      <dgm:prSet presAssocID="{A4815225-B6C1-4513-B96B-53835A1EC97B}" presName="childNode" presStyleLbl="node1" presStyleIdx="3" presStyleCnt="8" custScaleY="1567702" custLinFactY="195143" custLinFactNeighborX="-2535" custLinFactNeighborY="200000">
        <dgm:presLayoutVars>
          <dgm:bulletEnabled val="1"/>
        </dgm:presLayoutVars>
      </dgm:prSet>
      <dgm:spPr/>
      <dgm:t>
        <a:bodyPr/>
        <a:lstStyle/>
        <a:p>
          <a:endParaRPr lang="es-VE"/>
        </a:p>
      </dgm:t>
    </dgm:pt>
    <dgm:pt modelId="{42D411D1-88D4-41FC-BDFB-8EC5FB5EDEB9}" type="pres">
      <dgm:prSet presAssocID="{6E77BEB5-38FA-464A-9D76-99FFAF6B04D5}" presName="aSpace" presStyleCnt="0"/>
      <dgm:spPr/>
    </dgm:pt>
    <dgm:pt modelId="{D6349BBB-1DC8-4110-AF28-7E06D4734698}" type="pres">
      <dgm:prSet presAssocID="{54B02560-7B98-445A-B450-F30A5630A34B}" presName="compNode" presStyleCnt="0"/>
      <dgm:spPr/>
    </dgm:pt>
    <dgm:pt modelId="{DDD30BA9-7AC9-432F-8ECF-F6E4E3CE2934}" type="pres">
      <dgm:prSet presAssocID="{54B02560-7B98-445A-B450-F30A5630A34B}" presName="aNode" presStyleLbl="bgShp" presStyleIdx="1" presStyleCnt="3" custLinFactNeighborX="-3054" custLinFactNeighborY="0"/>
      <dgm:spPr/>
      <dgm:t>
        <a:bodyPr/>
        <a:lstStyle/>
        <a:p>
          <a:endParaRPr lang="es-VE"/>
        </a:p>
      </dgm:t>
    </dgm:pt>
    <dgm:pt modelId="{EEBB152A-958D-4D1E-AD1E-6E13C1E3EA68}" type="pres">
      <dgm:prSet presAssocID="{54B02560-7B98-445A-B450-F30A5630A34B}" presName="textNode" presStyleLbl="bgShp" presStyleIdx="1" presStyleCnt="3"/>
      <dgm:spPr/>
      <dgm:t>
        <a:bodyPr/>
        <a:lstStyle/>
        <a:p>
          <a:endParaRPr lang="es-VE"/>
        </a:p>
      </dgm:t>
    </dgm:pt>
    <dgm:pt modelId="{C18957BE-0EF5-46CE-BAFE-742D02CF846F}" type="pres">
      <dgm:prSet presAssocID="{54B02560-7B98-445A-B450-F30A5630A34B}" presName="compChildNode" presStyleCnt="0"/>
      <dgm:spPr/>
    </dgm:pt>
    <dgm:pt modelId="{663C9804-91E6-4D9E-BFE4-91E30580EA45}" type="pres">
      <dgm:prSet presAssocID="{54B02560-7B98-445A-B450-F30A5630A34B}" presName="theInnerList" presStyleCnt="0"/>
      <dgm:spPr/>
    </dgm:pt>
    <dgm:pt modelId="{C2A17A0D-A81E-4080-9EF6-00D525304F03}" type="pres">
      <dgm:prSet presAssocID="{66B65A66-58B9-4079-9D15-DA513B70C1D4}" presName="childNode" presStyleLbl="node1" presStyleIdx="4" presStyleCnt="8" custScaleY="44212" custLinFactNeighborX="3239" custLinFactNeighborY="-92477">
        <dgm:presLayoutVars>
          <dgm:bulletEnabled val="1"/>
        </dgm:presLayoutVars>
      </dgm:prSet>
      <dgm:spPr/>
      <dgm:t>
        <a:bodyPr/>
        <a:lstStyle/>
        <a:p>
          <a:endParaRPr lang="es-VE"/>
        </a:p>
      </dgm:t>
    </dgm:pt>
    <dgm:pt modelId="{05C9DAA2-D768-4600-BFCE-AAAE71E8D587}" type="pres">
      <dgm:prSet presAssocID="{66B65A66-58B9-4079-9D15-DA513B70C1D4}" presName="aSpace2" presStyleCnt="0"/>
      <dgm:spPr/>
    </dgm:pt>
    <dgm:pt modelId="{4049B3CF-1B30-45B8-9AFB-F5F099A7882C}" type="pres">
      <dgm:prSet presAssocID="{2CE4F329-E411-43B9-9A7A-FCBA1BA94025}" presName="childNode" presStyleLbl="node1" presStyleIdx="5" presStyleCnt="8" custScaleX="92380" custScaleY="47516" custLinFactY="-9048" custLinFactNeighborX="3344" custLinFactNeighborY="-100000">
        <dgm:presLayoutVars>
          <dgm:bulletEnabled val="1"/>
        </dgm:presLayoutVars>
      </dgm:prSet>
      <dgm:spPr/>
      <dgm:t>
        <a:bodyPr/>
        <a:lstStyle/>
        <a:p>
          <a:endParaRPr lang="es-VE"/>
        </a:p>
      </dgm:t>
    </dgm:pt>
    <dgm:pt modelId="{D81B9D68-E427-4039-9A9C-89D0D6CBFEC9}" type="pres">
      <dgm:prSet presAssocID="{54B02560-7B98-445A-B450-F30A5630A34B}" presName="aSpace" presStyleCnt="0"/>
      <dgm:spPr/>
    </dgm:pt>
    <dgm:pt modelId="{3F8FEA77-51EA-44A6-9F76-9A91DDA3A1E2}" type="pres">
      <dgm:prSet presAssocID="{9ED6E565-2B1C-4402-B4F0-9EF11355FE06}" presName="compNode" presStyleCnt="0"/>
      <dgm:spPr/>
    </dgm:pt>
    <dgm:pt modelId="{C64A284C-A87F-49CA-A22E-E2116CAD085C}" type="pres">
      <dgm:prSet presAssocID="{9ED6E565-2B1C-4402-B4F0-9EF11355FE06}" presName="aNode" presStyleLbl="bgShp" presStyleIdx="2" presStyleCnt="3"/>
      <dgm:spPr/>
      <dgm:t>
        <a:bodyPr/>
        <a:lstStyle/>
        <a:p>
          <a:endParaRPr lang="es-VE"/>
        </a:p>
      </dgm:t>
    </dgm:pt>
    <dgm:pt modelId="{C8AFCFAC-02A6-4AA5-8C79-F4B24B30276B}" type="pres">
      <dgm:prSet presAssocID="{9ED6E565-2B1C-4402-B4F0-9EF11355FE06}" presName="textNode" presStyleLbl="bgShp" presStyleIdx="2" presStyleCnt="3"/>
      <dgm:spPr/>
      <dgm:t>
        <a:bodyPr/>
        <a:lstStyle/>
        <a:p>
          <a:endParaRPr lang="es-VE"/>
        </a:p>
      </dgm:t>
    </dgm:pt>
    <dgm:pt modelId="{92956451-337E-4C41-98AB-F2B1AA1F8717}" type="pres">
      <dgm:prSet presAssocID="{9ED6E565-2B1C-4402-B4F0-9EF11355FE06}" presName="compChildNode" presStyleCnt="0"/>
      <dgm:spPr/>
    </dgm:pt>
    <dgm:pt modelId="{40B007F2-3033-4484-9FF9-462BD01B3B8E}" type="pres">
      <dgm:prSet presAssocID="{9ED6E565-2B1C-4402-B4F0-9EF11355FE06}" presName="theInnerList" presStyleCnt="0"/>
      <dgm:spPr/>
    </dgm:pt>
    <dgm:pt modelId="{1637F5D0-5ECA-4D67-80D0-A7D8B4963099}" type="pres">
      <dgm:prSet presAssocID="{55C0C65C-44FB-4CB6-BC5E-BF1287AD3F95}" presName="childNode" presStyleLbl="node1" presStyleIdx="6" presStyleCnt="8" custScaleX="136541" custScaleY="2000000" custLinFactY="-300000" custLinFactNeighborX="-4628" custLinFactNeighborY="-349803">
        <dgm:presLayoutVars>
          <dgm:bulletEnabled val="1"/>
        </dgm:presLayoutVars>
      </dgm:prSet>
      <dgm:spPr/>
      <dgm:t>
        <a:bodyPr/>
        <a:lstStyle/>
        <a:p>
          <a:endParaRPr lang="es-VE"/>
        </a:p>
      </dgm:t>
    </dgm:pt>
    <dgm:pt modelId="{797A7EC3-8E03-4848-9184-24C7D8ECC579}" type="pres">
      <dgm:prSet presAssocID="{55C0C65C-44FB-4CB6-BC5E-BF1287AD3F95}" presName="aSpace2" presStyleCnt="0"/>
      <dgm:spPr/>
    </dgm:pt>
    <dgm:pt modelId="{1F2EA797-42C7-4521-9F14-5A4876912B29}" type="pres">
      <dgm:prSet presAssocID="{6A6661DC-6E6B-41BC-A9AB-1D1F2F040998}" presName="childNode" presStyleLbl="node1" presStyleIdx="7" presStyleCnt="8" custScaleY="1461924">
        <dgm:presLayoutVars>
          <dgm:bulletEnabled val="1"/>
        </dgm:presLayoutVars>
      </dgm:prSet>
      <dgm:spPr/>
      <dgm:t>
        <a:bodyPr/>
        <a:lstStyle/>
        <a:p>
          <a:endParaRPr lang="es-VE"/>
        </a:p>
      </dgm:t>
    </dgm:pt>
  </dgm:ptLst>
  <dgm:cxnLst>
    <dgm:cxn modelId="{6CE2E244-71F8-4508-B2AE-7C2C98EFBF69}" type="presOf" srcId="{6A6661DC-6E6B-41BC-A9AB-1D1F2F040998}" destId="{1F2EA797-42C7-4521-9F14-5A4876912B29}" srcOrd="0" destOrd="0" presId="urn:microsoft.com/office/officeart/2005/8/layout/lProcess2"/>
    <dgm:cxn modelId="{AC242B8D-21D1-4C7C-8D11-59C92D04D131}" srcId="{54B02560-7B98-445A-B450-F30A5630A34B}" destId="{2CE4F329-E411-43B9-9A7A-FCBA1BA94025}" srcOrd="1" destOrd="0" parTransId="{3B486F37-595F-409B-9788-94D4D6C15D7C}" sibTransId="{B1576A51-55D2-4F17-9783-9DF0FB932869}"/>
    <dgm:cxn modelId="{930DDDE3-21CB-4FA7-BD84-7142B7113CDB}" srcId="{54B02560-7B98-445A-B450-F30A5630A34B}" destId="{66B65A66-58B9-4079-9D15-DA513B70C1D4}" srcOrd="0" destOrd="0" parTransId="{E83C2318-7315-40F6-96DC-859AC5B3AAAC}" sibTransId="{B2922078-4240-48D2-BE7B-755E7DA64B3B}"/>
    <dgm:cxn modelId="{4BB951E8-E8DE-45DA-945F-0133E962F35B}" type="presOf" srcId="{6E77BEB5-38FA-464A-9D76-99FFAF6B04D5}" destId="{AF7585B5-9FA5-4602-957E-3C1E2A7CFE14}" srcOrd="0" destOrd="0" presId="urn:microsoft.com/office/officeart/2005/8/layout/lProcess2"/>
    <dgm:cxn modelId="{719E4774-EEE4-4554-8B45-C276FB3461E9}" type="presOf" srcId="{B8206901-C924-48BE-BDC4-81BC1C80140D}" destId="{4C8FA99B-9EE4-4096-BF55-4C3502C8EA3C}" srcOrd="0" destOrd="0" presId="urn:microsoft.com/office/officeart/2005/8/layout/lProcess2"/>
    <dgm:cxn modelId="{D1758C9C-9A35-4E42-B09B-D744A15E65EF}" type="presOf" srcId="{2AD9C89B-9ED7-498E-8317-57304E66C205}" destId="{49B749A0-9912-4478-A4F3-A83BC5C11F9D}" srcOrd="0" destOrd="0" presId="urn:microsoft.com/office/officeart/2005/8/layout/lProcess2"/>
    <dgm:cxn modelId="{51E3D155-6227-47A7-9047-3476AC5CEE8D}" type="presOf" srcId="{9E116913-7D4F-4E6D-B068-D39B1959B079}" destId="{413C47F7-17AE-400A-83CF-8B1A115FD53D}" srcOrd="0" destOrd="0" presId="urn:microsoft.com/office/officeart/2005/8/layout/lProcess2"/>
    <dgm:cxn modelId="{39C304F4-1722-4730-86FA-34039C14094E}" type="presOf" srcId="{54B02560-7B98-445A-B450-F30A5630A34B}" destId="{DDD30BA9-7AC9-432F-8ECF-F6E4E3CE2934}" srcOrd="0" destOrd="0" presId="urn:microsoft.com/office/officeart/2005/8/layout/lProcess2"/>
    <dgm:cxn modelId="{96E61D82-B29B-4F51-8E76-E9D3202F9084}" srcId="{9E116913-7D4F-4E6D-B068-D39B1959B079}" destId="{6E77BEB5-38FA-464A-9D76-99FFAF6B04D5}" srcOrd="0" destOrd="0" parTransId="{F505B6A4-ED92-4595-B655-56DBC7B67FF8}" sibTransId="{10C9ECC1-9E21-49D3-ABD2-43430429C542}"/>
    <dgm:cxn modelId="{7F6DD8E1-ACA3-4797-B067-6EB7D4EB3A86}" srcId="{6E77BEB5-38FA-464A-9D76-99FFAF6B04D5}" destId="{A4815225-B6C1-4513-B96B-53835A1EC97B}" srcOrd="3" destOrd="0" parTransId="{23E0C26E-21DC-4BCA-B5F1-996DEC4A5D35}" sibTransId="{022101C2-8520-4685-84D1-1C983FB8F716}"/>
    <dgm:cxn modelId="{FBD05736-6B96-4696-979D-E098F3A23476}" srcId="{9ED6E565-2B1C-4402-B4F0-9EF11355FE06}" destId="{55C0C65C-44FB-4CB6-BC5E-BF1287AD3F95}" srcOrd="0" destOrd="0" parTransId="{94D20D8F-9123-42EC-BE77-72C5C6D99B60}" sibTransId="{CBE15894-6131-4D14-8CFA-895E366DF2B7}"/>
    <dgm:cxn modelId="{224F8389-ACB8-4269-A008-9ABD73FC4A35}" type="presOf" srcId="{9ED6E565-2B1C-4402-B4F0-9EF11355FE06}" destId="{C8AFCFAC-02A6-4AA5-8C79-F4B24B30276B}" srcOrd="1" destOrd="0" presId="urn:microsoft.com/office/officeart/2005/8/layout/lProcess2"/>
    <dgm:cxn modelId="{C6D7F602-56D7-446C-8B7F-1E4C6019FBC4}" type="presOf" srcId="{54B02560-7B98-445A-B450-F30A5630A34B}" destId="{EEBB152A-958D-4D1E-AD1E-6E13C1E3EA68}" srcOrd="1" destOrd="0" presId="urn:microsoft.com/office/officeart/2005/8/layout/lProcess2"/>
    <dgm:cxn modelId="{0BA2A0CE-395F-4FD2-8656-0603748CB105}" type="presOf" srcId="{9ED6E565-2B1C-4402-B4F0-9EF11355FE06}" destId="{C64A284C-A87F-49CA-A22E-E2116CAD085C}" srcOrd="0" destOrd="0" presId="urn:microsoft.com/office/officeart/2005/8/layout/lProcess2"/>
    <dgm:cxn modelId="{BE25DC92-3FEF-437E-8C23-8CD918CD8DC5}" type="presOf" srcId="{A4815225-B6C1-4513-B96B-53835A1EC97B}" destId="{A3E0E94E-129F-45E6-82F1-CD9DE6828187}" srcOrd="0" destOrd="0" presId="urn:microsoft.com/office/officeart/2005/8/layout/lProcess2"/>
    <dgm:cxn modelId="{A52CA386-AE61-42BC-9C6E-FDA794315D82}" srcId="{9E116913-7D4F-4E6D-B068-D39B1959B079}" destId="{54B02560-7B98-445A-B450-F30A5630A34B}" srcOrd="1" destOrd="0" parTransId="{B882438F-E796-404E-9880-3F0D47D7F385}" sibTransId="{9A182845-607D-41DE-9B16-CA4DD8B353EB}"/>
    <dgm:cxn modelId="{0A1C7375-E099-4E98-B401-8CD9E0C562CD}" srcId="{9E116913-7D4F-4E6D-B068-D39B1959B079}" destId="{9ED6E565-2B1C-4402-B4F0-9EF11355FE06}" srcOrd="2" destOrd="0" parTransId="{31C99DB8-FEA9-456B-AB16-C143B7BD6DF3}" sibTransId="{BE802F7F-B796-4FF0-8142-8E590A8740CA}"/>
    <dgm:cxn modelId="{E7D78C65-FF02-42C3-9552-8426DD275EAD}" srcId="{6E77BEB5-38FA-464A-9D76-99FFAF6B04D5}" destId="{7753A9D6-FD8A-4CC2-8880-7DB7F5417431}" srcOrd="0" destOrd="0" parTransId="{BC0EFB27-025E-4160-8B32-72BE50C759A2}" sibTransId="{265FF3B1-4DC5-4685-9BA6-06E3DECC8BDE}"/>
    <dgm:cxn modelId="{E6A76027-FEC0-455C-9710-750B56A3B1A2}" type="presOf" srcId="{7753A9D6-FD8A-4CC2-8880-7DB7F5417431}" destId="{45AC4544-C428-4EB5-99A4-B7E0C96C659B}" srcOrd="0" destOrd="0" presId="urn:microsoft.com/office/officeart/2005/8/layout/lProcess2"/>
    <dgm:cxn modelId="{3CF14DC0-C158-494C-9362-934D4C7AF28B}" type="presOf" srcId="{55C0C65C-44FB-4CB6-BC5E-BF1287AD3F95}" destId="{1637F5D0-5ECA-4D67-80D0-A7D8B4963099}" srcOrd="0" destOrd="0" presId="urn:microsoft.com/office/officeart/2005/8/layout/lProcess2"/>
    <dgm:cxn modelId="{43A2062F-74E4-40F3-81CB-BFCAFC3E9C88}" srcId="{9ED6E565-2B1C-4402-B4F0-9EF11355FE06}" destId="{6A6661DC-6E6B-41BC-A9AB-1D1F2F040998}" srcOrd="1" destOrd="0" parTransId="{AB70F8B3-D0F8-431C-99BA-98A884A99C7F}" sibTransId="{3D228C75-40E1-4164-8712-478801A16CE6}"/>
    <dgm:cxn modelId="{C80693A2-EDBA-482A-A5DE-DD91288541C7}" type="presOf" srcId="{2CE4F329-E411-43B9-9A7A-FCBA1BA94025}" destId="{4049B3CF-1B30-45B8-9AFB-F5F099A7882C}" srcOrd="0" destOrd="0" presId="urn:microsoft.com/office/officeart/2005/8/layout/lProcess2"/>
    <dgm:cxn modelId="{45700D85-35D1-48F8-8E21-8217B1930ACE}" type="presOf" srcId="{6E77BEB5-38FA-464A-9D76-99FFAF6B04D5}" destId="{D60B0787-F39C-4035-B29F-45D176B4B778}" srcOrd="1" destOrd="0" presId="urn:microsoft.com/office/officeart/2005/8/layout/lProcess2"/>
    <dgm:cxn modelId="{13C08BA8-097A-4E9E-830A-065E46E3ECB2}" srcId="{6E77BEB5-38FA-464A-9D76-99FFAF6B04D5}" destId="{2AD9C89B-9ED7-498E-8317-57304E66C205}" srcOrd="2" destOrd="0" parTransId="{6CE66A85-5C29-4D45-9379-B347A15FA0FE}" sibTransId="{BDA82A12-380A-468A-BB99-864E7C30BB90}"/>
    <dgm:cxn modelId="{CF035962-536B-4921-BFF8-A790F002B4C3}" srcId="{6E77BEB5-38FA-464A-9D76-99FFAF6B04D5}" destId="{B8206901-C924-48BE-BDC4-81BC1C80140D}" srcOrd="1" destOrd="0" parTransId="{66FA8BF4-7197-48BB-A239-A6981908A634}" sibTransId="{8C3C7A4D-072F-432F-AB15-FEF614C7D35F}"/>
    <dgm:cxn modelId="{5CD61555-965F-415A-80C1-92F083D0498E}" type="presOf" srcId="{66B65A66-58B9-4079-9D15-DA513B70C1D4}" destId="{C2A17A0D-A81E-4080-9EF6-00D525304F03}" srcOrd="0" destOrd="0" presId="urn:microsoft.com/office/officeart/2005/8/layout/lProcess2"/>
    <dgm:cxn modelId="{F19C6656-1077-438B-ABC3-068D9FC6A424}" type="presParOf" srcId="{413C47F7-17AE-400A-83CF-8B1A115FD53D}" destId="{A279A46F-94A5-4875-B2A6-F915973CE679}" srcOrd="0" destOrd="0" presId="urn:microsoft.com/office/officeart/2005/8/layout/lProcess2"/>
    <dgm:cxn modelId="{9811C091-73FA-4FE1-9255-DC21983AC2E8}" type="presParOf" srcId="{A279A46F-94A5-4875-B2A6-F915973CE679}" destId="{AF7585B5-9FA5-4602-957E-3C1E2A7CFE14}" srcOrd="0" destOrd="0" presId="urn:microsoft.com/office/officeart/2005/8/layout/lProcess2"/>
    <dgm:cxn modelId="{BA7B9550-9241-42DA-9295-4DBAF6A8C8EF}" type="presParOf" srcId="{A279A46F-94A5-4875-B2A6-F915973CE679}" destId="{D60B0787-F39C-4035-B29F-45D176B4B778}" srcOrd="1" destOrd="0" presId="urn:microsoft.com/office/officeart/2005/8/layout/lProcess2"/>
    <dgm:cxn modelId="{4CDF16EF-5F2C-4ABE-A70A-910E5DC12578}" type="presParOf" srcId="{A279A46F-94A5-4875-B2A6-F915973CE679}" destId="{4A6836B6-8461-4289-924F-B988FF0B00BB}" srcOrd="2" destOrd="0" presId="urn:microsoft.com/office/officeart/2005/8/layout/lProcess2"/>
    <dgm:cxn modelId="{1663232D-EE6E-48A3-9ABC-50FF8C0D1BAB}" type="presParOf" srcId="{4A6836B6-8461-4289-924F-B988FF0B00BB}" destId="{B31EC433-F8A4-4F9B-B711-49061D937776}" srcOrd="0" destOrd="0" presId="urn:microsoft.com/office/officeart/2005/8/layout/lProcess2"/>
    <dgm:cxn modelId="{52BD422D-1FE0-4712-B87A-83B31994CA28}" type="presParOf" srcId="{B31EC433-F8A4-4F9B-B711-49061D937776}" destId="{45AC4544-C428-4EB5-99A4-B7E0C96C659B}" srcOrd="0" destOrd="0" presId="urn:microsoft.com/office/officeart/2005/8/layout/lProcess2"/>
    <dgm:cxn modelId="{098815C0-4430-4255-8BDC-AE087D0CEC34}" type="presParOf" srcId="{B31EC433-F8A4-4F9B-B711-49061D937776}" destId="{7905FF3A-C75B-4E34-B3B3-C02742851F9E}" srcOrd="1" destOrd="0" presId="urn:microsoft.com/office/officeart/2005/8/layout/lProcess2"/>
    <dgm:cxn modelId="{B5DFA54A-9A22-45A2-8882-96B7B0DF020D}" type="presParOf" srcId="{B31EC433-F8A4-4F9B-B711-49061D937776}" destId="{4C8FA99B-9EE4-4096-BF55-4C3502C8EA3C}" srcOrd="2" destOrd="0" presId="urn:microsoft.com/office/officeart/2005/8/layout/lProcess2"/>
    <dgm:cxn modelId="{57ED36AE-C16B-4CBE-812B-E449BC2D8997}" type="presParOf" srcId="{B31EC433-F8A4-4F9B-B711-49061D937776}" destId="{89C0CD3C-D0A6-4AA4-B285-FF3FB0F04F81}" srcOrd="3" destOrd="0" presId="urn:microsoft.com/office/officeart/2005/8/layout/lProcess2"/>
    <dgm:cxn modelId="{8E4CEA73-BA9D-4C4E-8A02-B87BA0A3DE65}" type="presParOf" srcId="{B31EC433-F8A4-4F9B-B711-49061D937776}" destId="{49B749A0-9912-4478-A4F3-A83BC5C11F9D}" srcOrd="4" destOrd="0" presId="urn:microsoft.com/office/officeart/2005/8/layout/lProcess2"/>
    <dgm:cxn modelId="{BEC408F1-2C53-4134-9CCD-17B6DD8941D8}" type="presParOf" srcId="{B31EC433-F8A4-4F9B-B711-49061D937776}" destId="{BDA6243F-33F2-4DE3-9E05-8EBD756CC125}" srcOrd="5" destOrd="0" presId="urn:microsoft.com/office/officeart/2005/8/layout/lProcess2"/>
    <dgm:cxn modelId="{933793D1-ED20-4E5F-BAC0-92AA08FFCE61}" type="presParOf" srcId="{B31EC433-F8A4-4F9B-B711-49061D937776}" destId="{A3E0E94E-129F-45E6-82F1-CD9DE6828187}" srcOrd="6" destOrd="0" presId="urn:microsoft.com/office/officeart/2005/8/layout/lProcess2"/>
    <dgm:cxn modelId="{B154D267-B8F2-4610-8CA3-4733E248FC63}" type="presParOf" srcId="{413C47F7-17AE-400A-83CF-8B1A115FD53D}" destId="{42D411D1-88D4-41FC-BDFB-8EC5FB5EDEB9}" srcOrd="1" destOrd="0" presId="urn:microsoft.com/office/officeart/2005/8/layout/lProcess2"/>
    <dgm:cxn modelId="{4C2924BA-35C9-41E3-B24A-7F7437558B77}" type="presParOf" srcId="{413C47F7-17AE-400A-83CF-8B1A115FD53D}" destId="{D6349BBB-1DC8-4110-AF28-7E06D4734698}" srcOrd="2" destOrd="0" presId="urn:microsoft.com/office/officeart/2005/8/layout/lProcess2"/>
    <dgm:cxn modelId="{77B70591-1DFF-4EBB-A7FF-7FBDB95DEFCC}" type="presParOf" srcId="{D6349BBB-1DC8-4110-AF28-7E06D4734698}" destId="{DDD30BA9-7AC9-432F-8ECF-F6E4E3CE2934}" srcOrd="0" destOrd="0" presId="urn:microsoft.com/office/officeart/2005/8/layout/lProcess2"/>
    <dgm:cxn modelId="{1529441B-44CD-4CBB-A5CE-D03157B2AAC8}" type="presParOf" srcId="{D6349BBB-1DC8-4110-AF28-7E06D4734698}" destId="{EEBB152A-958D-4D1E-AD1E-6E13C1E3EA68}" srcOrd="1" destOrd="0" presId="urn:microsoft.com/office/officeart/2005/8/layout/lProcess2"/>
    <dgm:cxn modelId="{26DE197B-757C-4C7F-9817-DBC2C1CE8A9E}" type="presParOf" srcId="{D6349BBB-1DC8-4110-AF28-7E06D4734698}" destId="{C18957BE-0EF5-46CE-BAFE-742D02CF846F}" srcOrd="2" destOrd="0" presId="urn:microsoft.com/office/officeart/2005/8/layout/lProcess2"/>
    <dgm:cxn modelId="{E684E545-0644-4BD1-8CED-DACF62A31060}" type="presParOf" srcId="{C18957BE-0EF5-46CE-BAFE-742D02CF846F}" destId="{663C9804-91E6-4D9E-BFE4-91E30580EA45}" srcOrd="0" destOrd="0" presId="urn:microsoft.com/office/officeart/2005/8/layout/lProcess2"/>
    <dgm:cxn modelId="{86329FBA-B628-4181-B8CB-938E253DE231}" type="presParOf" srcId="{663C9804-91E6-4D9E-BFE4-91E30580EA45}" destId="{C2A17A0D-A81E-4080-9EF6-00D525304F03}" srcOrd="0" destOrd="0" presId="urn:microsoft.com/office/officeart/2005/8/layout/lProcess2"/>
    <dgm:cxn modelId="{380565EB-8158-42FC-B0D4-9B8A6883421A}" type="presParOf" srcId="{663C9804-91E6-4D9E-BFE4-91E30580EA45}" destId="{05C9DAA2-D768-4600-BFCE-AAAE71E8D587}" srcOrd="1" destOrd="0" presId="urn:microsoft.com/office/officeart/2005/8/layout/lProcess2"/>
    <dgm:cxn modelId="{68CBE023-E724-4432-9DEB-173EF8B39794}" type="presParOf" srcId="{663C9804-91E6-4D9E-BFE4-91E30580EA45}" destId="{4049B3CF-1B30-45B8-9AFB-F5F099A7882C}" srcOrd="2" destOrd="0" presId="urn:microsoft.com/office/officeart/2005/8/layout/lProcess2"/>
    <dgm:cxn modelId="{64040C73-9BC8-43BE-B2BD-7399F5985371}" type="presParOf" srcId="{413C47F7-17AE-400A-83CF-8B1A115FD53D}" destId="{D81B9D68-E427-4039-9A9C-89D0D6CBFEC9}" srcOrd="3" destOrd="0" presId="urn:microsoft.com/office/officeart/2005/8/layout/lProcess2"/>
    <dgm:cxn modelId="{7949B12C-19A2-44BC-A8DE-715FB44CB869}" type="presParOf" srcId="{413C47F7-17AE-400A-83CF-8B1A115FD53D}" destId="{3F8FEA77-51EA-44A6-9F76-9A91DDA3A1E2}" srcOrd="4" destOrd="0" presId="urn:microsoft.com/office/officeart/2005/8/layout/lProcess2"/>
    <dgm:cxn modelId="{67D5FE58-5B60-4030-B5CA-DEB86E1C8A38}" type="presParOf" srcId="{3F8FEA77-51EA-44A6-9F76-9A91DDA3A1E2}" destId="{C64A284C-A87F-49CA-A22E-E2116CAD085C}" srcOrd="0" destOrd="0" presId="urn:microsoft.com/office/officeart/2005/8/layout/lProcess2"/>
    <dgm:cxn modelId="{8E917B1E-EAAB-4FF0-A7FB-A5A5804C2D7A}" type="presParOf" srcId="{3F8FEA77-51EA-44A6-9F76-9A91DDA3A1E2}" destId="{C8AFCFAC-02A6-4AA5-8C79-F4B24B30276B}" srcOrd="1" destOrd="0" presId="urn:microsoft.com/office/officeart/2005/8/layout/lProcess2"/>
    <dgm:cxn modelId="{29883A2E-A412-426E-A75A-8547C704C7B8}" type="presParOf" srcId="{3F8FEA77-51EA-44A6-9F76-9A91DDA3A1E2}" destId="{92956451-337E-4C41-98AB-F2B1AA1F8717}" srcOrd="2" destOrd="0" presId="urn:microsoft.com/office/officeart/2005/8/layout/lProcess2"/>
    <dgm:cxn modelId="{83883F9D-934A-4C16-8842-F44BD810DDB2}" type="presParOf" srcId="{92956451-337E-4C41-98AB-F2B1AA1F8717}" destId="{40B007F2-3033-4484-9FF9-462BD01B3B8E}" srcOrd="0" destOrd="0" presId="urn:microsoft.com/office/officeart/2005/8/layout/lProcess2"/>
    <dgm:cxn modelId="{8AC3884E-E8CB-4C0B-BBE7-80EFA2127FCE}" type="presParOf" srcId="{40B007F2-3033-4484-9FF9-462BD01B3B8E}" destId="{1637F5D0-5ECA-4D67-80D0-A7D8B4963099}" srcOrd="0" destOrd="0" presId="urn:microsoft.com/office/officeart/2005/8/layout/lProcess2"/>
    <dgm:cxn modelId="{F100DB18-8471-4CCA-8C2C-7914E2E81440}" type="presParOf" srcId="{40B007F2-3033-4484-9FF9-462BD01B3B8E}" destId="{797A7EC3-8E03-4848-9184-24C7D8ECC579}" srcOrd="1" destOrd="0" presId="urn:microsoft.com/office/officeart/2005/8/layout/lProcess2"/>
    <dgm:cxn modelId="{0E92272B-96E9-41F7-9975-7685ED45E2E3}" type="presParOf" srcId="{40B007F2-3033-4484-9FF9-462BD01B3B8E}" destId="{1F2EA797-42C7-4521-9F14-5A4876912B29}" srcOrd="2" destOrd="0" presId="urn:microsoft.com/office/officeart/2005/8/layout/lProcess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8323E03-3CD9-4A2C-8728-5E26A2F9711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VE"/>
        </a:p>
      </dgm:t>
    </dgm:pt>
    <dgm:pt modelId="{FC4CED3F-6379-4E3E-B20F-FB303EDAA459}">
      <dgm:prSet phldrT="[Texto]" custT="1"/>
      <dgm:spPr>
        <a:solidFill>
          <a:schemeClr val="bg1"/>
        </a:solidFill>
      </dgm:spPr>
      <dgm:t>
        <a:bodyPr/>
        <a:lstStyle/>
        <a:p>
          <a:r>
            <a:rPr lang="es-VE" sz="1400" b="1" dirty="0" smtClean="0">
              <a:solidFill>
                <a:schemeClr val="tx1"/>
              </a:solidFill>
            </a:rPr>
            <a:t>Información sobre delincuencia organizada nacional y trasnacional, tráfico de drogas, corrupción, LC/FT/FPADM</a:t>
          </a:r>
          <a:endParaRPr lang="es-VE" sz="1400" b="1" dirty="0">
            <a:solidFill>
              <a:schemeClr val="tx1"/>
            </a:solidFill>
          </a:endParaRPr>
        </a:p>
      </dgm:t>
    </dgm:pt>
    <dgm:pt modelId="{E03EE17E-28A9-4BFB-BEA4-A980E7AFD8D6}" type="parTrans" cxnId="{A72DA66C-888D-4BF2-A07B-81DE7955D83C}">
      <dgm:prSet/>
      <dgm:spPr/>
      <dgm:t>
        <a:bodyPr/>
        <a:lstStyle/>
        <a:p>
          <a:endParaRPr lang="es-VE"/>
        </a:p>
      </dgm:t>
    </dgm:pt>
    <dgm:pt modelId="{34496C2C-E809-4FDC-B0DD-EE5F8859D49C}" type="sibTrans" cxnId="{A72DA66C-888D-4BF2-A07B-81DE7955D83C}">
      <dgm:prSet/>
      <dgm:spPr/>
      <dgm:t>
        <a:bodyPr/>
        <a:lstStyle/>
        <a:p>
          <a:endParaRPr lang="es-VE"/>
        </a:p>
      </dgm:t>
    </dgm:pt>
    <dgm:pt modelId="{4A9E19EE-FFEB-435E-8552-D0F90BF1F25C}">
      <dgm:prSet phldrT="[Texto]" custT="1"/>
      <dgm:spPr>
        <a:solidFill>
          <a:schemeClr val="bg1"/>
        </a:solidFill>
      </dgm:spPr>
      <dgm:t>
        <a:bodyPr/>
        <a:lstStyle/>
        <a:p>
          <a:r>
            <a:rPr lang="es-VE" sz="1400" b="1" dirty="0" smtClean="0">
              <a:solidFill>
                <a:schemeClr val="tx1"/>
              </a:solidFill>
            </a:rPr>
            <a:t>Estructura organizacional del sujeto obligado y del Sistema Integral de Administración de Riesgos de LC/FT/FPADM.</a:t>
          </a:r>
          <a:endParaRPr lang="es-VE" sz="1400" b="1" dirty="0">
            <a:solidFill>
              <a:schemeClr val="tx1"/>
            </a:solidFill>
          </a:endParaRPr>
        </a:p>
      </dgm:t>
    </dgm:pt>
    <dgm:pt modelId="{4C9124F8-5D42-4723-8E9E-DAD561835E16}" type="parTrans" cxnId="{A9D98E2F-2D86-4EC2-9766-639CA210676B}">
      <dgm:prSet/>
      <dgm:spPr/>
      <dgm:t>
        <a:bodyPr/>
        <a:lstStyle/>
        <a:p>
          <a:endParaRPr lang="es-VE"/>
        </a:p>
      </dgm:t>
    </dgm:pt>
    <dgm:pt modelId="{BF325FD7-7DAA-4D3B-800F-53ED4C18CC5A}" type="sibTrans" cxnId="{A9D98E2F-2D86-4EC2-9766-639CA210676B}">
      <dgm:prSet/>
      <dgm:spPr/>
      <dgm:t>
        <a:bodyPr/>
        <a:lstStyle/>
        <a:p>
          <a:endParaRPr lang="es-VE"/>
        </a:p>
      </dgm:t>
    </dgm:pt>
    <dgm:pt modelId="{43617D86-AF39-4441-A099-48965B009793}">
      <dgm:prSet phldrT="[Texto]" custT="1"/>
      <dgm:spPr>
        <a:solidFill>
          <a:schemeClr val="bg1"/>
        </a:solidFill>
      </dgm:spPr>
      <dgm:t>
        <a:bodyPr/>
        <a:lstStyle/>
        <a:p>
          <a:r>
            <a:rPr lang="es-VE" sz="1400" b="1" dirty="0" smtClean="0">
              <a:solidFill>
                <a:schemeClr val="tx1"/>
              </a:solidFill>
            </a:rPr>
            <a:t>Código de Ética.</a:t>
          </a:r>
          <a:endParaRPr lang="es-VE" sz="1400" b="1" dirty="0">
            <a:solidFill>
              <a:schemeClr val="tx1"/>
            </a:solidFill>
          </a:endParaRPr>
        </a:p>
      </dgm:t>
    </dgm:pt>
    <dgm:pt modelId="{DB4F2AB3-4B09-40F2-9F95-4AC9D2D2F3E7}" type="parTrans" cxnId="{8D2BC997-778C-40FD-9C5A-582138540B43}">
      <dgm:prSet/>
      <dgm:spPr/>
      <dgm:t>
        <a:bodyPr/>
        <a:lstStyle/>
        <a:p>
          <a:endParaRPr lang="es-VE"/>
        </a:p>
      </dgm:t>
    </dgm:pt>
    <dgm:pt modelId="{1B468E24-850F-495E-8254-D91ADEA0B7CC}" type="sibTrans" cxnId="{8D2BC997-778C-40FD-9C5A-582138540B43}">
      <dgm:prSet/>
      <dgm:spPr/>
      <dgm:t>
        <a:bodyPr/>
        <a:lstStyle/>
        <a:p>
          <a:endParaRPr lang="es-VE"/>
        </a:p>
      </dgm:t>
    </dgm:pt>
    <dgm:pt modelId="{EC545BAC-5CAE-4664-AEB5-403C08EFC2EC}">
      <dgm:prSet phldrT="[Texto]" custT="1"/>
      <dgm:spPr>
        <a:solidFill>
          <a:schemeClr val="bg1"/>
        </a:solidFill>
      </dgm:spPr>
      <dgm:t>
        <a:bodyPr/>
        <a:lstStyle/>
        <a:p>
          <a:r>
            <a:rPr lang="es-VE" sz="1400" b="1" dirty="0" smtClean="0">
              <a:solidFill>
                <a:schemeClr val="tx1"/>
              </a:solidFill>
            </a:rPr>
            <a:t>Metodología utilizada para la identificación, segmentación, análisis y evaluación del nivel de riesgo aplicable al sujeto obligado, tomando en cuenta, clientes, productos, canales de comercialización y zonas geográficas</a:t>
          </a:r>
          <a:r>
            <a:rPr lang="es-VE" sz="1000" b="1" dirty="0" smtClean="0"/>
            <a:t>. </a:t>
          </a:r>
          <a:endParaRPr lang="es-VE" sz="1000" b="1" dirty="0"/>
        </a:p>
      </dgm:t>
    </dgm:pt>
    <dgm:pt modelId="{5A061695-79B1-4676-8CD7-CCDADC4AB229}" type="parTrans" cxnId="{F30C2E46-89FC-4715-B381-3E85A4B32C26}">
      <dgm:prSet/>
      <dgm:spPr/>
      <dgm:t>
        <a:bodyPr/>
        <a:lstStyle/>
        <a:p>
          <a:endParaRPr lang="es-VE"/>
        </a:p>
      </dgm:t>
    </dgm:pt>
    <dgm:pt modelId="{7AA533C8-9C8E-4036-B232-87078296E5C7}" type="sibTrans" cxnId="{F30C2E46-89FC-4715-B381-3E85A4B32C26}">
      <dgm:prSet/>
      <dgm:spPr/>
      <dgm:t>
        <a:bodyPr/>
        <a:lstStyle/>
        <a:p>
          <a:endParaRPr lang="es-VE"/>
        </a:p>
      </dgm:t>
    </dgm:pt>
    <dgm:pt modelId="{05E72D39-2FD6-4065-85ED-849356305C3D}">
      <dgm:prSet phldrT="[Texto]" custT="1"/>
      <dgm:spPr>
        <a:solidFill>
          <a:schemeClr val="bg1"/>
        </a:solidFill>
      </dgm:spPr>
      <dgm:t>
        <a:bodyPr/>
        <a:lstStyle/>
        <a:p>
          <a:r>
            <a:rPr lang="es-VE" sz="1400" b="1" dirty="0" smtClean="0">
              <a:solidFill>
                <a:schemeClr val="tx1"/>
              </a:solidFill>
            </a:rPr>
            <a:t>Programas de administración, LC/FT/FPADM.  en cumplimiento de las políticas conozca a su cliente, conozca al cliente de su cliente, conozca a su empleado, conozca a su intermediario, conozca a su reasegurador y conozca a su proveedor de servicios. </a:t>
          </a:r>
          <a:endParaRPr lang="es-VE" sz="1400" b="1" dirty="0">
            <a:solidFill>
              <a:schemeClr val="tx1"/>
            </a:solidFill>
          </a:endParaRPr>
        </a:p>
      </dgm:t>
    </dgm:pt>
    <dgm:pt modelId="{B94F3C13-F1BE-47CD-9143-10E66FD1ECA7}" type="parTrans" cxnId="{5E2ECD55-38FD-46FA-B03B-E870CDC2081D}">
      <dgm:prSet/>
      <dgm:spPr/>
      <dgm:t>
        <a:bodyPr/>
        <a:lstStyle/>
        <a:p>
          <a:endParaRPr lang="es-VE"/>
        </a:p>
      </dgm:t>
    </dgm:pt>
    <dgm:pt modelId="{66B2F32A-DD69-4384-B2A5-F95111632BA4}" type="sibTrans" cxnId="{5E2ECD55-38FD-46FA-B03B-E870CDC2081D}">
      <dgm:prSet/>
      <dgm:spPr/>
      <dgm:t>
        <a:bodyPr/>
        <a:lstStyle/>
        <a:p>
          <a:endParaRPr lang="es-VE"/>
        </a:p>
      </dgm:t>
    </dgm:pt>
    <dgm:pt modelId="{A40D913D-5AE0-4081-BB7A-B7D7F1E868F9}" type="pres">
      <dgm:prSet presAssocID="{48323E03-3CD9-4A2C-8728-5E26A2F97110}" presName="diagram" presStyleCnt="0">
        <dgm:presLayoutVars>
          <dgm:dir/>
          <dgm:resizeHandles val="exact"/>
        </dgm:presLayoutVars>
      </dgm:prSet>
      <dgm:spPr/>
      <dgm:t>
        <a:bodyPr/>
        <a:lstStyle/>
        <a:p>
          <a:endParaRPr lang="es-VE"/>
        </a:p>
      </dgm:t>
    </dgm:pt>
    <dgm:pt modelId="{37D16E94-AC07-4CCB-BC16-25A5094156D8}" type="pres">
      <dgm:prSet presAssocID="{FC4CED3F-6379-4E3E-B20F-FB303EDAA459}" presName="node" presStyleLbl="node1" presStyleIdx="0" presStyleCnt="5">
        <dgm:presLayoutVars>
          <dgm:bulletEnabled val="1"/>
        </dgm:presLayoutVars>
      </dgm:prSet>
      <dgm:spPr/>
      <dgm:t>
        <a:bodyPr/>
        <a:lstStyle/>
        <a:p>
          <a:endParaRPr lang="es-VE"/>
        </a:p>
      </dgm:t>
    </dgm:pt>
    <dgm:pt modelId="{F9B4E91F-00B7-4F66-A107-FA032B6BEDC0}" type="pres">
      <dgm:prSet presAssocID="{34496C2C-E809-4FDC-B0DD-EE5F8859D49C}" presName="sibTrans" presStyleCnt="0"/>
      <dgm:spPr/>
    </dgm:pt>
    <dgm:pt modelId="{E517A13B-0E82-4256-A138-11427CA16258}" type="pres">
      <dgm:prSet presAssocID="{4A9E19EE-FFEB-435E-8552-D0F90BF1F25C}" presName="node" presStyleLbl="node1" presStyleIdx="1" presStyleCnt="5">
        <dgm:presLayoutVars>
          <dgm:bulletEnabled val="1"/>
        </dgm:presLayoutVars>
      </dgm:prSet>
      <dgm:spPr/>
      <dgm:t>
        <a:bodyPr/>
        <a:lstStyle/>
        <a:p>
          <a:endParaRPr lang="es-VE"/>
        </a:p>
      </dgm:t>
    </dgm:pt>
    <dgm:pt modelId="{730ABD2B-F3B8-4976-BBE9-DDB5F786D222}" type="pres">
      <dgm:prSet presAssocID="{BF325FD7-7DAA-4D3B-800F-53ED4C18CC5A}" presName="sibTrans" presStyleCnt="0"/>
      <dgm:spPr/>
    </dgm:pt>
    <dgm:pt modelId="{82E83256-915C-441D-9BE7-CE60D7CEBB07}" type="pres">
      <dgm:prSet presAssocID="{43617D86-AF39-4441-A099-48965B009793}" presName="node" presStyleLbl="node1" presStyleIdx="2" presStyleCnt="5">
        <dgm:presLayoutVars>
          <dgm:bulletEnabled val="1"/>
        </dgm:presLayoutVars>
      </dgm:prSet>
      <dgm:spPr/>
      <dgm:t>
        <a:bodyPr/>
        <a:lstStyle/>
        <a:p>
          <a:endParaRPr lang="es-VE"/>
        </a:p>
      </dgm:t>
    </dgm:pt>
    <dgm:pt modelId="{49F7170A-73AD-4AE5-8C7D-F76BED80C634}" type="pres">
      <dgm:prSet presAssocID="{1B468E24-850F-495E-8254-D91ADEA0B7CC}" presName="sibTrans" presStyleCnt="0"/>
      <dgm:spPr/>
    </dgm:pt>
    <dgm:pt modelId="{ED1588AF-1819-4776-8BEF-B204F63C70C2}" type="pres">
      <dgm:prSet presAssocID="{EC545BAC-5CAE-4664-AEB5-403C08EFC2EC}" presName="node" presStyleLbl="node1" presStyleIdx="3" presStyleCnt="5" custScaleX="113193" custScaleY="145268">
        <dgm:presLayoutVars>
          <dgm:bulletEnabled val="1"/>
        </dgm:presLayoutVars>
      </dgm:prSet>
      <dgm:spPr/>
      <dgm:t>
        <a:bodyPr/>
        <a:lstStyle/>
        <a:p>
          <a:endParaRPr lang="es-VE"/>
        </a:p>
      </dgm:t>
    </dgm:pt>
    <dgm:pt modelId="{DDAEC368-68AF-41CF-BC5A-163787792034}" type="pres">
      <dgm:prSet presAssocID="{7AA533C8-9C8E-4036-B232-87078296E5C7}" presName="sibTrans" presStyleCnt="0"/>
      <dgm:spPr/>
    </dgm:pt>
    <dgm:pt modelId="{687BDB7B-ACDC-41F8-9D3F-F278D2B0CCFA}" type="pres">
      <dgm:prSet presAssocID="{05E72D39-2FD6-4065-85ED-849356305C3D}" presName="node" presStyleLbl="node1" presStyleIdx="4" presStyleCnt="5" custScaleX="116135" custScaleY="145268">
        <dgm:presLayoutVars>
          <dgm:bulletEnabled val="1"/>
        </dgm:presLayoutVars>
      </dgm:prSet>
      <dgm:spPr/>
      <dgm:t>
        <a:bodyPr/>
        <a:lstStyle/>
        <a:p>
          <a:endParaRPr lang="es-VE"/>
        </a:p>
      </dgm:t>
    </dgm:pt>
  </dgm:ptLst>
  <dgm:cxnLst>
    <dgm:cxn modelId="{A72DA66C-888D-4BF2-A07B-81DE7955D83C}" srcId="{48323E03-3CD9-4A2C-8728-5E26A2F97110}" destId="{FC4CED3F-6379-4E3E-B20F-FB303EDAA459}" srcOrd="0" destOrd="0" parTransId="{E03EE17E-28A9-4BFB-BEA4-A980E7AFD8D6}" sibTransId="{34496C2C-E809-4FDC-B0DD-EE5F8859D49C}"/>
    <dgm:cxn modelId="{F30C2E46-89FC-4715-B381-3E85A4B32C26}" srcId="{48323E03-3CD9-4A2C-8728-5E26A2F97110}" destId="{EC545BAC-5CAE-4664-AEB5-403C08EFC2EC}" srcOrd="3" destOrd="0" parTransId="{5A061695-79B1-4676-8CD7-CCDADC4AB229}" sibTransId="{7AA533C8-9C8E-4036-B232-87078296E5C7}"/>
    <dgm:cxn modelId="{A354E5CE-CBDE-4872-863F-64C482762754}" type="presOf" srcId="{05E72D39-2FD6-4065-85ED-849356305C3D}" destId="{687BDB7B-ACDC-41F8-9D3F-F278D2B0CCFA}" srcOrd="0" destOrd="0" presId="urn:microsoft.com/office/officeart/2005/8/layout/default"/>
    <dgm:cxn modelId="{789E8A09-84E9-4FBF-92CB-DCD165A37918}" type="presOf" srcId="{FC4CED3F-6379-4E3E-B20F-FB303EDAA459}" destId="{37D16E94-AC07-4CCB-BC16-25A5094156D8}" srcOrd="0" destOrd="0" presId="urn:microsoft.com/office/officeart/2005/8/layout/default"/>
    <dgm:cxn modelId="{8D2BC997-778C-40FD-9C5A-582138540B43}" srcId="{48323E03-3CD9-4A2C-8728-5E26A2F97110}" destId="{43617D86-AF39-4441-A099-48965B009793}" srcOrd="2" destOrd="0" parTransId="{DB4F2AB3-4B09-40F2-9F95-4AC9D2D2F3E7}" sibTransId="{1B468E24-850F-495E-8254-D91ADEA0B7CC}"/>
    <dgm:cxn modelId="{F3E8F8FB-8AD1-4228-AAC1-912EF686F5EF}" type="presOf" srcId="{43617D86-AF39-4441-A099-48965B009793}" destId="{82E83256-915C-441D-9BE7-CE60D7CEBB07}" srcOrd="0" destOrd="0" presId="urn:microsoft.com/office/officeart/2005/8/layout/default"/>
    <dgm:cxn modelId="{FDCCA7CA-55F1-41DC-B8AE-33FC3CD25357}" type="presOf" srcId="{EC545BAC-5CAE-4664-AEB5-403C08EFC2EC}" destId="{ED1588AF-1819-4776-8BEF-B204F63C70C2}" srcOrd="0" destOrd="0" presId="urn:microsoft.com/office/officeart/2005/8/layout/default"/>
    <dgm:cxn modelId="{CF1DAC9E-4B89-43E3-BD4B-2304D1208070}" type="presOf" srcId="{4A9E19EE-FFEB-435E-8552-D0F90BF1F25C}" destId="{E517A13B-0E82-4256-A138-11427CA16258}" srcOrd="0" destOrd="0" presId="urn:microsoft.com/office/officeart/2005/8/layout/default"/>
    <dgm:cxn modelId="{5E2ECD55-38FD-46FA-B03B-E870CDC2081D}" srcId="{48323E03-3CD9-4A2C-8728-5E26A2F97110}" destId="{05E72D39-2FD6-4065-85ED-849356305C3D}" srcOrd="4" destOrd="0" parTransId="{B94F3C13-F1BE-47CD-9143-10E66FD1ECA7}" sibTransId="{66B2F32A-DD69-4384-B2A5-F95111632BA4}"/>
    <dgm:cxn modelId="{A9D98E2F-2D86-4EC2-9766-639CA210676B}" srcId="{48323E03-3CD9-4A2C-8728-5E26A2F97110}" destId="{4A9E19EE-FFEB-435E-8552-D0F90BF1F25C}" srcOrd="1" destOrd="0" parTransId="{4C9124F8-5D42-4723-8E9E-DAD561835E16}" sibTransId="{BF325FD7-7DAA-4D3B-800F-53ED4C18CC5A}"/>
    <dgm:cxn modelId="{2B213006-AA52-48B8-A066-A961276F3E84}" type="presOf" srcId="{48323E03-3CD9-4A2C-8728-5E26A2F97110}" destId="{A40D913D-5AE0-4081-BB7A-B7D7F1E868F9}" srcOrd="0" destOrd="0" presId="urn:microsoft.com/office/officeart/2005/8/layout/default"/>
    <dgm:cxn modelId="{B77A582B-A9A5-4FAB-8B3B-A0D3709697F8}" type="presParOf" srcId="{A40D913D-5AE0-4081-BB7A-B7D7F1E868F9}" destId="{37D16E94-AC07-4CCB-BC16-25A5094156D8}" srcOrd="0" destOrd="0" presId="urn:microsoft.com/office/officeart/2005/8/layout/default"/>
    <dgm:cxn modelId="{5B74A11A-40BD-48F4-BF0F-A523630D23D7}" type="presParOf" srcId="{A40D913D-5AE0-4081-BB7A-B7D7F1E868F9}" destId="{F9B4E91F-00B7-4F66-A107-FA032B6BEDC0}" srcOrd="1" destOrd="0" presId="urn:microsoft.com/office/officeart/2005/8/layout/default"/>
    <dgm:cxn modelId="{38CABA13-ACA0-4145-AB59-B4504BB95945}" type="presParOf" srcId="{A40D913D-5AE0-4081-BB7A-B7D7F1E868F9}" destId="{E517A13B-0E82-4256-A138-11427CA16258}" srcOrd="2" destOrd="0" presId="urn:microsoft.com/office/officeart/2005/8/layout/default"/>
    <dgm:cxn modelId="{59B989B1-4B5B-43A4-841A-64C3EB9DAE8C}" type="presParOf" srcId="{A40D913D-5AE0-4081-BB7A-B7D7F1E868F9}" destId="{730ABD2B-F3B8-4976-BBE9-DDB5F786D222}" srcOrd="3" destOrd="0" presId="urn:microsoft.com/office/officeart/2005/8/layout/default"/>
    <dgm:cxn modelId="{9D446760-57AD-47BD-A54F-0B24F4F18A65}" type="presParOf" srcId="{A40D913D-5AE0-4081-BB7A-B7D7F1E868F9}" destId="{82E83256-915C-441D-9BE7-CE60D7CEBB07}" srcOrd="4" destOrd="0" presId="urn:microsoft.com/office/officeart/2005/8/layout/default"/>
    <dgm:cxn modelId="{31E04688-EBCD-4002-B020-A7D25BB556D0}" type="presParOf" srcId="{A40D913D-5AE0-4081-BB7A-B7D7F1E868F9}" destId="{49F7170A-73AD-4AE5-8C7D-F76BED80C634}" srcOrd="5" destOrd="0" presId="urn:microsoft.com/office/officeart/2005/8/layout/default"/>
    <dgm:cxn modelId="{710077D4-C875-4BCE-82B2-A5DC8B1A1F4D}" type="presParOf" srcId="{A40D913D-5AE0-4081-BB7A-B7D7F1E868F9}" destId="{ED1588AF-1819-4776-8BEF-B204F63C70C2}" srcOrd="6" destOrd="0" presId="urn:microsoft.com/office/officeart/2005/8/layout/default"/>
    <dgm:cxn modelId="{BC2CF78F-1514-4DEE-8911-E40C84ADF9E9}" type="presParOf" srcId="{A40D913D-5AE0-4081-BB7A-B7D7F1E868F9}" destId="{DDAEC368-68AF-41CF-BC5A-163787792034}" srcOrd="7" destOrd="0" presId="urn:microsoft.com/office/officeart/2005/8/layout/default"/>
    <dgm:cxn modelId="{B80888E2-1EBE-43C9-96B1-AD93CDA2733C}" type="presParOf" srcId="{A40D913D-5AE0-4081-BB7A-B7D7F1E868F9}" destId="{687BDB7B-ACDC-41F8-9D3F-F278D2B0CCFA}" srcOrd="8"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329AF0-E36B-49A3-98C1-FE74DEB93CB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VE"/>
        </a:p>
      </dgm:t>
    </dgm:pt>
    <dgm:pt modelId="{6C400D4F-D7A7-4865-831F-1CE9532B5E66}">
      <dgm:prSet phldrT="[Texto]" custT="1"/>
      <dgm:spPr>
        <a:solidFill>
          <a:schemeClr val="bg1"/>
        </a:solidFill>
      </dgm:spPr>
      <dgm:t>
        <a:bodyPr/>
        <a:lstStyle/>
        <a:p>
          <a:r>
            <a:rPr lang="es-VE" sz="1400" b="1" dirty="0" smtClean="0">
              <a:solidFill>
                <a:schemeClr val="tx1"/>
              </a:solidFill>
            </a:rPr>
            <a:t>Procesos y controles internos adoptados por el sujeto obligado, para la administración de Riesgos de LC/FTFPADM en cada una de sus áreas sensibles</a:t>
          </a:r>
          <a:r>
            <a:rPr lang="es-VE" sz="1400" dirty="0" smtClean="0"/>
            <a:t>. </a:t>
          </a:r>
          <a:endParaRPr lang="es-VE" sz="1400" dirty="0"/>
        </a:p>
      </dgm:t>
    </dgm:pt>
    <dgm:pt modelId="{69CD79D1-3B93-449F-9169-EF36AF566CA3}" type="parTrans" cxnId="{2426947D-B039-42DE-8081-19DA9655BEF9}">
      <dgm:prSet/>
      <dgm:spPr/>
      <dgm:t>
        <a:bodyPr/>
        <a:lstStyle/>
        <a:p>
          <a:endParaRPr lang="es-VE"/>
        </a:p>
      </dgm:t>
    </dgm:pt>
    <dgm:pt modelId="{D65EEAB7-157A-42B1-AEB6-FAA5AF303FEF}" type="sibTrans" cxnId="{2426947D-B039-42DE-8081-19DA9655BEF9}">
      <dgm:prSet/>
      <dgm:spPr/>
      <dgm:t>
        <a:bodyPr/>
        <a:lstStyle/>
        <a:p>
          <a:endParaRPr lang="es-VE"/>
        </a:p>
      </dgm:t>
    </dgm:pt>
    <dgm:pt modelId="{25F9244C-D0B9-4FCA-BA7C-86ABB46C5A8C}">
      <dgm:prSet phldrT="[Texto]" custT="1"/>
      <dgm:spPr>
        <a:solidFill>
          <a:schemeClr val="bg1"/>
        </a:solidFill>
      </dgm:spPr>
      <dgm:t>
        <a:bodyPr/>
        <a:lstStyle/>
        <a:p>
          <a:r>
            <a:rPr lang="es-VE" sz="1400" b="1" dirty="0" smtClean="0">
              <a:solidFill>
                <a:schemeClr val="tx1"/>
              </a:solidFill>
            </a:rPr>
            <a:t>Canales de comunicación e instancias de reporte interno por cada área de riesgo del sujeto obligado</a:t>
          </a:r>
          <a:r>
            <a:rPr lang="es-VE" sz="1600" b="1" dirty="0" smtClean="0">
              <a:solidFill>
                <a:schemeClr val="tx1"/>
              </a:solidFill>
            </a:rPr>
            <a:t>.</a:t>
          </a:r>
          <a:endParaRPr lang="es-VE" sz="1600" b="1" dirty="0">
            <a:solidFill>
              <a:schemeClr val="tx1"/>
            </a:solidFill>
          </a:endParaRPr>
        </a:p>
      </dgm:t>
    </dgm:pt>
    <dgm:pt modelId="{0D59F5F6-948C-45B1-9C3D-1D7D26581803}" type="parTrans" cxnId="{5D60FE8A-DE1B-4426-8D77-4CE1830D1525}">
      <dgm:prSet/>
      <dgm:spPr/>
      <dgm:t>
        <a:bodyPr/>
        <a:lstStyle/>
        <a:p>
          <a:endParaRPr lang="es-VE"/>
        </a:p>
      </dgm:t>
    </dgm:pt>
    <dgm:pt modelId="{29899948-3171-42BB-B750-6013AFAAAA26}" type="sibTrans" cxnId="{5D60FE8A-DE1B-4426-8D77-4CE1830D1525}">
      <dgm:prSet/>
      <dgm:spPr/>
      <dgm:t>
        <a:bodyPr/>
        <a:lstStyle/>
        <a:p>
          <a:endParaRPr lang="es-VE"/>
        </a:p>
      </dgm:t>
    </dgm:pt>
    <dgm:pt modelId="{C1FE777D-02D0-442B-ABC5-F99058D73D87}">
      <dgm:prSet phldrT="[Texto]" custT="1"/>
      <dgm:spPr>
        <a:solidFill>
          <a:schemeClr val="bg1"/>
        </a:solidFill>
      </dgm:spPr>
      <dgm:t>
        <a:bodyPr/>
        <a:lstStyle/>
        <a:p>
          <a:r>
            <a:rPr lang="es-VE" sz="1400" b="1" dirty="0" smtClean="0">
              <a:solidFill>
                <a:schemeClr val="tx1"/>
              </a:solidFill>
            </a:rPr>
            <a:t>Lista de señales de alerta y niveles de riesgo que consideren la naturaleza específica del sujeto obligado, tomando en cuenta aquellas señaladas por los organismos y grupos nacionales e internacionales y aquellas fijadas por el propio sujeto obligado</a:t>
          </a:r>
          <a:r>
            <a:rPr lang="es-VE" sz="1100" dirty="0" smtClean="0"/>
            <a:t>.</a:t>
          </a:r>
          <a:endParaRPr lang="es-VE" sz="1100" dirty="0"/>
        </a:p>
      </dgm:t>
    </dgm:pt>
    <dgm:pt modelId="{1D0A380A-A6C5-4881-BACE-252A46F15B03}" type="parTrans" cxnId="{BB7B416F-2999-49A3-865E-6DEBDC053DF9}">
      <dgm:prSet/>
      <dgm:spPr/>
      <dgm:t>
        <a:bodyPr/>
        <a:lstStyle/>
        <a:p>
          <a:endParaRPr lang="es-VE"/>
        </a:p>
      </dgm:t>
    </dgm:pt>
    <dgm:pt modelId="{31EACCC1-1A60-4F43-8A05-7012532E2576}" type="sibTrans" cxnId="{BB7B416F-2999-49A3-865E-6DEBDC053DF9}">
      <dgm:prSet/>
      <dgm:spPr/>
      <dgm:t>
        <a:bodyPr/>
        <a:lstStyle/>
        <a:p>
          <a:endParaRPr lang="es-VE"/>
        </a:p>
      </dgm:t>
    </dgm:pt>
    <dgm:pt modelId="{2F9771B3-1D6E-420E-BC90-84178D515B77}">
      <dgm:prSet phldrT="[Texto]" custT="1"/>
      <dgm:spPr>
        <a:solidFill>
          <a:schemeClr val="bg1"/>
        </a:solidFill>
      </dgm:spPr>
      <dgm:t>
        <a:bodyPr/>
        <a:lstStyle/>
        <a:p>
          <a:r>
            <a:rPr lang="es-VE" sz="1400" b="1" dirty="0" smtClean="0">
              <a:solidFill>
                <a:schemeClr val="tx1"/>
              </a:solidFill>
            </a:rPr>
            <a:t>Procedimientos de detección y reporte de actividades sospechosas; de verificación de las listas emitidas por el Consejo de Seguridad de las Naciones Unidas de personas naturales y jurídicas relacionadas con el terrorismo, el financiamiento al terrorismo y financiamiento de la proliferación de armas de destrucción masiva</a:t>
          </a:r>
          <a:endParaRPr lang="es-VE" sz="1400" b="1" dirty="0">
            <a:solidFill>
              <a:schemeClr val="tx1"/>
            </a:solidFill>
          </a:endParaRPr>
        </a:p>
      </dgm:t>
    </dgm:pt>
    <dgm:pt modelId="{35ED8CE1-287C-4CC2-80D9-D35261197D18}" type="parTrans" cxnId="{5F9CF223-EB24-4ABF-B46C-113D2DDDF900}">
      <dgm:prSet/>
      <dgm:spPr/>
      <dgm:t>
        <a:bodyPr/>
        <a:lstStyle/>
        <a:p>
          <a:endParaRPr lang="es-VE"/>
        </a:p>
      </dgm:t>
    </dgm:pt>
    <dgm:pt modelId="{D51023E2-443B-4F15-9E41-42DAE8D998E2}" type="sibTrans" cxnId="{5F9CF223-EB24-4ABF-B46C-113D2DDDF900}">
      <dgm:prSet/>
      <dgm:spPr/>
      <dgm:t>
        <a:bodyPr/>
        <a:lstStyle/>
        <a:p>
          <a:endParaRPr lang="es-VE"/>
        </a:p>
      </dgm:t>
    </dgm:pt>
    <dgm:pt modelId="{8C61974E-00B5-438E-9819-FB2BE9D7D8C4}" type="pres">
      <dgm:prSet presAssocID="{32329AF0-E36B-49A3-98C1-FE74DEB93CB5}" presName="diagram" presStyleCnt="0">
        <dgm:presLayoutVars>
          <dgm:dir/>
          <dgm:resizeHandles val="exact"/>
        </dgm:presLayoutVars>
      </dgm:prSet>
      <dgm:spPr/>
      <dgm:t>
        <a:bodyPr/>
        <a:lstStyle/>
        <a:p>
          <a:endParaRPr lang="es-VE"/>
        </a:p>
      </dgm:t>
    </dgm:pt>
    <dgm:pt modelId="{ACA0B1F9-5C91-4419-B219-8FB25DC3152C}" type="pres">
      <dgm:prSet presAssocID="{6C400D4F-D7A7-4865-831F-1CE9532B5E66}" presName="node" presStyleLbl="node1" presStyleIdx="0" presStyleCnt="4" custScaleX="77616" custLinFactNeighborX="-2799" custLinFactNeighborY="-69">
        <dgm:presLayoutVars>
          <dgm:bulletEnabled val="1"/>
        </dgm:presLayoutVars>
      </dgm:prSet>
      <dgm:spPr/>
      <dgm:t>
        <a:bodyPr/>
        <a:lstStyle/>
        <a:p>
          <a:endParaRPr lang="es-VE"/>
        </a:p>
      </dgm:t>
    </dgm:pt>
    <dgm:pt modelId="{3FEA01A6-5F10-43CE-9BF2-9FD204680E65}" type="pres">
      <dgm:prSet presAssocID="{D65EEAB7-157A-42B1-AEB6-FAA5AF303FEF}" presName="sibTrans" presStyleCnt="0"/>
      <dgm:spPr/>
    </dgm:pt>
    <dgm:pt modelId="{FDFB1941-2CC8-4F15-B6B6-AD5470137DE8}" type="pres">
      <dgm:prSet presAssocID="{25F9244C-D0B9-4FCA-BA7C-86ABB46C5A8C}" presName="node" presStyleLbl="node1" presStyleIdx="1" presStyleCnt="4" custScaleX="74333" custLinFactNeighborX="2648" custLinFactNeighborY="-32711">
        <dgm:presLayoutVars>
          <dgm:bulletEnabled val="1"/>
        </dgm:presLayoutVars>
      </dgm:prSet>
      <dgm:spPr/>
      <dgm:t>
        <a:bodyPr/>
        <a:lstStyle/>
        <a:p>
          <a:endParaRPr lang="es-VE"/>
        </a:p>
      </dgm:t>
    </dgm:pt>
    <dgm:pt modelId="{9217E293-737E-471D-8F43-2AEA7EB510D9}" type="pres">
      <dgm:prSet presAssocID="{29899948-3171-42BB-B750-6013AFAAAA26}" presName="sibTrans" presStyleCnt="0"/>
      <dgm:spPr/>
    </dgm:pt>
    <dgm:pt modelId="{FC20D73A-5B49-43F4-AF46-E1B07C0C9023}" type="pres">
      <dgm:prSet presAssocID="{C1FE777D-02D0-442B-ABC5-F99058D73D87}" presName="node" presStyleLbl="node1" presStyleIdx="2" presStyleCnt="4" custScaleX="85631" custScaleY="99157" custLinFactNeighborX="2963" custLinFactNeighborY="534">
        <dgm:presLayoutVars>
          <dgm:bulletEnabled val="1"/>
        </dgm:presLayoutVars>
      </dgm:prSet>
      <dgm:spPr/>
      <dgm:t>
        <a:bodyPr/>
        <a:lstStyle/>
        <a:p>
          <a:endParaRPr lang="es-VE"/>
        </a:p>
      </dgm:t>
    </dgm:pt>
    <dgm:pt modelId="{C65EC4D1-F34B-48D8-882E-390150C534A3}" type="pres">
      <dgm:prSet presAssocID="{31EACCC1-1A60-4F43-8A05-7012532E2576}" presName="sibTrans" presStyleCnt="0"/>
      <dgm:spPr/>
    </dgm:pt>
    <dgm:pt modelId="{6297628E-B245-4DF2-8B99-E6E0EBAA8DCD}" type="pres">
      <dgm:prSet presAssocID="{2F9771B3-1D6E-420E-BC90-84178D515B77}" presName="node" presStyleLbl="node1" presStyleIdx="3" presStyleCnt="4" custScaleX="97923" custLinFactNeighborX="3547" custLinFactNeighborY="-2140">
        <dgm:presLayoutVars>
          <dgm:bulletEnabled val="1"/>
        </dgm:presLayoutVars>
      </dgm:prSet>
      <dgm:spPr/>
      <dgm:t>
        <a:bodyPr/>
        <a:lstStyle/>
        <a:p>
          <a:endParaRPr lang="es-VE"/>
        </a:p>
      </dgm:t>
    </dgm:pt>
  </dgm:ptLst>
  <dgm:cxnLst>
    <dgm:cxn modelId="{DD2CEBE4-22E7-447B-8C72-9110A1A30E8F}" type="presOf" srcId="{32329AF0-E36B-49A3-98C1-FE74DEB93CB5}" destId="{8C61974E-00B5-438E-9819-FB2BE9D7D8C4}" srcOrd="0" destOrd="0" presId="urn:microsoft.com/office/officeart/2005/8/layout/default"/>
    <dgm:cxn modelId="{58DB2327-28E8-4A24-B258-08D28B448967}" type="presOf" srcId="{2F9771B3-1D6E-420E-BC90-84178D515B77}" destId="{6297628E-B245-4DF2-8B99-E6E0EBAA8DCD}" srcOrd="0" destOrd="0" presId="urn:microsoft.com/office/officeart/2005/8/layout/default"/>
    <dgm:cxn modelId="{0120C868-DC47-43FF-95E7-2F39B7AF64C2}" type="presOf" srcId="{6C400D4F-D7A7-4865-831F-1CE9532B5E66}" destId="{ACA0B1F9-5C91-4419-B219-8FB25DC3152C}" srcOrd="0" destOrd="0" presId="urn:microsoft.com/office/officeart/2005/8/layout/default"/>
    <dgm:cxn modelId="{B07ABA87-6C96-4B3F-952A-CB58088BB2E0}" type="presOf" srcId="{25F9244C-D0B9-4FCA-BA7C-86ABB46C5A8C}" destId="{FDFB1941-2CC8-4F15-B6B6-AD5470137DE8}" srcOrd="0" destOrd="0" presId="urn:microsoft.com/office/officeart/2005/8/layout/default"/>
    <dgm:cxn modelId="{5F9CF223-EB24-4ABF-B46C-113D2DDDF900}" srcId="{32329AF0-E36B-49A3-98C1-FE74DEB93CB5}" destId="{2F9771B3-1D6E-420E-BC90-84178D515B77}" srcOrd="3" destOrd="0" parTransId="{35ED8CE1-287C-4CC2-80D9-D35261197D18}" sibTransId="{D51023E2-443B-4F15-9E41-42DAE8D998E2}"/>
    <dgm:cxn modelId="{3976C753-1C8B-4809-927D-B44E760355A6}" type="presOf" srcId="{C1FE777D-02D0-442B-ABC5-F99058D73D87}" destId="{FC20D73A-5B49-43F4-AF46-E1B07C0C9023}" srcOrd="0" destOrd="0" presId="urn:microsoft.com/office/officeart/2005/8/layout/default"/>
    <dgm:cxn modelId="{2426947D-B039-42DE-8081-19DA9655BEF9}" srcId="{32329AF0-E36B-49A3-98C1-FE74DEB93CB5}" destId="{6C400D4F-D7A7-4865-831F-1CE9532B5E66}" srcOrd="0" destOrd="0" parTransId="{69CD79D1-3B93-449F-9169-EF36AF566CA3}" sibTransId="{D65EEAB7-157A-42B1-AEB6-FAA5AF303FEF}"/>
    <dgm:cxn modelId="{5D60FE8A-DE1B-4426-8D77-4CE1830D1525}" srcId="{32329AF0-E36B-49A3-98C1-FE74DEB93CB5}" destId="{25F9244C-D0B9-4FCA-BA7C-86ABB46C5A8C}" srcOrd="1" destOrd="0" parTransId="{0D59F5F6-948C-45B1-9C3D-1D7D26581803}" sibTransId="{29899948-3171-42BB-B750-6013AFAAAA26}"/>
    <dgm:cxn modelId="{BB7B416F-2999-49A3-865E-6DEBDC053DF9}" srcId="{32329AF0-E36B-49A3-98C1-FE74DEB93CB5}" destId="{C1FE777D-02D0-442B-ABC5-F99058D73D87}" srcOrd="2" destOrd="0" parTransId="{1D0A380A-A6C5-4881-BACE-252A46F15B03}" sibTransId="{31EACCC1-1A60-4F43-8A05-7012532E2576}"/>
    <dgm:cxn modelId="{45A8F67B-8D26-478F-B4BA-E242F1CCBED9}" type="presParOf" srcId="{8C61974E-00B5-438E-9819-FB2BE9D7D8C4}" destId="{ACA0B1F9-5C91-4419-B219-8FB25DC3152C}" srcOrd="0" destOrd="0" presId="urn:microsoft.com/office/officeart/2005/8/layout/default"/>
    <dgm:cxn modelId="{7F1D1EA9-2BE9-4E5D-B827-138556D17356}" type="presParOf" srcId="{8C61974E-00B5-438E-9819-FB2BE9D7D8C4}" destId="{3FEA01A6-5F10-43CE-9BF2-9FD204680E65}" srcOrd="1" destOrd="0" presId="urn:microsoft.com/office/officeart/2005/8/layout/default"/>
    <dgm:cxn modelId="{80A0DCBD-0CD0-4C94-A469-037298E6496F}" type="presParOf" srcId="{8C61974E-00B5-438E-9819-FB2BE9D7D8C4}" destId="{FDFB1941-2CC8-4F15-B6B6-AD5470137DE8}" srcOrd="2" destOrd="0" presId="urn:microsoft.com/office/officeart/2005/8/layout/default"/>
    <dgm:cxn modelId="{D78F6DA2-9BC9-4801-811C-C2312CAEA44C}" type="presParOf" srcId="{8C61974E-00B5-438E-9819-FB2BE9D7D8C4}" destId="{9217E293-737E-471D-8F43-2AEA7EB510D9}" srcOrd="3" destOrd="0" presId="urn:microsoft.com/office/officeart/2005/8/layout/default"/>
    <dgm:cxn modelId="{1C8C329D-6C8F-40AD-834F-6B095994853B}" type="presParOf" srcId="{8C61974E-00B5-438E-9819-FB2BE9D7D8C4}" destId="{FC20D73A-5B49-43F4-AF46-E1B07C0C9023}" srcOrd="4" destOrd="0" presId="urn:microsoft.com/office/officeart/2005/8/layout/default"/>
    <dgm:cxn modelId="{22D1E94E-46E1-4D9D-AF7B-0A0C6CEB46B9}" type="presParOf" srcId="{8C61974E-00B5-438E-9819-FB2BE9D7D8C4}" destId="{C65EC4D1-F34B-48D8-882E-390150C534A3}" srcOrd="5" destOrd="0" presId="urn:microsoft.com/office/officeart/2005/8/layout/default"/>
    <dgm:cxn modelId="{69C16357-B3F2-4C72-886E-858544528842}" type="presParOf" srcId="{8C61974E-00B5-438E-9819-FB2BE9D7D8C4}" destId="{6297628E-B245-4DF2-8B99-E6E0EBAA8DCD}" srcOrd="6"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6EBE86-587A-4BF9-A4A9-B374F0FE249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VE"/>
        </a:p>
      </dgm:t>
    </dgm:pt>
    <dgm:pt modelId="{C7A88584-F92B-43ED-BB9B-E710B28AFC00}">
      <dgm:prSet phldrT="[Texto]" custT="1"/>
      <dgm:spPr>
        <a:solidFill>
          <a:schemeClr val="bg1"/>
        </a:solidFill>
      </dgm:spPr>
      <dgm:t>
        <a:bodyPr/>
        <a:lstStyle/>
        <a:p>
          <a:r>
            <a:rPr lang="es-VE" sz="1400" b="1" dirty="0" smtClean="0">
              <a:solidFill>
                <a:schemeClr val="tx1"/>
              </a:solidFill>
            </a:rPr>
            <a:t>Procedimientos para la conservación de los registros, y su disponibilidad para los Órganos de Investigación Penal, Ministerio Público, Organismos Supervisores y Órganos Jurisdiccionales, conforme a las instrucciones dictadas al efecto. </a:t>
          </a:r>
          <a:endParaRPr lang="es-VE" sz="1400" b="1" dirty="0">
            <a:solidFill>
              <a:schemeClr val="tx1"/>
            </a:solidFill>
          </a:endParaRPr>
        </a:p>
      </dgm:t>
    </dgm:pt>
    <dgm:pt modelId="{605098F5-B7E2-4E8C-8E8F-4191880F39C1}" type="parTrans" cxnId="{BAC6F814-7F6C-4E1A-89CE-7E5B49C8CC68}">
      <dgm:prSet/>
      <dgm:spPr/>
      <dgm:t>
        <a:bodyPr/>
        <a:lstStyle/>
        <a:p>
          <a:endParaRPr lang="es-VE"/>
        </a:p>
      </dgm:t>
    </dgm:pt>
    <dgm:pt modelId="{C8F5CAA5-54B3-4BA4-988B-439DE5BC4CE5}" type="sibTrans" cxnId="{BAC6F814-7F6C-4E1A-89CE-7E5B49C8CC68}">
      <dgm:prSet/>
      <dgm:spPr/>
      <dgm:t>
        <a:bodyPr/>
        <a:lstStyle/>
        <a:p>
          <a:endParaRPr lang="es-VE"/>
        </a:p>
      </dgm:t>
    </dgm:pt>
    <dgm:pt modelId="{ABFB1B30-EDE8-4582-9E9B-34D7CB729057}">
      <dgm:prSet phldrT="[Texto]" custT="1"/>
      <dgm:spPr>
        <a:solidFill>
          <a:schemeClr val="bg1"/>
        </a:solidFill>
      </dgm:spPr>
      <dgm:t>
        <a:bodyPr/>
        <a:lstStyle/>
        <a:p>
          <a:r>
            <a:rPr lang="es-VE" sz="1400" b="1" dirty="0" smtClean="0">
              <a:solidFill>
                <a:schemeClr val="tx1"/>
              </a:solidFill>
            </a:rPr>
            <a:t>Procesos y medidas de debida diligencia, derivadas de las políticas para la administración de riesgos de LC/FT/FPADM para la identificación y verificación de los clientes, intermediarios, proveedores de servicios, empleados, reaseguradores, organizaciones sin fines de lucro, personas expuestas políticamente y demás vinculados, lo que abarca hasta el beneficiario final. </a:t>
          </a:r>
          <a:endParaRPr lang="es-VE" sz="1400" b="1" dirty="0">
            <a:solidFill>
              <a:schemeClr val="tx1"/>
            </a:solidFill>
          </a:endParaRPr>
        </a:p>
      </dgm:t>
    </dgm:pt>
    <dgm:pt modelId="{0E5F5CC2-4BC6-463E-866F-0DEDF429DC04}" type="parTrans" cxnId="{C50F53C6-F3EA-4A26-B16B-FDC7934C6E91}">
      <dgm:prSet/>
      <dgm:spPr/>
      <dgm:t>
        <a:bodyPr/>
        <a:lstStyle/>
        <a:p>
          <a:endParaRPr lang="es-VE"/>
        </a:p>
      </dgm:t>
    </dgm:pt>
    <dgm:pt modelId="{9E96168A-FBE2-48C3-B45F-2CA24550F306}" type="sibTrans" cxnId="{C50F53C6-F3EA-4A26-B16B-FDC7934C6E91}">
      <dgm:prSet/>
      <dgm:spPr/>
      <dgm:t>
        <a:bodyPr/>
        <a:lstStyle/>
        <a:p>
          <a:endParaRPr lang="es-VE"/>
        </a:p>
      </dgm:t>
    </dgm:pt>
    <dgm:pt modelId="{A17C2094-3C67-40CF-9177-174EC67F95C8}">
      <dgm:prSet phldrT="[Texto]" custT="1"/>
      <dgm:spPr>
        <a:solidFill>
          <a:schemeClr val="bg1"/>
        </a:solidFill>
      </dgm:spPr>
      <dgm:t>
        <a:bodyPr/>
        <a:lstStyle/>
        <a:p>
          <a:r>
            <a:rPr lang="es-VE" sz="1400" b="1" dirty="0" smtClean="0">
              <a:solidFill>
                <a:schemeClr val="tx1"/>
              </a:solidFill>
            </a:rPr>
            <a:t>Procesos relacionados con las auditorías internas, en materia de administración de riesgos de LC/FT/FPADM</a:t>
          </a:r>
          <a:endParaRPr lang="es-VE" sz="1400" b="1" dirty="0">
            <a:solidFill>
              <a:schemeClr val="tx1"/>
            </a:solidFill>
          </a:endParaRPr>
        </a:p>
      </dgm:t>
    </dgm:pt>
    <dgm:pt modelId="{4A1DD3E2-EC23-4E56-ADF8-9F0A945E3CE7}" type="parTrans" cxnId="{378695BB-1A67-458D-AB29-241DCABD3118}">
      <dgm:prSet/>
      <dgm:spPr/>
      <dgm:t>
        <a:bodyPr/>
        <a:lstStyle/>
        <a:p>
          <a:endParaRPr lang="es-VE"/>
        </a:p>
      </dgm:t>
    </dgm:pt>
    <dgm:pt modelId="{92FDA97A-45C0-47E0-9D62-7142169AA522}" type="sibTrans" cxnId="{378695BB-1A67-458D-AB29-241DCABD3118}">
      <dgm:prSet/>
      <dgm:spPr/>
      <dgm:t>
        <a:bodyPr/>
        <a:lstStyle/>
        <a:p>
          <a:endParaRPr lang="es-VE"/>
        </a:p>
      </dgm:t>
    </dgm:pt>
    <dgm:pt modelId="{CFC680C4-5509-460A-AB86-D6264765523E}" type="pres">
      <dgm:prSet presAssocID="{B16EBE86-587A-4BF9-A4A9-B374F0FE2490}" presName="diagram" presStyleCnt="0">
        <dgm:presLayoutVars>
          <dgm:dir/>
          <dgm:resizeHandles val="exact"/>
        </dgm:presLayoutVars>
      </dgm:prSet>
      <dgm:spPr/>
      <dgm:t>
        <a:bodyPr/>
        <a:lstStyle/>
        <a:p>
          <a:endParaRPr lang="es-VE"/>
        </a:p>
      </dgm:t>
    </dgm:pt>
    <dgm:pt modelId="{73EABDD8-C579-450B-9D17-201B0245F716}" type="pres">
      <dgm:prSet presAssocID="{C7A88584-F92B-43ED-BB9B-E710B28AFC00}" presName="node" presStyleLbl="node1" presStyleIdx="0" presStyleCnt="3" custScaleX="140002">
        <dgm:presLayoutVars>
          <dgm:bulletEnabled val="1"/>
        </dgm:presLayoutVars>
      </dgm:prSet>
      <dgm:spPr/>
      <dgm:t>
        <a:bodyPr/>
        <a:lstStyle/>
        <a:p>
          <a:endParaRPr lang="es-VE"/>
        </a:p>
      </dgm:t>
    </dgm:pt>
    <dgm:pt modelId="{A37AD816-048C-4567-BCF3-D225ECA0E594}" type="pres">
      <dgm:prSet presAssocID="{C8F5CAA5-54B3-4BA4-988B-439DE5BC4CE5}" presName="sibTrans" presStyleCnt="0"/>
      <dgm:spPr/>
    </dgm:pt>
    <dgm:pt modelId="{B3A87B1F-0499-4F01-BB00-38543709FC50}" type="pres">
      <dgm:prSet presAssocID="{ABFB1B30-EDE8-4582-9E9B-34D7CB729057}" presName="node" presStyleLbl="node1" presStyleIdx="1" presStyleCnt="3" custScaleX="170264" custScaleY="127317">
        <dgm:presLayoutVars>
          <dgm:bulletEnabled val="1"/>
        </dgm:presLayoutVars>
      </dgm:prSet>
      <dgm:spPr/>
      <dgm:t>
        <a:bodyPr/>
        <a:lstStyle/>
        <a:p>
          <a:endParaRPr lang="es-VE"/>
        </a:p>
      </dgm:t>
    </dgm:pt>
    <dgm:pt modelId="{2A4A2EF7-C1BE-4AE1-A257-0B2F3466D2CE}" type="pres">
      <dgm:prSet presAssocID="{9E96168A-FBE2-48C3-B45F-2CA24550F306}" presName="sibTrans" presStyleCnt="0"/>
      <dgm:spPr/>
    </dgm:pt>
    <dgm:pt modelId="{02513F07-3D73-4200-AEA1-763BECF3ED9F}" type="pres">
      <dgm:prSet presAssocID="{A17C2094-3C67-40CF-9177-174EC67F95C8}" presName="node" presStyleLbl="node1" presStyleIdx="2" presStyleCnt="3">
        <dgm:presLayoutVars>
          <dgm:bulletEnabled val="1"/>
        </dgm:presLayoutVars>
      </dgm:prSet>
      <dgm:spPr/>
      <dgm:t>
        <a:bodyPr/>
        <a:lstStyle/>
        <a:p>
          <a:endParaRPr lang="es-VE"/>
        </a:p>
      </dgm:t>
    </dgm:pt>
  </dgm:ptLst>
  <dgm:cxnLst>
    <dgm:cxn modelId="{BAC6F814-7F6C-4E1A-89CE-7E5B49C8CC68}" srcId="{B16EBE86-587A-4BF9-A4A9-B374F0FE2490}" destId="{C7A88584-F92B-43ED-BB9B-E710B28AFC00}" srcOrd="0" destOrd="0" parTransId="{605098F5-B7E2-4E8C-8E8F-4191880F39C1}" sibTransId="{C8F5CAA5-54B3-4BA4-988B-439DE5BC4CE5}"/>
    <dgm:cxn modelId="{C2D02FBB-4244-40A8-A78F-92B9055782E7}" type="presOf" srcId="{C7A88584-F92B-43ED-BB9B-E710B28AFC00}" destId="{73EABDD8-C579-450B-9D17-201B0245F716}" srcOrd="0" destOrd="0" presId="urn:microsoft.com/office/officeart/2005/8/layout/default"/>
    <dgm:cxn modelId="{8CF2A360-0EFE-408F-89F1-E83834074385}" type="presOf" srcId="{B16EBE86-587A-4BF9-A4A9-B374F0FE2490}" destId="{CFC680C4-5509-460A-AB86-D6264765523E}" srcOrd="0" destOrd="0" presId="urn:microsoft.com/office/officeart/2005/8/layout/default"/>
    <dgm:cxn modelId="{A7339EE4-A368-4B56-927E-7582C3577675}" type="presOf" srcId="{A17C2094-3C67-40CF-9177-174EC67F95C8}" destId="{02513F07-3D73-4200-AEA1-763BECF3ED9F}" srcOrd="0" destOrd="0" presId="urn:microsoft.com/office/officeart/2005/8/layout/default"/>
    <dgm:cxn modelId="{378695BB-1A67-458D-AB29-241DCABD3118}" srcId="{B16EBE86-587A-4BF9-A4A9-B374F0FE2490}" destId="{A17C2094-3C67-40CF-9177-174EC67F95C8}" srcOrd="2" destOrd="0" parTransId="{4A1DD3E2-EC23-4E56-ADF8-9F0A945E3CE7}" sibTransId="{92FDA97A-45C0-47E0-9D62-7142169AA522}"/>
    <dgm:cxn modelId="{C50F53C6-F3EA-4A26-B16B-FDC7934C6E91}" srcId="{B16EBE86-587A-4BF9-A4A9-B374F0FE2490}" destId="{ABFB1B30-EDE8-4582-9E9B-34D7CB729057}" srcOrd="1" destOrd="0" parTransId="{0E5F5CC2-4BC6-463E-866F-0DEDF429DC04}" sibTransId="{9E96168A-FBE2-48C3-B45F-2CA24550F306}"/>
    <dgm:cxn modelId="{4D692159-AFBA-4514-A729-8D7DAD3A671F}" type="presOf" srcId="{ABFB1B30-EDE8-4582-9E9B-34D7CB729057}" destId="{B3A87B1F-0499-4F01-BB00-38543709FC50}" srcOrd="0" destOrd="0" presId="urn:microsoft.com/office/officeart/2005/8/layout/default"/>
    <dgm:cxn modelId="{69BCA5BF-42A0-446C-A906-423043C17358}" type="presParOf" srcId="{CFC680C4-5509-460A-AB86-D6264765523E}" destId="{73EABDD8-C579-450B-9D17-201B0245F716}" srcOrd="0" destOrd="0" presId="urn:microsoft.com/office/officeart/2005/8/layout/default"/>
    <dgm:cxn modelId="{01680FBA-0F83-4561-8D08-B647FB95E017}" type="presParOf" srcId="{CFC680C4-5509-460A-AB86-D6264765523E}" destId="{A37AD816-048C-4567-BCF3-D225ECA0E594}" srcOrd="1" destOrd="0" presId="urn:microsoft.com/office/officeart/2005/8/layout/default"/>
    <dgm:cxn modelId="{F1248CD2-3590-4AB4-A442-1524FA3888F8}" type="presParOf" srcId="{CFC680C4-5509-460A-AB86-D6264765523E}" destId="{B3A87B1F-0499-4F01-BB00-38543709FC50}" srcOrd="2" destOrd="0" presId="urn:microsoft.com/office/officeart/2005/8/layout/default"/>
    <dgm:cxn modelId="{801766FC-BBB1-4D6E-93E4-D992D6449892}" type="presParOf" srcId="{CFC680C4-5509-460A-AB86-D6264765523E}" destId="{2A4A2EF7-C1BE-4AE1-A257-0B2F3466D2CE}" srcOrd="3" destOrd="0" presId="urn:microsoft.com/office/officeart/2005/8/layout/default"/>
    <dgm:cxn modelId="{1A79FC7D-EC29-4C74-96AF-439E47E31E6B}" type="presParOf" srcId="{CFC680C4-5509-460A-AB86-D6264765523E}" destId="{02513F07-3D73-4200-AEA1-763BECF3ED9F}" srcOrd="4"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1DE4AC-4447-49EF-8174-563CCD1116B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VE"/>
        </a:p>
      </dgm:t>
    </dgm:pt>
    <dgm:pt modelId="{7EDE0114-8212-416F-810D-1E04D1CC5429}">
      <dgm:prSet phldrT="[Texto]"/>
      <dgm:spPr>
        <a:solidFill>
          <a:schemeClr val="bg1"/>
        </a:solidFill>
      </dgm:spPr>
      <dgm:t>
        <a:bodyPr/>
        <a:lstStyle/>
        <a:p>
          <a:r>
            <a:rPr lang="es-VE" b="1" dirty="0" smtClean="0">
              <a:solidFill>
                <a:schemeClr val="tx1"/>
              </a:solidFill>
            </a:rPr>
            <a:t>Sanciones internas impuestas por parte del sujeto obligado por el incumplimiento del manual, sus procesos y procedimientos y el código de ética</a:t>
          </a:r>
          <a:endParaRPr lang="es-VE" b="1" dirty="0">
            <a:solidFill>
              <a:schemeClr val="tx1"/>
            </a:solidFill>
          </a:endParaRPr>
        </a:p>
      </dgm:t>
    </dgm:pt>
    <dgm:pt modelId="{C3CFD4A6-B590-472F-8129-6F767101E9A8}" type="parTrans" cxnId="{1742B1E1-4F3B-494D-9770-0F3AFB88E062}">
      <dgm:prSet/>
      <dgm:spPr/>
      <dgm:t>
        <a:bodyPr/>
        <a:lstStyle/>
        <a:p>
          <a:endParaRPr lang="es-VE"/>
        </a:p>
      </dgm:t>
    </dgm:pt>
    <dgm:pt modelId="{6B8CF5E3-7027-447C-A323-DB1537AB6CC3}" type="sibTrans" cxnId="{1742B1E1-4F3B-494D-9770-0F3AFB88E062}">
      <dgm:prSet/>
      <dgm:spPr/>
      <dgm:t>
        <a:bodyPr/>
        <a:lstStyle/>
        <a:p>
          <a:endParaRPr lang="es-VE"/>
        </a:p>
      </dgm:t>
    </dgm:pt>
    <dgm:pt modelId="{5DB642E6-0452-48E4-A26B-761D90AE490B}">
      <dgm:prSet phldrT="[Texto]"/>
      <dgm:spPr>
        <a:solidFill>
          <a:schemeClr val="bg1"/>
        </a:solidFill>
      </dgm:spPr>
      <dgm:t>
        <a:bodyPr/>
        <a:lstStyle/>
        <a:p>
          <a:r>
            <a:rPr lang="es-VE" b="1" dirty="0" smtClean="0">
              <a:solidFill>
                <a:schemeClr val="tx1"/>
              </a:solidFill>
            </a:rPr>
            <a:t>Sanciones que establece la normativa vigente aplicable, en cuanto al incumplimiento de los procesos relacionados con la administración de riesgos de LC/FT/FPADM</a:t>
          </a:r>
          <a:endParaRPr lang="es-VE" b="1" dirty="0">
            <a:solidFill>
              <a:schemeClr val="tx1"/>
            </a:solidFill>
          </a:endParaRPr>
        </a:p>
      </dgm:t>
    </dgm:pt>
    <dgm:pt modelId="{489AE402-E2CB-4641-82DB-BAB966201BE8}" type="parTrans" cxnId="{577BCC95-6B27-4B7D-896A-B94B07903519}">
      <dgm:prSet/>
      <dgm:spPr/>
      <dgm:t>
        <a:bodyPr/>
        <a:lstStyle/>
        <a:p>
          <a:endParaRPr lang="es-VE"/>
        </a:p>
      </dgm:t>
    </dgm:pt>
    <dgm:pt modelId="{CDE8D015-615F-4271-9DA7-FDA59E58D500}" type="sibTrans" cxnId="{577BCC95-6B27-4B7D-896A-B94B07903519}">
      <dgm:prSet/>
      <dgm:spPr/>
      <dgm:t>
        <a:bodyPr/>
        <a:lstStyle/>
        <a:p>
          <a:endParaRPr lang="es-VE"/>
        </a:p>
      </dgm:t>
    </dgm:pt>
    <dgm:pt modelId="{99195084-631A-420F-AE85-557DEC3B2F90}">
      <dgm:prSet phldrT="[Texto]"/>
      <dgm:spPr>
        <a:solidFill>
          <a:schemeClr val="bg1"/>
        </a:solidFill>
      </dgm:spPr>
      <dgm:t>
        <a:bodyPr/>
        <a:lstStyle/>
        <a:p>
          <a:r>
            <a:rPr lang="es-VE" b="1" dirty="0" smtClean="0">
              <a:solidFill>
                <a:schemeClr val="tx1"/>
              </a:solidFill>
            </a:rPr>
            <a:t>Tipologías utilizadas en la actividad aseguradora para la así como LC/FT/FPADM de los mecanismos, instrumentos y esquemas utilizados.</a:t>
          </a:r>
          <a:endParaRPr lang="es-VE" b="1" dirty="0">
            <a:solidFill>
              <a:schemeClr val="tx1"/>
            </a:solidFill>
          </a:endParaRPr>
        </a:p>
      </dgm:t>
    </dgm:pt>
    <dgm:pt modelId="{167075F8-AC7E-4E7D-90B0-C65FEBE685B7}" type="parTrans" cxnId="{8F24FCC3-7C12-4109-AFE3-6214F3B8CB13}">
      <dgm:prSet/>
      <dgm:spPr/>
      <dgm:t>
        <a:bodyPr/>
        <a:lstStyle/>
        <a:p>
          <a:endParaRPr lang="es-VE"/>
        </a:p>
      </dgm:t>
    </dgm:pt>
    <dgm:pt modelId="{EF6CA5E7-BB94-4A7C-A6E4-CCEC9924CAC9}" type="sibTrans" cxnId="{8F24FCC3-7C12-4109-AFE3-6214F3B8CB13}">
      <dgm:prSet/>
      <dgm:spPr/>
      <dgm:t>
        <a:bodyPr/>
        <a:lstStyle/>
        <a:p>
          <a:endParaRPr lang="es-VE"/>
        </a:p>
      </dgm:t>
    </dgm:pt>
    <dgm:pt modelId="{55A07E03-C6B4-4E37-9E58-93577C2AB353}">
      <dgm:prSet phldrT="[Texto]"/>
      <dgm:spPr>
        <a:solidFill>
          <a:schemeClr val="bg1"/>
        </a:solidFill>
      </dgm:spPr>
      <dgm:t>
        <a:bodyPr/>
        <a:lstStyle/>
        <a:p>
          <a:r>
            <a:rPr lang="es-VE" b="1" dirty="0" smtClean="0">
              <a:solidFill>
                <a:schemeClr val="tx1"/>
              </a:solidFill>
            </a:rPr>
            <a:t>Modelo de compromiso institucional y cualquier otro modelo que complemente los procesos y procedimientos del sujeto obligado</a:t>
          </a:r>
          <a:endParaRPr lang="es-VE" b="1" dirty="0">
            <a:solidFill>
              <a:schemeClr val="tx1"/>
            </a:solidFill>
          </a:endParaRPr>
        </a:p>
      </dgm:t>
    </dgm:pt>
    <dgm:pt modelId="{9910B7C0-DFBB-428C-B446-689874402996}" type="parTrans" cxnId="{F618BCBB-AC1E-4FE5-B075-15DF7440BF2D}">
      <dgm:prSet/>
      <dgm:spPr/>
      <dgm:t>
        <a:bodyPr/>
        <a:lstStyle/>
        <a:p>
          <a:endParaRPr lang="es-VE"/>
        </a:p>
      </dgm:t>
    </dgm:pt>
    <dgm:pt modelId="{A2707937-1F98-4D6D-A028-BF8222C8DF12}" type="sibTrans" cxnId="{F618BCBB-AC1E-4FE5-B075-15DF7440BF2D}">
      <dgm:prSet/>
      <dgm:spPr/>
      <dgm:t>
        <a:bodyPr/>
        <a:lstStyle/>
        <a:p>
          <a:endParaRPr lang="es-VE"/>
        </a:p>
      </dgm:t>
    </dgm:pt>
    <dgm:pt modelId="{2A4483E8-9B6A-4483-91C8-328F44315B3B}" type="pres">
      <dgm:prSet presAssocID="{FE1DE4AC-4447-49EF-8174-563CCD1116B3}" presName="diagram" presStyleCnt="0">
        <dgm:presLayoutVars>
          <dgm:dir/>
          <dgm:resizeHandles val="exact"/>
        </dgm:presLayoutVars>
      </dgm:prSet>
      <dgm:spPr/>
      <dgm:t>
        <a:bodyPr/>
        <a:lstStyle/>
        <a:p>
          <a:endParaRPr lang="es-VE"/>
        </a:p>
      </dgm:t>
    </dgm:pt>
    <dgm:pt modelId="{CC116A17-F7C6-4197-8467-CDDD41507F97}" type="pres">
      <dgm:prSet presAssocID="{7EDE0114-8212-416F-810D-1E04D1CC5429}" presName="node" presStyleLbl="node1" presStyleIdx="0" presStyleCnt="4">
        <dgm:presLayoutVars>
          <dgm:bulletEnabled val="1"/>
        </dgm:presLayoutVars>
      </dgm:prSet>
      <dgm:spPr/>
      <dgm:t>
        <a:bodyPr/>
        <a:lstStyle/>
        <a:p>
          <a:endParaRPr lang="es-VE"/>
        </a:p>
      </dgm:t>
    </dgm:pt>
    <dgm:pt modelId="{A0647542-EB23-4073-B426-EC02E0A9E398}" type="pres">
      <dgm:prSet presAssocID="{6B8CF5E3-7027-447C-A323-DB1537AB6CC3}" presName="sibTrans" presStyleCnt="0"/>
      <dgm:spPr/>
    </dgm:pt>
    <dgm:pt modelId="{043F675D-59CD-4203-876E-D0A608AAD5E9}" type="pres">
      <dgm:prSet presAssocID="{5DB642E6-0452-48E4-A26B-761D90AE490B}" presName="node" presStyleLbl="node1" presStyleIdx="1" presStyleCnt="4">
        <dgm:presLayoutVars>
          <dgm:bulletEnabled val="1"/>
        </dgm:presLayoutVars>
      </dgm:prSet>
      <dgm:spPr/>
      <dgm:t>
        <a:bodyPr/>
        <a:lstStyle/>
        <a:p>
          <a:endParaRPr lang="es-VE"/>
        </a:p>
      </dgm:t>
    </dgm:pt>
    <dgm:pt modelId="{FD823D87-7944-43EA-8926-7C4479DA1FF0}" type="pres">
      <dgm:prSet presAssocID="{CDE8D015-615F-4271-9DA7-FDA59E58D500}" presName="sibTrans" presStyleCnt="0"/>
      <dgm:spPr/>
    </dgm:pt>
    <dgm:pt modelId="{31AC18CA-F863-4160-97CA-E5CBA9BAB6DD}" type="pres">
      <dgm:prSet presAssocID="{99195084-631A-420F-AE85-557DEC3B2F90}" presName="node" presStyleLbl="node1" presStyleIdx="2" presStyleCnt="4">
        <dgm:presLayoutVars>
          <dgm:bulletEnabled val="1"/>
        </dgm:presLayoutVars>
      </dgm:prSet>
      <dgm:spPr/>
      <dgm:t>
        <a:bodyPr/>
        <a:lstStyle/>
        <a:p>
          <a:endParaRPr lang="es-VE"/>
        </a:p>
      </dgm:t>
    </dgm:pt>
    <dgm:pt modelId="{A2EF3403-1A76-4C9D-BDA0-E1E8FBD8F9C0}" type="pres">
      <dgm:prSet presAssocID="{EF6CA5E7-BB94-4A7C-A6E4-CCEC9924CAC9}" presName="sibTrans" presStyleCnt="0"/>
      <dgm:spPr/>
    </dgm:pt>
    <dgm:pt modelId="{CD8A27AB-195B-4940-A164-ABDBF2612F71}" type="pres">
      <dgm:prSet presAssocID="{55A07E03-C6B4-4E37-9E58-93577C2AB353}" presName="node" presStyleLbl="node1" presStyleIdx="3" presStyleCnt="4">
        <dgm:presLayoutVars>
          <dgm:bulletEnabled val="1"/>
        </dgm:presLayoutVars>
      </dgm:prSet>
      <dgm:spPr/>
      <dgm:t>
        <a:bodyPr/>
        <a:lstStyle/>
        <a:p>
          <a:endParaRPr lang="es-VE"/>
        </a:p>
      </dgm:t>
    </dgm:pt>
  </dgm:ptLst>
  <dgm:cxnLst>
    <dgm:cxn modelId="{0F0B65EA-8AE5-4F5A-8DDB-9C74382CF41A}" type="presOf" srcId="{99195084-631A-420F-AE85-557DEC3B2F90}" destId="{31AC18CA-F863-4160-97CA-E5CBA9BAB6DD}" srcOrd="0" destOrd="0" presId="urn:microsoft.com/office/officeart/2005/8/layout/default"/>
    <dgm:cxn modelId="{8F24FCC3-7C12-4109-AFE3-6214F3B8CB13}" srcId="{FE1DE4AC-4447-49EF-8174-563CCD1116B3}" destId="{99195084-631A-420F-AE85-557DEC3B2F90}" srcOrd="2" destOrd="0" parTransId="{167075F8-AC7E-4E7D-90B0-C65FEBE685B7}" sibTransId="{EF6CA5E7-BB94-4A7C-A6E4-CCEC9924CAC9}"/>
    <dgm:cxn modelId="{577BCC95-6B27-4B7D-896A-B94B07903519}" srcId="{FE1DE4AC-4447-49EF-8174-563CCD1116B3}" destId="{5DB642E6-0452-48E4-A26B-761D90AE490B}" srcOrd="1" destOrd="0" parTransId="{489AE402-E2CB-4641-82DB-BAB966201BE8}" sibTransId="{CDE8D015-615F-4271-9DA7-FDA59E58D500}"/>
    <dgm:cxn modelId="{3F3BC97A-150D-45AF-9550-63EC1BB84A8A}" type="presOf" srcId="{7EDE0114-8212-416F-810D-1E04D1CC5429}" destId="{CC116A17-F7C6-4197-8467-CDDD41507F97}" srcOrd="0" destOrd="0" presId="urn:microsoft.com/office/officeart/2005/8/layout/default"/>
    <dgm:cxn modelId="{1742B1E1-4F3B-494D-9770-0F3AFB88E062}" srcId="{FE1DE4AC-4447-49EF-8174-563CCD1116B3}" destId="{7EDE0114-8212-416F-810D-1E04D1CC5429}" srcOrd="0" destOrd="0" parTransId="{C3CFD4A6-B590-472F-8129-6F767101E9A8}" sibTransId="{6B8CF5E3-7027-447C-A323-DB1537AB6CC3}"/>
    <dgm:cxn modelId="{93B9A72D-28EE-4477-8341-D6B8C39C7EA2}" type="presOf" srcId="{55A07E03-C6B4-4E37-9E58-93577C2AB353}" destId="{CD8A27AB-195B-4940-A164-ABDBF2612F71}" srcOrd="0" destOrd="0" presId="urn:microsoft.com/office/officeart/2005/8/layout/default"/>
    <dgm:cxn modelId="{CDC6AE71-A493-4664-AC5D-2FB8EBC8A9B7}" type="presOf" srcId="{FE1DE4AC-4447-49EF-8174-563CCD1116B3}" destId="{2A4483E8-9B6A-4483-91C8-328F44315B3B}" srcOrd="0" destOrd="0" presId="urn:microsoft.com/office/officeart/2005/8/layout/default"/>
    <dgm:cxn modelId="{B5C3DEB9-959C-4D1F-B45C-719B1ED265E1}" type="presOf" srcId="{5DB642E6-0452-48E4-A26B-761D90AE490B}" destId="{043F675D-59CD-4203-876E-D0A608AAD5E9}" srcOrd="0" destOrd="0" presId="urn:microsoft.com/office/officeart/2005/8/layout/default"/>
    <dgm:cxn modelId="{F618BCBB-AC1E-4FE5-B075-15DF7440BF2D}" srcId="{FE1DE4AC-4447-49EF-8174-563CCD1116B3}" destId="{55A07E03-C6B4-4E37-9E58-93577C2AB353}" srcOrd="3" destOrd="0" parTransId="{9910B7C0-DFBB-428C-B446-689874402996}" sibTransId="{A2707937-1F98-4D6D-A028-BF8222C8DF12}"/>
    <dgm:cxn modelId="{5617D99A-A852-4001-9798-6D31DC75BF8A}" type="presParOf" srcId="{2A4483E8-9B6A-4483-91C8-328F44315B3B}" destId="{CC116A17-F7C6-4197-8467-CDDD41507F97}" srcOrd="0" destOrd="0" presId="urn:microsoft.com/office/officeart/2005/8/layout/default"/>
    <dgm:cxn modelId="{6D96FE08-FE82-40A6-87B5-54C1CA1B0510}" type="presParOf" srcId="{2A4483E8-9B6A-4483-91C8-328F44315B3B}" destId="{A0647542-EB23-4073-B426-EC02E0A9E398}" srcOrd="1" destOrd="0" presId="urn:microsoft.com/office/officeart/2005/8/layout/default"/>
    <dgm:cxn modelId="{5EBB2AF9-1902-480F-89CF-5482587BB017}" type="presParOf" srcId="{2A4483E8-9B6A-4483-91C8-328F44315B3B}" destId="{043F675D-59CD-4203-876E-D0A608AAD5E9}" srcOrd="2" destOrd="0" presId="urn:microsoft.com/office/officeart/2005/8/layout/default"/>
    <dgm:cxn modelId="{B06D7639-B187-4810-BA87-DA6F8D2B1E4D}" type="presParOf" srcId="{2A4483E8-9B6A-4483-91C8-328F44315B3B}" destId="{FD823D87-7944-43EA-8926-7C4479DA1FF0}" srcOrd="3" destOrd="0" presId="urn:microsoft.com/office/officeart/2005/8/layout/default"/>
    <dgm:cxn modelId="{184FA418-FE17-424C-84BB-8B5A5BBC6000}" type="presParOf" srcId="{2A4483E8-9B6A-4483-91C8-328F44315B3B}" destId="{31AC18CA-F863-4160-97CA-E5CBA9BAB6DD}" srcOrd="4" destOrd="0" presId="urn:microsoft.com/office/officeart/2005/8/layout/default"/>
    <dgm:cxn modelId="{0C4A6BAD-7061-4DB2-8F1A-EE470926F580}" type="presParOf" srcId="{2A4483E8-9B6A-4483-91C8-328F44315B3B}" destId="{A2EF3403-1A76-4C9D-BDA0-E1E8FBD8F9C0}" srcOrd="5" destOrd="0" presId="urn:microsoft.com/office/officeart/2005/8/layout/default"/>
    <dgm:cxn modelId="{A06EA1E5-DA81-4857-B90B-3CEBE950199D}" type="presParOf" srcId="{2A4483E8-9B6A-4483-91C8-328F44315B3B}" destId="{CD8A27AB-195B-4940-A164-ABDBF2612F71}" srcOrd="6"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D59A4B8-40B4-4CD9-84C1-092DF82D6C8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D8B6F368-CC2A-4D23-BFD3-36A262A3C2BF}">
      <dgm:prSet phldrT="[Texto]" custT="1"/>
      <dgm:spPr>
        <a:solidFill>
          <a:schemeClr val="bg1"/>
        </a:solidFill>
        <a:ln>
          <a:solidFill>
            <a:schemeClr val="accent1"/>
          </a:solidFill>
        </a:ln>
      </dgm:spPr>
      <dgm:t>
        <a:bodyPr/>
        <a:lstStyle/>
        <a:p>
          <a:r>
            <a:rPr lang="es-VE" sz="1600" b="1" dirty="0" smtClean="0">
              <a:solidFill>
                <a:schemeClr val="tx1"/>
              </a:solidFill>
            </a:rPr>
            <a:t>Mafia italiana: Cosa Nostra (Sicilia), Camorra (Nápoles), 'Ndrangheta (Calabria), Sacra Corona Unita (Apulia) </a:t>
          </a:r>
          <a:endParaRPr lang="es-VE" sz="1600" b="1" dirty="0">
            <a:solidFill>
              <a:schemeClr val="tx1"/>
            </a:solidFill>
          </a:endParaRPr>
        </a:p>
      </dgm:t>
    </dgm:pt>
    <dgm:pt modelId="{DC225A44-383A-4C7B-A282-91C9FEC4DC93}" type="parTrans" cxnId="{9446AF04-05C1-4A55-B283-50008BA1EEA3}">
      <dgm:prSet/>
      <dgm:spPr/>
      <dgm:t>
        <a:bodyPr/>
        <a:lstStyle/>
        <a:p>
          <a:endParaRPr lang="es-VE"/>
        </a:p>
      </dgm:t>
    </dgm:pt>
    <dgm:pt modelId="{C1D79FE0-39CE-4EC4-9A5A-D747E4393127}" type="sibTrans" cxnId="{9446AF04-05C1-4A55-B283-50008BA1EEA3}">
      <dgm:prSet/>
      <dgm:spPr/>
      <dgm:t>
        <a:bodyPr/>
        <a:lstStyle/>
        <a:p>
          <a:endParaRPr lang="es-VE"/>
        </a:p>
      </dgm:t>
    </dgm:pt>
    <dgm:pt modelId="{124A672B-7CB9-4AEB-8801-7658A840E673}">
      <dgm:prSet phldrT="[Texto]" custT="1">
        <dgm:style>
          <a:lnRef idx="2">
            <a:schemeClr val="accent1"/>
          </a:lnRef>
          <a:fillRef idx="1">
            <a:schemeClr val="lt1"/>
          </a:fillRef>
          <a:effectRef idx="0">
            <a:schemeClr val="accent1"/>
          </a:effectRef>
          <a:fontRef idx="minor">
            <a:schemeClr val="dk1"/>
          </a:fontRef>
        </dgm:style>
      </dgm:prSet>
      <dgm:spPr>
        <a:ln>
          <a:solidFill>
            <a:schemeClr val="accent1"/>
          </a:solidFill>
        </a:ln>
      </dgm:spPr>
      <dgm:t>
        <a:bodyPr/>
        <a:lstStyle/>
        <a:p>
          <a:r>
            <a:rPr lang="es-VE" sz="1600" b="1" dirty="0" smtClean="0"/>
            <a:t>Mafia italo-americana: Familia Bonanno, Familia Colombo, Familia Genovese, Familia Gambino, Familia Lucchese (todas de la ciudad de Nueva York), Outfit de Chicago (Chicago).</a:t>
          </a:r>
          <a:endParaRPr lang="es-VE" sz="1600" b="1" dirty="0"/>
        </a:p>
      </dgm:t>
    </dgm:pt>
    <dgm:pt modelId="{B7F0FE97-71BF-47C2-9AF3-271D4FF2A086}" type="parTrans" cxnId="{46C95C94-4866-4EA2-9147-6C93C3609D23}">
      <dgm:prSet/>
      <dgm:spPr/>
      <dgm:t>
        <a:bodyPr/>
        <a:lstStyle/>
        <a:p>
          <a:endParaRPr lang="es-VE"/>
        </a:p>
      </dgm:t>
    </dgm:pt>
    <dgm:pt modelId="{655060CF-EDA9-42C3-8B69-7413F797FAAB}" type="sibTrans" cxnId="{46C95C94-4866-4EA2-9147-6C93C3609D23}">
      <dgm:prSet/>
      <dgm:spPr/>
      <dgm:t>
        <a:bodyPr/>
        <a:lstStyle/>
        <a:p>
          <a:endParaRPr lang="es-VE"/>
        </a:p>
      </dgm:t>
    </dgm:pt>
    <dgm:pt modelId="{0CE93239-F73E-41BC-BD6C-E26FFDFB6B24}">
      <dgm:prSet phldrT="[Texto]" custT="1"/>
      <dgm:spPr>
        <a:solidFill>
          <a:schemeClr val="bg1"/>
        </a:solidFill>
        <a:ln>
          <a:solidFill>
            <a:schemeClr val="accent1"/>
          </a:solidFill>
        </a:ln>
      </dgm:spPr>
      <dgm:t>
        <a:bodyPr/>
        <a:lstStyle/>
        <a:p>
          <a:r>
            <a:rPr lang="es-VE" sz="1600" b="1" dirty="0" smtClean="0">
              <a:solidFill>
                <a:schemeClr val="tx1"/>
              </a:solidFill>
            </a:rPr>
            <a:t>Mafias de Estados Unidos sin influencia italiana: Mafia mexicana, Mafia irlandesa, Mafia armenia, Mafias con alta influencia en Europa, Mafia albanesa, Mafia turca, Mafia rusa, Mafia búlgara, Mafia polaca, Mafia rumana, Mafia serbia. </a:t>
          </a:r>
          <a:endParaRPr lang="es-VE" sz="1600" b="1" dirty="0">
            <a:solidFill>
              <a:schemeClr val="tx1"/>
            </a:solidFill>
          </a:endParaRPr>
        </a:p>
      </dgm:t>
    </dgm:pt>
    <dgm:pt modelId="{4BC98221-E173-4DC1-8CCC-8E89DBA8C9B7}" type="parTrans" cxnId="{855022C8-9B98-435C-9F14-FDADEBD5946F}">
      <dgm:prSet/>
      <dgm:spPr/>
      <dgm:t>
        <a:bodyPr/>
        <a:lstStyle/>
        <a:p>
          <a:endParaRPr lang="es-VE"/>
        </a:p>
      </dgm:t>
    </dgm:pt>
    <dgm:pt modelId="{533DC82C-1F39-4831-8FF4-D3F8D003EC49}" type="sibTrans" cxnId="{855022C8-9B98-435C-9F14-FDADEBD5946F}">
      <dgm:prSet/>
      <dgm:spPr/>
      <dgm:t>
        <a:bodyPr/>
        <a:lstStyle/>
        <a:p>
          <a:endParaRPr lang="es-VE"/>
        </a:p>
      </dgm:t>
    </dgm:pt>
    <dgm:pt modelId="{F3A4152D-F874-4201-9094-6BA981235B59}">
      <dgm:prSet phldrT="[Texto]" custT="1">
        <dgm:style>
          <a:lnRef idx="2">
            <a:schemeClr val="accent1"/>
          </a:lnRef>
          <a:fillRef idx="1">
            <a:schemeClr val="lt1"/>
          </a:fillRef>
          <a:effectRef idx="0">
            <a:schemeClr val="accent1"/>
          </a:effectRef>
          <a:fontRef idx="minor">
            <a:schemeClr val="dk1"/>
          </a:fontRef>
        </dgm:style>
      </dgm:prSet>
      <dgm:spPr/>
      <dgm:t>
        <a:bodyPr anchor="ctr"/>
        <a:lstStyle/>
        <a:p>
          <a:pPr algn="l"/>
          <a:r>
            <a:rPr lang="es-VE" sz="1800" b="1" dirty="0" smtClean="0"/>
            <a:t>Organizaciones criminales de Colombia</a:t>
          </a:r>
          <a:endParaRPr lang="es-VE" sz="1800" b="1" dirty="0"/>
        </a:p>
      </dgm:t>
    </dgm:pt>
    <dgm:pt modelId="{146E5770-1344-4572-AEB4-0938CA8AAEB8}" type="parTrans" cxnId="{4E15703A-29CC-4BCE-B42C-6D2638CACFAC}">
      <dgm:prSet/>
      <dgm:spPr/>
      <dgm:t>
        <a:bodyPr/>
        <a:lstStyle/>
        <a:p>
          <a:endParaRPr lang="es-VE"/>
        </a:p>
      </dgm:t>
    </dgm:pt>
    <dgm:pt modelId="{C0247A08-C02F-4F2E-8A4F-900871845F19}" type="sibTrans" cxnId="{4E15703A-29CC-4BCE-B42C-6D2638CACFAC}">
      <dgm:prSet/>
      <dgm:spPr/>
      <dgm:t>
        <a:bodyPr/>
        <a:lstStyle/>
        <a:p>
          <a:endParaRPr lang="es-VE"/>
        </a:p>
      </dgm:t>
    </dgm:pt>
    <dgm:pt modelId="{17B98FCD-E368-4781-B5CC-B2B95CC32061}">
      <dgm:prSet phldrT="[Texto]" custT="1">
        <dgm:style>
          <a:lnRef idx="2">
            <a:schemeClr val="accent1"/>
          </a:lnRef>
          <a:fillRef idx="1">
            <a:schemeClr val="lt1"/>
          </a:fillRef>
          <a:effectRef idx="0">
            <a:schemeClr val="accent1"/>
          </a:effectRef>
          <a:fontRef idx="minor">
            <a:schemeClr val="dk1"/>
          </a:fontRef>
        </dgm:style>
      </dgm:prSet>
      <dgm:spPr>
        <a:ln>
          <a:solidFill>
            <a:schemeClr val="accent1"/>
          </a:solidFill>
        </a:ln>
      </dgm:spPr>
      <dgm:t>
        <a:bodyPr/>
        <a:lstStyle/>
        <a:p>
          <a:endParaRPr lang="es-VE" sz="1600" b="1" dirty="0"/>
        </a:p>
      </dgm:t>
    </dgm:pt>
    <dgm:pt modelId="{028AE073-1F04-4403-A711-97BEC740EDF4}" type="parTrans" cxnId="{73B79C7B-29AF-4DF3-9F63-CF5E502206E0}">
      <dgm:prSet/>
      <dgm:spPr/>
      <dgm:t>
        <a:bodyPr/>
        <a:lstStyle/>
        <a:p>
          <a:endParaRPr lang="es-VE"/>
        </a:p>
      </dgm:t>
    </dgm:pt>
    <dgm:pt modelId="{9C3D1FBA-17D0-49C2-8608-4D385779CC93}" type="sibTrans" cxnId="{73B79C7B-29AF-4DF3-9F63-CF5E502206E0}">
      <dgm:prSet/>
      <dgm:spPr/>
      <dgm:t>
        <a:bodyPr/>
        <a:lstStyle/>
        <a:p>
          <a:endParaRPr lang="es-VE"/>
        </a:p>
      </dgm:t>
    </dgm:pt>
    <dgm:pt modelId="{AEDA3FAB-345F-444F-ABDB-A5D1AF442B31}" type="pres">
      <dgm:prSet presAssocID="{AD59A4B8-40B4-4CD9-84C1-092DF82D6C83}" presName="linear" presStyleCnt="0">
        <dgm:presLayoutVars>
          <dgm:animLvl val="lvl"/>
          <dgm:resizeHandles val="exact"/>
        </dgm:presLayoutVars>
      </dgm:prSet>
      <dgm:spPr/>
      <dgm:t>
        <a:bodyPr/>
        <a:lstStyle/>
        <a:p>
          <a:endParaRPr lang="es-VE"/>
        </a:p>
      </dgm:t>
    </dgm:pt>
    <dgm:pt modelId="{30A464FE-3CA0-49C6-86D4-EBB7E8C8FBD9}" type="pres">
      <dgm:prSet presAssocID="{D8B6F368-CC2A-4D23-BFD3-36A262A3C2BF}" presName="parentText" presStyleLbl="node1" presStyleIdx="0" presStyleCnt="2" custScaleY="73540" custLinFactNeighborY="-9540">
        <dgm:presLayoutVars>
          <dgm:chMax val="0"/>
          <dgm:bulletEnabled val="1"/>
        </dgm:presLayoutVars>
      </dgm:prSet>
      <dgm:spPr/>
      <dgm:t>
        <a:bodyPr/>
        <a:lstStyle/>
        <a:p>
          <a:endParaRPr lang="es-VE"/>
        </a:p>
      </dgm:t>
    </dgm:pt>
    <dgm:pt modelId="{827D7861-6152-4180-B64D-C14841A06ACA}" type="pres">
      <dgm:prSet presAssocID="{D8B6F368-CC2A-4D23-BFD3-36A262A3C2BF}" presName="childText" presStyleLbl="revTx" presStyleIdx="0" presStyleCnt="2" custScaleY="108376">
        <dgm:presLayoutVars>
          <dgm:bulletEnabled val="1"/>
        </dgm:presLayoutVars>
      </dgm:prSet>
      <dgm:spPr/>
      <dgm:t>
        <a:bodyPr/>
        <a:lstStyle/>
        <a:p>
          <a:endParaRPr lang="es-VE"/>
        </a:p>
      </dgm:t>
    </dgm:pt>
    <dgm:pt modelId="{5282608C-9994-4ACE-95B8-212F328DE593}" type="pres">
      <dgm:prSet presAssocID="{0CE93239-F73E-41BC-BD6C-E26FFDFB6B24}" presName="parentText" presStyleLbl="node1" presStyleIdx="1" presStyleCnt="2">
        <dgm:presLayoutVars>
          <dgm:chMax val="0"/>
          <dgm:bulletEnabled val="1"/>
        </dgm:presLayoutVars>
      </dgm:prSet>
      <dgm:spPr/>
      <dgm:t>
        <a:bodyPr/>
        <a:lstStyle/>
        <a:p>
          <a:endParaRPr lang="es-VE"/>
        </a:p>
      </dgm:t>
    </dgm:pt>
    <dgm:pt modelId="{70BB8034-A017-4FA1-8206-98C889A83F05}" type="pres">
      <dgm:prSet presAssocID="{0CE93239-F73E-41BC-BD6C-E26FFDFB6B24}" presName="childText" presStyleLbl="revTx" presStyleIdx="1" presStyleCnt="2">
        <dgm:presLayoutVars>
          <dgm:bulletEnabled val="1"/>
        </dgm:presLayoutVars>
      </dgm:prSet>
      <dgm:spPr/>
      <dgm:t>
        <a:bodyPr/>
        <a:lstStyle/>
        <a:p>
          <a:endParaRPr lang="es-VE"/>
        </a:p>
      </dgm:t>
    </dgm:pt>
  </dgm:ptLst>
  <dgm:cxnLst>
    <dgm:cxn modelId="{9446AF04-05C1-4A55-B283-50008BA1EEA3}" srcId="{AD59A4B8-40B4-4CD9-84C1-092DF82D6C83}" destId="{D8B6F368-CC2A-4D23-BFD3-36A262A3C2BF}" srcOrd="0" destOrd="0" parTransId="{DC225A44-383A-4C7B-A282-91C9FEC4DC93}" sibTransId="{C1D79FE0-39CE-4EC4-9A5A-D747E4393127}"/>
    <dgm:cxn modelId="{46C95C94-4866-4EA2-9147-6C93C3609D23}" srcId="{D8B6F368-CC2A-4D23-BFD3-36A262A3C2BF}" destId="{124A672B-7CB9-4AEB-8801-7658A840E673}" srcOrd="1" destOrd="0" parTransId="{B7F0FE97-71BF-47C2-9AF3-271D4FF2A086}" sibTransId="{655060CF-EDA9-42C3-8B69-7413F797FAAB}"/>
    <dgm:cxn modelId="{73B79C7B-29AF-4DF3-9F63-CF5E502206E0}" srcId="{D8B6F368-CC2A-4D23-BFD3-36A262A3C2BF}" destId="{17B98FCD-E368-4781-B5CC-B2B95CC32061}" srcOrd="0" destOrd="0" parTransId="{028AE073-1F04-4403-A711-97BEC740EDF4}" sibTransId="{9C3D1FBA-17D0-49C2-8608-4D385779CC93}"/>
    <dgm:cxn modelId="{93E9CF9B-C184-4681-889D-738B9F4BB3C1}" type="presOf" srcId="{F3A4152D-F874-4201-9094-6BA981235B59}" destId="{70BB8034-A017-4FA1-8206-98C889A83F05}" srcOrd="0" destOrd="0" presId="urn:microsoft.com/office/officeart/2005/8/layout/vList2"/>
    <dgm:cxn modelId="{855022C8-9B98-435C-9F14-FDADEBD5946F}" srcId="{AD59A4B8-40B4-4CD9-84C1-092DF82D6C83}" destId="{0CE93239-F73E-41BC-BD6C-E26FFDFB6B24}" srcOrd="1" destOrd="0" parTransId="{4BC98221-E173-4DC1-8CCC-8E89DBA8C9B7}" sibTransId="{533DC82C-1F39-4831-8FF4-D3F8D003EC49}"/>
    <dgm:cxn modelId="{1E7F0F9B-A27E-4B46-BBEE-D96E71F8FBD5}" type="presOf" srcId="{17B98FCD-E368-4781-B5CC-B2B95CC32061}" destId="{827D7861-6152-4180-B64D-C14841A06ACA}" srcOrd="0" destOrd="0" presId="urn:microsoft.com/office/officeart/2005/8/layout/vList2"/>
    <dgm:cxn modelId="{583D5F02-1CE6-4595-8105-A67581A076F8}" type="presOf" srcId="{124A672B-7CB9-4AEB-8801-7658A840E673}" destId="{827D7861-6152-4180-B64D-C14841A06ACA}" srcOrd="0" destOrd="1" presId="urn:microsoft.com/office/officeart/2005/8/layout/vList2"/>
    <dgm:cxn modelId="{BD1AEEF4-B53E-40DD-AA7D-9436006C8A29}" type="presOf" srcId="{D8B6F368-CC2A-4D23-BFD3-36A262A3C2BF}" destId="{30A464FE-3CA0-49C6-86D4-EBB7E8C8FBD9}" srcOrd="0" destOrd="0" presId="urn:microsoft.com/office/officeart/2005/8/layout/vList2"/>
    <dgm:cxn modelId="{E85034EE-17A2-4C40-A15A-645E140EA2BF}" type="presOf" srcId="{0CE93239-F73E-41BC-BD6C-E26FFDFB6B24}" destId="{5282608C-9994-4ACE-95B8-212F328DE593}" srcOrd="0" destOrd="0" presId="urn:microsoft.com/office/officeart/2005/8/layout/vList2"/>
    <dgm:cxn modelId="{4E15703A-29CC-4BCE-B42C-6D2638CACFAC}" srcId="{0CE93239-F73E-41BC-BD6C-E26FFDFB6B24}" destId="{F3A4152D-F874-4201-9094-6BA981235B59}" srcOrd="0" destOrd="0" parTransId="{146E5770-1344-4572-AEB4-0938CA8AAEB8}" sibTransId="{C0247A08-C02F-4F2E-8A4F-900871845F19}"/>
    <dgm:cxn modelId="{9731EC9A-147D-4F42-8A15-A34B965D5731}" type="presOf" srcId="{AD59A4B8-40B4-4CD9-84C1-092DF82D6C83}" destId="{AEDA3FAB-345F-444F-ABDB-A5D1AF442B31}" srcOrd="0" destOrd="0" presId="urn:microsoft.com/office/officeart/2005/8/layout/vList2"/>
    <dgm:cxn modelId="{5DEAC1E6-82F4-43B1-BEFF-5C65C297AC47}" type="presParOf" srcId="{AEDA3FAB-345F-444F-ABDB-A5D1AF442B31}" destId="{30A464FE-3CA0-49C6-86D4-EBB7E8C8FBD9}" srcOrd="0" destOrd="0" presId="urn:microsoft.com/office/officeart/2005/8/layout/vList2"/>
    <dgm:cxn modelId="{927ECF3B-4DDE-4091-ADA6-F174A8DB6DDF}" type="presParOf" srcId="{AEDA3FAB-345F-444F-ABDB-A5D1AF442B31}" destId="{827D7861-6152-4180-B64D-C14841A06ACA}" srcOrd="1" destOrd="0" presId="urn:microsoft.com/office/officeart/2005/8/layout/vList2"/>
    <dgm:cxn modelId="{48BF2D8D-6149-4E3A-A17D-3A436C0EAEBF}" type="presParOf" srcId="{AEDA3FAB-345F-444F-ABDB-A5D1AF442B31}" destId="{5282608C-9994-4ACE-95B8-212F328DE593}" srcOrd="2" destOrd="0" presId="urn:microsoft.com/office/officeart/2005/8/layout/vList2"/>
    <dgm:cxn modelId="{0F95CD5E-0B5D-44EF-B471-155CA22B6DB6}" type="presParOf" srcId="{AEDA3FAB-345F-444F-ABDB-A5D1AF442B31}" destId="{70BB8034-A017-4FA1-8206-98C889A83F05}" srcOrd="3"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7931E1-1E4F-4661-987B-CC3050EA894C}"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s-VE"/>
        </a:p>
      </dgm:t>
    </dgm:pt>
    <dgm:pt modelId="{3E0CCFDD-3CC1-48E4-9F80-20940B18902D}">
      <dgm:prSet phldrT="[Texto]" custT="1"/>
      <dgm:spPr>
        <a:solidFill>
          <a:schemeClr val="bg1"/>
        </a:solidFill>
      </dgm:spPr>
      <dgm:t>
        <a:bodyPr/>
        <a:lstStyle/>
        <a:p>
          <a:pPr algn="ctr">
            <a:lnSpc>
              <a:spcPct val="100000"/>
            </a:lnSpc>
          </a:pPr>
          <a:r>
            <a:rPr lang="es-VE" sz="2000" b="0" dirty="0" smtClean="0">
              <a:solidFill>
                <a:schemeClr val="tx1"/>
              </a:solidFill>
            </a:rPr>
            <a:t>Organizaciones Internacionales que han sido calificadas como estructuras del crimen organizado</a:t>
          </a:r>
          <a:endParaRPr lang="es-VE" sz="3700" b="0" dirty="0">
            <a:solidFill>
              <a:schemeClr val="tx1"/>
            </a:solidFill>
          </a:endParaRPr>
        </a:p>
      </dgm:t>
    </dgm:pt>
    <dgm:pt modelId="{02595B54-8AFD-4A92-97B8-688CDD1EC7AE}" type="parTrans" cxnId="{ECDF8B45-8DC0-471F-8406-E2B0E1582865}">
      <dgm:prSet/>
      <dgm:spPr/>
      <dgm:t>
        <a:bodyPr/>
        <a:lstStyle/>
        <a:p>
          <a:endParaRPr lang="es-VE"/>
        </a:p>
      </dgm:t>
    </dgm:pt>
    <dgm:pt modelId="{E95A88BA-A1F0-47AD-AF87-FE21DDFDA47C}" type="sibTrans" cxnId="{ECDF8B45-8DC0-471F-8406-E2B0E1582865}">
      <dgm:prSet/>
      <dgm:spPr/>
      <dgm:t>
        <a:bodyPr/>
        <a:lstStyle/>
        <a:p>
          <a:endParaRPr lang="es-VE"/>
        </a:p>
      </dgm:t>
    </dgm:pt>
    <dgm:pt modelId="{6D4C9D6E-0CBD-4727-B9A4-23BF3D589F21}" type="pres">
      <dgm:prSet presAssocID="{9A7931E1-1E4F-4661-987B-CC3050EA894C}" presName="linear" presStyleCnt="0">
        <dgm:presLayoutVars>
          <dgm:animLvl val="lvl"/>
          <dgm:resizeHandles val="exact"/>
        </dgm:presLayoutVars>
      </dgm:prSet>
      <dgm:spPr/>
      <dgm:t>
        <a:bodyPr/>
        <a:lstStyle/>
        <a:p>
          <a:endParaRPr lang="es-VE"/>
        </a:p>
      </dgm:t>
    </dgm:pt>
    <dgm:pt modelId="{36A42022-2182-443A-B322-CE2FF67E4861}" type="pres">
      <dgm:prSet presAssocID="{3E0CCFDD-3CC1-48E4-9F80-20940B18902D}" presName="parentText" presStyleLbl="node1" presStyleIdx="0" presStyleCnt="1" custScaleY="103463" custLinFactNeighborX="10156" custLinFactNeighborY="-33845">
        <dgm:presLayoutVars>
          <dgm:chMax val="0"/>
          <dgm:bulletEnabled val="1"/>
        </dgm:presLayoutVars>
      </dgm:prSet>
      <dgm:spPr/>
      <dgm:t>
        <a:bodyPr/>
        <a:lstStyle/>
        <a:p>
          <a:endParaRPr lang="es-VE"/>
        </a:p>
      </dgm:t>
    </dgm:pt>
  </dgm:ptLst>
  <dgm:cxnLst>
    <dgm:cxn modelId="{92E883AB-8322-4A24-B665-007E84A77578}" type="presOf" srcId="{9A7931E1-1E4F-4661-987B-CC3050EA894C}" destId="{6D4C9D6E-0CBD-4727-B9A4-23BF3D589F21}" srcOrd="0" destOrd="0" presId="urn:microsoft.com/office/officeart/2005/8/layout/vList2"/>
    <dgm:cxn modelId="{ECDF8B45-8DC0-471F-8406-E2B0E1582865}" srcId="{9A7931E1-1E4F-4661-987B-CC3050EA894C}" destId="{3E0CCFDD-3CC1-48E4-9F80-20940B18902D}" srcOrd="0" destOrd="0" parTransId="{02595B54-8AFD-4A92-97B8-688CDD1EC7AE}" sibTransId="{E95A88BA-A1F0-47AD-AF87-FE21DDFDA47C}"/>
    <dgm:cxn modelId="{DCF87073-42C1-4B53-9978-D9BC21A174D1}" type="presOf" srcId="{3E0CCFDD-3CC1-48E4-9F80-20940B18902D}" destId="{36A42022-2182-443A-B322-CE2FF67E4861}" srcOrd="0" destOrd="0" presId="urn:microsoft.com/office/officeart/2005/8/layout/vList2"/>
    <dgm:cxn modelId="{597D1BD0-F123-499B-94F2-36F02BFD2AD6}" type="presParOf" srcId="{6D4C9D6E-0CBD-4727-B9A4-23BF3D589F21}" destId="{36A42022-2182-443A-B322-CE2FF67E4861}" srcOrd="0" destOrd="0" presId="urn:microsoft.com/office/officeart/2005/8/layout/vList2"/>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F6405A9-9AAD-462B-B318-7DD282AA409C}"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VE"/>
        </a:p>
      </dgm:t>
    </dgm:pt>
    <dgm:pt modelId="{C6B29546-E482-4EC4-96EB-3DC9CBA3089B}">
      <dgm:prSet phldrT="[Texto]" custT="1"/>
      <dgm:spPr>
        <a:solidFill>
          <a:schemeClr val="bg1"/>
        </a:solidFill>
      </dgm:spPr>
      <dgm:t>
        <a:bodyPr/>
        <a:lstStyle/>
        <a:p>
          <a:r>
            <a:rPr lang="es-VE" sz="1400" b="1" dirty="0" smtClean="0">
              <a:solidFill>
                <a:schemeClr val="tx1"/>
              </a:solidFill>
            </a:rPr>
            <a:t>TRAFICO DE DROGAS</a:t>
          </a:r>
          <a:endParaRPr lang="es-VE" sz="1400" b="1" dirty="0">
            <a:solidFill>
              <a:schemeClr val="tx1"/>
            </a:solidFill>
          </a:endParaRPr>
        </a:p>
      </dgm:t>
    </dgm:pt>
    <dgm:pt modelId="{9C2AEE7A-49A2-45E9-A9F9-C0DA04C647FF}" type="parTrans" cxnId="{A9B4A7D9-8F76-4960-A612-F91DDE0CB161}">
      <dgm:prSet/>
      <dgm:spPr/>
      <dgm:t>
        <a:bodyPr/>
        <a:lstStyle/>
        <a:p>
          <a:endParaRPr lang="es-VE"/>
        </a:p>
      </dgm:t>
    </dgm:pt>
    <dgm:pt modelId="{DB209237-14FE-4AA0-9161-A5E16BBB5763}" type="sibTrans" cxnId="{A9B4A7D9-8F76-4960-A612-F91DDE0CB161}">
      <dgm:prSet/>
      <dgm:spPr/>
      <dgm:t>
        <a:bodyPr/>
        <a:lstStyle/>
        <a:p>
          <a:endParaRPr lang="es-VE"/>
        </a:p>
      </dgm:t>
    </dgm:pt>
    <dgm:pt modelId="{00483D65-BE07-4238-B20A-E7ED0AC72282}">
      <dgm:prSet phldrT="[Texto]" custT="1"/>
      <dgm:spPr>
        <a:solidFill>
          <a:schemeClr val="bg1"/>
        </a:solidFill>
      </dgm:spPr>
      <dgm:t>
        <a:bodyPr/>
        <a:lstStyle/>
        <a:p>
          <a:r>
            <a:rPr lang="es-VE" sz="1400" b="1" dirty="0" smtClean="0">
              <a:solidFill>
                <a:schemeClr val="tx1"/>
              </a:solidFill>
            </a:rPr>
            <a:t>Corrupción</a:t>
          </a:r>
          <a:endParaRPr lang="es-VE" sz="1400" dirty="0"/>
        </a:p>
      </dgm:t>
    </dgm:pt>
    <dgm:pt modelId="{4BC1D306-49AB-4CD0-ACDA-6A96570383B8}" type="parTrans" cxnId="{A9654A83-F67D-4C25-AB32-0E43DEC5A6F8}">
      <dgm:prSet/>
      <dgm:spPr/>
      <dgm:t>
        <a:bodyPr/>
        <a:lstStyle/>
        <a:p>
          <a:endParaRPr lang="es-VE"/>
        </a:p>
      </dgm:t>
    </dgm:pt>
    <dgm:pt modelId="{0CFB6FF0-8F90-41D0-AF5A-D3944ABD3ED7}" type="sibTrans" cxnId="{A9654A83-F67D-4C25-AB32-0E43DEC5A6F8}">
      <dgm:prSet/>
      <dgm:spPr/>
      <dgm:t>
        <a:bodyPr/>
        <a:lstStyle/>
        <a:p>
          <a:endParaRPr lang="es-VE"/>
        </a:p>
      </dgm:t>
    </dgm:pt>
    <dgm:pt modelId="{9137B0EA-768B-4F7F-80F2-F019D150FBDD}">
      <dgm:prSet phldrT="[Texto]" custT="1"/>
      <dgm:spPr>
        <a:solidFill>
          <a:schemeClr val="bg1"/>
        </a:solidFill>
      </dgm:spPr>
      <dgm:t>
        <a:bodyPr/>
        <a:lstStyle/>
        <a:p>
          <a:r>
            <a:rPr lang="es-VE" sz="1400" b="1" dirty="0" smtClean="0">
              <a:solidFill>
                <a:schemeClr val="tx1"/>
              </a:solidFill>
            </a:rPr>
            <a:t>Legitimación de Capitales</a:t>
          </a:r>
          <a:endParaRPr lang="es-VE" sz="1400" dirty="0"/>
        </a:p>
      </dgm:t>
    </dgm:pt>
    <dgm:pt modelId="{08C2F7B2-F226-4C38-94F6-2386D79E0DB0}" type="parTrans" cxnId="{27A174EC-20E1-4D17-838F-5589C7950B1C}">
      <dgm:prSet/>
      <dgm:spPr/>
      <dgm:t>
        <a:bodyPr/>
        <a:lstStyle/>
        <a:p>
          <a:endParaRPr lang="es-VE"/>
        </a:p>
      </dgm:t>
    </dgm:pt>
    <dgm:pt modelId="{3D208A19-9F4D-4784-BFA5-4D3F02273226}" type="sibTrans" cxnId="{27A174EC-20E1-4D17-838F-5589C7950B1C}">
      <dgm:prSet/>
      <dgm:spPr/>
      <dgm:t>
        <a:bodyPr/>
        <a:lstStyle/>
        <a:p>
          <a:endParaRPr lang="es-VE"/>
        </a:p>
      </dgm:t>
    </dgm:pt>
    <dgm:pt modelId="{CE3962D5-6C13-40AA-BA69-52EE1D4D90FF}">
      <dgm:prSet phldrT="[Texto]"/>
      <dgm:spPr>
        <a:solidFill>
          <a:schemeClr val="bg1"/>
        </a:solidFill>
      </dgm:spPr>
      <dgm:t>
        <a:bodyPr/>
        <a:lstStyle/>
        <a:p>
          <a:endParaRPr lang="es-VE" sz="1400" dirty="0"/>
        </a:p>
      </dgm:t>
    </dgm:pt>
    <dgm:pt modelId="{98CA12C3-2C57-45B7-9760-C108E688A650}" type="parTrans" cxnId="{59A497CA-ECC6-458B-92C5-E9C694717115}">
      <dgm:prSet/>
      <dgm:spPr/>
      <dgm:t>
        <a:bodyPr/>
        <a:lstStyle/>
        <a:p>
          <a:endParaRPr lang="es-VE"/>
        </a:p>
      </dgm:t>
    </dgm:pt>
    <dgm:pt modelId="{D6A4C73C-D7ED-4EF1-9D07-E11DDA6F3ADB}" type="sibTrans" cxnId="{59A497CA-ECC6-458B-92C5-E9C694717115}">
      <dgm:prSet/>
      <dgm:spPr/>
      <dgm:t>
        <a:bodyPr/>
        <a:lstStyle/>
        <a:p>
          <a:endParaRPr lang="es-VE"/>
        </a:p>
      </dgm:t>
    </dgm:pt>
    <dgm:pt modelId="{7377B1A3-C062-401B-9EC0-1F585D378F92}">
      <dgm:prSet phldrT="[Texto]" custT="1"/>
      <dgm:spPr>
        <a:solidFill>
          <a:schemeClr val="bg1"/>
        </a:solidFill>
      </dgm:spPr>
      <dgm:t>
        <a:bodyPr/>
        <a:lstStyle/>
        <a:p>
          <a:r>
            <a:rPr lang="es-VE" sz="1400" b="1" dirty="0" smtClean="0">
              <a:solidFill>
                <a:schemeClr val="tx1"/>
              </a:solidFill>
            </a:rPr>
            <a:t>TERRORISMO</a:t>
          </a:r>
          <a:endParaRPr lang="es-VE" sz="1400" b="1" dirty="0">
            <a:solidFill>
              <a:schemeClr val="tx1"/>
            </a:solidFill>
          </a:endParaRPr>
        </a:p>
      </dgm:t>
    </dgm:pt>
    <dgm:pt modelId="{A12D14DF-4A50-49A8-9965-9F7CC9ADEFDD}" type="parTrans" cxnId="{F4F0D2EE-A8AB-478B-ADC1-7E3F9A310D3A}">
      <dgm:prSet/>
      <dgm:spPr/>
      <dgm:t>
        <a:bodyPr/>
        <a:lstStyle/>
        <a:p>
          <a:endParaRPr lang="es-VE"/>
        </a:p>
      </dgm:t>
    </dgm:pt>
    <dgm:pt modelId="{41E0D1CA-9C74-444D-A75A-746480683C89}" type="sibTrans" cxnId="{F4F0D2EE-A8AB-478B-ADC1-7E3F9A310D3A}">
      <dgm:prSet/>
      <dgm:spPr/>
      <dgm:t>
        <a:bodyPr/>
        <a:lstStyle/>
        <a:p>
          <a:endParaRPr lang="es-VE"/>
        </a:p>
      </dgm:t>
    </dgm:pt>
    <dgm:pt modelId="{8F589281-2CF7-4655-A10D-0409D56517CE}">
      <dgm:prSet phldrT="[Texto]" custT="1"/>
      <dgm:spPr>
        <a:solidFill>
          <a:schemeClr val="bg1"/>
        </a:solidFill>
      </dgm:spPr>
      <dgm:t>
        <a:bodyPr/>
        <a:lstStyle/>
        <a:p>
          <a:r>
            <a:rPr lang="es-VE" sz="1400" b="1" dirty="0" smtClean="0">
              <a:solidFill>
                <a:schemeClr val="tx1"/>
              </a:solidFill>
            </a:rPr>
            <a:t>Los secuestros </a:t>
          </a:r>
          <a:endParaRPr lang="es-VE" sz="1400" b="1" dirty="0">
            <a:solidFill>
              <a:schemeClr val="tx1"/>
            </a:solidFill>
          </a:endParaRPr>
        </a:p>
      </dgm:t>
    </dgm:pt>
    <dgm:pt modelId="{F6B08701-99E2-4076-9D80-E8EA82EE8C57}" type="parTrans" cxnId="{B94EB3AC-0311-48E0-8CBF-52956B3E94C9}">
      <dgm:prSet/>
      <dgm:spPr/>
      <dgm:t>
        <a:bodyPr/>
        <a:lstStyle/>
        <a:p>
          <a:endParaRPr lang="es-VE"/>
        </a:p>
      </dgm:t>
    </dgm:pt>
    <dgm:pt modelId="{B502A533-8889-4337-903C-D4578226D785}" type="sibTrans" cxnId="{B94EB3AC-0311-48E0-8CBF-52956B3E94C9}">
      <dgm:prSet/>
      <dgm:spPr/>
      <dgm:t>
        <a:bodyPr/>
        <a:lstStyle/>
        <a:p>
          <a:endParaRPr lang="es-VE"/>
        </a:p>
      </dgm:t>
    </dgm:pt>
    <dgm:pt modelId="{6ADA65A0-4572-4863-BF83-119FA56D1FC9}">
      <dgm:prSet phldrT="[Texto]" custT="1"/>
      <dgm:spPr>
        <a:solidFill>
          <a:schemeClr val="bg1"/>
        </a:solidFill>
      </dgm:spPr>
      <dgm:t>
        <a:bodyPr/>
        <a:lstStyle/>
        <a:p>
          <a:r>
            <a:rPr lang="es-VE" sz="1400" b="1" dirty="0" smtClean="0">
              <a:solidFill>
                <a:schemeClr val="tx1"/>
              </a:solidFill>
            </a:rPr>
            <a:t>FINANCIAMIENTO A LA PROLIFERACION DE ARMAS DE DESTRUCCION MASIVA</a:t>
          </a:r>
          <a:endParaRPr lang="es-VE" sz="1400" b="1" dirty="0">
            <a:solidFill>
              <a:schemeClr val="tx1"/>
            </a:solidFill>
          </a:endParaRPr>
        </a:p>
      </dgm:t>
    </dgm:pt>
    <dgm:pt modelId="{A372B611-C4A6-4AFB-A8AF-33B15CC50740}" type="parTrans" cxnId="{780DAE71-3AA7-4C4E-81CD-C442CCA8ADB4}">
      <dgm:prSet/>
      <dgm:spPr/>
      <dgm:t>
        <a:bodyPr/>
        <a:lstStyle/>
        <a:p>
          <a:endParaRPr lang="es-VE"/>
        </a:p>
      </dgm:t>
    </dgm:pt>
    <dgm:pt modelId="{6160DBF2-CD85-4112-92BD-2CF49F5B6E66}" type="sibTrans" cxnId="{780DAE71-3AA7-4C4E-81CD-C442CCA8ADB4}">
      <dgm:prSet/>
      <dgm:spPr/>
      <dgm:t>
        <a:bodyPr/>
        <a:lstStyle/>
        <a:p>
          <a:endParaRPr lang="es-VE"/>
        </a:p>
      </dgm:t>
    </dgm:pt>
    <dgm:pt modelId="{46354462-2CC6-45AE-97AB-B2353DA331C0}">
      <dgm:prSet phldrT="[Texto]" custT="1"/>
      <dgm:spPr>
        <a:solidFill>
          <a:schemeClr val="bg1"/>
        </a:solidFill>
      </dgm:spPr>
      <dgm:t>
        <a:bodyPr/>
        <a:lstStyle/>
        <a:p>
          <a:r>
            <a:rPr lang="es-VE" sz="1400" b="1" dirty="0" smtClean="0">
              <a:solidFill>
                <a:schemeClr val="tx1"/>
              </a:solidFill>
            </a:rPr>
            <a:t>Armas Nucleares</a:t>
          </a:r>
          <a:endParaRPr lang="es-VE" sz="1400" dirty="0">
            <a:solidFill>
              <a:schemeClr val="tx1"/>
            </a:solidFill>
          </a:endParaRPr>
        </a:p>
      </dgm:t>
    </dgm:pt>
    <dgm:pt modelId="{D3702DD0-5A78-420C-A2C3-9A3DA716F03C}" type="parTrans" cxnId="{7306AA59-A535-41AB-A8F8-435827F0B4E1}">
      <dgm:prSet/>
      <dgm:spPr/>
      <dgm:t>
        <a:bodyPr/>
        <a:lstStyle/>
        <a:p>
          <a:endParaRPr lang="es-VE"/>
        </a:p>
      </dgm:t>
    </dgm:pt>
    <dgm:pt modelId="{2794F941-1E62-48E3-96FF-F57445C48A52}" type="sibTrans" cxnId="{7306AA59-A535-41AB-A8F8-435827F0B4E1}">
      <dgm:prSet/>
      <dgm:spPr/>
      <dgm:t>
        <a:bodyPr/>
        <a:lstStyle/>
        <a:p>
          <a:endParaRPr lang="es-VE"/>
        </a:p>
      </dgm:t>
    </dgm:pt>
    <dgm:pt modelId="{F422649A-E245-45AD-B0BF-63E1FC10C315}">
      <dgm:prSet phldrT="[Texto]" custT="1"/>
      <dgm:spPr>
        <a:solidFill>
          <a:schemeClr val="bg1"/>
        </a:solidFill>
      </dgm:spPr>
      <dgm:t>
        <a:bodyPr/>
        <a:lstStyle/>
        <a:p>
          <a:r>
            <a:rPr lang="es-VE" sz="1400" b="1" dirty="0" smtClean="0">
              <a:solidFill>
                <a:schemeClr val="tx1"/>
              </a:solidFill>
            </a:rPr>
            <a:t>Armas Biológicas</a:t>
          </a:r>
          <a:endParaRPr lang="es-VE" sz="1400" dirty="0">
            <a:solidFill>
              <a:schemeClr val="tx1"/>
            </a:solidFill>
          </a:endParaRPr>
        </a:p>
      </dgm:t>
    </dgm:pt>
    <dgm:pt modelId="{A3F3F2FC-C69A-458B-B105-9796E37F15AA}" type="parTrans" cxnId="{A3FA602F-04E0-4C7B-8043-A33713E1EA65}">
      <dgm:prSet/>
      <dgm:spPr/>
      <dgm:t>
        <a:bodyPr/>
        <a:lstStyle/>
        <a:p>
          <a:endParaRPr lang="es-VE"/>
        </a:p>
      </dgm:t>
    </dgm:pt>
    <dgm:pt modelId="{18810AF8-232B-42E6-840E-AF32FB38C2BC}" type="sibTrans" cxnId="{A3FA602F-04E0-4C7B-8043-A33713E1EA65}">
      <dgm:prSet/>
      <dgm:spPr/>
      <dgm:t>
        <a:bodyPr/>
        <a:lstStyle/>
        <a:p>
          <a:endParaRPr lang="es-VE"/>
        </a:p>
      </dgm:t>
    </dgm:pt>
    <dgm:pt modelId="{D036E8D4-B5A8-4230-9F87-16151B9732B8}">
      <dgm:prSet phldrT="[Texto]" custT="1"/>
      <dgm:spPr>
        <a:solidFill>
          <a:schemeClr val="bg1"/>
        </a:solidFill>
      </dgm:spPr>
      <dgm:t>
        <a:bodyPr/>
        <a:lstStyle/>
        <a:p>
          <a:r>
            <a:rPr lang="es-VE" sz="1400" b="1" dirty="0" smtClean="0">
              <a:solidFill>
                <a:schemeClr val="tx1"/>
              </a:solidFill>
            </a:rPr>
            <a:t>Terrorismo</a:t>
          </a:r>
          <a:endParaRPr lang="es-VE" sz="1400" dirty="0"/>
        </a:p>
      </dgm:t>
    </dgm:pt>
    <dgm:pt modelId="{7F9B3280-0046-46C6-8B6C-ECA805852F88}" type="parTrans" cxnId="{F44A598B-0200-4F22-BE60-215C6F0E8514}">
      <dgm:prSet/>
      <dgm:spPr/>
      <dgm:t>
        <a:bodyPr/>
        <a:lstStyle/>
        <a:p>
          <a:endParaRPr lang="es-VE"/>
        </a:p>
      </dgm:t>
    </dgm:pt>
    <dgm:pt modelId="{1643D8BD-2FBF-4892-A54A-53345DAF84D7}" type="sibTrans" cxnId="{F44A598B-0200-4F22-BE60-215C6F0E8514}">
      <dgm:prSet/>
      <dgm:spPr/>
      <dgm:t>
        <a:bodyPr/>
        <a:lstStyle/>
        <a:p>
          <a:endParaRPr lang="es-VE"/>
        </a:p>
      </dgm:t>
    </dgm:pt>
    <dgm:pt modelId="{8E505038-89AD-4E6E-901C-35BF844E1F99}">
      <dgm:prSet phldrT="[Texto]" custT="1"/>
      <dgm:spPr>
        <a:solidFill>
          <a:schemeClr val="bg1"/>
        </a:solidFill>
      </dgm:spPr>
      <dgm:t>
        <a:bodyPr/>
        <a:lstStyle/>
        <a:p>
          <a:r>
            <a:rPr lang="es-VE" sz="1400" b="1" dirty="0" smtClean="0">
              <a:solidFill>
                <a:schemeClr val="tx1"/>
              </a:solidFill>
            </a:rPr>
            <a:t>Financiamiento de la Proliferación de Armas de Destrucción Masiva</a:t>
          </a:r>
          <a:endParaRPr lang="es-VE" sz="1400" dirty="0"/>
        </a:p>
      </dgm:t>
    </dgm:pt>
    <dgm:pt modelId="{6B3F3D88-F2EE-4321-B9DA-DDA1166E98E1}" type="parTrans" cxnId="{83A5EA9B-2F90-42D6-8884-113C156D5A85}">
      <dgm:prSet/>
      <dgm:spPr/>
      <dgm:t>
        <a:bodyPr/>
        <a:lstStyle/>
        <a:p>
          <a:endParaRPr lang="es-VE"/>
        </a:p>
      </dgm:t>
    </dgm:pt>
    <dgm:pt modelId="{04E1C90A-5BF8-47E3-BEB2-D9D76C03441B}" type="sibTrans" cxnId="{83A5EA9B-2F90-42D6-8884-113C156D5A85}">
      <dgm:prSet/>
      <dgm:spPr/>
      <dgm:t>
        <a:bodyPr/>
        <a:lstStyle/>
        <a:p>
          <a:endParaRPr lang="es-VE"/>
        </a:p>
      </dgm:t>
    </dgm:pt>
    <dgm:pt modelId="{0F298A88-0424-4572-AB1D-1A72FE0DE7EA}">
      <dgm:prSet phldrT="[Texto]" custT="1"/>
      <dgm:spPr>
        <a:solidFill>
          <a:schemeClr val="bg1"/>
        </a:solidFill>
      </dgm:spPr>
      <dgm:t>
        <a:bodyPr/>
        <a:lstStyle/>
        <a:p>
          <a:r>
            <a:rPr lang="es-VE" sz="1400" b="1" dirty="0" smtClean="0">
              <a:solidFill>
                <a:schemeClr val="tx1"/>
              </a:solidFill>
            </a:rPr>
            <a:t>Las extorsiones </a:t>
          </a:r>
          <a:endParaRPr lang="es-VE" sz="1400" b="1" dirty="0">
            <a:solidFill>
              <a:schemeClr val="tx1"/>
            </a:solidFill>
          </a:endParaRPr>
        </a:p>
      </dgm:t>
    </dgm:pt>
    <dgm:pt modelId="{908918BE-CC82-439A-8D7F-8F268C3CA612}" type="parTrans" cxnId="{C6F52AA4-3C62-48C4-A28A-C929486DA9D6}">
      <dgm:prSet/>
      <dgm:spPr/>
      <dgm:t>
        <a:bodyPr/>
        <a:lstStyle/>
        <a:p>
          <a:endParaRPr lang="es-VE"/>
        </a:p>
      </dgm:t>
    </dgm:pt>
    <dgm:pt modelId="{98766B44-B2DB-4B6E-B8ED-20C2A7BB3ABE}" type="sibTrans" cxnId="{C6F52AA4-3C62-48C4-A28A-C929486DA9D6}">
      <dgm:prSet/>
      <dgm:spPr/>
      <dgm:t>
        <a:bodyPr/>
        <a:lstStyle/>
        <a:p>
          <a:endParaRPr lang="es-VE"/>
        </a:p>
      </dgm:t>
    </dgm:pt>
    <dgm:pt modelId="{CEE031B0-E387-443B-8076-EFFAB289F655}">
      <dgm:prSet phldrT="[Texto]" custT="1"/>
      <dgm:spPr>
        <a:solidFill>
          <a:schemeClr val="bg1"/>
        </a:solidFill>
      </dgm:spPr>
      <dgm:t>
        <a:bodyPr/>
        <a:lstStyle/>
        <a:p>
          <a:r>
            <a:rPr lang="es-VE" sz="1400" b="1" dirty="0" smtClean="0">
              <a:solidFill>
                <a:schemeClr val="tx1"/>
              </a:solidFill>
            </a:rPr>
            <a:t>El tráfico de armas y drogas </a:t>
          </a:r>
          <a:endParaRPr lang="es-VE" sz="1400" b="1" dirty="0">
            <a:solidFill>
              <a:schemeClr val="tx1"/>
            </a:solidFill>
          </a:endParaRPr>
        </a:p>
      </dgm:t>
    </dgm:pt>
    <dgm:pt modelId="{6AA10FD8-0D85-468C-BE9D-17CB1FC511C1}" type="parTrans" cxnId="{7B8E0399-4460-43B2-A156-B92D34176270}">
      <dgm:prSet/>
      <dgm:spPr/>
      <dgm:t>
        <a:bodyPr/>
        <a:lstStyle/>
        <a:p>
          <a:endParaRPr lang="es-VE"/>
        </a:p>
      </dgm:t>
    </dgm:pt>
    <dgm:pt modelId="{1FCEE49A-7D8C-4060-A640-A4FB38046047}" type="sibTrans" cxnId="{7B8E0399-4460-43B2-A156-B92D34176270}">
      <dgm:prSet/>
      <dgm:spPr/>
      <dgm:t>
        <a:bodyPr/>
        <a:lstStyle/>
        <a:p>
          <a:endParaRPr lang="es-VE"/>
        </a:p>
      </dgm:t>
    </dgm:pt>
    <dgm:pt modelId="{E16EB4EB-AB3B-4C19-B554-FBCEDD835B38}">
      <dgm:prSet phldrT="[Texto]" custT="1"/>
      <dgm:spPr>
        <a:solidFill>
          <a:schemeClr val="bg1"/>
        </a:solidFill>
      </dgm:spPr>
      <dgm:t>
        <a:bodyPr/>
        <a:lstStyle/>
        <a:p>
          <a:r>
            <a:rPr lang="es-VE" sz="1400" b="1" dirty="0" smtClean="0">
              <a:solidFill>
                <a:schemeClr val="tx1"/>
              </a:solidFill>
            </a:rPr>
            <a:t>El uso fraudulento de tarjetas de crédito </a:t>
          </a:r>
          <a:endParaRPr lang="es-VE" sz="1400" b="1" dirty="0">
            <a:solidFill>
              <a:schemeClr val="tx1"/>
            </a:solidFill>
          </a:endParaRPr>
        </a:p>
      </dgm:t>
    </dgm:pt>
    <dgm:pt modelId="{C4C27783-3DD9-4752-97F8-4BBD34D8D8E4}" type="parTrans" cxnId="{C6AA6040-D7BB-4D00-B2EE-5EB28DD70FE2}">
      <dgm:prSet/>
      <dgm:spPr/>
      <dgm:t>
        <a:bodyPr/>
        <a:lstStyle/>
        <a:p>
          <a:endParaRPr lang="es-VE"/>
        </a:p>
      </dgm:t>
    </dgm:pt>
    <dgm:pt modelId="{B7DA0DFE-F77E-4474-B5C2-A58704A35543}" type="sibTrans" cxnId="{C6AA6040-D7BB-4D00-B2EE-5EB28DD70FE2}">
      <dgm:prSet/>
      <dgm:spPr/>
      <dgm:t>
        <a:bodyPr/>
        <a:lstStyle/>
        <a:p>
          <a:endParaRPr lang="es-VE"/>
        </a:p>
      </dgm:t>
    </dgm:pt>
    <dgm:pt modelId="{AAAE00C0-7782-4B11-9DC4-011692815D90}">
      <dgm:prSet phldrT="[Texto]" custT="1"/>
      <dgm:spPr>
        <a:solidFill>
          <a:schemeClr val="bg1"/>
        </a:solidFill>
      </dgm:spPr>
      <dgm:t>
        <a:bodyPr/>
        <a:lstStyle/>
        <a:p>
          <a:r>
            <a:rPr lang="es-VE" sz="1400" b="1" dirty="0" smtClean="0">
              <a:solidFill>
                <a:schemeClr val="tx1"/>
              </a:solidFill>
            </a:rPr>
            <a:t>Los fraudes contra aseguradoras y bancos</a:t>
          </a:r>
          <a:endParaRPr lang="es-VE" sz="1400" b="1" dirty="0">
            <a:solidFill>
              <a:schemeClr val="tx1"/>
            </a:solidFill>
          </a:endParaRPr>
        </a:p>
      </dgm:t>
    </dgm:pt>
    <dgm:pt modelId="{D67745FE-E4BD-4B97-A9B9-1B3A200AAE40}" type="parTrans" cxnId="{68357DCE-3BF4-4A81-B7D5-D08EE69D2533}">
      <dgm:prSet/>
      <dgm:spPr/>
      <dgm:t>
        <a:bodyPr/>
        <a:lstStyle/>
        <a:p>
          <a:endParaRPr lang="es-VE"/>
        </a:p>
      </dgm:t>
    </dgm:pt>
    <dgm:pt modelId="{027DBA37-7F86-4649-AE02-4F1AD822B1C4}" type="sibTrans" cxnId="{68357DCE-3BF4-4A81-B7D5-D08EE69D2533}">
      <dgm:prSet/>
      <dgm:spPr/>
      <dgm:t>
        <a:bodyPr/>
        <a:lstStyle/>
        <a:p>
          <a:endParaRPr lang="es-VE"/>
        </a:p>
      </dgm:t>
    </dgm:pt>
    <dgm:pt modelId="{BC2F9ABA-888F-4456-904C-3A9AC077128E}">
      <dgm:prSet phldrT="[Texto]" custT="1"/>
      <dgm:spPr>
        <a:solidFill>
          <a:schemeClr val="bg1"/>
        </a:solidFill>
      </dgm:spPr>
      <dgm:t>
        <a:bodyPr/>
        <a:lstStyle/>
        <a:p>
          <a:r>
            <a:rPr lang="es-VE" sz="1400" b="1" dirty="0" smtClean="0">
              <a:solidFill>
                <a:schemeClr val="tx1"/>
              </a:solidFill>
            </a:rPr>
            <a:t>El tráfico de seres humanos  </a:t>
          </a:r>
          <a:endParaRPr lang="es-VE" sz="1400" b="1" dirty="0">
            <a:solidFill>
              <a:schemeClr val="tx1"/>
            </a:solidFill>
          </a:endParaRPr>
        </a:p>
      </dgm:t>
    </dgm:pt>
    <dgm:pt modelId="{6584BFB5-5667-415F-8964-273AEF7D1F43}" type="parTrans" cxnId="{B1B80D01-34FC-43C3-B430-D4901F3E9CAB}">
      <dgm:prSet/>
      <dgm:spPr/>
      <dgm:t>
        <a:bodyPr/>
        <a:lstStyle/>
        <a:p>
          <a:endParaRPr lang="es-VE"/>
        </a:p>
      </dgm:t>
    </dgm:pt>
    <dgm:pt modelId="{77A873D4-F69F-4047-B301-8AC83DD314E4}" type="sibTrans" cxnId="{B1B80D01-34FC-43C3-B430-D4901F3E9CAB}">
      <dgm:prSet/>
      <dgm:spPr/>
      <dgm:t>
        <a:bodyPr/>
        <a:lstStyle/>
        <a:p>
          <a:endParaRPr lang="es-VE"/>
        </a:p>
      </dgm:t>
    </dgm:pt>
    <dgm:pt modelId="{B0BE3DDA-0FE1-49D2-88D0-A11A64E1F035}">
      <dgm:prSet phldrT="[Texto]" custT="1"/>
      <dgm:spPr>
        <a:solidFill>
          <a:schemeClr val="bg1"/>
        </a:solidFill>
      </dgm:spPr>
      <dgm:t>
        <a:bodyPr/>
        <a:lstStyle/>
        <a:p>
          <a:r>
            <a:rPr lang="es-VE" sz="1400" b="1" dirty="0" smtClean="0">
              <a:solidFill>
                <a:schemeClr val="tx1"/>
              </a:solidFill>
            </a:rPr>
            <a:t>Armas Químicas</a:t>
          </a:r>
          <a:endParaRPr lang="es-VE" sz="1400" dirty="0">
            <a:solidFill>
              <a:schemeClr val="tx1"/>
            </a:solidFill>
          </a:endParaRPr>
        </a:p>
      </dgm:t>
    </dgm:pt>
    <dgm:pt modelId="{89B44CE4-A24F-4B08-B183-EB167D8234B4}" type="parTrans" cxnId="{E506420C-B734-4F1A-BA74-151E85267396}">
      <dgm:prSet/>
      <dgm:spPr/>
      <dgm:t>
        <a:bodyPr/>
        <a:lstStyle/>
        <a:p>
          <a:endParaRPr lang="es-VE"/>
        </a:p>
      </dgm:t>
    </dgm:pt>
    <dgm:pt modelId="{EBAC741E-2319-42B3-9EB4-413D5F589E77}" type="sibTrans" cxnId="{E506420C-B734-4F1A-BA74-151E85267396}">
      <dgm:prSet/>
      <dgm:spPr/>
      <dgm:t>
        <a:bodyPr/>
        <a:lstStyle/>
        <a:p>
          <a:endParaRPr lang="es-VE"/>
        </a:p>
      </dgm:t>
    </dgm:pt>
    <dgm:pt modelId="{C560BD22-DA0C-4511-8104-04BBD827A12C}" type="pres">
      <dgm:prSet presAssocID="{7F6405A9-9AAD-462B-B318-7DD282AA409C}" presName="Name0" presStyleCnt="0">
        <dgm:presLayoutVars>
          <dgm:dir/>
          <dgm:resizeHandles val="exact"/>
        </dgm:presLayoutVars>
      </dgm:prSet>
      <dgm:spPr/>
      <dgm:t>
        <a:bodyPr/>
        <a:lstStyle/>
        <a:p>
          <a:endParaRPr lang="es-VE"/>
        </a:p>
      </dgm:t>
    </dgm:pt>
    <dgm:pt modelId="{DE99D6DA-AC20-4CE2-8D2C-94C300EF5690}" type="pres">
      <dgm:prSet presAssocID="{C6B29546-E482-4EC4-96EB-3DC9CBA3089B}" presName="node" presStyleLbl="node1" presStyleIdx="0" presStyleCnt="3">
        <dgm:presLayoutVars>
          <dgm:bulletEnabled val="1"/>
        </dgm:presLayoutVars>
      </dgm:prSet>
      <dgm:spPr/>
      <dgm:t>
        <a:bodyPr/>
        <a:lstStyle/>
        <a:p>
          <a:endParaRPr lang="es-VE"/>
        </a:p>
      </dgm:t>
    </dgm:pt>
    <dgm:pt modelId="{4AA56C3B-520C-46C6-9108-BDE244C801E7}" type="pres">
      <dgm:prSet presAssocID="{DB209237-14FE-4AA0-9161-A5E16BBB5763}" presName="sibTrans" presStyleCnt="0"/>
      <dgm:spPr/>
    </dgm:pt>
    <dgm:pt modelId="{3343A9D5-C09B-46E5-A1CF-D10FD3B44756}" type="pres">
      <dgm:prSet presAssocID="{CE3962D5-6C13-40AA-BA69-52EE1D4D90FF}" presName="node" presStyleLbl="node1" presStyleIdx="1" presStyleCnt="3">
        <dgm:presLayoutVars>
          <dgm:bulletEnabled val="1"/>
        </dgm:presLayoutVars>
      </dgm:prSet>
      <dgm:spPr/>
      <dgm:t>
        <a:bodyPr/>
        <a:lstStyle/>
        <a:p>
          <a:endParaRPr lang="es-VE"/>
        </a:p>
      </dgm:t>
    </dgm:pt>
    <dgm:pt modelId="{002F04FF-FBD4-41CC-BB65-B3758F44D8F5}" type="pres">
      <dgm:prSet presAssocID="{D6A4C73C-D7ED-4EF1-9D07-E11DDA6F3ADB}" presName="sibTrans" presStyleCnt="0"/>
      <dgm:spPr/>
    </dgm:pt>
    <dgm:pt modelId="{7A9DBD5F-EF5E-4E96-AB81-123517049D84}" type="pres">
      <dgm:prSet presAssocID="{6ADA65A0-4572-4863-BF83-119FA56D1FC9}" presName="node" presStyleLbl="node1" presStyleIdx="2" presStyleCnt="3">
        <dgm:presLayoutVars>
          <dgm:bulletEnabled val="1"/>
        </dgm:presLayoutVars>
      </dgm:prSet>
      <dgm:spPr/>
      <dgm:t>
        <a:bodyPr/>
        <a:lstStyle/>
        <a:p>
          <a:endParaRPr lang="es-VE"/>
        </a:p>
      </dgm:t>
    </dgm:pt>
  </dgm:ptLst>
  <dgm:cxnLst>
    <dgm:cxn modelId="{A9B4A7D9-8F76-4960-A612-F91DDE0CB161}" srcId="{7F6405A9-9AAD-462B-B318-7DD282AA409C}" destId="{C6B29546-E482-4EC4-96EB-3DC9CBA3089B}" srcOrd="0" destOrd="0" parTransId="{9C2AEE7A-49A2-45E9-A9F9-C0DA04C647FF}" sibTransId="{DB209237-14FE-4AA0-9161-A5E16BBB5763}"/>
    <dgm:cxn modelId="{8F8FE302-FE89-4FBF-AEDC-FE269BCB189E}" type="presOf" srcId="{6ADA65A0-4572-4863-BF83-119FA56D1FC9}" destId="{7A9DBD5F-EF5E-4E96-AB81-123517049D84}" srcOrd="0" destOrd="0" presId="urn:microsoft.com/office/officeart/2005/8/layout/hList6"/>
    <dgm:cxn modelId="{2C4493FD-6AED-4C85-8975-E953548EA06A}" type="presOf" srcId="{0F298A88-0424-4572-AB1D-1A72FE0DE7EA}" destId="{3343A9D5-C09B-46E5-A1CF-D10FD3B44756}" srcOrd="0" destOrd="3" presId="urn:microsoft.com/office/officeart/2005/8/layout/hList6"/>
    <dgm:cxn modelId="{B1B80D01-34FC-43C3-B430-D4901F3E9CAB}" srcId="{CE3962D5-6C13-40AA-BA69-52EE1D4D90FF}" destId="{BC2F9ABA-888F-4456-904C-3A9AC077128E}" srcOrd="6" destOrd="0" parTransId="{6584BFB5-5667-415F-8964-273AEF7D1F43}" sibTransId="{77A873D4-F69F-4047-B301-8AC83DD314E4}"/>
    <dgm:cxn modelId="{C6F52AA4-3C62-48C4-A28A-C929486DA9D6}" srcId="{CE3962D5-6C13-40AA-BA69-52EE1D4D90FF}" destId="{0F298A88-0424-4572-AB1D-1A72FE0DE7EA}" srcOrd="2" destOrd="0" parTransId="{908918BE-CC82-439A-8D7F-8F268C3CA612}" sibTransId="{98766B44-B2DB-4B6E-B8ED-20C2A7BB3ABE}"/>
    <dgm:cxn modelId="{A73F1ECB-A328-45CA-9B63-A5ED9F0B00B7}" type="presOf" srcId="{D036E8D4-B5A8-4230-9F87-16151B9732B8}" destId="{DE99D6DA-AC20-4CE2-8D2C-94C300EF5690}" srcOrd="0" destOrd="3" presId="urn:microsoft.com/office/officeart/2005/8/layout/hList6"/>
    <dgm:cxn modelId="{FBCFE913-66B1-4869-B7D9-99DA404AE4DE}" type="presOf" srcId="{C6B29546-E482-4EC4-96EB-3DC9CBA3089B}" destId="{DE99D6DA-AC20-4CE2-8D2C-94C300EF5690}" srcOrd="0" destOrd="0" presId="urn:microsoft.com/office/officeart/2005/8/layout/hList6"/>
    <dgm:cxn modelId="{7306AA59-A535-41AB-A8F8-435827F0B4E1}" srcId="{6ADA65A0-4572-4863-BF83-119FA56D1FC9}" destId="{46354462-2CC6-45AE-97AB-B2353DA331C0}" srcOrd="0" destOrd="0" parTransId="{D3702DD0-5A78-420C-A2C3-9A3DA716F03C}" sibTransId="{2794F941-1E62-48E3-96FF-F57445C48A52}"/>
    <dgm:cxn modelId="{62D7B161-504F-420B-990F-614C3EC6F9D8}" type="presOf" srcId="{8E505038-89AD-4E6E-901C-35BF844E1F99}" destId="{DE99D6DA-AC20-4CE2-8D2C-94C300EF5690}" srcOrd="0" destOrd="4" presId="urn:microsoft.com/office/officeart/2005/8/layout/hList6"/>
    <dgm:cxn modelId="{F0BDAE58-CB6E-4E77-8803-578BFB035CEF}" type="presOf" srcId="{8F589281-2CF7-4655-A10D-0409D56517CE}" destId="{3343A9D5-C09B-46E5-A1CF-D10FD3B44756}" srcOrd="0" destOrd="2" presId="urn:microsoft.com/office/officeart/2005/8/layout/hList6"/>
    <dgm:cxn modelId="{B94EB3AC-0311-48E0-8CBF-52956B3E94C9}" srcId="{CE3962D5-6C13-40AA-BA69-52EE1D4D90FF}" destId="{8F589281-2CF7-4655-A10D-0409D56517CE}" srcOrd="1" destOrd="0" parTransId="{F6B08701-99E2-4076-9D80-E8EA82EE8C57}" sibTransId="{B502A533-8889-4337-903C-D4578226D785}"/>
    <dgm:cxn modelId="{78E858FD-80C4-485D-B9A6-5B2EC57B7FAA}" type="presOf" srcId="{46354462-2CC6-45AE-97AB-B2353DA331C0}" destId="{7A9DBD5F-EF5E-4E96-AB81-123517049D84}" srcOrd="0" destOrd="1" presId="urn:microsoft.com/office/officeart/2005/8/layout/hList6"/>
    <dgm:cxn modelId="{EF6CFC83-038D-450E-B7EC-46115199F8FE}" type="presOf" srcId="{AAAE00C0-7782-4B11-9DC4-011692815D90}" destId="{3343A9D5-C09B-46E5-A1CF-D10FD3B44756}" srcOrd="0" destOrd="6" presId="urn:microsoft.com/office/officeart/2005/8/layout/hList6"/>
    <dgm:cxn modelId="{68357DCE-3BF4-4A81-B7D5-D08EE69D2533}" srcId="{CE3962D5-6C13-40AA-BA69-52EE1D4D90FF}" destId="{AAAE00C0-7782-4B11-9DC4-011692815D90}" srcOrd="5" destOrd="0" parTransId="{D67745FE-E4BD-4B97-A9B9-1B3A200AAE40}" sibTransId="{027DBA37-7F86-4649-AE02-4F1AD822B1C4}"/>
    <dgm:cxn modelId="{E506420C-B734-4F1A-BA74-151E85267396}" srcId="{6ADA65A0-4572-4863-BF83-119FA56D1FC9}" destId="{B0BE3DDA-0FE1-49D2-88D0-A11A64E1F035}" srcOrd="2" destOrd="0" parTransId="{89B44CE4-A24F-4B08-B183-EB167D8234B4}" sibTransId="{EBAC741E-2319-42B3-9EB4-413D5F589E77}"/>
    <dgm:cxn modelId="{83A5EA9B-2F90-42D6-8884-113C156D5A85}" srcId="{C6B29546-E482-4EC4-96EB-3DC9CBA3089B}" destId="{8E505038-89AD-4E6E-901C-35BF844E1F99}" srcOrd="3" destOrd="0" parTransId="{6B3F3D88-F2EE-4321-B9DA-DDA1166E98E1}" sibTransId="{04E1C90A-5BF8-47E3-BEB2-D9D76C03441B}"/>
    <dgm:cxn modelId="{8290B79D-4482-4923-BD82-D371A97673A2}" type="presOf" srcId="{00483D65-BE07-4238-B20A-E7ED0AC72282}" destId="{DE99D6DA-AC20-4CE2-8D2C-94C300EF5690}" srcOrd="0" destOrd="1" presId="urn:microsoft.com/office/officeart/2005/8/layout/hList6"/>
    <dgm:cxn modelId="{ED928D8E-2834-4958-914E-8C674CA11127}" type="presOf" srcId="{CE3962D5-6C13-40AA-BA69-52EE1D4D90FF}" destId="{3343A9D5-C09B-46E5-A1CF-D10FD3B44756}" srcOrd="0" destOrd="0" presId="urn:microsoft.com/office/officeart/2005/8/layout/hList6"/>
    <dgm:cxn modelId="{59A497CA-ECC6-458B-92C5-E9C694717115}" srcId="{7F6405A9-9AAD-462B-B318-7DD282AA409C}" destId="{CE3962D5-6C13-40AA-BA69-52EE1D4D90FF}" srcOrd="1" destOrd="0" parTransId="{98CA12C3-2C57-45B7-9760-C108E688A650}" sibTransId="{D6A4C73C-D7ED-4EF1-9D07-E11DDA6F3ADB}"/>
    <dgm:cxn modelId="{A9654A83-F67D-4C25-AB32-0E43DEC5A6F8}" srcId="{C6B29546-E482-4EC4-96EB-3DC9CBA3089B}" destId="{00483D65-BE07-4238-B20A-E7ED0AC72282}" srcOrd="0" destOrd="0" parTransId="{4BC1D306-49AB-4CD0-ACDA-6A96570383B8}" sibTransId="{0CFB6FF0-8F90-41D0-AF5A-D3944ABD3ED7}"/>
    <dgm:cxn modelId="{F4F0D2EE-A8AB-478B-ADC1-7E3F9A310D3A}" srcId="{CE3962D5-6C13-40AA-BA69-52EE1D4D90FF}" destId="{7377B1A3-C062-401B-9EC0-1F585D378F92}" srcOrd="0" destOrd="0" parTransId="{A12D14DF-4A50-49A8-9965-9F7CC9ADEFDD}" sibTransId="{41E0D1CA-9C74-444D-A75A-746480683C89}"/>
    <dgm:cxn modelId="{573FE626-D230-4904-A918-47AB5759DA0D}" type="presOf" srcId="{7377B1A3-C062-401B-9EC0-1F585D378F92}" destId="{3343A9D5-C09B-46E5-A1CF-D10FD3B44756}" srcOrd="0" destOrd="1" presId="urn:microsoft.com/office/officeart/2005/8/layout/hList6"/>
    <dgm:cxn modelId="{305C11DE-A44A-473D-9B57-2F83A25D0441}" type="presOf" srcId="{7F6405A9-9AAD-462B-B318-7DD282AA409C}" destId="{C560BD22-DA0C-4511-8104-04BBD827A12C}" srcOrd="0" destOrd="0" presId="urn:microsoft.com/office/officeart/2005/8/layout/hList6"/>
    <dgm:cxn modelId="{780DAE71-3AA7-4C4E-81CD-C442CCA8ADB4}" srcId="{7F6405A9-9AAD-462B-B318-7DD282AA409C}" destId="{6ADA65A0-4572-4863-BF83-119FA56D1FC9}" srcOrd="2" destOrd="0" parTransId="{A372B611-C4A6-4AFB-A8AF-33B15CC50740}" sibTransId="{6160DBF2-CD85-4112-92BD-2CF49F5B6E66}"/>
    <dgm:cxn modelId="{86EAD82C-671F-42E3-8A0D-F827DD6D5856}" type="presOf" srcId="{BC2F9ABA-888F-4456-904C-3A9AC077128E}" destId="{3343A9D5-C09B-46E5-A1CF-D10FD3B44756}" srcOrd="0" destOrd="7" presId="urn:microsoft.com/office/officeart/2005/8/layout/hList6"/>
    <dgm:cxn modelId="{F44A598B-0200-4F22-BE60-215C6F0E8514}" srcId="{C6B29546-E482-4EC4-96EB-3DC9CBA3089B}" destId="{D036E8D4-B5A8-4230-9F87-16151B9732B8}" srcOrd="2" destOrd="0" parTransId="{7F9B3280-0046-46C6-8B6C-ECA805852F88}" sibTransId="{1643D8BD-2FBF-4892-A54A-53345DAF84D7}"/>
    <dgm:cxn modelId="{F72CD439-6166-438C-9A35-80DA007333DA}" type="presOf" srcId="{9137B0EA-768B-4F7F-80F2-F019D150FBDD}" destId="{DE99D6DA-AC20-4CE2-8D2C-94C300EF5690}" srcOrd="0" destOrd="2" presId="urn:microsoft.com/office/officeart/2005/8/layout/hList6"/>
    <dgm:cxn modelId="{5EFD408D-15AD-45FB-9EC9-08228A518A02}" type="presOf" srcId="{F422649A-E245-45AD-B0BF-63E1FC10C315}" destId="{7A9DBD5F-EF5E-4E96-AB81-123517049D84}" srcOrd="0" destOrd="2" presId="urn:microsoft.com/office/officeart/2005/8/layout/hList6"/>
    <dgm:cxn modelId="{7B8E0399-4460-43B2-A156-B92D34176270}" srcId="{CE3962D5-6C13-40AA-BA69-52EE1D4D90FF}" destId="{CEE031B0-E387-443B-8076-EFFAB289F655}" srcOrd="3" destOrd="0" parTransId="{6AA10FD8-0D85-468C-BE9D-17CB1FC511C1}" sibTransId="{1FCEE49A-7D8C-4060-A640-A4FB38046047}"/>
    <dgm:cxn modelId="{CCD57157-61B5-455A-9A46-856EA87D4236}" type="presOf" srcId="{E16EB4EB-AB3B-4C19-B554-FBCEDD835B38}" destId="{3343A9D5-C09B-46E5-A1CF-D10FD3B44756}" srcOrd="0" destOrd="5" presId="urn:microsoft.com/office/officeart/2005/8/layout/hList6"/>
    <dgm:cxn modelId="{E12A074C-982F-4574-B752-2BB7956A4F6B}" type="presOf" srcId="{CEE031B0-E387-443B-8076-EFFAB289F655}" destId="{3343A9D5-C09B-46E5-A1CF-D10FD3B44756}" srcOrd="0" destOrd="4" presId="urn:microsoft.com/office/officeart/2005/8/layout/hList6"/>
    <dgm:cxn modelId="{C6AA6040-D7BB-4D00-B2EE-5EB28DD70FE2}" srcId="{CE3962D5-6C13-40AA-BA69-52EE1D4D90FF}" destId="{E16EB4EB-AB3B-4C19-B554-FBCEDD835B38}" srcOrd="4" destOrd="0" parTransId="{C4C27783-3DD9-4752-97F8-4BBD34D8D8E4}" sibTransId="{B7DA0DFE-F77E-4474-B5C2-A58704A35543}"/>
    <dgm:cxn modelId="{AEAB0427-5407-48EF-9DE1-80BDDDABA91E}" type="presOf" srcId="{B0BE3DDA-0FE1-49D2-88D0-A11A64E1F035}" destId="{7A9DBD5F-EF5E-4E96-AB81-123517049D84}" srcOrd="0" destOrd="3" presId="urn:microsoft.com/office/officeart/2005/8/layout/hList6"/>
    <dgm:cxn modelId="{A3FA602F-04E0-4C7B-8043-A33713E1EA65}" srcId="{6ADA65A0-4572-4863-BF83-119FA56D1FC9}" destId="{F422649A-E245-45AD-B0BF-63E1FC10C315}" srcOrd="1" destOrd="0" parTransId="{A3F3F2FC-C69A-458B-B105-9796E37F15AA}" sibTransId="{18810AF8-232B-42E6-840E-AF32FB38C2BC}"/>
    <dgm:cxn modelId="{27A174EC-20E1-4D17-838F-5589C7950B1C}" srcId="{C6B29546-E482-4EC4-96EB-3DC9CBA3089B}" destId="{9137B0EA-768B-4F7F-80F2-F019D150FBDD}" srcOrd="1" destOrd="0" parTransId="{08C2F7B2-F226-4C38-94F6-2386D79E0DB0}" sibTransId="{3D208A19-9F4D-4784-BFA5-4D3F02273226}"/>
    <dgm:cxn modelId="{F030580D-8C5E-473E-977B-1C78BC4EFA31}" type="presParOf" srcId="{C560BD22-DA0C-4511-8104-04BBD827A12C}" destId="{DE99D6DA-AC20-4CE2-8D2C-94C300EF5690}" srcOrd="0" destOrd="0" presId="urn:microsoft.com/office/officeart/2005/8/layout/hList6"/>
    <dgm:cxn modelId="{781205B3-91B6-454E-94E3-7DB7CF52567D}" type="presParOf" srcId="{C560BD22-DA0C-4511-8104-04BBD827A12C}" destId="{4AA56C3B-520C-46C6-9108-BDE244C801E7}" srcOrd="1" destOrd="0" presId="urn:microsoft.com/office/officeart/2005/8/layout/hList6"/>
    <dgm:cxn modelId="{4F2B0513-B19F-423F-B6E6-8B54EE952E3C}" type="presParOf" srcId="{C560BD22-DA0C-4511-8104-04BBD827A12C}" destId="{3343A9D5-C09B-46E5-A1CF-D10FD3B44756}" srcOrd="2" destOrd="0" presId="urn:microsoft.com/office/officeart/2005/8/layout/hList6"/>
    <dgm:cxn modelId="{4B3A1868-6C89-4A03-963B-32C07B397D99}" type="presParOf" srcId="{C560BD22-DA0C-4511-8104-04BBD827A12C}" destId="{002F04FF-FBD4-41CC-BB65-B3758F44D8F5}" srcOrd="3" destOrd="0" presId="urn:microsoft.com/office/officeart/2005/8/layout/hList6"/>
    <dgm:cxn modelId="{0036FC8A-24A2-453D-BD68-D1CEF5F7B810}" type="presParOf" srcId="{C560BD22-DA0C-4511-8104-04BBD827A12C}" destId="{7A9DBD5F-EF5E-4E96-AB81-123517049D84}" srcOrd="4" destOrd="0" presId="urn:microsoft.com/office/officeart/2005/8/layout/hList6"/>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F9D1C3D-994B-446F-8A13-9047EA9BED3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VE"/>
        </a:p>
      </dgm:t>
    </dgm:pt>
    <dgm:pt modelId="{876DA631-0BB1-4CC0-945A-F747E26A193D}">
      <dgm:prSet phldrT="[Texto]"/>
      <dgm:spPr>
        <a:solidFill>
          <a:schemeClr val="bg1"/>
        </a:solidFill>
        <a:ln>
          <a:solidFill>
            <a:schemeClr val="accent1">
              <a:lumMod val="50000"/>
            </a:schemeClr>
          </a:solidFill>
        </a:ln>
      </dgm:spPr>
      <dgm:t>
        <a:bodyPr/>
        <a:lstStyle/>
        <a:p>
          <a:r>
            <a:rPr lang="es-VE" b="1" dirty="0" smtClean="0">
              <a:solidFill>
                <a:schemeClr val="tx1"/>
              </a:solidFill>
            </a:rPr>
            <a:t>OBLIGACIONES DE LA JUNTA DIRECTIVA</a:t>
          </a:r>
          <a:endParaRPr lang="es-VE" b="1" dirty="0">
            <a:solidFill>
              <a:schemeClr val="tx1"/>
            </a:solidFill>
          </a:endParaRPr>
        </a:p>
      </dgm:t>
    </dgm:pt>
    <dgm:pt modelId="{03EA3FB6-43C6-48D1-B0D9-5BEB8B7F0E83}" type="parTrans" cxnId="{C01DB01A-0D2A-4160-93E2-8DF0CDD51A32}">
      <dgm:prSet/>
      <dgm:spPr/>
      <dgm:t>
        <a:bodyPr/>
        <a:lstStyle/>
        <a:p>
          <a:endParaRPr lang="es-VE"/>
        </a:p>
      </dgm:t>
    </dgm:pt>
    <dgm:pt modelId="{2555E0C0-CE83-4F72-BE1C-C895EA98687A}" type="sibTrans" cxnId="{C01DB01A-0D2A-4160-93E2-8DF0CDD51A32}">
      <dgm:prSet/>
      <dgm:spPr>
        <a:ln>
          <a:solidFill>
            <a:schemeClr val="accent1">
              <a:lumMod val="50000"/>
            </a:schemeClr>
          </a:solidFill>
        </a:ln>
      </dgm:spPr>
      <dgm:t>
        <a:bodyPr/>
        <a:lstStyle/>
        <a:p>
          <a:endParaRPr lang="es-VE" dirty="0"/>
        </a:p>
      </dgm:t>
    </dgm:pt>
    <dgm:pt modelId="{1DEC593A-8D13-4D84-B7CC-4CB69D9020BF}">
      <dgm:prSet phldrT="[Texto]" custT="1"/>
      <dgm:spPr>
        <a:solidFill>
          <a:schemeClr val="bg1"/>
        </a:solidFill>
        <a:ln>
          <a:solidFill>
            <a:schemeClr val="accent1">
              <a:lumMod val="50000"/>
            </a:schemeClr>
          </a:solidFill>
        </a:ln>
      </dgm:spPr>
      <dgm:t>
        <a:bodyPr/>
        <a:lstStyle/>
        <a:p>
          <a:r>
            <a:rPr lang="es-VE" sz="1200" b="1" dirty="0" smtClean="0">
              <a:solidFill>
                <a:schemeClr val="tx1"/>
              </a:solidFill>
            </a:rPr>
            <a:t>OBLIGACIONES DEL PRESIDENTE</a:t>
          </a:r>
          <a:endParaRPr lang="es-VE" sz="1200" dirty="0">
            <a:solidFill>
              <a:schemeClr val="tx1"/>
            </a:solidFill>
          </a:endParaRPr>
        </a:p>
      </dgm:t>
    </dgm:pt>
    <dgm:pt modelId="{B7E1EDE7-B8DF-44C6-A89C-E15A3846FE2B}" type="parTrans" cxnId="{69BAD4F6-26AD-439A-8355-7C7A2A5F43B6}">
      <dgm:prSet/>
      <dgm:spPr/>
      <dgm:t>
        <a:bodyPr/>
        <a:lstStyle/>
        <a:p>
          <a:endParaRPr lang="es-VE"/>
        </a:p>
      </dgm:t>
    </dgm:pt>
    <dgm:pt modelId="{B37B809A-0B64-4A45-A7CE-BBBE8848A745}" type="sibTrans" cxnId="{69BAD4F6-26AD-439A-8355-7C7A2A5F43B6}">
      <dgm:prSet/>
      <dgm:spPr>
        <a:ln>
          <a:solidFill>
            <a:schemeClr val="accent1">
              <a:lumMod val="50000"/>
            </a:schemeClr>
          </a:solidFill>
        </a:ln>
      </dgm:spPr>
      <dgm:t>
        <a:bodyPr/>
        <a:lstStyle/>
        <a:p>
          <a:endParaRPr lang="es-VE" dirty="0"/>
        </a:p>
      </dgm:t>
    </dgm:pt>
    <dgm:pt modelId="{D6A6F771-3A42-4063-94F4-26FDECF11446}">
      <dgm:prSet phldrT="[Texto]" custT="1"/>
      <dgm:spPr>
        <a:solidFill>
          <a:schemeClr val="bg1"/>
        </a:solidFill>
        <a:ln>
          <a:solidFill>
            <a:schemeClr val="accent1">
              <a:lumMod val="50000"/>
            </a:schemeClr>
          </a:solidFill>
        </a:ln>
      </dgm:spPr>
      <dgm:t>
        <a:bodyPr/>
        <a:lstStyle/>
        <a:p>
          <a:r>
            <a:rPr lang="es-VE" sz="1200" b="1" dirty="0" smtClean="0">
              <a:solidFill>
                <a:schemeClr val="tx1"/>
              </a:solidFill>
            </a:rPr>
            <a:t>OBLIGACIONES DEL OFICIAL DE CUMPLIMIENTO</a:t>
          </a:r>
          <a:endParaRPr lang="es-VE" sz="1200" dirty="0">
            <a:solidFill>
              <a:schemeClr val="tx1"/>
            </a:solidFill>
          </a:endParaRPr>
        </a:p>
      </dgm:t>
    </dgm:pt>
    <dgm:pt modelId="{5797CBDC-73A5-4C29-B361-7387332E1357}" type="parTrans" cxnId="{4B444736-FA8A-4E5C-9B61-2995581EA2C6}">
      <dgm:prSet/>
      <dgm:spPr/>
      <dgm:t>
        <a:bodyPr/>
        <a:lstStyle/>
        <a:p>
          <a:endParaRPr lang="es-VE"/>
        </a:p>
      </dgm:t>
    </dgm:pt>
    <dgm:pt modelId="{EFF00325-4028-4140-A113-D12AF2F0FFCD}" type="sibTrans" cxnId="{4B444736-FA8A-4E5C-9B61-2995581EA2C6}">
      <dgm:prSet/>
      <dgm:spPr>
        <a:ln>
          <a:solidFill>
            <a:schemeClr val="accent1">
              <a:lumMod val="50000"/>
            </a:schemeClr>
          </a:solidFill>
        </a:ln>
      </dgm:spPr>
      <dgm:t>
        <a:bodyPr/>
        <a:lstStyle/>
        <a:p>
          <a:endParaRPr lang="es-VE" dirty="0"/>
        </a:p>
      </dgm:t>
    </dgm:pt>
    <dgm:pt modelId="{656A0245-FB70-40F6-9E93-02267C788582}">
      <dgm:prSet phldrT="[Texto]" custT="1"/>
      <dgm:spPr>
        <a:solidFill>
          <a:schemeClr val="bg1"/>
        </a:solidFill>
        <a:ln>
          <a:solidFill>
            <a:schemeClr val="tx2">
              <a:lumMod val="75000"/>
            </a:schemeClr>
          </a:solidFill>
        </a:ln>
      </dgm:spPr>
      <dgm:t>
        <a:bodyPr/>
        <a:lstStyle/>
        <a:p>
          <a:r>
            <a:rPr lang="es-VE" sz="1100" b="1" dirty="0" smtClean="0">
              <a:solidFill>
                <a:schemeClr val="tx1"/>
              </a:solidFill>
            </a:rPr>
            <a:t>FUNCIONES DE LA UNIDAD DE ADMINISTRACIÓN DE RIESGOS DE LC/FT/FPADM</a:t>
          </a:r>
          <a:endParaRPr lang="es-VE" sz="1100" dirty="0">
            <a:solidFill>
              <a:schemeClr val="tx1"/>
            </a:solidFill>
          </a:endParaRPr>
        </a:p>
      </dgm:t>
    </dgm:pt>
    <dgm:pt modelId="{EEC7B114-91F3-474B-9E32-5D0461383021}" type="parTrans" cxnId="{D7BA4796-7DC4-407E-BF8B-91E6252894DD}">
      <dgm:prSet/>
      <dgm:spPr/>
      <dgm:t>
        <a:bodyPr/>
        <a:lstStyle/>
        <a:p>
          <a:endParaRPr lang="es-VE"/>
        </a:p>
      </dgm:t>
    </dgm:pt>
    <dgm:pt modelId="{0B6CDD6E-E16D-45B7-8687-068FDAD3AB5E}" type="sibTrans" cxnId="{D7BA4796-7DC4-407E-BF8B-91E6252894DD}">
      <dgm:prSet/>
      <dgm:spPr>
        <a:ln>
          <a:solidFill>
            <a:schemeClr val="accent1">
              <a:lumMod val="50000"/>
            </a:schemeClr>
          </a:solidFill>
        </a:ln>
      </dgm:spPr>
      <dgm:t>
        <a:bodyPr/>
        <a:lstStyle/>
        <a:p>
          <a:endParaRPr lang="es-VE" dirty="0"/>
        </a:p>
      </dgm:t>
    </dgm:pt>
    <dgm:pt modelId="{F6615A44-13A9-4B09-B84D-66EE06DB4D9D}">
      <dgm:prSet phldrT="[Texto]"/>
      <dgm:spPr>
        <a:solidFill>
          <a:schemeClr val="bg1"/>
        </a:solidFill>
        <a:ln>
          <a:solidFill>
            <a:schemeClr val="accent1">
              <a:lumMod val="50000"/>
            </a:schemeClr>
          </a:solidFill>
        </a:ln>
      </dgm:spPr>
      <dgm:t>
        <a:bodyPr/>
        <a:lstStyle/>
        <a:p>
          <a:r>
            <a:rPr lang="es-VE" b="1" dirty="0" smtClean="0">
              <a:solidFill>
                <a:schemeClr val="tx1"/>
              </a:solidFill>
            </a:rPr>
            <a:t>FUNCIONES DE LOS RESPONSABLES DE CUMPLIMIENTO</a:t>
          </a:r>
          <a:endParaRPr lang="es-VE" dirty="0">
            <a:solidFill>
              <a:schemeClr val="tx1"/>
            </a:solidFill>
          </a:endParaRPr>
        </a:p>
      </dgm:t>
    </dgm:pt>
    <dgm:pt modelId="{A95564E4-8CF4-4957-93BC-280BD54E85D6}" type="parTrans" cxnId="{8D69F40F-E1B9-49B9-A52E-8D8F30BD5297}">
      <dgm:prSet/>
      <dgm:spPr/>
      <dgm:t>
        <a:bodyPr/>
        <a:lstStyle/>
        <a:p>
          <a:endParaRPr lang="es-VE"/>
        </a:p>
      </dgm:t>
    </dgm:pt>
    <dgm:pt modelId="{32776758-E159-413C-8388-A6748894205D}" type="sibTrans" cxnId="{8D69F40F-E1B9-49B9-A52E-8D8F30BD5297}">
      <dgm:prSet/>
      <dgm:spPr>
        <a:ln>
          <a:solidFill>
            <a:schemeClr val="accent1">
              <a:lumMod val="50000"/>
            </a:schemeClr>
          </a:solidFill>
        </a:ln>
      </dgm:spPr>
      <dgm:t>
        <a:bodyPr/>
        <a:lstStyle/>
        <a:p>
          <a:endParaRPr lang="es-VE" dirty="0"/>
        </a:p>
      </dgm:t>
    </dgm:pt>
    <dgm:pt modelId="{4795044A-D946-4A19-BF66-809A95FDBF55}" type="pres">
      <dgm:prSet presAssocID="{DF9D1C3D-994B-446F-8A13-9047EA9BED33}" presName="cycle" presStyleCnt="0">
        <dgm:presLayoutVars>
          <dgm:dir/>
          <dgm:resizeHandles val="exact"/>
        </dgm:presLayoutVars>
      </dgm:prSet>
      <dgm:spPr/>
      <dgm:t>
        <a:bodyPr/>
        <a:lstStyle/>
        <a:p>
          <a:endParaRPr lang="es-VE"/>
        </a:p>
      </dgm:t>
    </dgm:pt>
    <dgm:pt modelId="{73489B4E-18F7-4C66-879F-7A23E0AC9F97}" type="pres">
      <dgm:prSet presAssocID="{876DA631-0BB1-4CC0-945A-F747E26A193D}" presName="node" presStyleLbl="node1" presStyleIdx="0" presStyleCnt="5">
        <dgm:presLayoutVars>
          <dgm:bulletEnabled val="1"/>
        </dgm:presLayoutVars>
      </dgm:prSet>
      <dgm:spPr/>
      <dgm:t>
        <a:bodyPr/>
        <a:lstStyle/>
        <a:p>
          <a:endParaRPr lang="es-VE"/>
        </a:p>
      </dgm:t>
    </dgm:pt>
    <dgm:pt modelId="{87AECF0B-35A8-4FCF-B932-C2993B5C1E88}" type="pres">
      <dgm:prSet presAssocID="{2555E0C0-CE83-4F72-BE1C-C895EA98687A}" presName="sibTrans" presStyleLbl="sibTrans2D1" presStyleIdx="0" presStyleCnt="5"/>
      <dgm:spPr/>
      <dgm:t>
        <a:bodyPr/>
        <a:lstStyle/>
        <a:p>
          <a:endParaRPr lang="es-VE"/>
        </a:p>
      </dgm:t>
    </dgm:pt>
    <dgm:pt modelId="{D77DBB9E-DAFC-4EFE-99CD-6B99B66D9D2E}" type="pres">
      <dgm:prSet presAssocID="{2555E0C0-CE83-4F72-BE1C-C895EA98687A}" presName="connectorText" presStyleLbl="sibTrans2D1" presStyleIdx="0" presStyleCnt="5"/>
      <dgm:spPr/>
      <dgm:t>
        <a:bodyPr/>
        <a:lstStyle/>
        <a:p>
          <a:endParaRPr lang="es-VE"/>
        </a:p>
      </dgm:t>
    </dgm:pt>
    <dgm:pt modelId="{9F4AA26C-0D2D-43E4-A830-DE19D9C27257}" type="pres">
      <dgm:prSet presAssocID="{1DEC593A-8D13-4D84-B7CC-4CB69D9020BF}" presName="node" presStyleLbl="node1" presStyleIdx="1" presStyleCnt="5">
        <dgm:presLayoutVars>
          <dgm:bulletEnabled val="1"/>
        </dgm:presLayoutVars>
      </dgm:prSet>
      <dgm:spPr/>
      <dgm:t>
        <a:bodyPr/>
        <a:lstStyle/>
        <a:p>
          <a:endParaRPr lang="es-VE"/>
        </a:p>
      </dgm:t>
    </dgm:pt>
    <dgm:pt modelId="{24E7589E-332D-45FC-A588-3AC572662746}" type="pres">
      <dgm:prSet presAssocID="{B37B809A-0B64-4A45-A7CE-BBBE8848A745}" presName="sibTrans" presStyleLbl="sibTrans2D1" presStyleIdx="1" presStyleCnt="5"/>
      <dgm:spPr/>
      <dgm:t>
        <a:bodyPr/>
        <a:lstStyle/>
        <a:p>
          <a:endParaRPr lang="es-VE"/>
        </a:p>
      </dgm:t>
    </dgm:pt>
    <dgm:pt modelId="{78E606D5-1E46-4F3F-A169-D1E8256D951B}" type="pres">
      <dgm:prSet presAssocID="{B37B809A-0B64-4A45-A7CE-BBBE8848A745}" presName="connectorText" presStyleLbl="sibTrans2D1" presStyleIdx="1" presStyleCnt="5"/>
      <dgm:spPr/>
      <dgm:t>
        <a:bodyPr/>
        <a:lstStyle/>
        <a:p>
          <a:endParaRPr lang="es-VE"/>
        </a:p>
      </dgm:t>
    </dgm:pt>
    <dgm:pt modelId="{69F90AC2-76FA-4E1C-BD75-713FE932903F}" type="pres">
      <dgm:prSet presAssocID="{D6A6F771-3A42-4063-94F4-26FDECF11446}" presName="node" presStyleLbl="node1" presStyleIdx="2" presStyleCnt="5" custScaleX="109432">
        <dgm:presLayoutVars>
          <dgm:bulletEnabled val="1"/>
        </dgm:presLayoutVars>
      </dgm:prSet>
      <dgm:spPr/>
      <dgm:t>
        <a:bodyPr/>
        <a:lstStyle/>
        <a:p>
          <a:endParaRPr lang="es-VE"/>
        </a:p>
      </dgm:t>
    </dgm:pt>
    <dgm:pt modelId="{5844D0F8-DA98-460A-9E38-9402054BF3F1}" type="pres">
      <dgm:prSet presAssocID="{EFF00325-4028-4140-A113-D12AF2F0FFCD}" presName="sibTrans" presStyleLbl="sibTrans2D1" presStyleIdx="2" presStyleCnt="5"/>
      <dgm:spPr/>
      <dgm:t>
        <a:bodyPr/>
        <a:lstStyle/>
        <a:p>
          <a:endParaRPr lang="es-VE"/>
        </a:p>
      </dgm:t>
    </dgm:pt>
    <dgm:pt modelId="{2E34A39D-7D5A-4A00-8D4F-D628161655A9}" type="pres">
      <dgm:prSet presAssocID="{EFF00325-4028-4140-A113-D12AF2F0FFCD}" presName="connectorText" presStyleLbl="sibTrans2D1" presStyleIdx="2" presStyleCnt="5"/>
      <dgm:spPr/>
      <dgm:t>
        <a:bodyPr/>
        <a:lstStyle/>
        <a:p>
          <a:endParaRPr lang="es-VE"/>
        </a:p>
      </dgm:t>
    </dgm:pt>
    <dgm:pt modelId="{3E697658-D2CC-492C-956E-922FE10F4B2C}" type="pres">
      <dgm:prSet presAssocID="{656A0245-FB70-40F6-9E93-02267C788582}" presName="node" presStyleLbl="node1" presStyleIdx="3" presStyleCnt="5" custScaleX="119043">
        <dgm:presLayoutVars>
          <dgm:bulletEnabled val="1"/>
        </dgm:presLayoutVars>
      </dgm:prSet>
      <dgm:spPr/>
      <dgm:t>
        <a:bodyPr/>
        <a:lstStyle/>
        <a:p>
          <a:endParaRPr lang="es-VE"/>
        </a:p>
      </dgm:t>
    </dgm:pt>
    <dgm:pt modelId="{699741FB-F093-4EC1-9C8B-FDA483FC3283}" type="pres">
      <dgm:prSet presAssocID="{0B6CDD6E-E16D-45B7-8687-068FDAD3AB5E}" presName="sibTrans" presStyleLbl="sibTrans2D1" presStyleIdx="3" presStyleCnt="5"/>
      <dgm:spPr/>
      <dgm:t>
        <a:bodyPr/>
        <a:lstStyle/>
        <a:p>
          <a:endParaRPr lang="es-VE"/>
        </a:p>
      </dgm:t>
    </dgm:pt>
    <dgm:pt modelId="{70DC0D94-9E93-4FF7-8617-E67A36DA04D7}" type="pres">
      <dgm:prSet presAssocID="{0B6CDD6E-E16D-45B7-8687-068FDAD3AB5E}" presName="connectorText" presStyleLbl="sibTrans2D1" presStyleIdx="3" presStyleCnt="5"/>
      <dgm:spPr/>
      <dgm:t>
        <a:bodyPr/>
        <a:lstStyle/>
        <a:p>
          <a:endParaRPr lang="es-VE"/>
        </a:p>
      </dgm:t>
    </dgm:pt>
    <dgm:pt modelId="{78B917AD-9EFE-4CE2-A9F0-6CAB0237BD86}" type="pres">
      <dgm:prSet presAssocID="{F6615A44-13A9-4B09-B84D-66EE06DB4D9D}" presName="node" presStyleLbl="node1" presStyleIdx="4" presStyleCnt="5">
        <dgm:presLayoutVars>
          <dgm:bulletEnabled val="1"/>
        </dgm:presLayoutVars>
      </dgm:prSet>
      <dgm:spPr/>
      <dgm:t>
        <a:bodyPr/>
        <a:lstStyle/>
        <a:p>
          <a:endParaRPr lang="es-VE"/>
        </a:p>
      </dgm:t>
    </dgm:pt>
    <dgm:pt modelId="{7210D9B4-BF75-4A45-81F5-52646C27539B}" type="pres">
      <dgm:prSet presAssocID="{32776758-E159-413C-8388-A6748894205D}" presName="sibTrans" presStyleLbl="sibTrans2D1" presStyleIdx="4" presStyleCnt="5"/>
      <dgm:spPr/>
      <dgm:t>
        <a:bodyPr/>
        <a:lstStyle/>
        <a:p>
          <a:endParaRPr lang="es-VE"/>
        </a:p>
      </dgm:t>
    </dgm:pt>
    <dgm:pt modelId="{6F9A47B0-2410-4DE6-8FB6-89EAA8E61115}" type="pres">
      <dgm:prSet presAssocID="{32776758-E159-413C-8388-A6748894205D}" presName="connectorText" presStyleLbl="sibTrans2D1" presStyleIdx="4" presStyleCnt="5"/>
      <dgm:spPr/>
      <dgm:t>
        <a:bodyPr/>
        <a:lstStyle/>
        <a:p>
          <a:endParaRPr lang="es-VE"/>
        </a:p>
      </dgm:t>
    </dgm:pt>
  </dgm:ptLst>
  <dgm:cxnLst>
    <dgm:cxn modelId="{8D69F40F-E1B9-49B9-A52E-8D8F30BD5297}" srcId="{DF9D1C3D-994B-446F-8A13-9047EA9BED33}" destId="{F6615A44-13A9-4B09-B84D-66EE06DB4D9D}" srcOrd="4" destOrd="0" parTransId="{A95564E4-8CF4-4957-93BC-280BD54E85D6}" sibTransId="{32776758-E159-413C-8388-A6748894205D}"/>
    <dgm:cxn modelId="{B4D2B095-875D-41CC-8E60-C879B8D68871}" type="presOf" srcId="{D6A6F771-3A42-4063-94F4-26FDECF11446}" destId="{69F90AC2-76FA-4E1C-BD75-713FE932903F}" srcOrd="0" destOrd="0" presId="urn:microsoft.com/office/officeart/2005/8/layout/cycle2"/>
    <dgm:cxn modelId="{4D14BA4A-4716-4BEB-8288-B320BC03594E}" type="presOf" srcId="{B37B809A-0B64-4A45-A7CE-BBBE8848A745}" destId="{78E606D5-1E46-4F3F-A169-D1E8256D951B}" srcOrd="1" destOrd="0" presId="urn:microsoft.com/office/officeart/2005/8/layout/cycle2"/>
    <dgm:cxn modelId="{D67C62AC-70F8-4488-8A6E-D80A9F9EF9DD}" type="presOf" srcId="{B37B809A-0B64-4A45-A7CE-BBBE8848A745}" destId="{24E7589E-332D-45FC-A588-3AC572662746}" srcOrd="0" destOrd="0" presId="urn:microsoft.com/office/officeart/2005/8/layout/cycle2"/>
    <dgm:cxn modelId="{1C64819F-A06E-4196-8F0B-6E9CE04B35EB}" type="presOf" srcId="{656A0245-FB70-40F6-9E93-02267C788582}" destId="{3E697658-D2CC-492C-956E-922FE10F4B2C}" srcOrd="0" destOrd="0" presId="urn:microsoft.com/office/officeart/2005/8/layout/cycle2"/>
    <dgm:cxn modelId="{C01DB01A-0D2A-4160-93E2-8DF0CDD51A32}" srcId="{DF9D1C3D-994B-446F-8A13-9047EA9BED33}" destId="{876DA631-0BB1-4CC0-945A-F747E26A193D}" srcOrd="0" destOrd="0" parTransId="{03EA3FB6-43C6-48D1-B0D9-5BEB8B7F0E83}" sibTransId="{2555E0C0-CE83-4F72-BE1C-C895EA98687A}"/>
    <dgm:cxn modelId="{D399901B-D199-4DFB-83AA-BB6EE2348424}" type="presOf" srcId="{2555E0C0-CE83-4F72-BE1C-C895EA98687A}" destId="{87AECF0B-35A8-4FCF-B932-C2993B5C1E88}" srcOrd="0" destOrd="0" presId="urn:microsoft.com/office/officeart/2005/8/layout/cycle2"/>
    <dgm:cxn modelId="{69BAD4F6-26AD-439A-8355-7C7A2A5F43B6}" srcId="{DF9D1C3D-994B-446F-8A13-9047EA9BED33}" destId="{1DEC593A-8D13-4D84-B7CC-4CB69D9020BF}" srcOrd="1" destOrd="0" parTransId="{B7E1EDE7-B8DF-44C6-A89C-E15A3846FE2B}" sibTransId="{B37B809A-0B64-4A45-A7CE-BBBE8848A745}"/>
    <dgm:cxn modelId="{6AE7F30D-C6A9-49EC-87E7-3EC6609C6061}" type="presOf" srcId="{1DEC593A-8D13-4D84-B7CC-4CB69D9020BF}" destId="{9F4AA26C-0D2D-43E4-A830-DE19D9C27257}" srcOrd="0" destOrd="0" presId="urn:microsoft.com/office/officeart/2005/8/layout/cycle2"/>
    <dgm:cxn modelId="{904A6C3D-A1B8-46A6-8F84-795885E91483}" type="presOf" srcId="{0B6CDD6E-E16D-45B7-8687-068FDAD3AB5E}" destId="{699741FB-F093-4EC1-9C8B-FDA483FC3283}" srcOrd="0" destOrd="0" presId="urn:microsoft.com/office/officeart/2005/8/layout/cycle2"/>
    <dgm:cxn modelId="{565C0604-951B-4351-9876-DC31901145DB}" type="presOf" srcId="{F6615A44-13A9-4B09-B84D-66EE06DB4D9D}" destId="{78B917AD-9EFE-4CE2-A9F0-6CAB0237BD86}" srcOrd="0" destOrd="0" presId="urn:microsoft.com/office/officeart/2005/8/layout/cycle2"/>
    <dgm:cxn modelId="{D7BA4796-7DC4-407E-BF8B-91E6252894DD}" srcId="{DF9D1C3D-994B-446F-8A13-9047EA9BED33}" destId="{656A0245-FB70-40F6-9E93-02267C788582}" srcOrd="3" destOrd="0" parTransId="{EEC7B114-91F3-474B-9E32-5D0461383021}" sibTransId="{0B6CDD6E-E16D-45B7-8687-068FDAD3AB5E}"/>
    <dgm:cxn modelId="{D0A8AF51-022E-4D3E-8186-3BD484D7109B}" type="presOf" srcId="{EFF00325-4028-4140-A113-D12AF2F0FFCD}" destId="{2E34A39D-7D5A-4A00-8D4F-D628161655A9}" srcOrd="1" destOrd="0" presId="urn:microsoft.com/office/officeart/2005/8/layout/cycle2"/>
    <dgm:cxn modelId="{59330399-9454-499B-B5C0-4A8794894006}" type="presOf" srcId="{876DA631-0BB1-4CC0-945A-F747E26A193D}" destId="{73489B4E-18F7-4C66-879F-7A23E0AC9F97}" srcOrd="0" destOrd="0" presId="urn:microsoft.com/office/officeart/2005/8/layout/cycle2"/>
    <dgm:cxn modelId="{3CD94223-7504-46C1-86CF-C02C2E854ED8}" type="presOf" srcId="{EFF00325-4028-4140-A113-D12AF2F0FFCD}" destId="{5844D0F8-DA98-460A-9E38-9402054BF3F1}" srcOrd="0" destOrd="0" presId="urn:microsoft.com/office/officeart/2005/8/layout/cycle2"/>
    <dgm:cxn modelId="{F6A2AE59-690B-4568-9321-9F9015AC7FD6}" type="presOf" srcId="{0B6CDD6E-E16D-45B7-8687-068FDAD3AB5E}" destId="{70DC0D94-9E93-4FF7-8617-E67A36DA04D7}" srcOrd="1" destOrd="0" presId="urn:microsoft.com/office/officeart/2005/8/layout/cycle2"/>
    <dgm:cxn modelId="{4B444736-FA8A-4E5C-9B61-2995581EA2C6}" srcId="{DF9D1C3D-994B-446F-8A13-9047EA9BED33}" destId="{D6A6F771-3A42-4063-94F4-26FDECF11446}" srcOrd="2" destOrd="0" parTransId="{5797CBDC-73A5-4C29-B361-7387332E1357}" sibTransId="{EFF00325-4028-4140-A113-D12AF2F0FFCD}"/>
    <dgm:cxn modelId="{43F75097-5160-4F49-BE7E-C9C67098D6F1}" type="presOf" srcId="{32776758-E159-413C-8388-A6748894205D}" destId="{6F9A47B0-2410-4DE6-8FB6-89EAA8E61115}" srcOrd="1" destOrd="0" presId="urn:microsoft.com/office/officeart/2005/8/layout/cycle2"/>
    <dgm:cxn modelId="{61E8F205-CD28-4EA9-923A-A8D2C84C738C}" type="presOf" srcId="{32776758-E159-413C-8388-A6748894205D}" destId="{7210D9B4-BF75-4A45-81F5-52646C27539B}" srcOrd="0" destOrd="0" presId="urn:microsoft.com/office/officeart/2005/8/layout/cycle2"/>
    <dgm:cxn modelId="{07607230-3149-49DC-8D06-763C2D1882B1}" type="presOf" srcId="{2555E0C0-CE83-4F72-BE1C-C895EA98687A}" destId="{D77DBB9E-DAFC-4EFE-99CD-6B99B66D9D2E}" srcOrd="1" destOrd="0" presId="urn:microsoft.com/office/officeart/2005/8/layout/cycle2"/>
    <dgm:cxn modelId="{2B7BBA6F-0957-4359-B841-B6C17F0369AE}" type="presOf" srcId="{DF9D1C3D-994B-446F-8A13-9047EA9BED33}" destId="{4795044A-D946-4A19-BF66-809A95FDBF55}" srcOrd="0" destOrd="0" presId="urn:microsoft.com/office/officeart/2005/8/layout/cycle2"/>
    <dgm:cxn modelId="{4F61DF49-4BB1-4F12-9666-A49410231D87}" type="presParOf" srcId="{4795044A-D946-4A19-BF66-809A95FDBF55}" destId="{73489B4E-18F7-4C66-879F-7A23E0AC9F97}" srcOrd="0" destOrd="0" presId="urn:microsoft.com/office/officeart/2005/8/layout/cycle2"/>
    <dgm:cxn modelId="{72D0B0F5-C39D-4DED-8812-F6EB80D0E4F6}" type="presParOf" srcId="{4795044A-D946-4A19-BF66-809A95FDBF55}" destId="{87AECF0B-35A8-4FCF-B932-C2993B5C1E88}" srcOrd="1" destOrd="0" presId="urn:microsoft.com/office/officeart/2005/8/layout/cycle2"/>
    <dgm:cxn modelId="{3C77D419-1192-41FD-A587-F52CB3463893}" type="presParOf" srcId="{87AECF0B-35A8-4FCF-B932-C2993B5C1E88}" destId="{D77DBB9E-DAFC-4EFE-99CD-6B99B66D9D2E}" srcOrd="0" destOrd="0" presId="urn:microsoft.com/office/officeart/2005/8/layout/cycle2"/>
    <dgm:cxn modelId="{23E1D32A-B3D8-4BD1-B96D-AB6834FD8637}" type="presParOf" srcId="{4795044A-D946-4A19-BF66-809A95FDBF55}" destId="{9F4AA26C-0D2D-43E4-A830-DE19D9C27257}" srcOrd="2" destOrd="0" presId="urn:microsoft.com/office/officeart/2005/8/layout/cycle2"/>
    <dgm:cxn modelId="{0680539A-D043-4FF2-9798-9C23AF4AA62D}" type="presParOf" srcId="{4795044A-D946-4A19-BF66-809A95FDBF55}" destId="{24E7589E-332D-45FC-A588-3AC572662746}" srcOrd="3" destOrd="0" presId="urn:microsoft.com/office/officeart/2005/8/layout/cycle2"/>
    <dgm:cxn modelId="{2A0FE181-EA7F-425C-BEBA-775F00202541}" type="presParOf" srcId="{24E7589E-332D-45FC-A588-3AC572662746}" destId="{78E606D5-1E46-4F3F-A169-D1E8256D951B}" srcOrd="0" destOrd="0" presId="urn:microsoft.com/office/officeart/2005/8/layout/cycle2"/>
    <dgm:cxn modelId="{FBB32E60-1D22-43D5-B5F8-23C843D79278}" type="presParOf" srcId="{4795044A-D946-4A19-BF66-809A95FDBF55}" destId="{69F90AC2-76FA-4E1C-BD75-713FE932903F}" srcOrd="4" destOrd="0" presId="urn:microsoft.com/office/officeart/2005/8/layout/cycle2"/>
    <dgm:cxn modelId="{8A951350-99B9-45B7-AA56-5B274509DE13}" type="presParOf" srcId="{4795044A-D946-4A19-BF66-809A95FDBF55}" destId="{5844D0F8-DA98-460A-9E38-9402054BF3F1}" srcOrd="5" destOrd="0" presId="urn:microsoft.com/office/officeart/2005/8/layout/cycle2"/>
    <dgm:cxn modelId="{16831E8E-A2CE-47D1-93F2-55DB0366D081}" type="presParOf" srcId="{5844D0F8-DA98-460A-9E38-9402054BF3F1}" destId="{2E34A39D-7D5A-4A00-8D4F-D628161655A9}" srcOrd="0" destOrd="0" presId="urn:microsoft.com/office/officeart/2005/8/layout/cycle2"/>
    <dgm:cxn modelId="{49E6768D-AFCA-4E1A-963E-301B589ED996}" type="presParOf" srcId="{4795044A-D946-4A19-BF66-809A95FDBF55}" destId="{3E697658-D2CC-492C-956E-922FE10F4B2C}" srcOrd="6" destOrd="0" presId="urn:microsoft.com/office/officeart/2005/8/layout/cycle2"/>
    <dgm:cxn modelId="{82650FFD-98E0-4165-993E-2B3B00517475}" type="presParOf" srcId="{4795044A-D946-4A19-BF66-809A95FDBF55}" destId="{699741FB-F093-4EC1-9C8B-FDA483FC3283}" srcOrd="7" destOrd="0" presId="urn:microsoft.com/office/officeart/2005/8/layout/cycle2"/>
    <dgm:cxn modelId="{22AA593A-68E1-456A-8723-99C5BD251D9E}" type="presParOf" srcId="{699741FB-F093-4EC1-9C8B-FDA483FC3283}" destId="{70DC0D94-9E93-4FF7-8617-E67A36DA04D7}" srcOrd="0" destOrd="0" presId="urn:microsoft.com/office/officeart/2005/8/layout/cycle2"/>
    <dgm:cxn modelId="{32062BEA-0B5E-4C60-93D3-5A66CEC54469}" type="presParOf" srcId="{4795044A-D946-4A19-BF66-809A95FDBF55}" destId="{78B917AD-9EFE-4CE2-A9F0-6CAB0237BD86}" srcOrd="8" destOrd="0" presId="urn:microsoft.com/office/officeart/2005/8/layout/cycle2"/>
    <dgm:cxn modelId="{6037DDBB-F500-41C7-91C6-3EB54F40D103}" type="presParOf" srcId="{4795044A-D946-4A19-BF66-809A95FDBF55}" destId="{7210D9B4-BF75-4A45-81F5-52646C27539B}" srcOrd="9" destOrd="0" presId="urn:microsoft.com/office/officeart/2005/8/layout/cycle2"/>
    <dgm:cxn modelId="{94224CC4-F3B4-4489-8C3A-E2AD3DC95AEE}" type="presParOf" srcId="{7210D9B4-BF75-4A45-81F5-52646C27539B}" destId="{6F9A47B0-2410-4DE6-8FB6-89EAA8E61115}" srcOrd="0" destOrd="0" presId="urn:microsoft.com/office/officeart/2005/8/layout/cycle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9254F0-74C5-4A31-BB13-FB36603B7DC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VE"/>
        </a:p>
      </dgm:t>
    </dgm:pt>
    <dgm:pt modelId="{D9C4F869-9AB3-418C-B9ED-215B5612824F}">
      <dgm:prSet phldrT="[Texto]"/>
      <dgm:spPr>
        <a:solidFill>
          <a:schemeClr val="bg1"/>
        </a:solidFill>
        <a:ln>
          <a:solidFill>
            <a:schemeClr val="tx1"/>
          </a:solidFill>
        </a:ln>
      </dgm:spPr>
      <dgm:t>
        <a:bodyPr/>
        <a:lstStyle/>
        <a:p>
          <a:r>
            <a:rPr lang="es-VE" dirty="0" smtClean="0">
              <a:solidFill>
                <a:schemeClr val="tx1"/>
              </a:solidFill>
            </a:rPr>
            <a:t>Política Conozca a su Cliente y Conozca al Cliente de su Cliente</a:t>
          </a:r>
          <a:endParaRPr lang="es-VE" dirty="0">
            <a:solidFill>
              <a:schemeClr val="tx1"/>
            </a:solidFill>
          </a:endParaRPr>
        </a:p>
      </dgm:t>
    </dgm:pt>
    <dgm:pt modelId="{79A133E1-1ED0-4978-B696-21225E4DD629}" type="parTrans" cxnId="{D4EC6866-2E73-4E2E-9E29-233DB51436DC}">
      <dgm:prSet/>
      <dgm:spPr/>
      <dgm:t>
        <a:bodyPr/>
        <a:lstStyle/>
        <a:p>
          <a:endParaRPr lang="es-VE"/>
        </a:p>
      </dgm:t>
    </dgm:pt>
    <dgm:pt modelId="{57469FBF-EF1A-4D1A-9C4D-071CF65E780E}" type="sibTrans" cxnId="{D4EC6866-2E73-4E2E-9E29-233DB51436DC}">
      <dgm:prSet/>
      <dgm:spPr/>
      <dgm:t>
        <a:bodyPr/>
        <a:lstStyle/>
        <a:p>
          <a:endParaRPr lang="es-VE"/>
        </a:p>
      </dgm:t>
    </dgm:pt>
    <dgm:pt modelId="{C8DC4990-F7F5-4ACC-A74E-D7A665F3D2CB}">
      <dgm:prSet phldrT="[Texto]"/>
      <dgm:spPr>
        <a:solidFill>
          <a:schemeClr val="bg1"/>
        </a:solidFill>
        <a:ln>
          <a:solidFill>
            <a:schemeClr val="tx1"/>
          </a:solidFill>
        </a:ln>
      </dgm:spPr>
      <dgm:t>
        <a:bodyPr/>
        <a:lstStyle/>
        <a:p>
          <a:r>
            <a:rPr lang="es-VE" dirty="0" smtClean="0">
              <a:solidFill>
                <a:schemeClr val="tx1"/>
              </a:solidFill>
            </a:rPr>
            <a:t>Política Conozca a su Empleado.</a:t>
          </a:r>
          <a:endParaRPr lang="es-VE" dirty="0">
            <a:solidFill>
              <a:schemeClr val="tx1"/>
            </a:solidFill>
          </a:endParaRPr>
        </a:p>
      </dgm:t>
    </dgm:pt>
    <dgm:pt modelId="{DC03ADF5-EC8C-4F25-86DD-E40176FAD240}" type="parTrans" cxnId="{C9FAE8E5-5063-434F-9219-103AE89502BC}">
      <dgm:prSet/>
      <dgm:spPr/>
      <dgm:t>
        <a:bodyPr/>
        <a:lstStyle/>
        <a:p>
          <a:endParaRPr lang="es-VE"/>
        </a:p>
      </dgm:t>
    </dgm:pt>
    <dgm:pt modelId="{AEB51BF2-E932-4331-A734-BB6F924B70E5}" type="sibTrans" cxnId="{C9FAE8E5-5063-434F-9219-103AE89502BC}">
      <dgm:prSet/>
      <dgm:spPr/>
      <dgm:t>
        <a:bodyPr/>
        <a:lstStyle/>
        <a:p>
          <a:endParaRPr lang="es-VE"/>
        </a:p>
      </dgm:t>
    </dgm:pt>
    <dgm:pt modelId="{508964E9-4CCC-464F-98B6-850E1648A750}">
      <dgm:prSet phldrT="[Texto]"/>
      <dgm:spPr>
        <a:solidFill>
          <a:schemeClr val="bg1"/>
        </a:solidFill>
        <a:ln>
          <a:solidFill>
            <a:schemeClr val="tx1"/>
          </a:solidFill>
        </a:ln>
      </dgm:spPr>
      <dgm:t>
        <a:bodyPr/>
        <a:lstStyle/>
        <a:p>
          <a:r>
            <a:rPr lang="es-VE" dirty="0" smtClean="0">
              <a:solidFill>
                <a:schemeClr val="tx1"/>
              </a:solidFill>
            </a:rPr>
            <a:t>Política Conozca a su Intermediario</a:t>
          </a:r>
          <a:endParaRPr lang="es-VE" dirty="0">
            <a:solidFill>
              <a:schemeClr val="tx1"/>
            </a:solidFill>
          </a:endParaRPr>
        </a:p>
      </dgm:t>
    </dgm:pt>
    <dgm:pt modelId="{7609FE59-6284-43A0-8420-6B969725A385}" type="parTrans" cxnId="{84820C3D-7AA8-41A2-9353-B209DC4F15CD}">
      <dgm:prSet/>
      <dgm:spPr/>
      <dgm:t>
        <a:bodyPr/>
        <a:lstStyle/>
        <a:p>
          <a:endParaRPr lang="es-VE"/>
        </a:p>
      </dgm:t>
    </dgm:pt>
    <dgm:pt modelId="{4540813D-5CEE-4D20-B96B-232F15F7B3AE}" type="sibTrans" cxnId="{84820C3D-7AA8-41A2-9353-B209DC4F15CD}">
      <dgm:prSet/>
      <dgm:spPr/>
      <dgm:t>
        <a:bodyPr/>
        <a:lstStyle/>
        <a:p>
          <a:endParaRPr lang="es-VE"/>
        </a:p>
      </dgm:t>
    </dgm:pt>
    <dgm:pt modelId="{5D42587F-31FA-4452-99EB-7342911C114D}">
      <dgm:prSet phldrT="[Texto]"/>
      <dgm:spPr>
        <a:solidFill>
          <a:schemeClr val="bg1"/>
        </a:solidFill>
        <a:ln>
          <a:solidFill>
            <a:schemeClr val="tx1"/>
          </a:solidFill>
        </a:ln>
      </dgm:spPr>
      <dgm:t>
        <a:bodyPr/>
        <a:lstStyle/>
        <a:p>
          <a:r>
            <a:rPr lang="es-VE" dirty="0" smtClean="0">
              <a:solidFill>
                <a:schemeClr val="tx1"/>
              </a:solidFill>
            </a:rPr>
            <a:t>Política Conozca a su Reasegurador o Retrocesionario</a:t>
          </a:r>
          <a:endParaRPr lang="es-VE" dirty="0">
            <a:solidFill>
              <a:schemeClr val="tx1"/>
            </a:solidFill>
          </a:endParaRPr>
        </a:p>
      </dgm:t>
    </dgm:pt>
    <dgm:pt modelId="{AE39202E-237F-4B3F-A9E6-3AAEF8169767}" type="parTrans" cxnId="{5C1358AD-95EF-40C7-9D75-66E600EC09DA}">
      <dgm:prSet/>
      <dgm:spPr/>
      <dgm:t>
        <a:bodyPr/>
        <a:lstStyle/>
        <a:p>
          <a:endParaRPr lang="es-VE"/>
        </a:p>
      </dgm:t>
    </dgm:pt>
    <dgm:pt modelId="{171EA1C0-DEE6-448B-B874-079C404D481D}" type="sibTrans" cxnId="{5C1358AD-95EF-40C7-9D75-66E600EC09DA}">
      <dgm:prSet/>
      <dgm:spPr/>
      <dgm:t>
        <a:bodyPr/>
        <a:lstStyle/>
        <a:p>
          <a:endParaRPr lang="es-VE"/>
        </a:p>
      </dgm:t>
    </dgm:pt>
    <dgm:pt modelId="{EEB7D90B-3D86-4771-AFC2-0207D2A3B1A7}">
      <dgm:prSet phldrT="[Texto]"/>
      <dgm:spPr>
        <a:solidFill>
          <a:schemeClr val="bg1"/>
        </a:solidFill>
        <a:ln>
          <a:solidFill>
            <a:schemeClr val="tx1"/>
          </a:solidFill>
        </a:ln>
      </dgm:spPr>
      <dgm:t>
        <a:bodyPr/>
        <a:lstStyle/>
        <a:p>
          <a:r>
            <a:rPr lang="es-VE" dirty="0" smtClean="0">
              <a:solidFill>
                <a:schemeClr val="tx1"/>
              </a:solidFill>
            </a:rPr>
            <a:t>Política Conozca a su Proveedor de Servicios.</a:t>
          </a:r>
          <a:endParaRPr lang="es-VE" dirty="0">
            <a:solidFill>
              <a:schemeClr val="tx1"/>
            </a:solidFill>
          </a:endParaRPr>
        </a:p>
      </dgm:t>
    </dgm:pt>
    <dgm:pt modelId="{4FA152AF-973E-423B-B827-38266675B78A}" type="parTrans" cxnId="{7D8CC046-E0D3-4A69-904D-6F20DF4B2BE1}">
      <dgm:prSet/>
      <dgm:spPr/>
      <dgm:t>
        <a:bodyPr/>
        <a:lstStyle/>
        <a:p>
          <a:endParaRPr lang="es-VE"/>
        </a:p>
      </dgm:t>
    </dgm:pt>
    <dgm:pt modelId="{E489C9E9-6B73-4ED9-9A33-943F00C78E33}" type="sibTrans" cxnId="{7D8CC046-E0D3-4A69-904D-6F20DF4B2BE1}">
      <dgm:prSet/>
      <dgm:spPr/>
      <dgm:t>
        <a:bodyPr/>
        <a:lstStyle/>
        <a:p>
          <a:endParaRPr lang="es-VE"/>
        </a:p>
      </dgm:t>
    </dgm:pt>
    <dgm:pt modelId="{4905F83C-7557-43BC-8330-4DDA1BC75A22}" type="pres">
      <dgm:prSet presAssocID="{D59254F0-74C5-4A31-BB13-FB36603B7DCC}" presName="diagram" presStyleCnt="0">
        <dgm:presLayoutVars>
          <dgm:dir/>
          <dgm:resizeHandles val="exact"/>
        </dgm:presLayoutVars>
      </dgm:prSet>
      <dgm:spPr/>
      <dgm:t>
        <a:bodyPr/>
        <a:lstStyle/>
        <a:p>
          <a:endParaRPr lang="es-VE"/>
        </a:p>
      </dgm:t>
    </dgm:pt>
    <dgm:pt modelId="{B4F34AFA-3A4F-486D-986C-2A3B5D41E9F4}" type="pres">
      <dgm:prSet presAssocID="{D9C4F869-9AB3-418C-B9ED-215B5612824F}" presName="node" presStyleLbl="node1" presStyleIdx="0" presStyleCnt="5">
        <dgm:presLayoutVars>
          <dgm:bulletEnabled val="1"/>
        </dgm:presLayoutVars>
      </dgm:prSet>
      <dgm:spPr/>
      <dgm:t>
        <a:bodyPr/>
        <a:lstStyle/>
        <a:p>
          <a:endParaRPr lang="es-VE"/>
        </a:p>
      </dgm:t>
    </dgm:pt>
    <dgm:pt modelId="{A24179AE-6BD5-4073-A3F3-40BB276886D1}" type="pres">
      <dgm:prSet presAssocID="{57469FBF-EF1A-4D1A-9C4D-071CF65E780E}" presName="sibTrans" presStyleCnt="0"/>
      <dgm:spPr/>
    </dgm:pt>
    <dgm:pt modelId="{1DBCCBA0-AB6E-40DC-B37B-0A212111D063}" type="pres">
      <dgm:prSet presAssocID="{C8DC4990-F7F5-4ACC-A74E-D7A665F3D2CB}" presName="node" presStyleLbl="node1" presStyleIdx="1" presStyleCnt="5">
        <dgm:presLayoutVars>
          <dgm:bulletEnabled val="1"/>
        </dgm:presLayoutVars>
      </dgm:prSet>
      <dgm:spPr/>
      <dgm:t>
        <a:bodyPr/>
        <a:lstStyle/>
        <a:p>
          <a:endParaRPr lang="es-VE"/>
        </a:p>
      </dgm:t>
    </dgm:pt>
    <dgm:pt modelId="{C9C73E37-C096-444E-B866-C51214DD3AE3}" type="pres">
      <dgm:prSet presAssocID="{AEB51BF2-E932-4331-A734-BB6F924B70E5}" presName="sibTrans" presStyleCnt="0"/>
      <dgm:spPr/>
    </dgm:pt>
    <dgm:pt modelId="{DAB07A2B-27FC-41CB-A578-CE9BB293DC7A}" type="pres">
      <dgm:prSet presAssocID="{508964E9-4CCC-464F-98B6-850E1648A750}" presName="node" presStyleLbl="node1" presStyleIdx="2" presStyleCnt="5">
        <dgm:presLayoutVars>
          <dgm:bulletEnabled val="1"/>
        </dgm:presLayoutVars>
      </dgm:prSet>
      <dgm:spPr/>
      <dgm:t>
        <a:bodyPr/>
        <a:lstStyle/>
        <a:p>
          <a:endParaRPr lang="es-VE"/>
        </a:p>
      </dgm:t>
    </dgm:pt>
    <dgm:pt modelId="{35F11DC3-DE56-4C1F-9F90-E4E4170A4C52}" type="pres">
      <dgm:prSet presAssocID="{4540813D-5CEE-4D20-B96B-232F15F7B3AE}" presName="sibTrans" presStyleCnt="0"/>
      <dgm:spPr/>
    </dgm:pt>
    <dgm:pt modelId="{391ED3C1-67B1-4258-8F32-57E23B939FE2}" type="pres">
      <dgm:prSet presAssocID="{5D42587F-31FA-4452-99EB-7342911C114D}" presName="node" presStyleLbl="node1" presStyleIdx="3" presStyleCnt="5">
        <dgm:presLayoutVars>
          <dgm:bulletEnabled val="1"/>
        </dgm:presLayoutVars>
      </dgm:prSet>
      <dgm:spPr/>
      <dgm:t>
        <a:bodyPr/>
        <a:lstStyle/>
        <a:p>
          <a:endParaRPr lang="es-VE"/>
        </a:p>
      </dgm:t>
    </dgm:pt>
    <dgm:pt modelId="{6D97A413-5DA2-4A04-BEA1-E3F70C3D6D87}" type="pres">
      <dgm:prSet presAssocID="{171EA1C0-DEE6-448B-B874-079C404D481D}" presName="sibTrans" presStyleCnt="0"/>
      <dgm:spPr/>
    </dgm:pt>
    <dgm:pt modelId="{E781DBD2-35E4-4FC6-9DC2-46F2D148F140}" type="pres">
      <dgm:prSet presAssocID="{EEB7D90B-3D86-4771-AFC2-0207D2A3B1A7}" presName="node" presStyleLbl="node1" presStyleIdx="4" presStyleCnt="5">
        <dgm:presLayoutVars>
          <dgm:bulletEnabled val="1"/>
        </dgm:presLayoutVars>
      </dgm:prSet>
      <dgm:spPr/>
      <dgm:t>
        <a:bodyPr/>
        <a:lstStyle/>
        <a:p>
          <a:endParaRPr lang="es-VE"/>
        </a:p>
      </dgm:t>
    </dgm:pt>
  </dgm:ptLst>
  <dgm:cxnLst>
    <dgm:cxn modelId="{C9FAE8E5-5063-434F-9219-103AE89502BC}" srcId="{D59254F0-74C5-4A31-BB13-FB36603B7DCC}" destId="{C8DC4990-F7F5-4ACC-A74E-D7A665F3D2CB}" srcOrd="1" destOrd="0" parTransId="{DC03ADF5-EC8C-4F25-86DD-E40176FAD240}" sibTransId="{AEB51BF2-E932-4331-A734-BB6F924B70E5}"/>
    <dgm:cxn modelId="{84820C3D-7AA8-41A2-9353-B209DC4F15CD}" srcId="{D59254F0-74C5-4A31-BB13-FB36603B7DCC}" destId="{508964E9-4CCC-464F-98B6-850E1648A750}" srcOrd="2" destOrd="0" parTransId="{7609FE59-6284-43A0-8420-6B969725A385}" sibTransId="{4540813D-5CEE-4D20-B96B-232F15F7B3AE}"/>
    <dgm:cxn modelId="{9FC58D16-FE23-410B-B118-627C812933F4}" type="presOf" srcId="{508964E9-4CCC-464F-98B6-850E1648A750}" destId="{DAB07A2B-27FC-41CB-A578-CE9BB293DC7A}" srcOrd="0" destOrd="0" presId="urn:microsoft.com/office/officeart/2005/8/layout/default"/>
    <dgm:cxn modelId="{D4EC6866-2E73-4E2E-9E29-233DB51436DC}" srcId="{D59254F0-74C5-4A31-BB13-FB36603B7DCC}" destId="{D9C4F869-9AB3-418C-B9ED-215B5612824F}" srcOrd="0" destOrd="0" parTransId="{79A133E1-1ED0-4978-B696-21225E4DD629}" sibTransId="{57469FBF-EF1A-4D1A-9C4D-071CF65E780E}"/>
    <dgm:cxn modelId="{38DF0411-DA46-4374-B40A-56894305662D}" type="presOf" srcId="{D59254F0-74C5-4A31-BB13-FB36603B7DCC}" destId="{4905F83C-7557-43BC-8330-4DDA1BC75A22}" srcOrd="0" destOrd="0" presId="urn:microsoft.com/office/officeart/2005/8/layout/default"/>
    <dgm:cxn modelId="{24077F6E-7A4C-4A71-918A-ADF08E4698D7}" type="presOf" srcId="{5D42587F-31FA-4452-99EB-7342911C114D}" destId="{391ED3C1-67B1-4258-8F32-57E23B939FE2}" srcOrd="0" destOrd="0" presId="urn:microsoft.com/office/officeart/2005/8/layout/default"/>
    <dgm:cxn modelId="{6B0D0E13-C8CA-42A6-8CCE-28875D937ACA}" type="presOf" srcId="{EEB7D90B-3D86-4771-AFC2-0207D2A3B1A7}" destId="{E781DBD2-35E4-4FC6-9DC2-46F2D148F140}" srcOrd="0" destOrd="0" presId="urn:microsoft.com/office/officeart/2005/8/layout/default"/>
    <dgm:cxn modelId="{B437E3A1-F02A-47F4-90D6-352584AB032D}" type="presOf" srcId="{D9C4F869-9AB3-418C-B9ED-215B5612824F}" destId="{B4F34AFA-3A4F-486D-986C-2A3B5D41E9F4}" srcOrd="0" destOrd="0" presId="urn:microsoft.com/office/officeart/2005/8/layout/default"/>
    <dgm:cxn modelId="{5C1358AD-95EF-40C7-9D75-66E600EC09DA}" srcId="{D59254F0-74C5-4A31-BB13-FB36603B7DCC}" destId="{5D42587F-31FA-4452-99EB-7342911C114D}" srcOrd="3" destOrd="0" parTransId="{AE39202E-237F-4B3F-A9E6-3AAEF8169767}" sibTransId="{171EA1C0-DEE6-448B-B874-079C404D481D}"/>
    <dgm:cxn modelId="{7D8CC046-E0D3-4A69-904D-6F20DF4B2BE1}" srcId="{D59254F0-74C5-4A31-BB13-FB36603B7DCC}" destId="{EEB7D90B-3D86-4771-AFC2-0207D2A3B1A7}" srcOrd="4" destOrd="0" parTransId="{4FA152AF-973E-423B-B827-38266675B78A}" sibTransId="{E489C9E9-6B73-4ED9-9A33-943F00C78E33}"/>
    <dgm:cxn modelId="{46F73742-87DA-4BA0-856D-93F1403A1D69}" type="presOf" srcId="{C8DC4990-F7F5-4ACC-A74E-D7A665F3D2CB}" destId="{1DBCCBA0-AB6E-40DC-B37B-0A212111D063}" srcOrd="0" destOrd="0" presId="urn:microsoft.com/office/officeart/2005/8/layout/default"/>
    <dgm:cxn modelId="{9A57F0CC-6CFA-44AD-9913-D7FB6F54FF6A}" type="presParOf" srcId="{4905F83C-7557-43BC-8330-4DDA1BC75A22}" destId="{B4F34AFA-3A4F-486D-986C-2A3B5D41E9F4}" srcOrd="0" destOrd="0" presId="urn:microsoft.com/office/officeart/2005/8/layout/default"/>
    <dgm:cxn modelId="{D04E2333-DA37-4AD9-A4ED-EDA5F0462BFD}" type="presParOf" srcId="{4905F83C-7557-43BC-8330-4DDA1BC75A22}" destId="{A24179AE-6BD5-4073-A3F3-40BB276886D1}" srcOrd="1" destOrd="0" presId="urn:microsoft.com/office/officeart/2005/8/layout/default"/>
    <dgm:cxn modelId="{EF60E2C2-8F99-4F96-85B7-202C05156643}" type="presParOf" srcId="{4905F83C-7557-43BC-8330-4DDA1BC75A22}" destId="{1DBCCBA0-AB6E-40DC-B37B-0A212111D063}" srcOrd="2" destOrd="0" presId="urn:microsoft.com/office/officeart/2005/8/layout/default"/>
    <dgm:cxn modelId="{02C455CF-7F30-48E1-957B-215A1D8BC8F8}" type="presParOf" srcId="{4905F83C-7557-43BC-8330-4DDA1BC75A22}" destId="{C9C73E37-C096-444E-B866-C51214DD3AE3}" srcOrd="3" destOrd="0" presId="urn:microsoft.com/office/officeart/2005/8/layout/default"/>
    <dgm:cxn modelId="{4FE1A573-0F07-48D3-B708-1306F399E5E9}" type="presParOf" srcId="{4905F83C-7557-43BC-8330-4DDA1BC75A22}" destId="{DAB07A2B-27FC-41CB-A578-CE9BB293DC7A}" srcOrd="4" destOrd="0" presId="urn:microsoft.com/office/officeart/2005/8/layout/default"/>
    <dgm:cxn modelId="{B73087D8-1B43-470A-850C-5310B25AC6D9}" type="presParOf" srcId="{4905F83C-7557-43BC-8330-4DDA1BC75A22}" destId="{35F11DC3-DE56-4C1F-9F90-E4E4170A4C52}" srcOrd="5" destOrd="0" presId="urn:microsoft.com/office/officeart/2005/8/layout/default"/>
    <dgm:cxn modelId="{25F2EE72-C0E0-47AC-8B2E-3B53BF3EA354}" type="presParOf" srcId="{4905F83C-7557-43BC-8330-4DDA1BC75A22}" destId="{391ED3C1-67B1-4258-8F32-57E23B939FE2}" srcOrd="6" destOrd="0" presId="urn:microsoft.com/office/officeart/2005/8/layout/default"/>
    <dgm:cxn modelId="{8FBF9398-8FA5-45D8-AF25-1CB850459EE2}" type="presParOf" srcId="{4905F83C-7557-43BC-8330-4DDA1BC75A22}" destId="{6D97A413-5DA2-4A04-BEA1-E3F70C3D6D87}" srcOrd="7" destOrd="0" presId="urn:microsoft.com/office/officeart/2005/8/layout/default"/>
    <dgm:cxn modelId="{51A6E42D-8543-4860-A02B-86277F95157D}" type="presParOf" srcId="{4905F83C-7557-43BC-8330-4DDA1BC75A22}" destId="{E781DBD2-35E4-4FC6-9DC2-46F2D148F140}" srcOrd="8" destOrd="0" presId="urn:microsoft.com/office/officeart/2005/8/layout/default"/>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9F9004C-2764-4670-B89D-28FCD53AF86D}" type="doc">
      <dgm:prSet loTypeId="urn:microsoft.com/office/officeart/2005/8/layout/hProcess9" loCatId="process" qsTypeId="urn:microsoft.com/office/officeart/2005/8/quickstyle/simple1" qsCatId="simple" csTypeId="urn:microsoft.com/office/officeart/2005/8/colors/accent1_2" csCatId="accent1" phldr="1"/>
      <dgm:spPr/>
    </dgm:pt>
    <dgm:pt modelId="{0449A106-7BBC-4BE3-ADAF-1DC997AF4DD5}">
      <dgm:prSet phldrT="[Texto]" custT="1"/>
      <dgm:spPr>
        <a:solidFill>
          <a:schemeClr val="bg1"/>
        </a:solidFill>
      </dgm:spPr>
      <dgm:t>
        <a:bodyPr/>
        <a:lstStyle/>
        <a:p>
          <a:r>
            <a:rPr kumimoji="0" lang="es-VE" sz="1400" b="1" i="0" u="none" strike="noStrike" cap="none" normalizeH="0" baseline="0" dirty="0" smtClean="0">
              <a:ln>
                <a:noFill/>
              </a:ln>
              <a:solidFill>
                <a:schemeClr val="tx1"/>
              </a:solidFill>
              <a:effectLst/>
              <a:latin typeface="+mj-lt"/>
              <a:ea typeface="Calibri" pitchFamily="34" charset="0"/>
              <a:cs typeface="Tahoma" pitchFamily="34" charset="0"/>
            </a:rPr>
            <a:t>CLINISALUD MEDICINA PREPAGADA, S.A.</a:t>
          </a:r>
          <a:r>
            <a:rPr kumimoji="0" lang="es-VE" sz="1400" b="0" i="0" u="none" strike="noStrike" cap="none" normalizeH="0" baseline="0" dirty="0" smtClean="0">
              <a:ln>
                <a:noFill/>
              </a:ln>
              <a:solidFill>
                <a:schemeClr val="tx1"/>
              </a:solidFill>
              <a:effectLst/>
              <a:latin typeface="+mj-lt"/>
              <a:ea typeface="Calibri" pitchFamily="34" charset="0"/>
              <a:cs typeface="Tahoma" pitchFamily="34" charset="0"/>
            </a:rPr>
            <a:t> </a:t>
          </a:r>
          <a:endParaRPr lang="es-VE" sz="1400" dirty="0"/>
        </a:p>
      </dgm:t>
    </dgm:pt>
    <dgm:pt modelId="{A5158C57-6618-41AF-9C9C-C890CC387CD6}" type="parTrans" cxnId="{9AE5349E-9C33-41EA-8038-BE2216D74BA3}">
      <dgm:prSet/>
      <dgm:spPr/>
      <dgm:t>
        <a:bodyPr/>
        <a:lstStyle/>
        <a:p>
          <a:endParaRPr lang="es-VE"/>
        </a:p>
      </dgm:t>
    </dgm:pt>
    <dgm:pt modelId="{92625FFE-C83F-4031-8D8B-E3C8E95CF376}" type="sibTrans" cxnId="{9AE5349E-9C33-41EA-8038-BE2216D74BA3}">
      <dgm:prSet/>
      <dgm:spPr/>
      <dgm:t>
        <a:bodyPr/>
        <a:lstStyle/>
        <a:p>
          <a:endParaRPr lang="es-VE"/>
        </a:p>
      </dgm:t>
    </dgm:pt>
    <dgm:pt modelId="{3E94A28E-D375-4C21-B9EB-62DAA0DA0110}">
      <dgm:prSet phldrT="[Texto]" custT="1"/>
      <dgm:spPr>
        <a:solidFill>
          <a:schemeClr val="bg1"/>
        </a:solidFill>
      </dgm:spPr>
      <dgm:t>
        <a:bodyPr/>
        <a:lstStyle/>
        <a:p>
          <a:r>
            <a:rPr kumimoji="0" lang="es-VE" sz="1400" b="1" i="0" u="none" strike="noStrike" cap="none" normalizeH="0" baseline="0" dirty="0" smtClean="0">
              <a:ln>
                <a:noFill/>
              </a:ln>
              <a:solidFill>
                <a:schemeClr val="tx1"/>
              </a:solidFill>
              <a:effectLst/>
              <a:latin typeface="+mj-lt"/>
              <a:ea typeface="Calibri" pitchFamily="34" charset="0"/>
              <a:cs typeface="Tahoma" pitchFamily="34" charset="0"/>
            </a:rPr>
            <a:t>Mantener canales de comunicación e instancias de reporte para la correcta ejecución de la administración de riesgos de</a:t>
          </a:r>
          <a:r>
            <a:rPr kumimoji="0" lang="es-VE" sz="1400" b="1" i="0" u="none" strike="noStrike" cap="none" normalizeH="0" dirty="0" smtClean="0">
              <a:ln>
                <a:noFill/>
              </a:ln>
              <a:solidFill>
                <a:schemeClr val="tx1"/>
              </a:solidFill>
              <a:effectLst/>
              <a:latin typeface="+mj-lt"/>
              <a:ea typeface="Calibri" pitchFamily="34" charset="0"/>
              <a:cs typeface="Tahoma" pitchFamily="34" charset="0"/>
            </a:rPr>
            <a:t> LC/FT/</a:t>
          </a:r>
          <a:r>
            <a:rPr lang="es-VE" sz="1400" b="1" dirty="0" smtClean="0">
              <a:solidFill>
                <a:schemeClr val="tx1"/>
              </a:solidFill>
              <a:latin typeface="+mj-lt"/>
              <a:ea typeface="Calibri" pitchFamily="34" charset="0"/>
              <a:cs typeface="Tahoma" pitchFamily="34" charset="0"/>
            </a:rPr>
            <a:t>FPADM</a:t>
          </a:r>
          <a:r>
            <a:rPr lang="es-VE" sz="1400" dirty="0" smtClean="0">
              <a:latin typeface="+mj-lt"/>
              <a:ea typeface="Calibri" pitchFamily="34" charset="0"/>
              <a:cs typeface="Tahoma" pitchFamily="34" charset="0"/>
            </a:rPr>
            <a:t>, </a:t>
          </a:r>
          <a:endParaRPr lang="es-VE" sz="1400" dirty="0"/>
        </a:p>
      </dgm:t>
    </dgm:pt>
    <dgm:pt modelId="{B9A5B8C8-3ECC-4A8E-B240-6FE5DAFE5AE3}" type="parTrans" cxnId="{FBD93154-81B1-48E5-8783-7824A8D44069}">
      <dgm:prSet/>
      <dgm:spPr/>
      <dgm:t>
        <a:bodyPr/>
        <a:lstStyle/>
        <a:p>
          <a:endParaRPr lang="es-VE"/>
        </a:p>
      </dgm:t>
    </dgm:pt>
    <dgm:pt modelId="{124A9400-1E09-49DA-BA2E-5A499E73B4F1}" type="sibTrans" cxnId="{FBD93154-81B1-48E5-8783-7824A8D44069}">
      <dgm:prSet/>
      <dgm:spPr/>
      <dgm:t>
        <a:bodyPr/>
        <a:lstStyle/>
        <a:p>
          <a:endParaRPr lang="es-VE"/>
        </a:p>
      </dgm:t>
    </dgm:pt>
    <dgm:pt modelId="{B0D9A995-466C-4E1A-8C64-7D933F485B30}">
      <dgm:prSet phldrT="[Texto]" custT="1"/>
      <dgm:spPr>
        <a:solidFill>
          <a:schemeClr val="bg1"/>
        </a:solidFill>
      </dgm:spPr>
      <dgm:t>
        <a:bodyPr/>
        <a:lstStyle/>
        <a:p>
          <a:pPr algn="just"/>
          <a:r>
            <a:rPr kumimoji="0" lang="es-VE" sz="1500" b="1" i="0" u="none" strike="noStrike" cap="none" normalizeH="0" baseline="0" dirty="0" smtClean="0">
              <a:ln>
                <a:noFill/>
              </a:ln>
              <a:solidFill>
                <a:schemeClr val="tx1"/>
              </a:solidFill>
              <a:effectLst/>
              <a:latin typeface="+mj-lt"/>
              <a:ea typeface="Calibri" pitchFamily="34" charset="0"/>
              <a:cs typeface="Tahoma" pitchFamily="34" charset="0"/>
            </a:rPr>
            <a:t>Objeto de mantener un enlace constante entre la organización, sus oficinas, gerencias y/o sucursales, para ejercer un eficiente y eficaz control de las actividades realizadas por los clientes, proveedores, intermediarios, empleados y cualquier otro sujeto con el que mantenga relaciones o vínc</a:t>
          </a:r>
          <a:r>
            <a:rPr kumimoji="0" lang="es-VE" sz="1400" b="0" i="0" u="none" strike="noStrike" cap="none" normalizeH="0" baseline="0" dirty="0" smtClean="0">
              <a:ln>
                <a:noFill/>
              </a:ln>
              <a:solidFill>
                <a:schemeClr val="tx1"/>
              </a:solidFill>
              <a:effectLst/>
              <a:latin typeface="+mj-lt"/>
              <a:ea typeface="Calibri" pitchFamily="34" charset="0"/>
              <a:cs typeface="Tahoma" pitchFamily="34" charset="0"/>
            </a:rPr>
            <a:t>ulos.</a:t>
          </a:r>
          <a:endParaRPr lang="es-VE" sz="1400" dirty="0"/>
        </a:p>
      </dgm:t>
    </dgm:pt>
    <dgm:pt modelId="{8992D376-9F72-46BF-B7EE-2F6C24ECD1DF}" type="parTrans" cxnId="{BAF2979A-BCE9-4510-8BFF-707EFD55310E}">
      <dgm:prSet/>
      <dgm:spPr/>
      <dgm:t>
        <a:bodyPr/>
        <a:lstStyle/>
        <a:p>
          <a:endParaRPr lang="es-VE"/>
        </a:p>
      </dgm:t>
    </dgm:pt>
    <dgm:pt modelId="{987587A3-4E3D-4EBF-80A6-4CE610050A63}" type="sibTrans" cxnId="{BAF2979A-BCE9-4510-8BFF-707EFD55310E}">
      <dgm:prSet/>
      <dgm:spPr/>
      <dgm:t>
        <a:bodyPr/>
        <a:lstStyle/>
        <a:p>
          <a:endParaRPr lang="es-VE"/>
        </a:p>
      </dgm:t>
    </dgm:pt>
    <dgm:pt modelId="{5DCF9EC4-688A-4DFB-A176-7E1C5765AAEE}" type="pres">
      <dgm:prSet presAssocID="{89F9004C-2764-4670-B89D-28FCD53AF86D}" presName="CompostProcess" presStyleCnt="0">
        <dgm:presLayoutVars>
          <dgm:dir/>
          <dgm:resizeHandles val="exact"/>
        </dgm:presLayoutVars>
      </dgm:prSet>
      <dgm:spPr/>
    </dgm:pt>
    <dgm:pt modelId="{B3C9945B-A26F-4939-8E60-1FB8A0D98C56}" type="pres">
      <dgm:prSet presAssocID="{89F9004C-2764-4670-B89D-28FCD53AF86D}" presName="arrow" presStyleLbl="bgShp" presStyleIdx="0" presStyleCnt="1" custScaleX="113052"/>
      <dgm:spPr/>
    </dgm:pt>
    <dgm:pt modelId="{3DFEC051-47F3-4732-BE5C-6B2E7F13825A}" type="pres">
      <dgm:prSet presAssocID="{89F9004C-2764-4670-B89D-28FCD53AF86D}" presName="linearProcess" presStyleCnt="0"/>
      <dgm:spPr/>
    </dgm:pt>
    <dgm:pt modelId="{E4F2BA88-E72B-4CC4-8BFA-3CF5939BA3A0}" type="pres">
      <dgm:prSet presAssocID="{0449A106-7BBC-4BE3-ADAF-1DC997AF4DD5}" presName="textNode" presStyleLbl="node1" presStyleIdx="0" presStyleCnt="3">
        <dgm:presLayoutVars>
          <dgm:bulletEnabled val="1"/>
        </dgm:presLayoutVars>
      </dgm:prSet>
      <dgm:spPr/>
      <dgm:t>
        <a:bodyPr/>
        <a:lstStyle/>
        <a:p>
          <a:endParaRPr lang="es-VE"/>
        </a:p>
      </dgm:t>
    </dgm:pt>
    <dgm:pt modelId="{9921F68A-4223-4DE7-ACAB-383748A7597B}" type="pres">
      <dgm:prSet presAssocID="{92625FFE-C83F-4031-8D8B-E3C8E95CF376}" presName="sibTrans" presStyleCnt="0"/>
      <dgm:spPr/>
    </dgm:pt>
    <dgm:pt modelId="{C1AC40D7-E28C-4DEC-9FF7-ADAFF7039D00}" type="pres">
      <dgm:prSet presAssocID="{3E94A28E-D375-4C21-B9EB-62DAA0DA0110}" presName="textNode" presStyleLbl="node1" presStyleIdx="1" presStyleCnt="3" custScaleY="135741">
        <dgm:presLayoutVars>
          <dgm:bulletEnabled val="1"/>
        </dgm:presLayoutVars>
      </dgm:prSet>
      <dgm:spPr/>
      <dgm:t>
        <a:bodyPr/>
        <a:lstStyle/>
        <a:p>
          <a:endParaRPr lang="es-VE"/>
        </a:p>
      </dgm:t>
    </dgm:pt>
    <dgm:pt modelId="{73BD7E1C-4762-4E8A-B851-AA3196363709}" type="pres">
      <dgm:prSet presAssocID="{124A9400-1E09-49DA-BA2E-5A499E73B4F1}" presName="sibTrans" presStyleCnt="0"/>
      <dgm:spPr/>
    </dgm:pt>
    <dgm:pt modelId="{449D6CC8-45DA-4276-AC25-A9B51FD122EF}" type="pres">
      <dgm:prSet presAssocID="{B0D9A995-466C-4E1A-8C64-7D933F485B30}" presName="textNode" presStyleLbl="node1" presStyleIdx="2" presStyleCnt="3" custScaleX="112490" custScaleY="250000">
        <dgm:presLayoutVars>
          <dgm:bulletEnabled val="1"/>
        </dgm:presLayoutVars>
      </dgm:prSet>
      <dgm:spPr/>
      <dgm:t>
        <a:bodyPr/>
        <a:lstStyle/>
        <a:p>
          <a:endParaRPr lang="es-VE"/>
        </a:p>
      </dgm:t>
    </dgm:pt>
  </dgm:ptLst>
  <dgm:cxnLst>
    <dgm:cxn modelId="{9AE5349E-9C33-41EA-8038-BE2216D74BA3}" srcId="{89F9004C-2764-4670-B89D-28FCD53AF86D}" destId="{0449A106-7BBC-4BE3-ADAF-1DC997AF4DD5}" srcOrd="0" destOrd="0" parTransId="{A5158C57-6618-41AF-9C9C-C890CC387CD6}" sibTransId="{92625FFE-C83F-4031-8D8B-E3C8E95CF376}"/>
    <dgm:cxn modelId="{F0CE78FF-6946-473F-8F1E-5DE0981E03BD}" type="presOf" srcId="{89F9004C-2764-4670-B89D-28FCD53AF86D}" destId="{5DCF9EC4-688A-4DFB-A176-7E1C5765AAEE}" srcOrd="0" destOrd="0" presId="urn:microsoft.com/office/officeart/2005/8/layout/hProcess9"/>
    <dgm:cxn modelId="{C6FBF92D-5D8D-4EC0-8DBA-1126007857EB}" type="presOf" srcId="{B0D9A995-466C-4E1A-8C64-7D933F485B30}" destId="{449D6CC8-45DA-4276-AC25-A9B51FD122EF}" srcOrd="0" destOrd="0" presId="urn:microsoft.com/office/officeart/2005/8/layout/hProcess9"/>
    <dgm:cxn modelId="{BAF2979A-BCE9-4510-8BFF-707EFD55310E}" srcId="{89F9004C-2764-4670-B89D-28FCD53AF86D}" destId="{B0D9A995-466C-4E1A-8C64-7D933F485B30}" srcOrd="2" destOrd="0" parTransId="{8992D376-9F72-46BF-B7EE-2F6C24ECD1DF}" sibTransId="{987587A3-4E3D-4EBF-80A6-4CE610050A63}"/>
    <dgm:cxn modelId="{0E51F241-AAD4-4944-B637-B6731EB041E5}" type="presOf" srcId="{3E94A28E-D375-4C21-B9EB-62DAA0DA0110}" destId="{C1AC40D7-E28C-4DEC-9FF7-ADAFF7039D00}" srcOrd="0" destOrd="0" presId="urn:microsoft.com/office/officeart/2005/8/layout/hProcess9"/>
    <dgm:cxn modelId="{92E69443-DD4A-4B36-9943-58865D21746A}" type="presOf" srcId="{0449A106-7BBC-4BE3-ADAF-1DC997AF4DD5}" destId="{E4F2BA88-E72B-4CC4-8BFA-3CF5939BA3A0}" srcOrd="0" destOrd="0" presId="urn:microsoft.com/office/officeart/2005/8/layout/hProcess9"/>
    <dgm:cxn modelId="{FBD93154-81B1-48E5-8783-7824A8D44069}" srcId="{89F9004C-2764-4670-B89D-28FCD53AF86D}" destId="{3E94A28E-D375-4C21-B9EB-62DAA0DA0110}" srcOrd="1" destOrd="0" parTransId="{B9A5B8C8-3ECC-4A8E-B240-6FE5DAFE5AE3}" sibTransId="{124A9400-1E09-49DA-BA2E-5A499E73B4F1}"/>
    <dgm:cxn modelId="{F60DCF4E-A084-451B-B011-14F65CE956B3}" type="presParOf" srcId="{5DCF9EC4-688A-4DFB-A176-7E1C5765AAEE}" destId="{B3C9945B-A26F-4939-8E60-1FB8A0D98C56}" srcOrd="0" destOrd="0" presId="urn:microsoft.com/office/officeart/2005/8/layout/hProcess9"/>
    <dgm:cxn modelId="{A69CEB70-D3E5-4EB6-A29A-8DEC03A6C25E}" type="presParOf" srcId="{5DCF9EC4-688A-4DFB-A176-7E1C5765AAEE}" destId="{3DFEC051-47F3-4732-BE5C-6B2E7F13825A}" srcOrd="1" destOrd="0" presId="urn:microsoft.com/office/officeart/2005/8/layout/hProcess9"/>
    <dgm:cxn modelId="{8DB16D82-7584-45E2-BD28-F6D926138E2E}" type="presParOf" srcId="{3DFEC051-47F3-4732-BE5C-6B2E7F13825A}" destId="{E4F2BA88-E72B-4CC4-8BFA-3CF5939BA3A0}" srcOrd="0" destOrd="0" presId="urn:microsoft.com/office/officeart/2005/8/layout/hProcess9"/>
    <dgm:cxn modelId="{D0A3C238-4C86-4C73-88FB-42735D4C295C}" type="presParOf" srcId="{3DFEC051-47F3-4732-BE5C-6B2E7F13825A}" destId="{9921F68A-4223-4DE7-ACAB-383748A7597B}" srcOrd="1" destOrd="0" presId="urn:microsoft.com/office/officeart/2005/8/layout/hProcess9"/>
    <dgm:cxn modelId="{7CF10E9A-C6B5-4587-BB3E-838FAF4CE8FA}" type="presParOf" srcId="{3DFEC051-47F3-4732-BE5C-6B2E7F13825A}" destId="{C1AC40D7-E28C-4DEC-9FF7-ADAFF7039D00}" srcOrd="2" destOrd="0" presId="urn:microsoft.com/office/officeart/2005/8/layout/hProcess9"/>
    <dgm:cxn modelId="{9E44DA11-3A8C-49F2-8D76-336C9EFCDEE5}" type="presParOf" srcId="{3DFEC051-47F3-4732-BE5C-6B2E7F13825A}" destId="{73BD7E1C-4762-4E8A-B851-AA3196363709}" srcOrd="3" destOrd="0" presId="urn:microsoft.com/office/officeart/2005/8/layout/hProcess9"/>
    <dgm:cxn modelId="{44C8B630-0849-47F9-A705-6F3BDEA7A7DA}" type="presParOf" srcId="{3DFEC051-47F3-4732-BE5C-6B2E7F13825A}" destId="{449D6CC8-45DA-4276-AC25-A9B51FD122EF}" srcOrd="4" destOrd="0" presId="urn:microsoft.com/office/officeart/2005/8/layout/hProcess9"/>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62CA633-3764-4DD5-BFF3-0C22B5BBE90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s-VE"/>
        </a:p>
      </dgm:t>
    </dgm:pt>
    <dgm:pt modelId="{FEF47177-2ADB-47D6-A77B-68234061A04D}">
      <dgm:prSet phldrT="[Texto]" custT="1"/>
      <dgm:spPr>
        <a:solidFill>
          <a:schemeClr val="bg1"/>
        </a:solidFill>
        <a:ln>
          <a:solidFill>
            <a:schemeClr val="accent5"/>
          </a:solidFill>
        </a:ln>
      </dgm:spPr>
      <dgm:t>
        <a:bodyPr/>
        <a:lstStyle/>
        <a:p>
          <a:r>
            <a:rPr lang="es-VE" sz="1800" b="1" dirty="0" smtClean="0">
              <a:solidFill>
                <a:schemeClr val="tx1"/>
              </a:solidFill>
            </a:rPr>
            <a:t>Junta Directiva</a:t>
          </a:r>
          <a:endParaRPr lang="es-VE" sz="1800" b="1" dirty="0">
            <a:solidFill>
              <a:schemeClr val="tx1"/>
            </a:solidFill>
          </a:endParaRPr>
        </a:p>
      </dgm:t>
    </dgm:pt>
    <dgm:pt modelId="{D69F7692-6141-420D-8032-8C951300BC99}" type="parTrans" cxnId="{84E66DA5-6898-4C30-9129-6EF1403C7955}">
      <dgm:prSet/>
      <dgm:spPr/>
      <dgm:t>
        <a:bodyPr/>
        <a:lstStyle/>
        <a:p>
          <a:endParaRPr lang="es-VE"/>
        </a:p>
      </dgm:t>
    </dgm:pt>
    <dgm:pt modelId="{F7BAE57C-4F78-4EB3-B36D-7129E3058DF6}" type="sibTrans" cxnId="{84E66DA5-6898-4C30-9129-6EF1403C7955}">
      <dgm:prSet/>
      <dgm:spPr/>
      <dgm:t>
        <a:bodyPr/>
        <a:lstStyle/>
        <a:p>
          <a:endParaRPr lang="es-VE"/>
        </a:p>
      </dgm:t>
    </dgm:pt>
    <dgm:pt modelId="{8CC42EEB-0FE6-4C13-9423-737EC3476A6A}">
      <dgm:prSet phldrT="[Texto]" custT="1"/>
      <dgm:spPr>
        <a:solidFill>
          <a:schemeClr val="bg1"/>
        </a:solidFill>
        <a:ln>
          <a:solidFill>
            <a:schemeClr val="accent5"/>
          </a:solidFill>
        </a:ln>
      </dgm:spPr>
      <dgm:t>
        <a:bodyPr/>
        <a:lstStyle/>
        <a:p>
          <a:r>
            <a:rPr lang="es-VE" sz="1800" b="1" dirty="0" smtClean="0">
              <a:solidFill>
                <a:schemeClr val="tx1"/>
              </a:solidFill>
            </a:rPr>
            <a:t>Presidente</a:t>
          </a:r>
          <a:endParaRPr lang="es-VE" sz="1800" b="1" dirty="0">
            <a:solidFill>
              <a:schemeClr val="tx1"/>
            </a:solidFill>
          </a:endParaRPr>
        </a:p>
      </dgm:t>
    </dgm:pt>
    <dgm:pt modelId="{786BF385-E2A2-4380-81B4-7A487211688B}" type="parTrans" cxnId="{E4B954E9-5E04-4BFD-93B1-FD8DC346E78A}">
      <dgm:prSet/>
      <dgm:spPr/>
      <dgm:t>
        <a:bodyPr/>
        <a:lstStyle/>
        <a:p>
          <a:endParaRPr lang="es-VE"/>
        </a:p>
      </dgm:t>
    </dgm:pt>
    <dgm:pt modelId="{19CE0A28-F95E-4258-A6BA-3B98200C4EDC}" type="sibTrans" cxnId="{E4B954E9-5E04-4BFD-93B1-FD8DC346E78A}">
      <dgm:prSet/>
      <dgm:spPr/>
      <dgm:t>
        <a:bodyPr/>
        <a:lstStyle/>
        <a:p>
          <a:endParaRPr lang="es-VE"/>
        </a:p>
      </dgm:t>
    </dgm:pt>
    <dgm:pt modelId="{E71036E0-96B4-4C4A-8A4C-8BA17701801B}">
      <dgm:prSet phldrT="[Texto]" custT="1"/>
      <dgm:spPr>
        <a:solidFill>
          <a:schemeClr val="bg1"/>
        </a:solidFill>
        <a:ln>
          <a:solidFill>
            <a:schemeClr val="accent5"/>
          </a:solidFill>
        </a:ln>
      </dgm:spPr>
      <dgm:t>
        <a:bodyPr/>
        <a:lstStyle/>
        <a:p>
          <a:r>
            <a:rPr lang="es-VE" sz="1800" b="1" dirty="0" smtClean="0">
              <a:solidFill>
                <a:schemeClr val="tx1"/>
              </a:solidFill>
            </a:rPr>
            <a:t>Oficial de Cumplimiento</a:t>
          </a:r>
          <a:endParaRPr lang="es-VE" sz="1800" b="1" dirty="0">
            <a:solidFill>
              <a:schemeClr val="tx1"/>
            </a:solidFill>
          </a:endParaRPr>
        </a:p>
      </dgm:t>
    </dgm:pt>
    <dgm:pt modelId="{03BB7D28-A4DE-4212-96DA-950E1DA9CA35}" type="parTrans" cxnId="{3D267F85-A9BE-4C7B-9171-B6AF6808A78D}">
      <dgm:prSet/>
      <dgm:spPr/>
      <dgm:t>
        <a:bodyPr/>
        <a:lstStyle/>
        <a:p>
          <a:endParaRPr lang="es-VE"/>
        </a:p>
      </dgm:t>
    </dgm:pt>
    <dgm:pt modelId="{2C883B29-3960-4B71-859B-B688ADC336C4}" type="sibTrans" cxnId="{3D267F85-A9BE-4C7B-9171-B6AF6808A78D}">
      <dgm:prSet/>
      <dgm:spPr/>
      <dgm:t>
        <a:bodyPr/>
        <a:lstStyle/>
        <a:p>
          <a:endParaRPr lang="es-VE"/>
        </a:p>
      </dgm:t>
    </dgm:pt>
    <dgm:pt modelId="{153B0E9A-FA13-4B36-8A23-9AC166F95896}">
      <dgm:prSet phldrT="[Texto]" custT="1"/>
      <dgm:spPr>
        <a:solidFill>
          <a:schemeClr val="bg1"/>
        </a:solidFill>
        <a:ln>
          <a:solidFill>
            <a:schemeClr val="accent5"/>
          </a:solidFill>
        </a:ln>
      </dgm:spPr>
      <dgm:t>
        <a:bodyPr/>
        <a:lstStyle/>
        <a:p>
          <a:r>
            <a:rPr lang="es-VE" sz="1600" b="1" dirty="0" smtClean="0">
              <a:solidFill>
                <a:schemeClr val="tx1"/>
              </a:solidFill>
            </a:rPr>
            <a:t>Unidad de Administración de Riesgos de Legitimación de Capitales, Financiamiento al Terrorismo y Financiamiento de la Proliferación de Armas de Destrucción Masiva</a:t>
          </a:r>
          <a:endParaRPr lang="es-VE" sz="1600" b="1" dirty="0">
            <a:solidFill>
              <a:schemeClr val="tx1"/>
            </a:solidFill>
          </a:endParaRPr>
        </a:p>
      </dgm:t>
    </dgm:pt>
    <dgm:pt modelId="{E170D7C8-6714-4A84-B36A-6714E3744199}" type="parTrans" cxnId="{732F7E7C-2FFE-47ED-905B-A659D39273BA}">
      <dgm:prSet/>
      <dgm:spPr/>
      <dgm:t>
        <a:bodyPr/>
        <a:lstStyle/>
        <a:p>
          <a:endParaRPr lang="es-VE"/>
        </a:p>
      </dgm:t>
    </dgm:pt>
    <dgm:pt modelId="{E4D51A63-B358-44C1-9A17-BEF077012CFA}" type="sibTrans" cxnId="{732F7E7C-2FFE-47ED-905B-A659D39273BA}">
      <dgm:prSet/>
      <dgm:spPr/>
      <dgm:t>
        <a:bodyPr/>
        <a:lstStyle/>
        <a:p>
          <a:endParaRPr lang="es-VE"/>
        </a:p>
      </dgm:t>
    </dgm:pt>
    <dgm:pt modelId="{FC1D5CB1-060A-45E4-B1EF-44A1C64D4A76}">
      <dgm:prSet phldrT="[Texto]" custT="1"/>
      <dgm:spPr>
        <a:solidFill>
          <a:schemeClr val="bg1"/>
        </a:solidFill>
        <a:ln>
          <a:solidFill>
            <a:schemeClr val="accent5"/>
          </a:solidFill>
        </a:ln>
      </dgm:spPr>
      <dgm:t>
        <a:bodyPr/>
        <a:lstStyle/>
        <a:p>
          <a:r>
            <a:rPr lang="es-VE" sz="1800" b="1" dirty="0" smtClean="0">
              <a:solidFill>
                <a:schemeClr val="tx1"/>
              </a:solidFill>
            </a:rPr>
            <a:t>Responsables de Cumplimiento</a:t>
          </a:r>
          <a:endParaRPr lang="es-VE" sz="1800" b="1" dirty="0">
            <a:solidFill>
              <a:schemeClr val="tx1"/>
            </a:solidFill>
          </a:endParaRPr>
        </a:p>
      </dgm:t>
    </dgm:pt>
    <dgm:pt modelId="{0936617F-FC5D-467E-8B6C-4A1E60C931DD}" type="parTrans" cxnId="{B100D86D-B914-4CF3-9335-3413E173488C}">
      <dgm:prSet/>
      <dgm:spPr/>
      <dgm:t>
        <a:bodyPr/>
        <a:lstStyle/>
        <a:p>
          <a:endParaRPr lang="es-VE"/>
        </a:p>
      </dgm:t>
    </dgm:pt>
    <dgm:pt modelId="{8C9AF6C4-582F-4AC4-BC44-EC662C718854}" type="sibTrans" cxnId="{B100D86D-B914-4CF3-9335-3413E173488C}">
      <dgm:prSet/>
      <dgm:spPr/>
      <dgm:t>
        <a:bodyPr/>
        <a:lstStyle/>
        <a:p>
          <a:endParaRPr lang="es-VE"/>
        </a:p>
      </dgm:t>
    </dgm:pt>
    <dgm:pt modelId="{B73E6FBB-A3F5-40F6-AC26-9727D7A09004}">
      <dgm:prSet phldrT="[Texto]" custT="1"/>
      <dgm:spPr>
        <a:solidFill>
          <a:schemeClr val="bg1"/>
        </a:solidFill>
        <a:ln>
          <a:solidFill>
            <a:schemeClr val="accent5"/>
          </a:solidFill>
        </a:ln>
      </dgm:spPr>
      <dgm:t>
        <a:bodyPr/>
        <a:lstStyle/>
        <a:p>
          <a:r>
            <a:rPr lang="es-VE" sz="1800" b="1" dirty="0" smtClean="0">
              <a:solidFill>
                <a:schemeClr val="tx1"/>
              </a:solidFill>
            </a:rPr>
            <a:t>Empleado</a:t>
          </a:r>
          <a:endParaRPr lang="es-VE" sz="1800" b="1" dirty="0">
            <a:solidFill>
              <a:schemeClr val="tx1"/>
            </a:solidFill>
          </a:endParaRPr>
        </a:p>
      </dgm:t>
    </dgm:pt>
    <dgm:pt modelId="{FF50FFBE-21F7-4209-9BC5-9B83C7DB3A09}" type="parTrans" cxnId="{FDC6C1CE-C211-42CC-BB26-63250E5D698A}">
      <dgm:prSet/>
      <dgm:spPr/>
      <dgm:t>
        <a:bodyPr/>
        <a:lstStyle/>
        <a:p>
          <a:endParaRPr lang="es-VE"/>
        </a:p>
      </dgm:t>
    </dgm:pt>
    <dgm:pt modelId="{ADC85F3C-66F6-4D4D-A25C-92F0F6B404D6}" type="sibTrans" cxnId="{FDC6C1CE-C211-42CC-BB26-63250E5D698A}">
      <dgm:prSet/>
      <dgm:spPr/>
      <dgm:t>
        <a:bodyPr/>
        <a:lstStyle/>
        <a:p>
          <a:endParaRPr lang="es-VE"/>
        </a:p>
      </dgm:t>
    </dgm:pt>
    <dgm:pt modelId="{B69024B4-17DD-4D78-A2EF-CBE63B07A9E7}" type="pres">
      <dgm:prSet presAssocID="{562CA633-3764-4DD5-BFF3-0C22B5BBE90C}" presName="Name0" presStyleCnt="0">
        <dgm:presLayoutVars>
          <dgm:dir/>
          <dgm:resizeHandles val="exact"/>
        </dgm:presLayoutVars>
      </dgm:prSet>
      <dgm:spPr/>
      <dgm:t>
        <a:bodyPr/>
        <a:lstStyle/>
        <a:p>
          <a:endParaRPr lang="es-VE"/>
        </a:p>
      </dgm:t>
    </dgm:pt>
    <dgm:pt modelId="{BF1C741B-4D5F-458A-BF0D-D4002FD6BC58}" type="pres">
      <dgm:prSet presAssocID="{562CA633-3764-4DD5-BFF3-0C22B5BBE90C}" presName="cycle" presStyleCnt="0"/>
      <dgm:spPr/>
    </dgm:pt>
    <dgm:pt modelId="{4657E027-AA6E-4DD3-AD22-85DE7C3C4A40}" type="pres">
      <dgm:prSet presAssocID="{FEF47177-2ADB-47D6-A77B-68234061A04D}" presName="nodeFirstNode" presStyleLbl="node1" presStyleIdx="0" presStyleCnt="6" custScaleX="265262" custRadScaleRad="100414" custRadScaleInc="-8441">
        <dgm:presLayoutVars>
          <dgm:bulletEnabled val="1"/>
        </dgm:presLayoutVars>
      </dgm:prSet>
      <dgm:spPr/>
      <dgm:t>
        <a:bodyPr/>
        <a:lstStyle/>
        <a:p>
          <a:endParaRPr lang="es-VE"/>
        </a:p>
      </dgm:t>
    </dgm:pt>
    <dgm:pt modelId="{E4E1FE3D-AADE-405D-AF93-23AE0337FCB5}" type="pres">
      <dgm:prSet presAssocID="{F7BAE57C-4F78-4EB3-B36D-7129E3058DF6}" presName="sibTransFirstNode" presStyleLbl="bgShp" presStyleIdx="0" presStyleCnt="1"/>
      <dgm:spPr/>
      <dgm:t>
        <a:bodyPr/>
        <a:lstStyle/>
        <a:p>
          <a:endParaRPr lang="es-VE"/>
        </a:p>
      </dgm:t>
    </dgm:pt>
    <dgm:pt modelId="{93451AD5-A44D-438A-8319-5128217B96B7}" type="pres">
      <dgm:prSet presAssocID="{8CC42EEB-0FE6-4C13-9423-737EC3476A6A}" presName="nodeFollowingNodes" presStyleLbl="node1" presStyleIdx="1" presStyleCnt="6" custScaleX="199203" custRadScaleRad="96147" custRadScaleInc="-9232">
        <dgm:presLayoutVars>
          <dgm:bulletEnabled val="1"/>
        </dgm:presLayoutVars>
      </dgm:prSet>
      <dgm:spPr/>
      <dgm:t>
        <a:bodyPr/>
        <a:lstStyle/>
        <a:p>
          <a:endParaRPr lang="es-VE"/>
        </a:p>
      </dgm:t>
    </dgm:pt>
    <dgm:pt modelId="{DF4B6D6B-E509-401A-8B57-0F9C41476944}" type="pres">
      <dgm:prSet presAssocID="{E71036E0-96B4-4C4A-8A4C-8BA17701801B}" presName="nodeFollowingNodes" presStyleLbl="node1" presStyleIdx="2" presStyleCnt="6" custScaleX="199203" custRadScaleRad="91017" custRadScaleInc="-437">
        <dgm:presLayoutVars>
          <dgm:bulletEnabled val="1"/>
        </dgm:presLayoutVars>
      </dgm:prSet>
      <dgm:spPr/>
      <dgm:t>
        <a:bodyPr/>
        <a:lstStyle/>
        <a:p>
          <a:endParaRPr lang="es-VE"/>
        </a:p>
      </dgm:t>
    </dgm:pt>
    <dgm:pt modelId="{C1092D7C-5775-4178-B152-44D0A78B0C43}" type="pres">
      <dgm:prSet presAssocID="{153B0E9A-FA13-4B36-8A23-9AC166F95896}" presName="nodeFollowingNodes" presStyleLbl="node1" presStyleIdx="3" presStyleCnt="6" custScaleX="256377" custScaleY="164602" custRadScaleRad="95502" custRadScaleInc="8877">
        <dgm:presLayoutVars>
          <dgm:bulletEnabled val="1"/>
        </dgm:presLayoutVars>
      </dgm:prSet>
      <dgm:spPr/>
      <dgm:t>
        <a:bodyPr/>
        <a:lstStyle/>
        <a:p>
          <a:endParaRPr lang="es-VE"/>
        </a:p>
      </dgm:t>
    </dgm:pt>
    <dgm:pt modelId="{9A4D4DA4-F731-4025-9967-71D9BBDBDA76}" type="pres">
      <dgm:prSet presAssocID="{FC1D5CB1-060A-45E4-B1EF-44A1C64D4A76}" presName="nodeFollowingNodes" presStyleLbl="node1" presStyleIdx="4" presStyleCnt="6" custScaleX="199203" custRadScaleRad="104486" custRadScaleInc="8494">
        <dgm:presLayoutVars>
          <dgm:bulletEnabled val="1"/>
        </dgm:presLayoutVars>
      </dgm:prSet>
      <dgm:spPr/>
      <dgm:t>
        <a:bodyPr/>
        <a:lstStyle/>
        <a:p>
          <a:endParaRPr lang="es-VE"/>
        </a:p>
      </dgm:t>
    </dgm:pt>
    <dgm:pt modelId="{4B333825-0EBD-43BE-9C77-9EE87BA9675E}" type="pres">
      <dgm:prSet presAssocID="{B73E6FBB-A3F5-40F6-AC26-9727D7A09004}" presName="nodeFollowingNodes" presStyleLbl="node1" presStyleIdx="5" presStyleCnt="6" custScaleX="199203" custRadScaleRad="108984" custRadScaleInc="365">
        <dgm:presLayoutVars>
          <dgm:bulletEnabled val="1"/>
        </dgm:presLayoutVars>
      </dgm:prSet>
      <dgm:spPr/>
      <dgm:t>
        <a:bodyPr/>
        <a:lstStyle/>
        <a:p>
          <a:endParaRPr lang="es-VE"/>
        </a:p>
      </dgm:t>
    </dgm:pt>
  </dgm:ptLst>
  <dgm:cxnLst>
    <dgm:cxn modelId="{50C20860-9145-4653-BB40-3132EE7A8C7D}" type="presOf" srcId="{562CA633-3764-4DD5-BFF3-0C22B5BBE90C}" destId="{B69024B4-17DD-4D78-A2EF-CBE63B07A9E7}" srcOrd="0" destOrd="0" presId="urn:microsoft.com/office/officeart/2005/8/layout/cycle3"/>
    <dgm:cxn modelId="{E4B954E9-5E04-4BFD-93B1-FD8DC346E78A}" srcId="{562CA633-3764-4DD5-BFF3-0C22B5BBE90C}" destId="{8CC42EEB-0FE6-4C13-9423-737EC3476A6A}" srcOrd="1" destOrd="0" parTransId="{786BF385-E2A2-4380-81B4-7A487211688B}" sibTransId="{19CE0A28-F95E-4258-A6BA-3B98200C4EDC}"/>
    <dgm:cxn modelId="{1170B63D-6DD5-4C4C-B8EA-EA7053FA1790}" type="presOf" srcId="{153B0E9A-FA13-4B36-8A23-9AC166F95896}" destId="{C1092D7C-5775-4178-B152-44D0A78B0C43}" srcOrd="0" destOrd="0" presId="urn:microsoft.com/office/officeart/2005/8/layout/cycle3"/>
    <dgm:cxn modelId="{732F7E7C-2FFE-47ED-905B-A659D39273BA}" srcId="{562CA633-3764-4DD5-BFF3-0C22B5BBE90C}" destId="{153B0E9A-FA13-4B36-8A23-9AC166F95896}" srcOrd="3" destOrd="0" parTransId="{E170D7C8-6714-4A84-B36A-6714E3744199}" sibTransId="{E4D51A63-B358-44C1-9A17-BEF077012CFA}"/>
    <dgm:cxn modelId="{293EB9C8-B6F2-4855-A256-6A4CBC7C54D9}" type="presOf" srcId="{8CC42EEB-0FE6-4C13-9423-737EC3476A6A}" destId="{93451AD5-A44D-438A-8319-5128217B96B7}" srcOrd="0" destOrd="0" presId="urn:microsoft.com/office/officeart/2005/8/layout/cycle3"/>
    <dgm:cxn modelId="{84E66DA5-6898-4C30-9129-6EF1403C7955}" srcId="{562CA633-3764-4DD5-BFF3-0C22B5BBE90C}" destId="{FEF47177-2ADB-47D6-A77B-68234061A04D}" srcOrd="0" destOrd="0" parTransId="{D69F7692-6141-420D-8032-8C951300BC99}" sibTransId="{F7BAE57C-4F78-4EB3-B36D-7129E3058DF6}"/>
    <dgm:cxn modelId="{DF3F73B6-7D96-4F68-A99B-7280DC016673}" type="presOf" srcId="{F7BAE57C-4F78-4EB3-B36D-7129E3058DF6}" destId="{E4E1FE3D-AADE-405D-AF93-23AE0337FCB5}" srcOrd="0" destOrd="0" presId="urn:microsoft.com/office/officeart/2005/8/layout/cycle3"/>
    <dgm:cxn modelId="{1B0903A0-9F67-4D4D-B889-DBA697BB85A7}" type="presOf" srcId="{B73E6FBB-A3F5-40F6-AC26-9727D7A09004}" destId="{4B333825-0EBD-43BE-9C77-9EE87BA9675E}" srcOrd="0" destOrd="0" presId="urn:microsoft.com/office/officeart/2005/8/layout/cycle3"/>
    <dgm:cxn modelId="{FDC6C1CE-C211-42CC-BB26-63250E5D698A}" srcId="{562CA633-3764-4DD5-BFF3-0C22B5BBE90C}" destId="{B73E6FBB-A3F5-40F6-AC26-9727D7A09004}" srcOrd="5" destOrd="0" parTransId="{FF50FFBE-21F7-4209-9BC5-9B83C7DB3A09}" sibTransId="{ADC85F3C-66F6-4D4D-A25C-92F0F6B404D6}"/>
    <dgm:cxn modelId="{58664777-43E8-4618-AE13-D933F8BD5736}" type="presOf" srcId="{FC1D5CB1-060A-45E4-B1EF-44A1C64D4A76}" destId="{9A4D4DA4-F731-4025-9967-71D9BBDBDA76}" srcOrd="0" destOrd="0" presId="urn:microsoft.com/office/officeart/2005/8/layout/cycle3"/>
    <dgm:cxn modelId="{B100D86D-B914-4CF3-9335-3413E173488C}" srcId="{562CA633-3764-4DD5-BFF3-0C22B5BBE90C}" destId="{FC1D5CB1-060A-45E4-B1EF-44A1C64D4A76}" srcOrd="4" destOrd="0" parTransId="{0936617F-FC5D-467E-8B6C-4A1E60C931DD}" sibTransId="{8C9AF6C4-582F-4AC4-BC44-EC662C718854}"/>
    <dgm:cxn modelId="{A9E7548B-16DF-4EE6-A4E0-A31F0AFD8F15}" type="presOf" srcId="{E71036E0-96B4-4C4A-8A4C-8BA17701801B}" destId="{DF4B6D6B-E509-401A-8B57-0F9C41476944}" srcOrd="0" destOrd="0" presId="urn:microsoft.com/office/officeart/2005/8/layout/cycle3"/>
    <dgm:cxn modelId="{3D267F85-A9BE-4C7B-9171-B6AF6808A78D}" srcId="{562CA633-3764-4DD5-BFF3-0C22B5BBE90C}" destId="{E71036E0-96B4-4C4A-8A4C-8BA17701801B}" srcOrd="2" destOrd="0" parTransId="{03BB7D28-A4DE-4212-96DA-950E1DA9CA35}" sibTransId="{2C883B29-3960-4B71-859B-B688ADC336C4}"/>
    <dgm:cxn modelId="{2899B679-E394-4B34-A30A-8D26DD4CF7C1}" type="presOf" srcId="{FEF47177-2ADB-47D6-A77B-68234061A04D}" destId="{4657E027-AA6E-4DD3-AD22-85DE7C3C4A40}" srcOrd="0" destOrd="0" presId="urn:microsoft.com/office/officeart/2005/8/layout/cycle3"/>
    <dgm:cxn modelId="{A6D42C13-1327-412C-B93F-58C264FAF42E}" type="presParOf" srcId="{B69024B4-17DD-4D78-A2EF-CBE63B07A9E7}" destId="{BF1C741B-4D5F-458A-BF0D-D4002FD6BC58}" srcOrd="0" destOrd="0" presId="urn:microsoft.com/office/officeart/2005/8/layout/cycle3"/>
    <dgm:cxn modelId="{0D29E2A7-E51A-4DF6-9817-BA21CD5E807D}" type="presParOf" srcId="{BF1C741B-4D5F-458A-BF0D-D4002FD6BC58}" destId="{4657E027-AA6E-4DD3-AD22-85DE7C3C4A40}" srcOrd="0" destOrd="0" presId="urn:microsoft.com/office/officeart/2005/8/layout/cycle3"/>
    <dgm:cxn modelId="{5D513BFE-0FFD-4844-9BD5-267616B5CEE5}" type="presParOf" srcId="{BF1C741B-4D5F-458A-BF0D-D4002FD6BC58}" destId="{E4E1FE3D-AADE-405D-AF93-23AE0337FCB5}" srcOrd="1" destOrd="0" presId="urn:microsoft.com/office/officeart/2005/8/layout/cycle3"/>
    <dgm:cxn modelId="{A1921D04-86A4-429C-B1CC-E8FF731A9A04}" type="presParOf" srcId="{BF1C741B-4D5F-458A-BF0D-D4002FD6BC58}" destId="{93451AD5-A44D-438A-8319-5128217B96B7}" srcOrd="2" destOrd="0" presId="urn:microsoft.com/office/officeart/2005/8/layout/cycle3"/>
    <dgm:cxn modelId="{6F4D198E-3E31-43C5-9764-3F7518592103}" type="presParOf" srcId="{BF1C741B-4D5F-458A-BF0D-D4002FD6BC58}" destId="{DF4B6D6B-E509-401A-8B57-0F9C41476944}" srcOrd="3" destOrd="0" presId="urn:microsoft.com/office/officeart/2005/8/layout/cycle3"/>
    <dgm:cxn modelId="{0D5BBB39-C566-4E42-9E85-7DAD6FE679F4}" type="presParOf" srcId="{BF1C741B-4D5F-458A-BF0D-D4002FD6BC58}" destId="{C1092D7C-5775-4178-B152-44D0A78B0C43}" srcOrd="4" destOrd="0" presId="urn:microsoft.com/office/officeart/2005/8/layout/cycle3"/>
    <dgm:cxn modelId="{E50EDE34-1B5D-4A5E-8343-B674D9736421}" type="presParOf" srcId="{BF1C741B-4D5F-458A-BF0D-D4002FD6BC58}" destId="{9A4D4DA4-F731-4025-9967-71D9BBDBDA76}" srcOrd="5" destOrd="0" presId="urn:microsoft.com/office/officeart/2005/8/layout/cycle3"/>
    <dgm:cxn modelId="{084E8F4F-B15A-4389-856B-EE6777499475}" type="presParOf" srcId="{BF1C741B-4D5F-458A-BF0D-D4002FD6BC58}" destId="{4B333825-0EBD-43BE-9C77-9EE87BA9675E}" srcOrd="6" destOrd="0" presId="urn:microsoft.com/office/officeart/2005/8/layout/cycle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57709CA-F57F-4026-97A5-AF315C2440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A89CC551-83DB-4E3E-BD3D-BBC0987487B2}">
      <dgm:prSet phldrT="[Texto]"/>
      <dgm:spPr>
        <a:solidFill>
          <a:schemeClr val="bg1"/>
        </a:solidFill>
        <a:ln>
          <a:solidFill>
            <a:schemeClr val="accent5"/>
          </a:solidFill>
        </a:ln>
      </dgm:spPr>
      <dgm:t>
        <a:bodyPr/>
        <a:lstStyle/>
        <a:p>
          <a:pPr algn="just"/>
          <a:r>
            <a:rPr lang="es-VE" b="1" dirty="0" smtClean="0">
              <a:solidFill>
                <a:schemeClr val="tx1"/>
              </a:solidFill>
            </a:rPr>
            <a:t>La Unidad Nacional de Inteligencia Financiera es la encargada de centralizar, procesar y analizar los Reportes de Actividades Sospechosas (RAS) remitidos por los distintos sujetos obligados designados por la Ley Orgánica Contra la Delincuencia Organizada y Financiamiento al Terrorismo .</a:t>
          </a:r>
          <a:endParaRPr lang="es-VE" b="1" dirty="0">
            <a:solidFill>
              <a:schemeClr val="tx1"/>
            </a:solidFill>
          </a:endParaRPr>
        </a:p>
      </dgm:t>
    </dgm:pt>
    <dgm:pt modelId="{CA0F08B6-2031-4F9F-B323-DF497033E07C}" type="parTrans" cxnId="{7EE81A3B-DCDB-4049-80A5-84A78DF1F0B5}">
      <dgm:prSet/>
      <dgm:spPr/>
      <dgm:t>
        <a:bodyPr/>
        <a:lstStyle/>
        <a:p>
          <a:endParaRPr lang="es-VE"/>
        </a:p>
      </dgm:t>
    </dgm:pt>
    <dgm:pt modelId="{B75B2825-339A-44E6-A6A6-BF179EB0B7EE}" type="sibTrans" cxnId="{7EE81A3B-DCDB-4049-80A5-84A78DF1F0B5}">
      <dgm:prSet/>
      <dgm:spPr/>
      <dgm:t>
        <a:bodyPr/>
        <a:lstStyle/>
        <a:p>
          <a:endParaRPr lang="es-VE"/>
        </a:p>
      </dgm:t>
    </dgm:pt>
    <dgm:pt modelId="{B687231C-C8CA-42D9-8CFD-88F85A00A89C}">
      <dgm:prSet phldrT="[Texto]" custT="1">
        <dgm:style>
          <a:lnRef idx="1">
            <a:schemeClr val="accent1"/>
          </a:lnRef>
          <a:fillRef idx="2">
            <a:schemeClr val="accent1"/>
          </a:fillRef>
          <a:effectRef idx="1">
            <a:schemeClr val="accent1"/>
          </a:effectRef>
          <a:fontRef idx="minor">
            <a:schemeClr val="dk1"/>
          </a:fontRef>
        </dgm:style>
      </dgm:prSet>
      <dgm:spPr>
        <a:solidFill>
          <a:schemeClr val="bg1"/>
        </a:solidFill>
      </dgm:spPr>
      <dgm:t>
        <a:bodyPr/>
        <a:lstStyle/>
        <a:p>
          <a:pPr algn="just"/>
          <a:r>
            <a:rPr lang="es-VE" sz="1500" b="1" dirty="0" smtClean="0"/>
            <a:t> Con el fin de revelar al Ministerio Público y autoridades de Orden Público, información que pueda evidenciar la posible comisión de hechos punibles y la identificación de sus autores y partícipes, si fuere el caso; así como, la información que requieran para realizar sus investigaciones.</a:t>
          </a:r>
          <a:endParaRPr lang="es-VE" sz="1500" b="1" dirty="0"/>
        </a:p>
      </dgm:t>
    </dgm:pt>
    <dgm:pt modelId="{36E0ECA5-A082-4A97-A2D2-7DB6C5E7BC23}" type="parTrans" cxnId="{14B7FD25-7A84-4F66-AC3D-2125DF6C2B07}">
      <dgm:prSet/>
      <dgm:spPr/>
      <dgm:t>
        <a:bodyPr/>
        <a:lstStyle/>
        <a:p>
          <a:endParaRPr lang="es-VE"/>
        </a:p>
      </dgm:t>
    </dgm:pt>
    <dgm:pt modelId="{91C75434-F435-4976-857D-D0C97EE6FA09}" type="sibTrans" cxnId="{14B7FD25-7A84-4F66-AC3D-2125DF6C2B07}">
      <dgm:prSet/>
      <dgm:spPr/>
      <dgm:t>
        <a:bodyPr/>
        <a:lstStyle/>
        <a:p>
          <a:endParaRPr lang="es-VE"/>
        </a:p>
      </dgm:t>
    </dgm:pt>
    <dgm:pt modelId="{7BA971E9-1E57-49CB-9867-CF35417E0989}">
      <dgm:prSet phldrT="[Texto]"/>
      <dgm:spPr>
        <a:solidFill>
          <a:schemeClr val="bg1"/>
        </a:solidFill>
        <a:ln>
          <a:solidFill>
            <a:schemeClr val="accent5"/>
          </a:solidFill>
        </a:ln>
      </dgm:spPr>
      <dgm:t>
        <a:bodyPr/>
        <a:lstStyle/>
        <a:p>
          <a:r>
            <a:rPr lang="es-VE" b="1" dirty="0" smtClean="0">
              <a:solidFill>
                <a:schemeClr val="tx1"/>
              </a:solidFill>
            </a:rPr>
            <a:t>De igual manera, en el ejercicio de sus funciones procesará y revelará información de importancia estratégica de naturaleza administrativa de utilidad para la Oficina Nacional Contra la Delincuencia Organizada y Financiamiento al Terrorismo, Entes </a:t>
          </a:r>
          <a:endParaRPr lang="es-VE" b="1" dirty="0">
            <a:solidFill>
              <a:schemeClr val="tx1"/>
            </a:solidFill>
          </a:endParaRPr>
        </a:p>
      </dgm:t>
    </dgm:pt>
    <dgm:pt modelId="{2F408562-A307-415D-9CE3-1554475A21CC}" type="parTrans" cxnId="{1EF0126C-1BFB-4598-A834-4E561F00D602}">
      <dgm:prSet/>
      <dgm:spPr/>
      <dgm:t>
        <a:bodyPr/>
        <a:lstStyle/>
        <a:p>
          <a:endParaRPr lang="es-VE"/>
        </a:p>
      </dgm:t>
    </dgm:pt>
    <dgm:pt modelId="{26C59A07-FD6A-4FCA-B7FF-D27647B3304A}" type="sibTrans" cxnId="{1EF0126C-1BFB-4598-A834-4E561F00D602}">
      <dgm:prSet/>
      <dgm:spPr/>
      <dgm:t>
        <a:bodyPr/>
        <a:lstStyle/>
        <a:p>
          <a:endParaRPr lang="es-VE"/>
        </a:p>
      </dgm:t>
    </dgm:pt>
    <dgm:pt modelId="{4A04413D-899A-44E4-840D-37F79611DE92}" type="pres">
      <dgm:prSet presAssocID="{857709CA-F57F-4026-97A5-AF315C244018}" presName="linear" presStyleCnt="0">
        <dgm:presLayoutVars>
          <dgm:animLvl val="lvl"/>
          <dgm:resizeHandles val="exact"/>
        </dgm:presLayoutVars>
      </dgm:prSet>
      <dgm:spPr/>
      <dgm:t>
        <a:bodyPr/>
        <a:lstStyle/>
        <a:p>
          <a:endParaRPr lang="es-VE"/>
        </a:p>
      </dgm:t>
    </dgm:pt>
    <dgm:pt modelId="{46E5071B-0066-4573-BABE-847C2FC00914}" type="pres">
      <dgm:prSet presAssocID="{A89CC551-83DB-4E3E-BD3D-BBC0987487B2}" presName="parentText" presStyleLbl="node1" presStyleIdx="0" presStyleCnt="2" custLinFactNeighborY="-12931">
        <dgm:presLayoutVars>
          <dgm:chMax val="0"/>
          <dgm:bulletEnabled val="1"/>
        </dgm:presLayoutVars>
      </dgm:prSet>
      <dgm:spPr/>
      <dgm:t>
        <a:bodyPr/>
        <a:lstStyle/>
        <a:p>
          <a:endParaRPr lang="es-VE"/>
        </a:p>
      </dgm:t>
    </dgm:pt>
    <dgm:pt modelId="{654A0625-6533-4C61-9D8F-90F7C0E20F33}" type="pres">
      <dgm:prSet presAssocID="{A89CC551-83DB-4E3E-BD3D-BBC0987487B2}" presName="childText" presStyleLbl="revTx" presStyleIdx="0" presStyleCnt="1" custScaleY="126272" custLinFactNeighborY="-6839">
        <dgm:presLayoutVars>
          <dgm:bulletEnabled val="1"/>
        </dgm:presLayoutVars>
      </dgm:prSet>
      <dgm:spPr/>
      <dgm:t>
        <a:bodyPr/>
        <a:lstStyle/>
        <a:p>
          <a:endParaRPr lang="es-VE"/>
        </a:p>
      </dgm:t>
    </dgm:pt>
    <dgm:pt modelId="{94F35915-F470-4FBD-ACF3-C6563B365B52}" type="pres">
      <dgm:prSet presAssocID="{7BA971E9-1E57-49CB-9867-CF35417E0989}" presName="parentText" presStyleLbl="node1" presStyleIdx="1" presStyleCnt="2">
        <dgm:presLayoutVars>
          <dgm:chMax val="0"/>
          <dgm:bulletEnabled val="1"/>
        </dgm:presLayoutVars>
      </dgm:prSet>
      <dgm:spPr/>
      <dgm:t>
        <a:bodyPr/>
        <a:lstStyle/>
        <a:p>
          <a:endParaRPr lang="es-VE"/>
        </a:p>
      </dgm:t>
    </dgm:pt>
  </dgm:ptLst>
  <dgm:cxnLst>
    <dgm:cxn modelId="{1EF0126C-1BFB-4598-A834-4E561F00D602}" srcId="{857709CA-F57F-4026-97A5-AF315C244018}" destId="{7BA971E9-1E57-49CB-9867-CF35417E0989}" srcOrd="1" destOrd="0" parTransId="{2F408562-A307-415D-9CE3-1554475A21CC}" sibTransId="{26C59A07-FD6A-4FCA-B7FF-D27647B3304A}"/>
    <dgm:cxn modelId="{365B1E91-BB8D-4003-AD92-D744336E8889}" type="presOf" srcId="{7BA971E9-1E57-49CB-9867-CF35417E0989}" destId="{94F35915-F470-4FBD-ACF3-C6563B365B52}" srcOrd="0" destOrd="0" presId="urn:microsoft.com/office/officeart/2005/8/layout/vList2"/>
    <dgm:cxn modelId="{CA27B8A0-673F-466C-BC47-70158B98FCCC}" type="presOf" srcId="{A89CC551-83DB-4E3E-BD3D-BBC0987487B2}" destId="{46E5071B-0066-4573-BABE-847C2FC00914}" srcOrd="0" destOrd="0" presId="urn:microsoft.com/office/officeart/2005/8/layout/vList2"/>
    <dgm:cxn modelId="{8F1796E6-A6C4-4FA3-AC69-967EF9CF9D91}" type="presOf" srcId="{B687231C-C8CA-42D9-8CFD-88F85A00A89C}" destId="{654A0625-6533-4C61-9D8F-90F7C0E20F33}" srcOrd="0" destOrd="0" presId="urn:microsoft.com/office/officeart/2005/8/layout/vList2"/>
    <dgm:cxn modelId="{FFF3F8DF-6EEB-4488-8F7B-8CEA291CDE67}" type="presOf" srcId="{857709CA-F57F-4026-97A5-AF315C244018}" destId="{4A04413D-899A-44E4-840D-37F79611DE92}" srcOrd="0" destOrd="0" presId="urn:microsoft.com/office/officeart/2005/8/layout/vList2"/>
    <dgm:cxn modelId="{7EE81A3B-DCDB-4049-80A5-84A78DF1F0B5}" srcId="{857709CA-F57F-4026-97A5-AF315C244018}" destId="{A89CC551-83DB-4E3E-BD3D-BBC0987487B2}" srcOrd="0" destOrd="0" parTransId="{CA0F08B6-2031-4F9F-B323-DF497033E07C}" sibTransId="{B75B2825-339A-44E6-A6A6-BF179EB0B7EE}"/>
    <dgm:cxn modelId="{14B7FD25-7A84-4F66-AC3D-2125DF6C2B07}" srcId="{A89CC551-83DB-4E3E-BD3D-BBC0987487B2}" destId="{B687231C-C8CA-42D9-8CFD-88F85A00A89C}" srcOrd="0" destOrd="0" parTransId="{36E0ECA5-A082-4A97-A2D2-7DB6C5E7BC23}" sibTransId="{91C75434-F435-4976-857D-D0C97EE6FA09}"/>
    <dgm:cxn modelId="{2636D762-2DEA-4E28-97CC-C4E01EB92724}" type="presParOf" srcId="{4A04413D-899A-44E4-840D-37F79611DE92}" destId="{46E5071B-0066-4573-BABE-847C2FC00914}" srcOrd="0" destOrd="0" presId="urn:microsoft.com/office/officeart/2005/8/layout/vList2"/>
    <dgm:cxn modelId="{27B0619D-BB2A-4EA2-BA95-F139E624FB09}" type="presParOf" srcId="{4A04413D-899A-44E4-840D-37F79611DE92}" destId="{654A0625-6533-4C61-9D8F-90F7C0E20F33}" srcOrd="1" destOrd="0" presId="urn:microsoft.com/office/officeart/2005/8/layout/vList2"/>
    <dgm:cxn modelId="{84B55CE9-9191-4C40-9FBC-9474B048789B}" type="presParOf" srcId="{4A04413D-899A-44E4-840D-37F79611DE92}" destId="{94F35915-F470-4FBD-ACF3-C6563B365B52}" srcOrd="2" destOrd="0" presId="urn:microsoft.com/office/officeart/2005/8/layout/vList2"/>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C25817B-EA32-4E71-B32C-0CA647E97B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VE"/>
        </a:p>
      </dgm:t>
    </dgm:pt>
    <dgm:pt modelId="{B4F5F947-527A-4A8F-8DD4-767E2CA52318}">
      <dgm:prSet phldrT="[Texto]" custT="1"/>
      <dgm:spPr>
        <a:solidFill>
          <a:schemeClr val="bg1"/>
        </a:solidFill>
        <a:ln>
          <a:solidFill>
            <a:schemeClr val="accent5"/>
          </a:solidFill>
        </a:ln>
      </dgm:spPr>
      <dgm:t>
        <a:bodyPr/>
        <a:lstStyle/>
        <a:p>
          <a:r>
            <a:rPr kumimoji="0" lang="es-VE" sz="18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Para los documentos relativos a la identificación de clientes, intermediarios, reaseguradores o retrocesionarios, proveedores de servicio y relacionados, a partir del día en que finalice la relación comercial.</a:t>
          </a:r>
          <a:endParaRPr lang="es-VE" sz="1800" b="1" dirty="0"/>
        </a:p>
      </dgm:t>
    </dgm:pt>
    <dgm:pt modelId="{CBEE0A0E-BF07-4700-8B24-4327FA1B8E18}" type="parTrans" cxnId="{C16DE78E-32A9-4520-A88C-0046320BC54E}">
      <dgm:prSet/>
      <dgm:spPr/>
      <dgm:t>
        <a:bodyPr/>
        <a:lstStyle/>
        <a:p>
          <a:endParaRPr lang="es-VE"/>
        </a:p>
      </dgm:t>
    </dgm:pt>
    <dgm:pt modelId="{1E9D1E13-1466-4365-8E08-104C0C2ACEC3}" type="sibTrans" cxnId="{C16DE78E-32A9-4520-A88C-0046320BC54E}">
      <dgm:prSet/>
      <dgm:spPr/>
      <dgm:t>
        <a:bodyPr/>
        <a:lstStyle/>
        <a:p>
          <a:endParaRPr lang="es-VE"/>
        </a:p>
      </dgm:t>
    </dgm:pt>
    <dgm:pt modelId="{51B46528-4616-4DC9-B689-08ACA89E477C}">
      <dgm:prSet phldrT="[Texto]" custT="1">
        <dgm:style>
          <a:lnRef idx="1">
            <a:schemeClr val="accent1"/>
          </a:lnRef>
          <a:fillRef idx="2">
            <a:schemeClr val="accent1"/>
          </a:fillRef>
          <a:effectRef idx="1">
            <a:schemeClr val="accent1"/>
          </a:effectRef>
          <a:fontRef idx="minor">
            <a:schemeClr val="dk1"/>
          </a:fontRef>
        </dgm:style>
      </dgm:prSet>
      <dgm:spPr>
        <a:solidFill>
          <a:schemeClr val="bg1"/>
        </a:solidFill>
      </dgm:spPr>
      <dgm:t>
        <a:bodyPr/>
        <a:lstStyle/>
        <a:p>
          <a:r>
            <a:rPr kumimoji="0" lang="es-VE" sz="18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Para aquellos documentos que acrediten una operación, a      partir de la ejecución de ésta.</a:t>
          </a:r>
          <a:endParaRPr lang="es-VE" sz="1800" b="1" dirty="0"/>
        </a:p>
      </dgm:t>
    </dgm:pt>
    <dgm:pt modelId="{47326811-90C1-424E-B0A7-670B63F651A2}" type="parTrans" cxnId="{D451E5BD-9B2A-45C3-BB5E-3152F72EFF0B}">
      <dgm:prSet/>
      <dgm:spPr/>
      <dgm:t>
        <a:bodyPr/>
        <a:lstStyle/>
        <a:p>
          <a:endParaRPr lang="es-VE"/>
        </a:p>
      </dgm:t>
    </dgm:pt>
    <dgm:pt modelId="{6E16C599-4E44-4136-A9B7-954220CA13BB}" type="sibTrans" cxnId="{D451E5BD-9B2A-45C3-BB5E-3152F72EFF0B}">
      <dgm:prSet/>
      <dgm:spPr/>
      <dgm:t>
        <a:bodyPr/>
        <a:lstStyle/>
        <a:p>
          <a:endParaRPr lang="es-VE"/>
        </a:p>
      </dgm:t>
    </dgm:pt>
    <dgm:pt modelId="{1A0FF186-F3D2-4F91-AC8B-3A35AB00725B}">
      <dgm:prSet phldrT="[Texto]" custT="1"/>
      <dgm:spPr>
        <a:solidFill>
          <a:schemeClr val="bg1"/>
        </a:solidFill>
        <a:ln>
          <a:solidFill>
            <a:schemeClr val="accent5"/>
          </a:solidFill>
        </a:ln>
      </dgm:spPr>
      <dgm:t>
        <a:bodyPr/>
        <a:lstStyle/>
        <a:p>
          <a:r>
            <a:rPr kumimoji="0" lang="es-VE" sz="18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Para los reportes de actividades sospechosas, a partir de la    remisión del mismo.</a:t>
          </a:r>
          <a:endParaRPr lang="es-VE" sz="1800" b="1" dirty="0"/>
        </a:p>
      </dgm:t>
    </dgm:pt>
    <dgm:pt modelId="{B2FB23C2-C3B5-4BFF-90F8-432221C63832}" type="parTrans" cxnId="{F7BA6D27-AB39-41CE-95F0-E9DA41462374}">
      <dgm:prSet/>
      <dgm:spPr/>
      <dgm:t>
        <a:bodyPr/>
        <a:lstStyle/>
        <a:p>
          <a:endParaRPr lang="es-VE"/>
        </a:p>
      </dgm:t>
    </dgm:pt>
    <dgm:pt modelId="{47485F4D-0510-4596-8E00-2687031D78D6}" type="sibTrans" cxnId="{F7BA6D27-AB39-41CE-95F0-E9DA41462374}">
      <dgm:prSet/>
      <dgm:spPr/>
      <dgm:t>
        <a:bodyPr/>
        <a:lstStyle/>
        <a:p>
          <a:endParaRPr lang="es-VE"/>
        </a:p>
      </dgm:t>
    </dgm:pt>
    <dgm:pt modelId="{26085F64-7795-497D-A539-CBFBCD9DC699}">
      <dgm:prSet phldrT="[Texto]" custT="1">
        <dgm:style>
          <a:lnRef idx="1">
            <a:schemeClr val="accent1"/>
          </a:lnRef>
          <a:fillRef idx="2">
            <a:schemeClr val="accent1"/>
          </a:fillRef>
          <a:effectRef idx="1">
            <a:schemeClr val="accent1"/>
          </a:effectRef>
          <a:fontRef idx="minor">
            <a:schemeClr val="dk1"/>
          </a:fontRef>
        </dgm:style>
      </dgm:prSet>
      <dgm:spPr>
        <a:solidFill>
          <a:schemeClr val="bg1"/>
        </a:solidFill>
        <a:ln>
          <a:solidFill>
            <a:schemeClr val="accent5"/>
          </a:solidFill>
        </a:ln>
      </dgm:spPr>
      <dgm:t>
        <a:bodyPr/>
        <a:lstStyle/>
        <a:p>
          <a:r>
            <a:rPr kumimoji="0" lang="es-VE" sz="18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Para la correspondencia comercial, después de haber concluido la relación comercial</a:t>
          </a:r>
          <a:endParaRPr lang="es-VE" sz="1800" b="1" dirty="0"/>
        </a:p>
      </dgm:t>
    </dgm:pt>
    <dgm:pt modelId="{A3506DA4-CFE6-4F52-8CE8-94AFA2D07542}" type="parTrans" cxnId="{73B498B0-2956-4A04-A74E-853DE5671EB1}">
      <dgm:prSet/>
      <dgm:spPr/>
      <dgm:t>
        <a:bodyPr/>
        <a:lstStyle/>
        <a:p>
          <a:endParaRPr lang="es-VE"/>
        </a:p>
      </dgm:t>
    </dgm:pt>
    <dgm:pt modelId="{94F7C98E-FC8C-451B-A4D5-C69564129E25}" type="sibTrans" cxnId="{73B498B0-2956-4A04-A74E-853DE5671EB1}">
      <dgm:prSet/>
      <dgm:spPr/>
      <dgm:t>
        <a:bodyPr/>
        <a:lstStyle/>
        <a:p>
          <a:endParaRPr lang="es-VE"/>
        </a:p>
      </dgm:t>
    </dgm:pt>
    <dgm:pt modelId="{9AD0E184-832D-417E-AC42-9F7C70B7897E}" type="pres">
      <dgm:prSet presAssocID="{7C25817B-EA32-4E71-B32C-0CA647E97B71}" presName="linear" presStyleCnt="0">
        <dgm:presLayoutVars>
          <dgm:animLvl val="lvl"/>
          <dgm:resizeHandles val="exact"/>
        </dgm:presLayoutVars>
      </dgm:prSet>
      <dgm:spPr/>
      <dgm:t>
        <a:bodyPr/>
        <a:lstStyle/>
        <a:p>
          <a:endParaRPr lang="es-VE"/>
        </a:p>
      </dgm:t>
    </dgm:pt>
    <dgm:pt modelId="{061F1362-498C-495D-AF05-871EF3804A22}" type="pres">
      <dgm:prSet presAssocID="{B4F5F947-527A-4A8F-8DD4-767E2CA52318}" presName="parentText" presStyleLbl="node1" presStyleIdx="0" presStyleCnt="2">
        <dgm:presLayoutVars>
          <dgm:chMax val="0"/>
          <dgm:bulletEnabled val="1"/>
        </dgm:presLayoutVars>
      </dgm:prSet>
      <dgm:spPr/>
      <dgm:t>
        <a:bodyPr/>
        <a:lstStyle/>
        <a:p>
          <a:endParaRPr lang="es-VE"/>
        </a:p>
      </dgm:t>
    </dgm:pt>
    <dgm:pt modelId="{789261C1-C635-47AA-8835-DF3D7F5668CF}" type="pres">
      <dgm:prSet presAssocID="{B4F5F947-527A-4A8F-8DD4-767E2CA52318}" presName="childText" presStyleLbl="revTx" presStyleIdx="0" presStyleCnt="2">
        <dgm:presLayoutVars>
          <dgm:bulletEnabled val="1"/>
        </dgm:presLayoutVars>
      </dgm:prSet>
      <dgm:spPr/>
      <dgm:t>
        <a:bodyPr/>
        <a:lstStyle/>
        <a:p>
          <a:endParaRPr lang="es-VE"/>
        </a:p>
      </dgm:t>
    </dgm:pt>
    <dgm:pt modelId="{5AE45912-A669-4F9C-AF17-6CEF1F10EE69}" type="pres">
      <dgm:prSet presAssocID="{1A0FF186-F3D2-4F91-AC8B-3A35AB00725B}" presName="parentText" presStyleLbl="node1" presStyleIdx="1" presStyleCnt="2">
        <dgm:presLayoutVars>
          <dgm:chMax val="0"/>
          <dgm:bulletEnabled val="1"/>
        </dgm:presLayoutVars>
      </dgm:prSet>
      <dgm:spPr/>
      <dgm:t>
        <a:bodyPr/>
        <a:lstStyle/>
        <a:p>
          <a:endParaRPr lang="es-VE"/>
        </a:p>
      </dgm:t>
    </dgm:pt>
    <dgm:pt modelId="{DCE19646-4EE0-41CE-BF46-DB69FFDA6399}" type="pres">
      <dgm:prSet presAssocID="{1A0FF186-F3D2-4F91-AC8B-3A35AB00725B}" presName="childText" presStyleLbl="revTx" presStyleIdx="1" presStyleCnt="2">
        <dgm:presLayoutVars>
          <dgm:bulletEnabled val="1"/>
        </dgm:presLayoutVars>
      </dgm:prSet>
      <dgm:spPr/>
      <dgm:t>
        <a:bodyPr/>
        <a:lstStyle/>
        <a:p>
          <a:endParaRPr lang="es-VE"/>
        </a:p>
      </dgm:t>
    </dgm:pt>
  </dgm:ptLst>
  <dgm:cxnLst>
    <dgm:cxn modelId="{E329553A-8A40-47B6-8D23-74D91C4B984C}" type="presOf" srcId="{26085F64-7795-497D-A539-CBFBCD9DC699}" destId="{DCE19646-4EE0-41CE-BF46-DB69FFDA6399}" srcOrd="0" destOrd="0" presId="urn:microsoft.com/office/officeart/2005/8/layout/vList2"/>
    <dgm:cxn modelId="{AB304F24-C991-4467-B410-397C39663F3E}" type="presOf" srcId="{B4F5F947-527A-4A8F-8DD4-767E2CA52318}" destId="{061F1362-498C-495D-AF05-871EF3804A22}" srcOrd="0" destOrd="0" presId="urn:microsoft.com/office/officeart/2005/8/layout/vList2"/>
    <dgm:cxn modelId="{9A38EABD-62BA-422E-A618-71F8440E295B}" type="presOf" srcId="{51B46528-4616-4DC9-B689-08ACA89E477C}" destId="{789261C1-C635-47AA-8835-DF3D7F5668CF}" srcOrd="0" destOrd="0" presId="urn:microsoft.com/office/officeart/2005/8/layout/vList2"/>
    <dgm:cxn modelId="{C16DE78E-32A9-4520-A88C-0046320BC54E}" srcId="{7C25817B-EA32-4E71-B32C-0CA647E97B71}" destId="{B4F5F947-527A-4A8F-8DD4-767E2CA52318}" srcOrd="0" destOrd="0" parTransId="{CBEE0A0E-BF07-4700-8B24-4327FA1B8E18}" sibTransId="{1E9D1E13-1466-4365-8E08-104C0C2ACEC3}"/>
    <dgm:cxn modelId="{D451E5BD-9B2A-45C3-BB5E-3152F72EFF0B}" srcId="{B4F5F947-527A-4A8F-8DD4-767E2CA52318}" destId="{51B46528-4616-4DC9-B689-08ACA89E477C}" srcOrd="0" destOrd="0" parTransId="{47326811-90C1-424E-B0A7-670B63F651A2}" sibTransId="{6E16C599-4E44-4136-A9B7-954220CA13BB}"/>
    <dgm:cxn modelId="{F7BA6D27-AB39-41CE-95F0-E9DA41462374}" srcId="{7C25817B-EA32-4E71-B32C-0CA647E97B71}" destId="{1A0FF186-F3D2-4F91-AC8B-3A35AB00725B}" srcOrd="1" destOrd="0" parTransId="{B2FB23C2-C3B5-4BFF-90F8-432221C63832}" sibTransId="{47485F4D-0510-4596-8E00-2687031D78D6}"/>
    <dgm:cxn modelId="{D59440D8-677F-4DBC-BF5E-7884BD29416D}" type="presOf" srcId="{7C25817B-EA32-4E71-B32C-0CA647E97B71}" destId="{9AD0E184-832D-417E-AC42-9F7C70B7897E}" srcOrd="0" destOrd="0" presId="urn:microsoft.com/office/officeart/2005/8/layout/vList2"/>
    <dgm:cxn modelId="{EA9DD570-E64E-4087-AA30-A6E4CC7E3EF6}" type="presOf" srcId="{1A0FF186-F3D2-4F91-AC8B-3A35AB00725B}" destId="{5AE45912-A669-4F9C-AF17-6CEF1F10EE69}" srcOrd="0" destOrd="0" presId="urn:microsoft.com/office/officeart/2005/8/layout/vList2"/>
    <dgm:cxn modelId="{73B498B0-2956-4A04-A74E-853DE5671EB1}" srcId="{1A0FF186-F3D2-4F91-AC8B-3A35AB00725B}" destId="{26085F64-7795-497D-A539-CBFBCD9DC699}" srcOrd="0" destOrd="0" parTransId="{A3506DA4-CFE6-4F52-8CE8-94AFA2D07542}" sibTransId="{94F7C98E-FC8C-451B-A4D5-C69564129E25}"/>
    <dgm:cxn modelId="{706BE758-D5A6-4161-9633-92D1DC6727C7}" type="presParOf" srcId="{9AD0E184-832D-417E-AC42-9F7C70B7897E}" destId="{061F1362-498C-495D-AF05-871EF3804A22}" srcOrd="0" destOrd="0" presId="urn:microsoft.com/office/officeart/2005/8/layout/vList2"/>
    <dgm:cxn modelId="{86787461-A5A2-46C4-877B-36D7498F7CDD}" type="presParOf" srcId="{9AD0E184-832D-417E-AC42-9F7C70B7897E}" destId="{789261C1-C635-47AA-8835-DF3D7F5668CF}" srcOrd="1" destOrd="0" presId="urn:microsoft.com/office/officeart/2005/8/layout/vList2"/>
    <dgm:cxn modelId="{A2D1A55C-9311-4051-96C0-0620264E64E2}" type="presParOf" srcId="{9AD0E184-832D-417E-AC42-9F7C70B7897E}" destId="{5AE45912-A669-4F9C-AF17-6CEF1F10EE69}" srcOrd="2" destOrd="0" presId="urn:microsoft.com/office/officeart/2005/8/layout/vList2"/>
    <dgm:cxn modelId="{B80FF49C-C6D3-4D16-B36B-9DBAE81F59E5}" type="presParOf" srcId="{9AD0E184-832D-417E-AC42-9F7C70B7897E}" destId="{DCE19646-4EE0-41CE-BF46-DB69FFDA6399}" srcOrd="3"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283D3F2-858D-4214-BDE9-2995319AD0D5}">
      <dsp:nvSpPr>
        <dsp:cNvPr id="0" name=""/>
        <dsp:cNvSpPr/>
      </dsp:nvSpPr>
      <dsp:spPr>
        <a:xfrm>
          <a:off x="0" y="104936"/>
          <a:ext cx="6858048" cy="1663923"/>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a:lnSpc>
              <a:spcPct val="90000"/>
            </a:lnSpc>
            <a:spcBef>
              <a:spcPct val="0"/>
            </a:spcBef>
            <a:spcAft>
              <a:spcPct val="35000"/>
            </a:spcAft>
          </a:pPr>
          <a:r>
            <a:rPr lang="es-VE" sz="1800" b="1" kern="1200" dirty="0" smtClean="0">
              <a:solidFill>
                <a:schemeClr val="tx1"/>
              </a:solidFill>
            </a:rPr>
            <a:t>Elaborado de conformidad con la Providencia  N°        SAA-8-004-2021, de fecha 08 de febrero de 2021, emanada de la Superintendencia de la Actividad Aseguradora, y publicada en Gaceta Oficial Nº 42.128, de fecha 17 de mayo de 2.021.</a:t>
          </a:r>
          <a:endParaRPr lang="es-VE" sz="1800" kern="1200" dirty="0">
            <a:solidFill>
              <a:schemeClr val="tx1"/>
            </a:solidFill>
          </a:endParaRPr>
        </a:p>
      </dsp:txBody>
      <dsp:txXfrm>
        <a:off x="0" y="104936"/>
        <a:ext cx="6858048" cy="1663923"/>
      </dsp:txXfrm>
    </dsp:sp>
    <dsp:sp modelId="{1C584D9F-6582-4F64-AF07-2202FBFDC973}">
      <dsp:nvSpPr>
        <dsp:cNvPr id="0" name=""/>
        <dsp:cNvSpPr/>
      </dsp:nvSpPr>
      <dsp:spPr>
        <a:xfrm>
          <a:off x="0" y="1979967"/>
          <a:ext cx="6858048" cy="1126046"/>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a:lnSpc>
              <a:spcPct val="90000"/>
            </a:lnSpc>
            <a:spcBef>
              <a:spcPct val="0"/>
            </a:spcBef>
            <a:spcAft>
              <a:spcPct val="35000"/>
            </a:spcAft>
          </a:pPr>
          <a:r>
            <a:rPr lang="es-VE" sz="1800" b="1" kern="1200" dirty="0" smtClean="0">
              <a:solidFill>
                <a:schemeClr val="tx1"/>
              </a:solidFill>
            </a:rPr>
            <a:t>Contiene</a:t>
          </a:r>
          <a:r>
            <a:rPr lang="es-VE" sz="2000" b="1" kern="1200" dirty="0" smtClean="0">
              <a:solidFill>
                <a:schemeClr val="tx1"/>
              </a:solidFill>
            </a:rPr>
            <a:t> las “Normas sobre Administración de Riesgos de LC/FT/FPADM en la Actividad Aseguradora”, </a:t>
          </a:r>
          <a:endParaRPr lang="es-VE" sz="2000" kern="1200" dirty="0">
            <a:solidFill>
              <a:schemeClr val="tx1"/>
            </a:solidFill>
          </a:endParaRPr>
        </a:p>
      </dsp:txBody>
      <dsp:txXfrm>
        <a:off x="0" y="1979967"/>
        <a:ext cx="6858048" cy="1126046"/>
      </dsp:txXfrm>
    </dsp:sp>
    <dsp:sp modelId="{E49FC6E5-F480-4E74-8179-659409128E37}">
      <dsp:nvSpPr>
        <dsp:cNvPr id="0" name=""/>
        <dsp:cNvSpPr/>
      </dsp:nvSpPr>
      <dsp:spPr>
        <a:xfrm>
          <a:off x="0" y="3293214"/>
          <a:ext cx="6858048" cy="129285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s-VE" sz="1800" b="1" kern="1200" dirty="0" smtClean="0">
              <a:solidFill>
                <a:schemeClr val="tx1"/>
              </a:solidFill>
            </a:rPr>
            <a:t>Directrices emanadas de la Unidad Nacional de Inteligencia Financiera (UNIF). </a:t>
          </a:r>
          <a:endParaRPr lang="es-VE" sz="1800" kern="1200" dirty="0">
            <a:solidFill>
              <a:schemeClr val="tx1"/>
            </a:solidFill>
          </a:endParaRPr>
        </a:p>
      </dsp:txBody>
      <dsp:txXfrm>
        <a:off x="0" y="3293214"/>
        <a:ext cx="6858048" cy="129285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3CE9CE8-E211-4E27-8AF5-A14BF826F690}">
      <dsp:nvSpPr>
        <dsp:cNvPr id="0" name=""/>
        <dsp:cNvSpPr/>
      </dsp:nvSpPr>
      <dsp:spPr>
        <a:xfrm rot="16200000">
          <a:off x="-940982" y="942098"/>
          <a:ext cx="4786346" cy="2902148"/>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lvl="0" algn="l" defTabSz="889000">
            <a:lnSpc>
              <a:spcPct val="90000"/>
            </a:lnSpc>
            <a:spcBef>
              <a:spcPct val="0"/>
            </a:spcBef>
            <a:spcAft>
              <a:spcPct val="35000"/>
            </a:spcAft>
          </a:pPr>
          <a:r>
            <a:rPr lang="es-VE" sz="2000" b="1" kern="1200" dirty="0" smtClean="0">
              <a:solidFill>
                <a:schemeClr val="tx1"/>
              </a:solidFill>
            </a:rPr>
            <a:t>Finalidad</a:t>
          </a:r>
          <a:endParaRPr lang="es-VE" sz="20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Dar a conocer las </a:t>
          </a:r>
          <a:r>
            <a:rPr lang="es-VE" sz="1400" b="1" kern="1200" dirty="0" smtClean="0">
              <a:solidFill>
                <a:schemeClr val="accent1">
                  <a:lumMod val="50000"/>
                </a:schemeClr>
              </a:solidFill>
            </a:rPr>
            <a:t>obligaciones legales, procesos y actividades </a:t>
          </a:r>
          <a:r>
            <a:rPr lang="es-VE" sz="1400" b="1" kern="1200" dirty="0" smtClean="0">
              <a:solidFill>
                <a:schemeClr val="tx1"/>
              </a:solidFill>
            </a:rPr>
            <a:t>que deberá cumplir CLINISALUD MEDICINA PREPAGADA S.A., como sujeto obligado de la actividad aseguradora.  </a:t>
          </a:r>
          <a:endParaRPr lang="es-VE" sz="1400" kern="1200" dirty="0">
            <a:solidFill>
              <a:schemeClr val="tx1"/>
            </a:solidFill>
          </a:endParaRPr>
        </a:p>
      </dsp:txBody>
      <dsp:txXfrm rot="16200000">
        <a:off x="-940982" y="942098"/>
        <a:ext cx="4786346" cy="2902148"/>
      </dsp:txXfrm>
    </dsp:sp>
    <dsp:sp modelId="{99AB7950-624D-4BFC-BFEE-123CB9A6085D}">
      <dsp:nvSpPr>
        <dsp:cNvPr id="0" name=""/>
        <dsp:cNvSpPr/>
      </dsp:nvSpPr>
      <dsp:spPr>
        <a:xfrm rot="16200000">
          <a:off x="2178827" y="942098"/>
          <a:ext cx="4786346" cy="2902148"/>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lvl="0" algn="l" defTabSz="889000">
            <a:lnSpc>
              <a:spcPct val="90000"/>
            </a:lnSpc>
            <a:spcBef>
              <a:spcPct val="0"/>
            </a:spcBef>
            <a:spcAft>
              <a:spcPct val="35000"/>
            </a:spcAft>
          </a:pPr>
          <a:r>
            <a:rPr lang="es-VE" sz="2000" b="1" kern="1200" dirty="0" smtClean="0">
              <a:solidFill>
                <a:schemeClr val="tx1"/>
              </a:solidFill>
            </a:rPr>
            <a:t>Objetivo General</a:t>
          </a:r>
          <a:endParaRPr lang="es-VE" sz="20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Especifica los lineamientos de carácter normativo y procedimental.</a:t>
          </a:r>
          <a:endParaRPr lang="es-VE" sz="12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Basamento legal que rige los procesos administrativos, operativos y de gestión, referentes a la Administración de Riesgos de LC/FT/FPADM en CLINISALUD MEDICINA PREPAGADA, S.A</a:t>
          </a:r>
          <a:r>
            <a:rPr lang="es-VE" sz="1200" b="1" kern="1200" dirty="0" smtClean="0">
              <a:solidFill>
                <a:schemeClr val="tx1"/>
              </a:solidFill>
            </a:rPr>
            <a:t>..  </a:t>
          </a:r>
          <a:endParaRPr lang="es-VE" sz="1200" b="1" kern="1200" dirty="0">
            <a:solidFill>
              <a:schemeClr val="tx1"/>
            </a:solidFill>
          </a:endParaRPr>
        </a:p>
      </dsp:txBody>
      <dsp:txXfrm rot="16200000">
        <a:off x="2178827" y="942098"/>
        <a:ext cx="4786346" cy="2902148"/>
      </dsp:txXfrm>
    </dsp:sp>
    <dsp:sp modelId="{D19BAB6D-C8A4-47D5-B047-995ADE005C1E}">
      <dsp:nvSpPr>
        <dsp:cNvPr id="0" name=""/>
        <dsp:cNvSpPr/>
      </dsp:nvSpPr>
      <dsp:spPr>
        <a:xfrm rot="16200000">
          <a:off x="5299752" y="942098"/>
          <a:ext cx="4786346" cy="2902148"/>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lvl="0" algn="l" defTabSz="889000">
            <a:lnSpc>
              <a:spcPct val="90000"/>
            </a:lnSpc>
            <a:spcBef>
              <a:spcPct val="0"/>
            </a:spcBef>
            <a:spcAft>
              <a:spcPct val="35000"/>
            </a:spcAft>
          </a:pPr>
          <a:r>
            <a:rPr lang="es-VE" sz="2000" b="1" kern="1200" dirty="0" smtClean="0">
              <a:solidFill>
                <a:schemeClr val="tx1"/>
              </a:solidFill>
            </a:rPr>
            <a:t>Medio de Consulta</a:t>
          </a:r>
          <a:endParaRPr lang="es-VE" sz="20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Medio de consulta y capacitación para el Personal Directivo, Gerencia y empleados en general, que deben desarrollar las actividades propias del negocio en función de garantizar el cumplimiento de la normativa en materia de Administración de Riesgos de LC/FT/FPADM.</a:t>
          </a:r>
          <a:endParaRPr lang="es-VE" sz="1400" b="1" kern="1200" dirty="0">
            <a:solidFill>
              <a:schemeClr val="tx1"/>
            </a:solidFill>
          </a:endParaRPr>
        </a:p>
      </dsp:txBody>
      <dsp:txXfrm rot="16200000">
        <a:off x="5299752" y="942098"/>
        <a:ext cx="4786346" cy="2902148"/>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F7585B5-9FA5-4602-957E-3C1E2A7CFE14}">
      <dsp:nvSpPr>
        <dsp:cNvPr id="0" name=""/>
        <dsp:cNvSpPr/>
      </dsp:nvSpPr>
      <dsp:spPr>
        <a:xfrm>
          <a:off x="0" y="0"/>
          <a:ext cx="2663263" cy="5572140"/>
        </a:xfrm>
        <a:prstGeom prst="roundRect">
          <a:avLst>
            <a:gd name="adj" fmla="val 10000"/>
          </a:avLst>
        </a:prstGeom>
        <a:solidFill>
          <a:schemeClr val="bg1"/>
        </a:solidFill>
        <a:ln>
          <a:noFill/>
        </a:ln>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VE" sz="1600" b="1" kern="1200" dirty="0" smtClean="0"/>
            <a:t>NORMATIVA LEGAL VENEZOLANA</a:t>
          </a:r>
          <a:endParaRPr lang="es-VE" sz="1600" b="1" kern="1200" dirty="0"/>
        </a:p>
      </dsp:txBody>
      <dsp:txXfrm>
        <a:off x="0" y="0"/>
        <a:ext cx="2663263" cy="1671642"/>
      </dsp:txXfrm>
    </dsp:sp>
    <dsp:sp modelId="{45AC4544-C428-4EB5-99A4-B7E0C96C659B}">
      <dsp:nvSpPr>
        <dsp:cNvPr id="0" name=""/>
        <dsp:cNvSpPr/>
      </dsp:nvSpPr>
      <dsp:spPr>
        <a:xfrm>
          <a:off x="145608" y="1342276"/>
          <a:ext cx="2130610" cy="616686"/>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Constitución de la República Bolivariana de Venezuela</a:t>
          </a:r>
          <a:endParaRPr lang="es-VE" sz="1400" b="1" kern="1200" dirty="0"/>
        </a:p>
      </dsp:txBody>
      <dsp:txXfrm>
        <a:off x="145608" y="1342276"/>
        <a:ext cx="2130610" cy="616686"/>
      </dsp:txXfrm>
    </dsp:sp>
    <dsp:sp modelId="{4C8FA99B-9EE4-4096-BF55-4C3502C8EA3C}">
      <dsp:nvSpPr>
        <dsp:cNvPr id="0" name=""/>
        <dsp:cNvSpPr/>
      </dsp:nvSpPr>
      <dsp:spPr>
        <a:xfrm>
          <a:off x="145619" y="2079799"/>
          <a:ext cx="2298992" cy="1117215"/>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Ley Orgánica contra la Delincuencia Organizada y    Financiamiento al Terrorismo. Gaceta Oficial N° 39.912 del 30 de abril de 2012. </a:t>
          </a:r>
          <a:endParaRPr lang="es-VE" sz="1400" b="1" kern="1200" dirty="0"/>
        </a:p>
      </dsp:txBody>
      <dsp:txXfrm>
        <a:off x="145619" y="2079799"/>
        <a:ext cx="2298992" cy="1117215"/>
      </dsp:txXfrm>
    </dsp:sp>
    <dsp:sp modelId="{49B749A0-9912-4478-A4F3-A83BC5C11F9D}">
      <dsp:nvSpPr>
        <dsp:cNvPr id="0" name=""/>
        <dsp:cNvSpPr/>
      </dsp:nvSpPr>
      <dsp:spPr>
        <a:xfrm>
          <a:off x="145619" y="3442108"/>
          <a:ext cx="2247474" cy="822477"/>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Ley Orgánica de Drogas. Gaceta Oficial N° 39.510 del 15 de septiembre de 2010</a:t>
          </a:r>
          <a:endParaRPr lang="es-VE" sz="1400" b="1" kern="1200" dirty="0"/>
        </a:p>
      </dsp:txBody>
      <dsp:txXfrm>
        <a:off x="145619" y="3442108"/>
        <a:ext cx="2247474" cy="822477"/>
      </dsp:txXfrm>
    </dsp:sp>
    <dsp:sp modelId="{A3E0E94E-129F-45E6-82F1-CD9DE6828187}">
      <dsp:nvSpPr>
        <dsp:cNvPr id="0" name=""/>
        <dsp:cNvSpPr/>
      </dsp:nvSpPr>
      <dsp:spPr>
        <a:xfrm>
          <a:off x="216728" y="4408428"/>
          <a:ext cx="2130610" cy="1032750"/>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Ley de la Actividad Aseguradora. Gaceta Oficial N° 6.220 Extraordinario de 15 de marzo de 2016. </a:t>
          </a:r>
          <a:endParaRPr lang="es-VE" sz="1400" b="1" kern="1200" dirty="0"/>
        </a:p>
      </dsp:txBody>
      <dsp:txXfrm>
        <a:off x="216728" y="4408428"/>
        <a:ext cx="2130610" cy="1032750"/>
      </dsp:txXfrm>
    </dsp:sp>
    <dsp:sp modelId="{DDD30BA9-7AC9-432F-8ECF-F6E4E3CE2934}">
      <dsp:nvSpPr>
        <dsp:cNvPr id="0" name=""/>
        <dsp:cNvSpPr/>
      </dsp:nvSpPr>
      <dsp:spPr>
        <a:xfrm>
          <a:off x="2786084" y="0"/>
          <a:ext cx="2663263" cy="5572140"/>
        </a:xfrm>
        <a:prstGeom prst="roundRect">
          <a:avLst>
            <a:gd name="adj" fmla="val 10000"/>
          </a:avLst>
        </a:prstGeom>
        <a:solidFill>
          <a:schemeClr val="bg1"/>
        </a:solidFill>
        <a:ln>
          <a:noFill/>
        </a:ln>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VE" sz="1600" b="1" kern="1200" dirty="0" smtClean="0"/>
            <a:t>NORMATIVA A NIVEL INTERNACIONAL</a:t>
          </a:r>
          <a:endParaRPr lang="es-VE" sz="1600" kern="1200" dirty="0"/>
        </a:p>
      </dsp:txBody>
      <dsp:txXfrm>
        <a:off x="2786084" y="0"/>
        <a:ext cx="2663263" cy="1671642"/>
      </dsp:txXfrm>
    </dsp:sp>
    <dsp:sp modelId="{C2A17A0D-A81E-4080-9EF6-00D525304F03}">
      <dsp:nvSpPr>
        <dsp:cNvPr id="0" name=""/>
        <dsp:cNvSpPr/>
      </dsp:nvSpPr>
      <dsp:spPr>
        <a:xfrm>
          <a:off x="3202757" y="1190572"/>
          <a:ext cx="2130610" cy="1494973"/>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Convención de Viena de 1988: Convención de Naciones Unidas contra el tráfico de estupefacientes y sustancias psicotrópicas. Gaceta Oficial N° 34.741 del 21 de junio de 1991</a:t>
          </a:r>
          <a:r>
            <a:rPr lang="es-VE" sz="1400" kern="1200" dirty="0" smtClean="0"/>
            <a:t>. </a:t>
          </a:r>
          <a:endParaRPr lang="es-VE" sz="1400" kern="1200" dirty="0"/>
        </a:p>
      </dsp:txBody>
      <dsp:txXfrm>
        <a:off x="3202757" y="1190572"/>
        <a:ext cx="2130610" cy="1494973"/>
      </dsp:txXfrm>
    </dsp:sp>
    <dsp:sp modelId="{4049B3CF-1B30-45B8-9AFB-F5F099A7882C}">
      <dsp:nvSpPr>
        <dsp:cNvPr id="0" name=""/>
        <dsp:cNvSpPr/>
      </dsp:nvSpPr>
      <dsp:spPr>
        <a:xfrm>
          <a:off x="3286170" y="2860674"/>
          <a:ext cx="1968257" cy="1606694"/>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Convenio de Naciones Unidas para la represión de la financiación del terrorismo de 1989. Gaceta Oficial N° 37.727 del 8 de julio de 2003</a:t>
          </a:r>
          <a:endParaRPr lang="es-VE" sz="1400" b="1" kern="1200" dirty="0"/>
        </a:p>
      </dsp:txBody>
      <dsp:txXfrm>
        <a:off x="3286170" y="2860674"/>
        <a:ext cx="1968257" cy="1606694"/>
      </dsp:txXfrm>
    </dsp:sp>
    <dsp:sp modelId="{C64A284C-A87F-49CA-A22E-E2116CAD085C}">
      <dsp:nvSpPr>
        <dsp:cNvPr id="0" name=""/>
        <dsp:cNvSpPr/>
      </dsp:nvSpPr>
      <dsp:spPr>
        <a:xfrm>
          <a:off x="5853375" y="0"/>
          <a:ext cx="2663263" cy="5572140"/>
        </a:xfrm>
        <a:prstGeom prst="roundRect">
          <a:avLst>
            <a:gd name="adj" fmla="val 10000"/>
          </a:avLst>
        </a:prstGeom>
        <a:solidFill>
          <a:schemeClr val="bg1"/>
        </a:solidFill>
        <a:ln>
          <a:noFill/>
        </a:ln>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VE" sz="1600" b="1" kern="1200" dirty="0" smtClean="0"/>
            <a:t>NORMATIVAS REFERENCIALES</a:t>
          </a:r>
          <a:endParaRPr lang="es-VE" sz="1600" b="1" kern="1200" dirty="0"/>
        </a:p>
      </dsp:txBody>
      <dsp:txXfrm>
        <a:off x="5853375" y="0"/>
        <a:ext cx="2663263" cy="1671642"/>
      </dsp:txXfrm>
    </dsp:sp>
    <dsp:sp modelId="{1637F5D0-5ECA-4D67-80D0-A7D8B4963099}">
      <dsp:nvSpPr>
        <dsp:cNvPr id="0" name=""/>
        <dsp:cNvSpPr/>
      </dsp:nvSpPr>
      <dsp:spPr>
        <a:xfrm>
          <a:off x="5631823" y="1303896"/>
          <a:ext cx="2909156" cy="2082410"/>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Decreto No. 1.402 mediante el cual se dicta el Decreto con Rango, Valor y Fuerza de Ley de Instituciones del Sector Bancario, de fecha 13 de noviembre de 2014, publicada en Gaceta Oficial de la República Bolivariana de Venezuela No. 6.154 Extraordinario de fecha 19 de noviembre de 2014</a:t>
          </a:r>
          <a:r>
            <a:rPr lang="es-VE" sz="1200" b="1" kern="1200" dirty="0" smtClean="0"/>
            <a:t>. </a:t>
          </a:r>
          <a:endParaRPr lang="es-VE" sz="1200" b="1" kern="1200" dirty="0"/>
        </a:p>
      </dsp:txBody>
      <dsp:txXfrm>
        <a:off x="5631823" y="1303896"/>
        <a:ext cx="2909156" cy="2082410"/>
      </dsp:txXfrm>
    </dsp:sp>
    <dsp:sp modelId="{1F2EA797-42C7-4521-9F14-5A4876912B29}">
      <dsp:nvSpPr>
        <dsp:cNvPr id="0" name=""/>
        <dsp:cNvSpPr/>
      </dsp:nvSpPr>
      <dsp:spPr>
        <a:xfrm>
          <a:off x="6119701" y="3770720"/>
          <a:ext cx="2130610" cy="1522162"/>
        </a:xfrm>
        <a:prstGeom prst="roundRect">
          <a:avLst>
            <a:gd name="adj" fmla="val 10000"/>
          </a:avLst>
        </a:prstGeom>
        <a:solidFill>
          <a:schemeClr val="accent5">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VE" sz="1400" b="1" kern="1200" dirty="0" smtClean="0"/>
            <a:t>Providencia 209 de la Superintendencia Nacional de Valores, publicada en Gaceta Oficial de la República de Venezuela No. 42.115 de fecha 08 de abril de 2021</a:t>
          </a:r>
          <a:r>
            <a:rPr lang="es-VE" sz="1050" b="1" kern="1200" dirty="0" smtClean="0"/>
            <a:t>.</a:t>
          </a:r>
          <a:endParaRPr lang="es-VE" sz="1050" b="1" kern="1200" dirty="0"/>
        </a:p>
      </dsp:txBody>
      <dsp:txXfrm>
        <a:off x="6119701" y="3770720"/>
        <a:ext cx="2130610" cy="1522162"/>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7D16E94-AC07-4CCB-BC16-25A5094156D8}">
      <dsp:nvSpPr>
        <dsp:cNvPr id="0" name=""/>
        <dsp:cNvSpPr/>
      </dsp:nvSpPr>
      <dsp:spPr>
        <a:xfrm>
          <a:off x="0" y="71440"/>
          <a:ext cx="2656600" cy="1593960"/>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Información sobre delincuencia organizada nacional y trasnacional, tráfico de drogas, corrupción, LC/FT/FPADM</a:t>
          </a:r>
          <a:endParaRPr lang="es-VE" sz="1400" b="1" kern="1200" dirty="0">
            <a:solidFill>
              <a:schemeClr val="tx1"/>
            </a:solidFill>
          </a:endParaRPr>
        </a:p>
      </dsp:txBody>
      <dsp:txXfrm>
        <a:off x="0" y="71440"/>
        <a:ext cx="2656600" cy="1593960"/>
      </dsp:txXfrm>
    </dsp:sp>
    <dsp:sp modelId="{E517A13B-0E82-4256-A138-11427CA16258}">
      <dsp:nvSpPr>
        <dsp:cNvPr id="0" name=""/>
        <dsp:cNvSpPr/>
      </dsp:nvSpPr>
      <dsp:spPr>
        <a:xfrm>
          <a:off x="2922260" y="71440"/>
          <a:ext cx="2656600" cy="1593960"/>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Estructura organizacional del sujeto obligado y del Sistema Integral de Administración de Riesgos de LC/FT/FPADM.</a:t>
          </a:r>
          <a:endParaRPr lang="es-VE" sz="1400" b="1" kern="1200" dirty="0">
            <a:solidFill>
              <a:schemeClr val="tx1"/>
            </a:solidFill>
          </a:endParaRPr>
        </a:p>
      </dsp:txBody>
      <dsp:txXfrm>
        <a:off x="2922260" y="71440"/>
        <a:ext cx="2656600" cy="1593960"/>
      </dsp:txXfrm>
    </dsp:sp>
    <dsp:sp modelId="{82E83256-915C-441D-9BE7-CE60D7CEBB07}">
      <dsp:nvSpPr>
        <dsp:cNvPr id="0" name=""/>
        <dsp:cNvSpPr/>
      </dsp:nvSpPr>
      <dsp:spPr>
        <a:xfrm>
          <a:off x="5844521" y="71440"/>
          <a:ext cx="2656600" cy="1593960"/>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Código de Ética.</a:t>
          </a:r>
          <a:endParaRPr lang="es-VE" sz="1400" b="1" kern="1200" dirty="0">
            <a:solidFill>
              <a:schemeClr val="tx1"/>
            </a:solidFill>
          </a:endParaRPr>
        </a:p>
      </dsp:txBody>
      <dsp:txXfrm>
        <a:off x="5844521" y="71440"/>
        <a:ext cx="2656600" cy="1593960"/>
      </dsp:txXfrm>
    </dsp:sp>
    <dsp:sp modelId="{ED1588AF-1819-4776-8BEF-B204F63C70C2}">
      <dsp:nvSpPr>
        <dsp:cNvPr id="0" name=""/>
        <dsp:cNvSpPr/>
      </dsp:nvSpPr>
      <dsp:spPr>
        <a:xfrm>
          <a:off x="1071566" y="1931061"/>
          <a:ext cx="3007085" cy="231551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Metodología utilizada para la identificación, segmentación, análisis y evaluación del nivel de riesgo aplicable al sujeto obligado, tomando en cuenta, clientes, productos, canales de comercialización y zonas geográficas</a:t>
          </a:r>
          <a:r>
            <a:rPr lang="es-VE" sz="1000" b="1" kern="1200" dirty="0" smtClean="0"/>
            <a:t>. </a:t>
          </a:r>
          <a:endParaRPr lang="es-VE" sz="1000" b="1" kern="1200" dirty="0"/>
        </a:p>
      </dsp:txBody>
      <dsp:txXfrm>
        <a:off x="1071566" y="1931061"/>
        <a:ext cx="3007085" cy="2315514"/>
      </dsp:txXfrm>
    </dsp:sp>
    <dsp:sp modelId="{687BDB7B-ACDC-41F8-9D3F-F278D2B0CCFA}">
      <dsp:nvSpPr>
        <dsp:cNvPr id="0" name=""/>
        <dsp:cNvSpPr/>
      </dsp:nvSpPr>
      <dsp:spPr>
        <a:xfrm>
          <a:off x="4344312" y="1931061"/>
          <a:ext cx="3085243" cy="231551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Programas de administración, LC/FT/FPADM.  en cumplimiento de las políticas conozca a su cliente, conozca al cliente de su cliente, conozca a su empleado, conozca a su intermediario, conozca a su reasegurador y conozca a su proveedor de servicios. </a:t>
          </a:r>
          <a:endParaRPr lang="es-VE" sz="1400" b="1" kern="1200" dirty="0">
            <a:solidFill>
              <a:schemeClr val="tx1"/>
            </a:solidFill>
          </a:endParaRPr>
        </a:p>
      </dsp:txBody>
      <dsp:txXfrm>
        <a:off x="4344312" y="1931061"/>
        <a:ext cx="3085243" cy="2315514"/>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CA0B1F9-5C91-4419-B219-8FB25DC3152C}">
      <dsp:nvSpPr>
        <dsp:cNvPr id="0" name=""/>
        <dsp:cNvSpPr/>
      </dsp:nvSpPr>
      <dsp:spPr>
        <a:xfrm>
          <a:off x="1254969" y="198"/>
          <a:ext cx="2940863" cy="227339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Procesos y controles internos adoptados por el sujeto obligado, para la administración de Riesgos de LC/FTFPADM en cada una de sus áreas sensibles</a:t>
          </a:r>
          <a:r>
            <a:rPr lang="es-VE" sz="1400" kern="1200" dirty="0" smtClean="0"/>
            <a:t>. </a:t>
          </a:r>
          <a:endParaRPr lang="es-VE" sz="1400" kern="1200" dirty="0"/>
        </a:p>
      </dsp:txBody>
      <dsp:txXfrm>
        <a:off x="1254969" y="198"/>
        <a:ext cx="2940863" cy="2273394"/>
      </dsp:txXfrm>
    </dsp:sp>
    <dsp:sp modelId="{FDFB1941-2CC8-4F15-B6B6-AD5470137DE8}">
      <dsp:nvSpPr>
        <dsp:cNvPr id="0" name=""/>
        <dsp:cNvSpPr/>
      </dsp:nvSpPr>
      <dsp:spPr>
        <a:xfrm>
          <a:off x="4781118" y="0"/>
          <a:ext cx="2816470" cy="227339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Canales de comunicación e instancias de reporte interno por cada área de riesgo del sujeto obligado</a:t>
          </a:r>
          <a:r>
            <a:rPr lang="es-VE" sz="1600" b="1" kern="1200" dirty="0" smtClean="0">
              <a:solidFill>
                <a:schemeClr val="tx1"/>
              </a:solidFill>
            </a:rPr>
            <a:t>.</a:t>
          </a:r>
          <a:endParaRPr lang="es-VE" sz="1600" b="1" kern="1200" dirty="0">
            <a:solidFill>
              <a:schemeClr val="tx1"/>
            </a:solidFill>
          </a:endParaRPr>
        </a:p>
      </dsp:txBody>
      <dsp:txXfrm>
        <a:off x="4781118" y="0"/>
        <a:ext cx="2816470" cy="2273394"/>
      </dsp:txXfrm>
    </dsp:sp>
    <dsp:sp modelId="{FC20D73A-5B49-43F4-AF46-E1B07C0C9023}">
      <dsp:nvSpPr>
        <dsp:cNvPr id="0" name=""/>
        <dsp:cNvSpPr/>
      </dsp:nvSpPr>
      <dsp:spPr>
        <a:xfrm>
          <a:off x="874536" y="2674992"/>
          <a:ext cx="3244550" cy="2254229"/>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Lista de señales de alerta y niveles de riesgo que consideren la naturaleza específica del sujeto obligado, tomando en cuenta aquellas señaladas por los organismos y grupos nacionales e internacionales y aquellas fijadas por el propio sujeto obligado</a:t>
          </a:r>
          <a:r>
            <a:rPr lang="es-VE" sz="1100" kern="1200" dirty="0" smtClean="0"/>
            <a:t>.</a:t>
          </a:r>
          <a:endParaRPr lang="es-VE" sz="1100" kern="1200" dirty="0"/>
        </a:p>
      </dsp:txBody>
      <dsp:txXfrm>
        <a:off x="874536" y="2674992"/>
        <a:ext cx="3244550" cy="2254229"/>
      </dsp:txXfrm>
    </dsp:sp>
    <dsp:sp modelId="{6297628E-B245-4DF2-8B99-E6E0EBAA8DCD}">
      <dsp:nvSpPr>
        <dsp:cNvPr id="0" name=""/>
        <dsp:cNvSpPr/>
      </dsp:nvSpPr>
      <dsp:spPr>
        <a:xfrm>
          <a:off x="4520113" y="2605409"/>
          <a:ext cx="3710293" cy="2273394"/>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Procedimientos de detección y reporte de actividades sospechosas; de verificación de las listas emitidas por el Consejo de Seguridad de las Naciones Unidas de personas naturales y jurídicas relacionadas con el terrorismo, el financiamiento al terrorismo y financiamiento de la proliferación de armas de destrucción masiva</a:t>
          </a:r>
          <a:endParaRPr lang="es-VE" sz="1400" b="1" kern="1200" dirty="0">
            <a:solidFill>
              <a:schemeClr val="tx1"/>
            </a:solidFill>
          </a:endParaRPr>
        </a:p>
      </dsp:txBody>
      <dsp:txXfrm>
        <a:off x="4520113" y="2605409"/>
        <a:ext cx="3710293" cy="2273394"/>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3EABDD8-C579-450B-9D17-201B0245F716}">
      <dsp:nvSpPr>
        <dsp:cNvPr id="0" name=""/>
        <dsp:cNvSpPr/>
      </dsp:nvSpPr>
      <dsp:spPr>
        <a:xfrm>
          <a:off x="2352940" y="1421"/>
          <a:ext cx="4438118" cy="1902023"/>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Procedimientos para la conservación de los registros, y su disponibilidad para los Órganos de Investigación Penal, Ministerio Público, Organismos Supervisores y Órganos Jurisdiccionales, conforme a las instrucciones dictadas al efecto. </a:t>
          </a:r>
          <a:endParaRPr lang="es-VE" sz="1400" b="1" kern="1200" dirty="0">
            <a:solidFill>
              <a:schemeClr val="tx1"/>
            </a:solidFill>
          </a:endParaRPr>
        </a:p>
      </dsp:txBody>
      <dsp:txXfrm>
        <a:off x="2352940" y="1421"/>
        <a:ext cx="4438118" cy="1902023"/>
      </dsp:txXfrm>
    </dsp:sp>
    <dsp:sp modelId="{B3A87B1F-0499-4F01-BB00-38543709FC50}">
      <dsp:nvSpPr>
        <dsp:cNvPr id="0" name=""/>
        <dsp:cNvSpPr/>
      </dsp:nvSpPr>
      <dsp:spPr>
        <a:xfrm>
          <a:off x="129760" y="2220449"/>
          <a:ext cx="5397435" cy="2421599"/>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Procesos y medidas de debida diligencia, derivadas de las políticas para la administración de riesgos de LC/FT/FPADM para la identificación y verificación de los clientes, intermediarios, proveedores de servicios, empleados, reaseguradores, organizaciones sin fines de lucro, personas expuestas políticamente y demás vinculados, lo que abarca hasta el beneficiario final. </a:t>
          </a:r>
          <a:endParaRPr lang="es-VE" sz="1400" b="1" kern="1200" dirty="0">
            <a:solidFill>
              <a:schemeClr val="tx1"/>
            </a:solidFill>
          </a:endParaRPr>
        </a:p>
      </dsp:txBody>
      <dsp:txXfrm>
        <a:off x="129760" y="2220449"/>
        <a:ext cx="5397435" cy="2421599"/>
      </dsp:txXfrm>
    </dsp:sp>
    <dsp:sp modelId="{02513F07-3D73-4200-AEA1-763BECF3ED9F}">
      <dsp:nvSpPr>
        <dsp:cNvPr id="0" name=""/>
        <dsp:cNvSpPr/>
      </dsp:nvSpPr>
      <dsp:spPr>
        <a:xfrm>
          <a:off x="5844200" y="2480236"/>
          <a:ext cx="3170039" cy="1902023"/>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VE" sz="1400" b="1" kern="1200" dirty="0" smtClean="0">
              <a:solidFill>
                <a:schemeClr val="tx1"/>
              </a:solidFill>
            </a:rPr>
            <a:t>Procesos relacionados con las auditorías internas, en materia de administración de riesgos de LC/FT/FPADM</a:t>
          </a:r>
          <a:endParaRPr lang="es-VE" sz="1400" b="1" kern="1200" dirty="0">
            <a:solidFill>
              <a:schemeClr val="tx1"/>
            </a:solidFill>
          </a:endParaRPr>
        </a:p>
      </dsp:txBody>
      <dsp:txXfrm>
        <a:off x="5844200" y="2480236"/>
        <a:ext cx="3170039" cy="1902023"/>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C116A17-F7C6-4197-8467-CDDD41507F97}">
      <dsp:nvSpPr>
        <dsp:cNvPr id="0" name=""/>
        <dsp:cNvSpPr/>
      </dsp:nvSpPr>
      <dsp:spPr>
        <a:xfrm>
          <a:off x="19760" y="886"/>
          <a:ext cx="3485044" cy="2091026"/>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VE" sz="2100" b="1" kern="1200" dirty="0" smtClean="0">
              <a:solidFill>
                <a:schemeClr val="tx1"/>
              </a:solidFill>
            </a:rPr>
            <a:t>Sanciones internas impuestas por parte del sujeto obligado por el incumplimiento del manual, sus procesos y procedimientos y el código de ética</a:t>
          </a:r>
          <a:endParaRPr lang="es-VE" sz="2100" b="1" kern="1200" dirty="0">
            <a:solidFill>
              <a:schemeClr val="tx1"/>
            </a:solidFill>
          </a:endParaRPr>
        </a:p>
      </dsp:txBody>
      <dsp:txXfrm>
        <a:off x="19760" y="886"/>
        <a:ext cx="3485044" cy="2091026"/>
      </dsp:txXfrm>
    </dsp:sp>
    <dsp:sp modelId="{043F675D-59CD-4203-876E-D0A608AAD5E9}">
      <dsp:nvSpPr>
        <dsp:cNvPr id="0" name=""/>
        <dsp:cNvSpPr/>
      </dsp:nvSpPr>
      <dsp:spPr>
        <a:xfrm>
          <a:off x="3853309" y="886"/>
          <a:ext cx="3485044" cy="2091026"/>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VE" sz="2100" b="1" kern="1200" dirty="0" smtClean="0">
              <a:solidFill>
                <a:schemeClr val="tx1"/>
              </a:solidFill>
            </a:rPr>
            <a:t>Sanciones que establece la normativa vigente aplicable, en cuanto al incumplimiento de los procesos relacionados con la administración de riesgos de LC/FT/FPADM</a:t>
          </a:r>
          <a:endParaRPr lang="es-VE" sz="2100" b="1" kern="1200" dirty="0">
            <a:solidFill>
              <a:schemeClr val="tx1"/>
            </a:solidFill>
          </a:endParaRPr>
        </a:p>
      </dsp:txBody>
      <dsp:txXfrm>
        <a:off x="3853309" y="886"/>
        <a:ext cx="3485044" cy="2091026"/>
      </dsp:txXfrm>
    </dsp:sp>
    <dsp:sp modelId="{31AC18CA-F863-4160-97CA-E5CBA9BAB6DD}">
      <dsp:nvSpPr>
        <dsp:cNvPr id="0" name=""/>
        <dsp:cNvSpPr/>
      </dsp:nvSpPr>
      <dsp:spPr>
        <a:xfrm>
          <a:off x="19760" y="2440417"/>
          <a:ext cx="3485044" cy="2091026"/>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VE" sz="2100" b="1" kern="1200" dirty="0" smtClean="0">
              <a:solidFill>
                <a:schemeClr val="tx1"/>
              </a:solidFill>
            </a:rPr>
            <a:t>Tipologías utilizadas en la actividad aseguradora para la así como LC/FT/FPADM de los mecanismos, instrumentos y esquemas utilizados.</a:t>
          </a:r>
          <a:endParaRPr lang="es-VE" sz="2100" b="1" kern="1200" dirty="0">
            <a:solidFill>
              <a:schemeClr val="tx1"/>
            </a:solidFill>
          </a:endParaRPr>
        </a:p>
      </dsp:txBody>
      <dsp:txXfrm>
        <a:off x="19760" y="2440417"/>
        <a:ext cx="3485044" cy="2091026"/>
      </dsp:txXfrm>
    </dsp:sp>
    <dsp:sp modelId="{CD8A27AB-195B-4940-A164-ABDBF2612F71}">
      <dsp:nvSpPr>
        <dsp:cNvPr id="0" name=""/>
        <dsp:cNvSpPr/>
      </dsp:nvSpPr>
      <dsp:spPr>
        <a:xfrm>
          <a:off x="3853309" y="2440417"/>
          <a:ext cx="3485044" cy="2091026"/>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s-VE" sz="2100" b="1" kern="1200" dirty="0" smtClean="0">
              <a:solidFill>
                <a:schemeClr val="tx1"/>
              </a:solidFill>
            </a:rPr>
            <a:t>Modelo de compromiso institucional y cualquier otro modelo que complemente los procesos y procedimientos del sujeto obligado</a:t>
          </a:r>
          <a:endParaRPr lang="es-VE" sz="2100" b="1" kern="1200" dirty="0">
            <a:solidFill>
              <a:schemeClr val="tx1"/>
            </a:solidFill>
          </a:endParaRPr>
        </a:p>
      </dsp:txBody>
      <dsp:txXfrm>
        <a:off x="3853309" y="2440417"/>
        <a:ext cx="3485044" cy="2091026"/>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0A464FE-3CA0-49C6-86D4-EBB7E8C8FBD9}">
      <dsp:nvSpPr>
        <dsp:cNvPr id="0" name=""/>
        <dsp:cNvSpPr/>
      </dsp:nvSpPr>
      <dsp:spPr>
        <a:xfrm>
          <a:off x="0" y="0"/>
          <a:ext cx="7500990" cy="826001"/>
        </a:xfrm>
        <a:prstGeom prst="roundRect">
          <a:avLst/>
        </a:prstGeom>
        <a:solidFill>
          <a:schemeClr val="bg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VE" sz="1600" b="1" kern="1200" dirty="0" smtClean="0">
              <a:solidFill>
                <a:schemeClr val="tx1"/>
              </a:solidFill>
            </a:rPr>
            <a:t>Mafia italiana: Cosa Nostra (Sicilia), Camorra (Nápoles), 'Ndrangheta (Calabria), Sacra Corona Unita (Apulia) </a:t>
          </a:r>
          <a:endParaRPr lang="es-VE" sz="1600" b="1" kern="1200" dirty="0">
            <a:solidFill>
              <a:schemeClr val="tx1"/>
            </a:solidFill>
          </a:endParaRPr>
        </a:p>
      </dsp:txBody>
      <dsp:txXfrm>
        <a:off x="0" y="0"/>
        <a:ext cx="7500990" cy="826001"/>
      </dsp:txXfrm>
    </dsp:sp>
    <dsp:sp modelId="{827D7861-6152-4180-B64D-C14841A06ACA}">
      <dsp:nvSpPr>
        <dsp:cNvPr id="0" name=""/>
        <dsp:cNvSpPr/>
      </dsp:nvSpPr>
      <dsp:spPr>
        <a:xfrm>
          <a:off x="0" y="852171"/>
          <a:ext cx="7500990" cy="1076823"/>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38156" tIns="20320" rIns="113792" bIns="20320" numCol="1" spcCol="1270" anchor="t" anchorCtr="0">
          <a:noAutofit/>
        </a:bodyPr>
        <a:lstStyle/>
        <a:p>
          <a:pPr marL="171450" lvl="1" indent="-171450" algn="l" defTabSz="711200">
            <a:lnSpc>
              <a:spcPct val="90000"/>
            </a:lnSpc>
            <a:spcBef>
              <a:spcPct val="0"/>
            </a:spcBef>
            <a:spcAft>
              <a:spcPct val="20000"/>
            </a:spcAft>
            <a:buChar char="••"/>
          </a:pPr>
          <a:endParaRPr lang="es-VE" sz="1600" b="1" kern="1200" dirty="0"/>
        </a:p>
        <a:p>
          <a:pPr marL="171450" lvl="1" indent="-171450" algn="l" defTabSz="711200">
            <a:lnSpc>
              <a:spcPct val="90000"/>
            </a:lnSpc>
            <a:spcBef>
              <a:spcPct val="0"/>
            </a:spcBef>
            <a:spcAft>
              <a:spcPct val="20000"/>
            </a:spcAft>
            <a:buChar char="••"/>
          </a:pPr>
          <a:r>
            <a:rPr lang="es-VE" sz="1600" b="1" kern="1200" dirty="0" smtClean="0"/>
            <a:t>Mafia italo-americana: Familia Bonanno, Familia Colombo, Familia Genovese, Familia Gambino, Familia Lucchese (todas de la ciudad de Nueva York), Outfit de Chicago (Chicago).</a:t>
          </a:r>
          <a:endParaRPr lang="es-VE" sz="1600" b="1" kern="1200" dirty="0"/>
        </a:p>
      </dsp:txBody>
      <dsp:txXfrm>
        <a:off x="0" y="852171"/>
        <a:ext cx="7500990" cy="1076823"/>
      </dsp:txXfrm>
    </dsp:sp>
    <dsp:sp modelId="{5282608C-9994-4ACE-95B8-212F328DE593}">
      <dsp:nvSpPr>
        <dsp:cNvPr id="0" name=""/>
        <dsp:cNvSpPr/>
      </dsp:nvSpPr>
      <dsp:spPr>
        <a:xfrm>
          <a:off x="0" y="1928995"/>
          <a:ext cx="7500990" cy="1123200"/>
        </a:xfrm>
        <a:prstGeom prst="roundRect">
          <a:avLst/>
        </a:prstGeom>
        <a:solidFill>
          <a:schemeClr val="bg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VE" sz="1600" b="1" kern="1200" dirty="0" smtClean="0">
              <a:solidFill>
                <a:schemeClr val="tx1"/>
              </a:solidFill>
            </a:rPr>
            <a:t>Mafias de Estados Unidos sin influencia italiana: Mafia mexicana, Mafia irlandesa, Mafia armenia, Mafias con alta influencia en Europa, Mafia albanesa, Mafia turca, Mafia rusa, Mafia búlgara, Mafia polaca, Mafia rumana, Mafia serbia. </a:t>
          </a:r>
          <a:endParaRPr lang="es-VE" sz="1600" b="1" kern="1200" dirty="0">
            <a:solidFill>
              <a:schemeClr val="tx1"/>
            </a:solidFill>
          </a:endParaRPr>
        </a:p>
      </dsp:txBody>
      <dsp:txXfrm>
        <a:off x="0" y="1928995"/>
        <a:ext cx="7500990" cy="1123200"/>
      </dsp:txXfrm>
    </dsp:sp>
    <dsp:sp modelId="{70BB8034-A017-4FA1-8206-98C889A83F05}">
      <dsp:nvSpPr>
        <dsp:cNvPr id="0" name=""/>
        <dsp:cNvSpPr/>
      </dsp:nvSpPr>
      <dsp:spPr>
        <a:xfrm>
          <a:off x="0" y="3052195"/>
          <a:ext cx="7500990" cy="993600"/>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38156" tIns="22860" rIns="128016" bIns="22860" numCol="1" spcCol="1270" anchor="ctr" anchorCtr="0">
          <a:noAutofit/>
        </a:bodyPr>
        <a:lstStyle/>
        <a:p>
          <a:pPr marL="171450" lvl="1" indent="-171450" algn="l" defTabSz="800100">
            <a:lnSpc>
              <a:spcPct val="90000"/>
            </a:lnSpc>
            <a:spcBef>
              <a:spcPct val="0"/>
            </a:spcBef>
            <a:spcAft>
              <a:spcPct val="20000"/>
            </a:spcAft>
            <a:buChar char="••"/>
          </a:pPr>
          <a:r>
            <a:rPr lang="es-VE" sz="1800" b="1" kern="1200" dirty="0" smtClean="0"/>
            <a:t>Organizaciones criminales de Colombia</a:t>
          </a:r>
          <a:endParaRPr lang="es-VE" sz="1800" b="1" kern="1200" dirty="0"/>
        </a:p>
      </dsp:txBody>
      <dsp:txXfrm>
        <a:off x="0" y="3052195"/>
        <a:ext cx="7500990" cy="993600"/>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6A42022-2182-443A-B322-CE2FF67E4861}">
      <dsp:nvSpPr>
        <dsp:cNvPr id="0" name=""/>
        <dsp:cNvSpPr/>
      </dsp:nvSpPr>
      <dsp:spPr>
        <a:xfrm>
          <a:off x="0" y="387465"/>
          <a:ext cx="4643470" cy="1258937"/>
        </a:xfrm>
        <a:prstGeom prst="roundRect">
          <a:avLst/>
        </a:prstGeom>
        <a:solidFill>
          <a:schemeClr val="bg1"/>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100000"/>
            </a:lnSpc>
            <a:spcBef>
              <a:spcPct val="0"/>
            </a:spcBef>
            <a:spcAft>
              <a:spcPct val="35000"/>
            </a:spcAft>
          </a:pPr>
          <a:r>
            <a:rPr lang="es-VE" sz="2000" b="0" kern="1200" dirty="0" smtClean="0">
              <a:solidFill>
                <a:schemeClr val="tx1"/>
              </a:solidFill>
            </a:rPr>
            <a:t>Organizaciones Internacionales que han sido calificadas como estructuras del crimen organizado</a:t>
          </a:r>
          <a:endParaRPr lang="es-VE" sz="3700" b="0" kern="1200" dirty="0">
            <a:solidFill>
              <a:schemeClr val="tx1"/>
            </a:solidFill>
          </a:endParaRPr>
        </a:p>
      </dsp:txBody>
      <dsp:txXfrm>
        <a:off x="0" y="387465"/>
        <a:ext cx="4643470" cy="1258937"/>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E99D6DA-AC20-4CE2-8D2C-94C300EF5690}">
      <dsp:nvSpPr>
        <dsp:cNvPr id="0" name=""/>
        <dsp:cNvSpPr/>
      </dsp:nvSpPr>
      <dsp:spPr>
        <a:xfrm rot="16200000">
          <a:off x="-1139612" y="1140423"/>
          <a:ext cx="4389454" cy="2108606"/>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lvl="0" algn="l" defTabSz="622300">
            <a:lnSpc>
              <a:spcPct val="90000"/>
            </a:lnSpc>
            <a:spcBef>
              <a:spcPct val="0"/>
            </a:spcBef>
            <a:spcAft>
              <a:spcPct val="35000"/>
            </a:spcAft>
          </a:pPr>
          <a:r>
            <a:rPr lang="es-VE" sz="1400" b="1" kern="1200" dirty="0" smtClean="0">
              <a:solidFill>
                <a:schemeClr val="tx1"/>
              </a:solidFill>
            </a:rPr>
            <a:t>TRAFICO DE DROGAS</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Corrupción</a:t>
          </a:r>
          <a:endParaRPr lang="es-VE" sz="1400" kern="1200" dirty="0"/>
        </a:p>
        <a:p>
          <a:pPr marL="114300" lvl="1" indent="-114300" algn="l" defTabSz="622300">
            <a:lnSpc>
              <a:spcPct val="90000"/>
            </a:lnSpc>
            <a:spcBef>
              <a:spcPct val="0"/>
            </a:spcBef>
            <a:spcAft>
              <a:spcPct val="15000"/>
            </a:spcAft>
            <a:buChar char="••"/>
          </a:pPr>
          <a:r>
            <a:rPr lang="es-VE" sz="1400" b="1" kern="1200" dirty="0" smtClean="0">
              <a:solidFill>
                <a:schemeClr val="tx1"/>
              </a:solidFill>
            </a:rPr>
            <a:t>Legitimación de Capitales</a:t>
          </a:r>
          <a:endParaRPr lang="es-VE" sz="1400" kern="1200" dirty="0"/>
        </a:p>
        <a:p>
          <a:pPr marL="114300" lvl="1" indent="-114300" algn="l" defTabSz="622300">
            <a:lnSpc>
              <a:spcPct val="90000"/>
            </a:lnSpc>
            <a:spcBef>
              <a:spcPct val="0"/>
            </a:spcBef>
            <a:spcAft>
              <a:spcPct val="15000"/>
            </a:spcAft>
            <a:buChar char="••"/>
          </a:pPr>
          <a:r>
            <a:rPr lang="es-VE" sz="1400" b="1" kern="1200" dirty="0" smtClean="0">
              <a:solidFill>
                <a:schemeClr val="tx1"/>
              </a:solidFill>
            </a:rPr>
            <a:t>Terrorismo</a:t>
          </a:r>
          <a:endParaRPr lang="es-VE" sz="1400" kern="1200" dirty="0"/>
        </a:p>
        <a:p>
          <a:pPr marL="114300" lvl="1" indent="-114300" algn="l" defTabSz="622300">
            <a:lnSpc>
              <a:spcPct val="90000"/>
            </a:lnSpc>
            <a:spcBef>
              <a:spcPct val="0"/>
            </a:spcBef>
            <a:spcAft>
              <a:spcPct val="15000"/>
            </a:spcAft>
            <a:buChar char="••"/>
          </a:pPr>
          <a:r>
            <a:rPr lang="es-VE" sz="1400" b="1" kern="1200" dirty="0" smtClean="0">
              <a:solidFill>
                <a:schemeClr val="tx1"/>
              </a:solidFill>
            </a:rPr>
            <a:t>Financiamiento de la Proliferación de Armas de Destrucción Masiva</a:t>
          </a:r>
          <a:endParaRPr lang="es-VE" sz="1400" kern="1200" dirty="0"/>
        </a:p>
      </dsp:txBody>
      <dsp:txXfrm rot="16200000">
        <a:off x="-1139612" y="1140423"/>
        <a:ext cx="4389454" cy="2108606"/>
      </dsp:txXfrm>
    </dsp:sp>
    <dsp:sp modelId="{3343A9D5-C09B-46E5-A1CF-D10FD3B44756}">
      <dsp:nvSpPr>
        <dsp:cNvPr id="0" name=""/>
        <dsp:cNvSpPr/>
      </dsp:nvSpPr>
      <dsp:spPr>
        <a:xfrm rot="16200000">
          <a:off x="1127139" y="1140423"/>
          <a:ext cx="4389454" cy="2108606"/>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lvl="0" algn="l" defTabSz="622300">
            <a:lnSpc>
              <a:spcPct val="90000"/>
            </a:lnSpc>
            <a:spcBef>
              <a:spcPct val="0"/>
            </a:spcBef>
            <a:spcAft>
              <a:spcPct val="35000"/>
            </a:spcAft>
          </a:pPr>
          <a:endParaRPr lang="es-VE" sz="1400" kern="1200" dirty="0"/>
        </a:p>
        <a:p>
          <a:pPr marL="114300" lvl="1" indent="-114300" algn="l" defTabSz="622300">
            <a:lnSpc>
              <a:spcPct val="90000"/>
            </a:lnSpc>
            <a:spcBef>
              <a:spcPct val="0"/>
            </a:spcBef>
            <a:spcAft>
              <a:spcPct val="15000"/>
            </a:spcAft>
            <a:buChar char="••"/>
          </a:pPr>
          <a:r>
            <a:rPr lang="es-VE" sz="1400" b="1" kern="1200" dirty="0" smtClean="0">
              <a:solidFill>
                <a:schemeClr val="tx1"/>
              </a:solidFill>
            </a:rPr>
            <a:t>TERRORISMO</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Los secuestros </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Las extorsiones </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El tráfico de armas y drogas </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El uso fraudulento de tarjetas de crédito </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Los fraudes contra aseguradoras y bancos</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El tráfico de seres humanos  </a:t>
          </a:r>
          <a:endParaRPr lang="es-VE" sz="1400" b="1" kern="1200" dirty="0">
            <a:solidFill>
              <a:schemeClr val="tx1"/>
            </a:solidFill>
          </a:endParaRPr>
        </a:p>
      </dsp:txBody>
      <dsp:txXfrm rot="16200000">
        <a:off x="1127139" y="1140423"/>
        <a:ext cx="4389454" cy="2108606"/>
      </dsp:txXfrm>
    </dsp:sp>
    <dsp:sp modelId="{7A9DBD5F-EF5E-4E96-AB81-123517049D84}">
      <dsp:nvSpPr>
        <dsp:cNvPr id="0" name=""/>
        <dsp:cNvSpPr/>
      </dsp:nvSpPr>
      <dsp:spPr>
        <a:xfrm rot="16200000">
          <a:off x="3393892" y="1140423"/>
          <a:ext cx="4389454" cy="2108606"/>
        </a:xfrm>
        <a:prstGeom prst="flowChartManualOperation">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lvl="0" algn="l" defTabSz="622300">
            <a:lnSpc>
              <a:spcPct val="90000"/>
            </a:lnSpc>
            <a:spcBef>
              <a:spcPct val="0"/>
            </a:spcBef>
            <a:spcAft>
              <a:spcPct val="35000"/>
            </a:spcAft>
          </a:pPr>
          <a:r>
            <a:rPr lang="es-VE" sz="1400" b="1" kern="1200" dirty="0" smtClean="0">
              <a:solidFill>
                <a:schemeClr val="tx1"/>
              </a:solidFill>
            </a:rPr>
            <a:t>FINANCIAMIENTO A LA PROLIFERACION DE ARMAS DE DESTRUCCION MASIVA</a:t>
          </a:r>
          <a:endParaRPr lang="es-VE" sz="1400" b="1"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Armas Nucleares</a:t>
          </a:r>
          <a:endParaRPr lang="es-VE" sz="1400"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Armas Biológicas</a:t>
          </a:r>
          <a:endParaRPr lang="es-VE" sz="1400" kern="1200" dirty="0">
            <a:solidFill>
              <a:schemeClr val="tx1"/>
            </a:solidFill>
          </a:endParaRPr>
        </a:p>
        <a:p>
          <a:pPr marL="114300" lvl="1" indent="-114300" algn="l" defTabSz="622300">
            <a:lnSpc>
              <a:spcPct val="90000"/>
            </a:lnSpc>
            <a:spcBef>
              <a:spcPct val="0"/>
            </a:spcBef>
            <a:spcAft>
              <a:spcPct val="15000"/>
            </a:spcAft>
            <a:buChar char="••"/>
          </a:pPr>
          <a:r>
            <a:rPr lang="es-VE" sz="1400" b="1" kern="1200" dirty="0" smtClean="0">
              <a:solidFill>
                <a:schemeClr val="tx1"/>
              </a:solidFill>
            </a:rPr>
            <a:t>Armas Químicas</a:t>
          </a:r>
          <a:endParaRPr lang="es-VE" sz="1400" kern="1200" dirty="0">
            <a:solidFill>
              <a:schemeClr val="tx1"/>
            </a:solidFill>
          </a:endParaRPr>
        </a:p>
      </dsp:txBody>
      <dsp:txXfrm rot="16200000">
        <a:off x="3393892" y="1140423"/>
        <a:ext cx="4389454" cy="2108606"/>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3489B4E-18F7-4C66-879F-7A23E0AC9F97}">
      <dsp:nvSpPr>
        <dsp:cNvPr id="0" name=""/>
        <dsp:cNvSpPr/>
      </dsp:nvSpPr>
      <dsp:spPr>
        <a:xfrm>
          <a:off x="3543283" y="635"/>
          <a:ext cx="1485960" cy="1485960"/>
        </a:xfrm>
        <a:prstGeom prst="ellipse">
          <a:avLst/>
        </a:prstGeom>
        <a:solidFill>
          <a:schemeClr val="bg1"/>
        </a:solid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OBLIGACIONES DE LA JUNTA DIRECTIVA</a:t>
          </a:r>
          <a:endParaRPr lang="es-VE" sz="1100" b="1" kern="1200" dirty="0">
            <a:solidFill>
              <a:schemeClr val="tx1"/>
            </a:solidFill>
          </a:endParaRPr>
        </a:p>
      </dsp:txBody>
      <dsp:txXfrm>
        <a:off x="3543283" y="635"/>
        <a:ext cx="1485960" cy="1485960"/>
      </dsp:txXfrm>
    </dsp:sp>
    <dsp:sp modelId="{87AECF0B-35A8-4FCF-B932-C2993B5C1E88}">
      <dsp:nvSpPr>
        <dsp:cNvPr id="0" name=""/>
        <dsp:cNvSpPr/>
      </dsp:nvSpPr>
      <dsp:spPr>
        <a:xfrm rot="2160000">
          <a:off x="4982317" y="1142126"/>
          <a:ext cx="395169" cy="501511"/>
        </a:xfrm>
        <a:prstGeom prst="rightArrow">
          <a:avLst>
            <a:gd name="adj1" fmla="val 60000"/>
            <a:gd name="adj2" fmla="val 50000"/>
          </a:avLst>
        </a:prstGeom>
        <a:solidFill>
          <a:schemeClr val="accent1">
            <a:tint val="60000"/>
            <a:hueOff val="0"/>
            <a:satOff val="0"/>
            <a:lumOff val="0"/>
            <a:alphaOff val="0"/>
          </a:schemeClr>
        </a:solidFill>
        <a:ln>
          <a:solidFill>
            <a:schemeClr val="accent1">
              <a:lumMod val="5000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s-VE" sz="900" kern="1200" dirty="0"/>
        </a:p>
      </dsp:txBody>
      <dsp:txXfrm rot="2160000">
        <a:off x="4982317" y="1142126"/>
        <a:ext cx="395169" cy="501511"/>
      </dsp:txXfrm>
    </dsp:sp>
    <dsp:sp modelId="{9F4AA26C-0D2D-43E4-A830-DE19D9C27257}">
      <dsp:nvSpPr>
        <dsp:cNvPr id="0" name=""/>
        <dsp:cNvSpPr/>
      </dsp:nvSpPr>
      <dsp:spPr>
        <a:xfrm>
          <a:off x="5348656" y="1312316"/>
          <a:ext cx="1485960" cy="1485960"/>
        </a:xfrm>
        <a:prstGeom prst="ellipse">
          <a:avLst/>
        </a:prstGeom>
        <a:solidFill>
          <a:schemeClr val="bg1"/>
        </a:solid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VE" sz="1200" b="1" kern="1200" dirty="0" smtClean="0">
              <a:solidFill>
                <a:schemeClr val="tx1"/>
              </a:solidFill>
            </a:rPr>
            <a:t>OBLIGACIONES DEL PRESIDENTE</a:t>
          </a:r>
          <a:endParaRPr lang="es-VE" sz="1200" kern="1200" dirty="0">
            <a:solidFill>
              <a:schemeClr val="tx1"/>
            </a:solidFill>
          </a:endParaRPr>
        </a:p>
      </dsp:txBody>
      <dsp:txXfrm>
        <a:off x="5348656" y="1312316"/>
        <a:ext cx="1485960" cy="1485960"/>
      </dsp:txXfrm>
    </dsp:sp>
    <dsp:sp modelId="{24E7589E-332D-45FC-A588-3AC572662746}">
      <dsp:nvSpPr>
        <dsp:cNvPr id="0" name=""/>
        <dsp:cNvSpPr/>
      </dsp:nvSpPr>
      <dsp:spPr>
        <a:xfrm rot="6480000">
          <a:off x="5555169" y="2852344"/>
          <a:ext cx="392031" cy="501511"/>
        </a:xfrm>
        <a:prstGeom prst="rightArrow">
          <a:avLst>
            <a:gd name="adj1" fmla="val 60000"/>
            <a:gd name="adj2" fmla="val 50000"/>
          </a:avLst>
        </a:prstGeom>
        <a:solidFill>
          <a:schemeClr val="accent1">
            <a:tint val="60000"/>
            <a:hueOff val="0"/>
            <a:satOff val="0"/>
            <a:lumOff val="0"/>
            <a:alphaOff val="0"/>
          </a:schemeClr>
        </a:solidFill>
        <a:ln>
          <a:solidFill>
            <a:schemeClr val="accent1">
              <a:lumMod val="5000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s-VE" sz="900" kern="1200" dirty="0"/>
        </a:p>
      </dsp:txBody>
      <dsp:txXfrm rot="6480000">
        <a:off x="5555169" y="2852344"/>
        <a:ext cx="392031" cy="501511"/>
      </dsp:txXfrm>
    </dsp:sp>
    <dsp:sp modelId="{69F90AC2-76FA-4E1C-BD75-713FE932903F}">
      <dsp:nvSpPr>
        <dsp:cNvPr id="0" name=""/>
        <dsp:cNvSpPr/>
      </dsp:nvSpPr>
      <dsp:spPr>
        <a:xfrm>
          <a:off x="4588987" y="3434659"/>
          <a:ext cx="1626116" cy="1485960"/>
        </a:xfrm>
        <a:prstGeom prst="ellipse">
          <a:avLst/>
        </a:prstGeom>
        <a:solidFill>
          <a:schemeClr val="bg1"/>
        </a:solid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VE" sz="1200" b="1" kern="1200" dirty="0" smtClean="0">
              <a:solidFill>
                <a:schemeClr val="tx1"/>
              </a:solidFill>
            </a:rPr>
            <a:t>OBLIGACIONES DEL OFICIAL DE CUMPLIMIENTO</a:t>
          </a:r>
          <a:endParaRPr lang="es-VE" sz="1200" kern="1200" dirty="0">
            <a:solidFill>
              <a:schemeClr val="tx1"/>
            </a:solidFill>
          </a:endParaRPr>
        </a:p>
      </dsp:txBody>
      <dsp:txXfrm>
        <a:off x="4588987" y="3434659"/>
        <a:ext cx="1626116" cy="1485960"/>
      </dsp:txXfrm>
    </dsp:sp>
    <dsp:sp modelId="{5844D0F8-DA98-460A-9E38-9402054BF3F1}">
      <dsp:nvSpPr>
        <dsp:cNvPr id="0" name=""/>
        <dsp:cNvSpPr/>
      </dsp:nvSpPr>
      <dsp:spPr>
        <a:xfrm rot="10800000">
          <a:off x="4188458" y="3926883"/>
          <a:ext cx="283040" cy="501511"/>
        </a:xfrm>
        <a:prstGeom prst="rightArrow">
          <a:avLst>
            <a:gd name="adj1" fmla="val 60000"/>
            <a:gd name="adj2" fmla="val 50000"/>
          </a:avLst>
        </a:prstGeom>
        <a:solidFill>
          <a:schemeClr val="accent1">
            <a:tint val="60000"/>
            <a:hueOff val="0"/>
            <a:satOff val="0"/>
            <a:lumOff val="0"/>
            <a:alphaOff val="0"/>
          </a:schemeClr>
        </a:solidFill>
        <a:ln>
          <a:solidFill>
            <a:schemeClr val="accent1">
              <a:lumMod val="5000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s-VE" sz="900" kern="1200" dirty="0"/>
        </a:p>
      </dsp:txBody>
      <dsp:txXfrm rot="10800000">
        <a:off x="4188458" y="3926883"/>
        <a:ext cx="283040" cy="501511"/>
      </dsp:txXfrm>
    </dsp:sp>
    <dsp:sp modelId="{3E697658-D2CC-492C-956E-922FE10F4B2C}">
      <dsp:nvSpPr>
        <dsp:cNvPr id="0" name=""/>
        <dsp:cNvSpPr/>
      </dsp:nvSpPr>
      <dsp:spPr>
        <a:xfrm>
          <a:off x="2286015" y="3434659"/>
          <a:ext cx="1768932" cy="1485960"/>
        </a:xfrm>
        <a:prstGeom prst="ellipse">
          <a:avLst/>
        </a:prstGeom>
        <a:solidFill>
          <a:schemeClr val="bg1"/>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FUNCIONES DE LA UNIDAD DE ADMINISTRACIÓN DE RIESGOS DE LC/FT/FPADM</a:t>
          </a:r>
          <a:endParaRPr lang="es-VE" sz="1100" kern="1200" dirty="0">
            <a:solidFill>
              <a:schemeClr val="tx1"/>
            </a:solidFill>
          </a:endParaRPr>
        </a:p>
      </dsp:txBody>
      <dsp:txXfrm>
        <a:off x="2286015" y="3434659"/>
        <a:ext cx="1768932" cy="1485960"/>
      </dsp:txXfrm>
    </dsp:sp>
    <dsp:sp modelId="{699741FB-F093-4EC1-9C8B-FDA483FC3283}">
      <dsp:nvSpPr>
        <dsp:cNvPr id="0" name=""/>
        <dsp:cNvSpPr/>
      </dsp:nvSpPr>
      <dsp:spPr>
        <a:xfrm rot="15120000">
          <a:off x="2632686" y="2871124"/>
          <a:ext cx="389516" cy="501511"/>
        </a:xfrm>
        <a:prstGeom prst="rightArrow">
          <a:avLst>
            <a:gd name="adj1" fmla="val 60000"/>
            <a:gd name="adj2" fmla="val 50000"/>
          </a:avLst>
        </a:prstGeom>
        <a:solidFill>
          <a:schemeClr val="accent1">
            <a:tint val="60000"/>
            <a:hueOff val="0"/>
            <a:satOff val="0"/>
            <a:lumOff val="0"/>
            <a:alphaOff val="0"/>
          </a:schemeClr>
        </a:solidFill>
        <a:ln>
          <a:solidFill>
            <a:schemeClr val="accent1">
              <a:lumMod val="5000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s-VE" sz="900" kern="1200" dirty="0"/>
        </a:p>
      </dsp:txBody>
      <dsp:txXfrm rot="15120000">
        <a:off x="2632686" y="2871124"/>
        <a:ext cx="389516" cy="501511"/>
      </dsp:txXfrm>
    </dsp:sp>
    <dsp:sp modelId="{78B917AD-9EFE-4CE2-A9F0-6CAB0237BD86}">
      <dsp:nvSpPr>
        <dsp:cNvPr id="0" name=""/>
        <dsp:cNvSpPr/>
      </dsp:nvSpPr>
      <dsp:spPr>
        <a:xfrm>
          <a:off x="1737910" y="1312316"/>
          <a:ext cx="1485960" cy="1485960"/>
        </a:xfrm>
        <a:prstGeom prst="ellipse">
          <a:avLst/>
        </a:prstGeom>
        <a:solidFill>
          <a:schemeClr val="bg1"/>
        </a:solid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VE" sz="1100" b="1" kern="1200" dirty="0" smtClean="0">
              <a:solidFill>
                <a:schemeClr val="tx1"/>
              </a:solidFill>
            </a:rPr>
            <a:t>FUNCIONES DE LOS RESPONSABLES DE CUMPLIMIENTO</a:t>
          </a:r>
          <a:endParaRPr lang="es-VE" sz="1100" kern="1200" dirty="0">
            <a:solidFill>
              <a:schemeClr val="tx1"/>
            </a:solidFill>
          </a:endParaRPr>
        </a:p>
      </dsp:txBody>
      <dsp:txXfrm>
        <a:off x="1737910" y="1312316"/>
        <a:ext cx="1485960" cy="1485960"/>
      </dsp:txXfrm>
    </dsp:sp>
    <dsp:sp modelId="{7210D9B4-BF75-4A45-81F5-52646C27539B}">
      <dsp:nvSpPr>
        <dsp:cNvPr id="0" name=""/>
        <dsp:cNvSpPr/>
      </dsp:nvSpPr>
      <dsp:spPr>
        <a:xfrm rot="19440000">
          <a:off x="3176944" y="1155274"/>
          <a:ext cx="395169" cy="501511"/>
        </a:xfrm>
        <a:prstGeom prst="rightArrow">
          <a:avLst>
            <a:gd name="adj1" fmla="val 60000"/>
            <a:gd name="adj2" fmla="val 50000"/>
          </a:avLst>
        </a:prstGeom>
        <a:solidFill>
          <a:schemeClr val="accent1">
            <a:tint val="60000"/>
            <a:hueOff val="0"/>
            <a:satOff val="0"/>
            <a:lumOff val="0"/>
            <a:alphaOff val="0"/>
          </a:schemeClr>
        </a:solidFill>
        <a:ln>
          <a:solidFill>
            <a:schemeClr val="accent1">
              <a:lumMod val="5000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s-VE" sz="900" kern="1200" dirty="0"/>
        </a:p>
      </dsp:txBody>
      <dsp:txXfrm rot="19440000">
        <a:off x="3176944" y="1155274"/>
        <a:ext cx="395169" cy="501511"/>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AEE12104-20DA-05B8-407B-1BD346167635}"/>
              </a:ext>
            </a:extLst>
          </p:cNvPr>
          <p:cNvSpPr>
            <a:spLocks noGrp="1"/>
          </p:cNvSpPr>
          <p:nvPr>
            <p:ph type="ctrTitle"/>
          </p:nvPr>
        </p:nvSpPr>
        <p:spPr>
          <a:xfrm>
            <a:off x="1143000" y="1122363"/>
            <a:ext cx="6858000" cy="2387600"/>
          </a:xfrm>
        </p:spPr>
        <p:txBody>
          <a:bodyPr anchor="b"/>
          <a:lstStyle>
            <a:lvl1pPr algn="ctr">
              <a:defRPr sz="4500"/>
            </a:lvl1pPr>
          </a:lstStyle>
          <a:p>
            <a:r>
              <a:rPr lang="es-ES" smtClean="0"/>
              <a:t>Haga clic para modificar el estilo de título del patrón</a:t>
            </a:r>
            <a:endParaRPr lang="es-VE"/>
          </a:p>
        </p:txBody>
      </p:sp>
      <p:sp>
        <p:nvSpPr>
          <p:cNvPr id="3" name="Subtítulo 2">
            <a:extLst>
              <a:ext uri="{FF2B5EF4-FFF2-40B4-BE49-F238E27FC236}">
                <a16:creationId xmlns="" xmlns:a16="http://schemas.microsoft.com/office/drawing/2014/main" id="{DF163B45-B681-3F6F-67F7-7BDCB388788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smtClean="0"/>
              <a:t>Haga clic para modificar el estilo de subtítulo del patrón</a:t>
            </a:r>
            <a:endParaRPr lang="es-VE"/>
          </a:p>
        </p:txBody>
      </p:sp>
      <p:sp>
        <p:nvSpPr>
          <p:cNvPr id="4" name="Marcador de fecha 3">
            <a:extLst>
              <a:ext uri="{FF2B5EF4-FFF2-40B4-BE49-F238E27FC236}">
                <a16:creationId xmlns="" xmlns:a16="http://schemas.microsoft.com/office/drawing/2014/main" id="{B9B42077-E71F-EECC-0F1A-D0B94E8336E0}"/>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0F52EDE8-63CC-E276-1A31-1EF945EB8B2C}"/>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 xmlns:a16="http://schemas.microsoft.com/office/drawing/2014/main" id="{CC1E6C6B-8506-2554-E400-BF3F29F21E98}"/>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2431825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049858E-3DA8-19FE-CA15-B9ABFB54461A}"/>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 xmlns:a16="http://schemas.microsoft.com/office/drawing/2014/main" id="{8757B9BA-D8A4-8D4B-49D4-FA8B5F39A4D8}"/>
              </a:ext>
            </a:extLst>
          </p:cNvPr>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 xmlns:a16="http://schemas.microsoft.com/office/drawing/2014/main" id="{77903F39-DB43-EB3F-AB52-A7A796AAD315}"/>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56BBC387-1A06-3DCB-62CB-31A09F2FF87B}"/>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 xmlns:a16="http://schemas.microsoft.com/office/drawing/2014/main" id="{4254708C-4E85-0DDE-7C3C-E8DC931F155A}"/>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356096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44C126-BA27-B2A1-18B1-D78553FBE333}"/>
              </a:ext>
            </a:extLst>
          </p:cNvPr>
          <p:cNvSpPr>
            <a:spLocks noGrp="1"/>
          </p:cNvSpPr>
          <p:nvPr>
            <p:ph type="title"/>
          </p:nvPr>
        </p:nvSpPr>
        <p:spPr>
          <a:xfrm>
            <a:off x="623888" y="1709739"/>
            <a:ext cx="7886700" cy="2852737"/>
          </a:xfrm>
        </p:spPr>
        <p:txBody>
          <a:bodyPr anchor="b"/>
          <a:lstStyle>
            <a:lvl1pPr>
              <a:defRPr sz="4500"/>
            </a:lvl1pPr>
          </a:lstStyle>
          <a:p>
            <a:r>
              <a:rPr lang="es-ES" smtClean="0"/>
              <a:t>Haga clic para modificar el estilo de título del patrón</a:t>
            </a:r>
            <a:endParaRPr lang="es-VE"/>
          </a:p>
        </p:txBody>
      </p:sp>
      <p:sp>
        <p:nvSpPr>
          <p:cNvPr id="3" name="Marcador de texto 2">
            <a:extLst>
              <a:ext uri="{FF2B5EF4-FFF2-40B4-BE49-F238E27FC236}">
                <a16:creationId xmlns="" xmlns:a16="http://schemas.microsoft.com/office/drawing/2014/main" id="{2B99081D-B15B-27AD-1147-84908553339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smtClean="0"/>
              <a:t>Haga clic para modificar el estilo de texto del patrón</a:t>
            </a:r>
          </a:p>
        </p:txBody>
      </p:sp>
      <p:sp>
        <p:nvSpPr>
          <p:cNvPr id="4" name="Marcador de fecha 3">
            <a:extLst>
              <a:ext uri="{FF2B5EF4-FFF2-40B4-BE49-F238E27FC236}">
                <a16:creationId xmlns="" xmlns:a16="http://schemas.microsoft.com/office/drawing/2014/main" id="{1B18E64A-8611-7576-EEFA-F819695B7221}"/>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785C6D8A-B4A5-77CC-2149-544E5B32A422}"/>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 xmlns:a16="http://schemas.microsoft.com/office/drawing/2014/main" id="{A02F107D-5A4D-C8BD-720C-BFB592DD98C0}"/>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1014196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645FAEE-1974-28EA-4322-85F03684B7E5}"/>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 xmlns:a16="http://schemas.microsoft.com/office/drawing/2014/main" id="{7229B877-4A22-0FB9-4723-59D02703E3F1}"/>
              </a:ext>
            </a:extLst>
          </p:cNvPr>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contenido 3">
            <a:extLst>
              <a:ext uri="{FF2B5EF4-FFF2-40B4-BE49-F238E27FC236}">
                <a16:creationId xmlns="" xmlns:a16="http://schemas.microsoft.com/office/drawing/2014/main" id="{E94D0D32-D2DF-C36B-AD1F-4F00C6B80982}"/>
              </a:ext>
            </a:extLst>
          </p:cNvPr>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fecha 4">
            <a:extLst>
              <a:ext uri="{FF2B5EF4-FFF2-40B4-BE49-F238E27FC236}">
                <a16:creationId xmlns="" xmlns:a16="http://schemas.microsoft.com/office/drawing/2014/main" id="{9C75B6E7-754C-1AA5-C707-CA95D6093CE6}"/>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6" name="Marcador de pie de página 5">
            <a:extLst>
              <a:ext uri="{FF2B5EF4-FFF2-40B4-BE49-F238E27FC236}">
                <a16:creationId xmlns="" xmlns:a16="http://schemas.microsoft.com/office/drawing/2014/main" id="{2B78FC5C-E289-A198-E113-3DFC454429A6}"/>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 xmlns:a16="http://schemas.microsoft.com/office/drawing/2014/main" id="{84D49A57-04E2-0843-4FA5-BC63FA2F7E31}"/>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35726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D4F8B54-7487-498B-08B1-A9F7C3A68138}"/>
              </a:ext>
            </a:extLst>
          </p:cNvPr>
          <p:cNvSpPr>
            <a:spLocks noGrp="1"/>
          </p:cNvSpPr>
          <p:nvPr>
            <p:ph type="title"/>
          </p:nvPr>
        </p:nvSpPr>
        <p:spPr>
          <a:xfrm>
            <a:off x="629841" y="365126"/>
            <a:ext cx="7886700" cy="1325563"/>
          </a:xfrm>
        </p:spPr>
        <p:txBody>
          <a:bodyPr/>
          <a:lstStyle/>
          <a:p>
            <a:r>
              <a:rPr lang="es-ES" smtClean="0"/>
              <a:t>Haga clic para modificar el estilo de título del patrón</a:t>
            </a:r>
            <a:endParaRPr lang="es-VE"/>
          </a:p>
        </p:txBody>
      </p:sp>
      <p:sp>
        <p:nvSpPr>
          <p:cNvPr id="3" name="Marcador de texto 2">
            <a:extLst>
              <a:ext uri="{FF2B5EF4-FFF2-40B4-BE49-F238E27FC236}">
                <a16:creationId xmlns="" xmlns:a16="http://schemas.microsoft.com/office/drawing/2014/main" id="{65E8DA89-DB87-791B-7DFB-776B4C6F8FF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4" name="Marcador de contenido 3">
            <a:extLst>
              <a:ext uri="{FF2B5EF4-FFF2-40B4-BE49-F238E27FC236}">
                <a16:creationId xmlns="" xmlns:a16="http://schemas.microsoft.com/office/drawing/2014/main" id="{41C502A7-121B-A79A-E05D-2C50AA055FD2}"/>
              </a:ext>
            </a:extLst>
          </p:cNvPr>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texto 4">
            <a:extLst>
              <a:ext uri="{FF2B5EF4-FFF2-40B4-BE49-F238E27FC236}">
                <a16:creationId xmlns="" xmlns:a16="http://schemas.microsoft.com/office/drawing/2014/main" id="{C1945597-AB7E-6443-868F-CA48AA41ABF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6" name="Marcador de contenido 5">
            <a:extLst>
              <a:ext uri="{FF2B5EF4-FFF2-40B4-BE49-F238E27FC236}">
                <a16:creationId xmlns="" xmlns:a16="http://schemas.microsoft.com/office/drawing/2014/main" id="{F1807428-E4F0-3838-EC16-10340B1573EB}"/>
              </a:ext>
            </a:extLst>
          </p:cNvPr>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7" name="Marcador de fecha 6">
            <a:extLst>
              <a:ext uri="{FF2B5EF4-FFF2-40B4-BE49-F238E27FC236}">
                <a16:creationId xmlns="" xmlns:a16="http://schemas.microsoft.com/office/drawing/2014/main" id="{AAC20B8C-3295-29A4-C641-7768B421755A}"/>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8" name="Marcador de pie de página 7">
            <a:extLst>
              <a:ext uri="{FF2B5EF4-FFF2-40B4-BE49-F238E27FC236}">
                <a16:creationId xmlns="" xmlns:a16="http://schemas.microsoft.com/office/drawing/2014/main" id="{3B608B71-041F-BDDD-3669-31CBA9287F08}"/>
              </a:ext>
            </a:extLst>
          </p:cNvPr>
          <p:cNvSpPr>
            <a:spLocks noGrp="1"/>
          </p:cNvSpPr>
          <p:nvPr>
            <p:ph type="ftr" sz="quarter" idx="11"/>
          </p:nvPr>
        </p:nvSpPr>
        <p:spPr/>
        <p:txBody>
          <a:bodyPr/>
          <a:lstStyle/>
          <a:p>
            <a:endParaRPr lang="es-VE" dirty="0"/>
          </a:p>
        </p:txBody>
      </p:sp>
      <p:sp>
        <p:nvSpPr>
          <p:cNvPr id="9" name="Marcador de número de diapositiva 8">
            <a:extLst>
              <a:ext uri="{FF2B5EF4-FFF2-40B4-BE49-F238E27FC236}">
                <a16:creationId xmlns="" xmlns:a16="http://schemas.microsoft.com/office/drawing/2014/main" id="{7CA437EB-2646-A6A1-229C-F6CB3B8B801E}"/>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155721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A0292BD-DDA3-C00B-0B04-8FDE81A8A5A7}"/>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fecha 2">
            <a:extLst>
              <a:ext uri="{FF2B5EF4-FFF2-40B4-BE49-F238E27FC236}">
                <a16:creationId xmlns="" xmlns:a16="http://schemas.microsoft.com/office/drawing/2014/main" id="{5B61AE77-6983-804E-B490-A0B928B44E21}"/>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4" name="Marcador de pie de página 3">
            <a:extLst>
              <a:ext uri="{FF2B5EF4-FFF2-40B4-BE49-F238E27FC236}">
                <a16:creationId xmlns="" xmlns:a16="http://schemas.microsoft.com/office/drawing/2014/main" id="{8912ABC8-BD8F-77CE-6683-230BC6A98686}"/>
              </a:ext>
            </a:extLst>
          </p:cNvPr>
          <p:cNvSpPr>
            <a:spLocks noGrp="1"/>
          </p:cNvSpPr>
          <p:nvPr>
            <p:ph type="ftr" sz="quarter" idx="11"/>
          </p:nvPr>
        </p:nvSpPr>
        <p:spPr/>
        <p:txBody>
          <a:bodyPr/>
          <a:lstStyle/>
          <a:p>
            <a:endParaRPr lang="es-VE" dirty="0"/>
          </a:p>
        </p:txBody>
      </p:sp>
      <p:sp>
        <p:nvSpPr>
          <p:cNvPr id="5" name="Marcador de número de diapositiva 4">
            <a:extLst>
              <a:ext uri="{FF2B5EF4-FFF2-40B4-BE49-F238E27FC236}">
                <a16:creationId xmlns="" xmlns:a16="http://schemas.microsoft.com/office/drawing/2014/main" id="{90387717-222D-B263-D9BD-E0177848CC09}"/>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370044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0DF20DD5-F9E3-1BDD-93E9-E49026FE4BED}"/>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3" name="Marcador de pie de página 2">
            <a:extLst>
              <a:ext uri="{FF2B5EF4-FFF2-40B4-BE49-F238E27FC236}">
                <a16:creationId xmlns="" xmlns:a16="http://schemas.microsoft.com/office/drawing/2014/main" id="{63F01B87-0BB6-8285-2544-1483DD175A61}"/>
              </a:ext>
            </a:extLst>
          </p:cNvPr>
          <p:cNvSpPr>
            <a:spLocks noGrp="1"/>
          </p:cNvSpPr>
          <p:nvPr>
            <p:ph type="ftr" sz="quarter" idx="11"/>
          </p:nvPr>
        </p:nvSpPr>
        <p:spPr/>
        <p:txBody>
          <a:bodyPr/>
          <a:lstStyle/>
          <a:p>
            <a:endParaRPr lang="es-VE" dirty="0"/>
          </a:p>
        </p:txBody>
      </p:sp>
      <p:sp>
        <p:nvSpPr>
          <p:cNvPr id="4" name="Marcador de número de diapositiva 3">
            <a:extLst>
              <a:ext uri="{FF2B5EF4-FFF2-40B4-BE49-F238E27FC236}">
                <a16:creationId xmlns="" xmlns:a16="http://schemas.microsoft.com/office/drawing/2014/main" id="{386F0086-E115-D13F-8FE2-565424F0BF00}"/>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407223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5E82521-CCC8-3AFC-B81E-3172ED254E97}"/>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contenido 2">
            <a:extLst>
              <a:ext uri="{FF2B5EF4-FFF2-40B4-BE49-F238E27FC236}">
                <a16:creationId xmlns="" xmlns:a16="http://schemas.microsoft.com/office/drawing/2014/main" id="{C4AEBA1F-915B-9FDA-781D-29B598EA113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texto 3">
            <a:extLst>
              <a:ext uri="{FF2B5EF4-FFF2-40B4-BE49-F238E27FC236}">
                <a16:creationId xmlns="" xmlns:a16="http://schemas.microsoft.com/office/drawing/2014/main" id="{090A3E79-AD0E-A76D-7E97-737FD6B359E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 xmlns:a16="http://schemas.microsoft.com/office/drawing/2014/main" id="{6E2A7931-D2CE-F02B-0188-AB2F1CB5DBAD}"/>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6" name="Marcador de pie de página 5">
            <a:extLst>
              <a:ext uri="{FF2B5EF4-FFF2-40B4-BE49-F238E27FC236}">
                <a16:creationId xmlns="" xmlns:a16="http://schemas.microsoft.com/office/drawing/2014/main" id="{AA42FFB7-7346-C1C1-2384-19BD1A6A2CE3}"/>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 xmlns:a16="http://schemas.microsoft.com/office/drawing/2014/main" id="{FF305443-163F-A41E-AF59-62389C861864}"/>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1083863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4ECCE6A-538C-D7E5-56B2-FA93F80A0215}"/>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posición de imagen 2">
            <a:extLst>
              <a:ext uri="{FF2B5EF4-FFF2-40B4-BE49-F238E27FC236}">
                <a16:creationId xmlns="" xmlns:a16="http://schemas.microsoft.com/office/drawing/2014/main" id="{F366D8AD-6D05-AEEC-32EA-93ACAF0B1F6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dirty="0" smtClean="0"/>
              <a:t>Haga clic en el icono para agregar una imagen</a:t>
            </a:r>
            <a:endParaRPr lang="es-VE" dirty="0"/>
          </a:p>
        </p:txBody>
      </p:sp>
      <p:sp>
        <p:nvSpPr>
          <p:cNvPr id="4" name="Marcador de texto 3">
            <a:extLst>
              <a:ext uri="{FF2B5EF4-FFF2-40B4-BE49-F238E27FC236}">
                <a16:creationId xmlns="" xmlns:a16="http://schemas.microsoft.com/office/drawing/2014/main" id="{41CFC213-CC5C-580F-8640-76F7CC98B14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 xmlns:a16="http://schemas.microsoft.com/office/drawing/2014/main" id="{44B96481-030D-7069-A7D0-4F436ACE7D8A}"/>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6" name="Marcador de pie de página 5">
            <a:extLst>
              <a:ext uri="{FF2B5EF4-FFF2-40B4-BE49-F238E27FC236}">
                <a16:creationId xmlns="" xmlns:a16="http://schemas.microsoft.com/office/drawing/2014/main" id="{EB94E785-A55C-0853-485B-0527B89F47CD}"/>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 xmlns:a16="http://schemas.microsoft.com/office/drawing/2014/main" id="{768BAC42-5306-29B8-59B8-BF498A506E84}"/>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182416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588FB3C-1DD1-97D7-F3D3-82DE3159BB84}"/>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texto vertical 2">
            <a:extLst>
              <a:ext uri="{FF2B5EF4-FFF2-40B4-BE49-F238E27FC236}">
                <a16:creationId xmlns="" xmlns:a16="http://schemas.microsoft.com/office/drawing/2014/main" id="{380300DA-8D9F-BFD7-D93F-0B9C95D11F37}"/>
              </a:ext>
            </a:extLst>
          </p:cNvPr>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 xmlns:a16="http://schemas.microsoft.com/office/drawing/2014/main" id="{424A6390-A069-7AC2-E8EE-DA084DCEB4F0}"/>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A4A5FFDF-4808-8459-79A4-5D3383DC2091}"/>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 xmlns:a16="http://schemas.microsoft.com/office/drawing/2014/main" id="{97470D75-5DB2-94DF-5B67-A7FDE4CF63C8}"/>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278414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F8FFD3D8-520A-09D3-81F8-06C36F901A01}"/>
              </a:ext>
            </a:extLst>
          </p:cNvPr>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s-VE"/>
          </a:p>
        </p:txBody>
      </p:sp>
      <p:sp>
        <p:nvSpPr>
          <p:cNvPr id="3" name="Marcador de texto vertical 2">
            <a:extLst>
              <a:ext uri="{FF2B5EF4-FFF2-40B4-BE49-F238E27FC236}">
                <a16:creationId xmlns="" xmlns:a16="http://schemas.microsoft.com/office/drawing/2014/main" id="{B22C14C5-ED69-1B4B-906B-4CF7FE71DC86}"/>
              </a:ext>
            </a:extLst>
          </p:cNvPr>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 xmlns:a16="http://schemas.microsoft.com/office/drawing/2014/main" id="{4F75F89A-6CBB-9242-F216-95FF3B09022B}"/>
              </a:ext>
            </a:extLst>
          </p:cNvPr>
          <p:cNvSpPr>
            <a:spLocks noGrp="1"/>
          </p:cNvSpPr>
          <p:nvPr>
            <p:ph type="dt" sz="half" idx="10"/>
          </p:nvPr>
        </p:nvSpPr>
        <p:spPr/>
        <p:txBody>
          <a:body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C4A7D410-8108-358C-82E2-4F28D0C758A0}"/>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 xmlns:a16="http://schemas.microsoft.com/office/drawing/2014/main" id="{7B77523B-0D23-D852-558C-DB6A06C85241}"/>
              </a:ext>
            </a:extLst>
          </p:cNvPr>
          <p:cNvSpPr>
            <a:spLocks noGrp="1"/>
          </p:cNvSpPr>
          <p:nvPr>
            <p:ph type="sldNum" sz="quarter" idx="12"/>
          </p:nvPr>
        </p:nvSpPr>
        <p:spPr/>
        <p:txBody>
          <a:body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26275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43000">
              <a:schemeClr val="accent2">
                <a:lumMod val="0"/>
                <a:lumOff val="100000"/>
              </a:schemeClr>
            </a:gs>
            <a:gs pos="100000">
              <a:srgbClr val="72CFFA"/>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7018514E-DEE6-5DF2-43CC-4FA13C3D0E2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MX"/>
              <a:t>Haz clic para modificar el estilo de título del patrón</a:t>
            </a:r>
            <a:endParaRPr lang="es-VE"/>
          </a:p>
        </p:txBody>
      </p:sp>
      <p:sp>
        <p:nvSpPr>
          <p:cNvPr id="3" name="Marcador de texto 2">
            <a:extLst>
              <a:ext uri="{FF2B5EF4-FFF2-40B4-BE49-F238E27FC236}">
                <a16:creationId xmlns="" xmlns:a16="http://schemas.microsoft.com/office/drawing/2014/main" id="{5A612245-5EC6-48D0-A51F-310FC041B05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VE"/>
          </a:p>
        </p:txBody>
      </p:sp>
      <p:sp>
        <p:nvSpPr>
          <p:cNvPr id="4" name="Marcador de fecha 3">
            <a:extLst>
              <a:ext uri="{FF2B5EF4-FFF2-40B4-BE49-F238E27FC236}">
                <a16:creationId xmlns="" xmlns:a16="http://schemas.microsoft.com/office/drawing/2014/main" id="{B3E79396-08C5-D630-7F18-F78091B9C22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9564B9E-7CD3-4A54-824D-E83EB931C38F}" type="datetimeFigureOut">
              <a:rPr lang="es-VE" smtClean="0"/>
              <a:pPr/>
              <a:t>27/06/2023</a:t>
            </a:fld>
            <a:endParaRPr lang="es-VE" dirty="0"/>
          </a:p>
        </p:txBody>
      </p:sp>
      <p:sp>
        <p:nvSpPr>
          <p:cNvPr id="5" name="Marcador de pie de página 4">
            <a:extLst>
              <a:ext uri="{FF2B5EF4-FFF2-40B4-BE49-F238E27FC236}">
                <a16:creationId xmlns="" xmlns:a16="http://schemas.microsoft.com/office/drawing/2014/main" id="{449D00CB-3B3F-CAF3-3B67-EBFA0F1E90C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VE" dirty="0"/>
          </a:p>
        </p:txBody>
      </p:sp>
      <p:sp>
        <p:nvSpPr>
          <p:cNvPr id="6" name="Marcador de número de diapositiva 5">
            <a:extLst>
              <a:ext uri="{FF2B5EF4-FFF2-40B4-BE49-F238E27FC236}">
                <a16:creationId xmlns="" xmlns:a16="http://schemas.microsoft.com/office/drawing/2014/main" id="{832453EB-4ED4-428F-95EE-D23503EC72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35F9FE7-36B9-4DAC-999B-B30CFE141E63}" type="slidenum">
              <a:rPr lang="es-VE" smtClean="0"/>
              <a:pPr/>
              <a:t>‹Nº›</a:t>
            </a:fld>
            <a:endParaRPr lang="es-VE" dirty="0"/>
          </a:p>
        </p:txBody>
      </p:sp>
    </p:spTree>
    <p:extLst>
      <p:ext uri="{BB962C8B-B14F-4D97-AF65-F5344CB8AC3E}">
        <p14:creationId xmlns="" xmlns:p14="http://schemas.microsoft.com/office/powerpoint/2010/main" val="11200387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V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1.xml"/><Relationship Id="rId14"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png"/><Relationship Id="rId7" Type="http://schemas.openxmlformats.org/officeDocument/2006/relationships/diagramQuickStyle" Target="../diagrams/quickStyle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pn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4.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3.png"/><Relationship Id="rId16"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8.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2.png"/><Relationship Id="rId7" Type="http://schemas.openxmlformats.org/officeDocument/2006/relationships/diagramQuickStyle" Target="../diagrams/quickStyle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11.xml"/><Relationship Id="rId11" Type="http://schemas.openxmlformats.org/officeDocument/2006/relationships/image" Target="../media/image9.jpeg"/><Relationship Id="rId5" Type="http://schemas.openxmlformats.org/officeDocument/2006/relationships/diagramData" Target="../diagrams/data11.xml"/><Relationship Id="rId10" Type="http://schemas.openxmlformats.org/officeDocument/2006/relationships/image" Target="../media/image8.png"/><Relationship Id="rId4" Type="http://schemas.openxmlformats.org/officeDocument/2006/relationships/image" Target="../media/image4.png"/><Relationship Id="rId9" Type="http://schemas.microsoft.com/office/2007/relationships/diagramDrawing" Target="../diagrams/drawing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2.png"/><Relationship Id="rId7" Type="http://schemas.openxmlformats.org/officeDocument/2006/relationships/diagramQuickStyle" Target="../diagrams/quickStyle1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4.png"/><Relationship Id="rId9" Type="http://schemas.microsoft.com/office/2007/relationships/diagramDrawing" Target="../diagrams/drawing13.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4.png"/></Relationships>
</file>

<file path=ppt/slides/_rels/slide3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2.png"/><Relationship Id="rId7" Type="http://schemas.openxmlformats.org/officeDocument/2006/relationships/diagramColors" Target="../diagrams/colors1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10" Type="http://schemas.openxmlformats.org/officeDocument/2006/relationships/image" Target="../media/image2.png"/><Relationship Id="rId4" Type="http://schemas.openxmlformats.org/officeDocument/2006/relationships/diagramData" Target="../diagrams/data16.xml"/><Relationship Id="rId9"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 Id="rId9"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61" name="Picture 9" descr="C:\Users\contablidad\Desktop\ARCHIVOS JOSE GREGORIO\header.jpg"/>
          <p:cNvPicPr>
            <a:picLocks noChangeAspect="1" noChangeArrowheads="1"/>
          </p:cNvPicPr>
          <p:nvPr/>
        </p:nvPicPr>
        <p:blipFill>
          <a:blip r:embed="rId2" cstate="print"/>
          <a:srcRect/>
          <a:stretch>
            <a:fillRect/>
          </a:stretch>
        </p:blipFill>
        <p:spPr bwMode="auto">
          <a:xfrm>
            <a:off x="2500298" y="1857364"/>
            <a:ext cx="6643702" cy="4143404"/>
          </a:xfrm>
          <a:prstGeom prst="rect">
            <a:avLst/>
          </a:prstGeom>
          <a:noFill/>
        </p:spPr>
      </p:pic>
      <p:sp>
        <p:nvSpPr>
          <p:cNvPr id="23554" name="AutoShape 2" descr="Mercantil Banc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56" name="AutoShape 4"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58" name="AutoShape 6"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60" name="AutoShape 8"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23563" name="Picture 11"/>
          <p:cNvPicPr>
            <a:picLocks noChangeAspect="1" noChangeArrowheads="1"/>
          </p:cNvPicPr>
          <p:nvPr/>
        </p:nvPicPr>
        <p:blipFill>
          <a:blip r:embed="rId3" cstate="print"/>
          <a:srcRect/>
          <a:stretch>
            <a:fillRect/>
          </a:stretch>
        </p:blipFill>
        <p:spPr bwMode="auto">
          <a:xfrm>
            <a:off x="6215074" y="0"/>
            <a:ext cx="2928926" cy="1571612"/>
          </a:xfrm>
          <a:prstGeom prst="rect">
            <a:avLst/>
          </a:prstGeom>
          <a:noFill/>
          <a:ln w="9525">
            <a:noFill/>
            <a:miter lim="800000"/>
            <a:headEnd/>
            <a:tailEnd/>
          </a:ln>
          <a:effectLst/>
        </p:spPr>
      </p:pic>
      <p:pic>
        <p:nvPicPr>
          <p:cNvPr id="9" name="Imagen 6"/>
          <p:cNvPicPr>
            <a:picLocks noChangeAspect="1"/>
          </p:cNvPicPr>
          <p:nvPr/>
        </p:nvPicPr>
        <p:blipFill>
          <a:blip r:embed="rId4" cstate="print"/>
          <a:srcRect/>
          <a:stretch>
            <a:fillRect/>
          </a:stretch>
        </p:blipFill>
        <p:spPr bwMode="auto">
          <a:xfrm>
            <a:off x="0" y="1"/>
            <a:ext cx="2214545" cy="2000240"/>
          </a:xfrm>
          <a:prstGeom prst="rect">
            <a:avLst/>
          </a:prstGeom>
          <a:noFill/>
          <a:ln w="9525">
            <a:noFill/>
            <a:miter lim="800000"/>
            <a:headEnd/>
            <a:tailEnd/>
          </a:ln>
        </p:spPr>
      </p:pic>
      <p:sp>
        <p:nvSpPr>
          <p:cNvPr id="10" name="9 Rectángulo"/>
          <p:cNvSpPr/>
          <p:nvPr/>
        </p:nvSpPr>
        <p:spPr>
          <a:xfrm rot="20492214">
            <a:off x="80484" y="3380982"/>
            <a:ext cx="2553711" cy="923330"/>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s-ES" sz="5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UNIDAD</a:t>
            </a:r>
            <a:endParaRPr lang="es-ES" sz="54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285984" y="1403343"/>
            <a:ext cx="6586526" cy="5454657"/>
          </a:xfrm>
        </p:spPr>
        <p:txBody>
          <a:bodyPr/>
          <a:lstStyle/>
          <a:p>
            <a:pPr algn="ctr">
              <a:buNone/>
              <a:tabLst>
                <a:tab pos="2428875" algn="l"/>
              </a:tabLst>
            </a:pPr>
            <a:endParaRPr lang="es-VE" b="1" i="1" dirty="0" smtClean="0">
              <a:solidFill>
                <a:schemeClr val="accent1">
                  <a:lumMod val="50000"/>
                </a:schemeClr>
              </a:solidFill>
            </a:endParaRPr>
          </a:p>
          <a:p>
            <a:pPr algn="ctr">
              <a:buNone/>
              <a:tabLst>
                <a:tab pos="2428875" algn="l"/>
              </a:tabLst>
            </a:pPr>
            <a:endParaRPr lang="es-VE" b="1" i="1" dirty="0" smtClean="0">
              <a:solidFill>
                <a:schemeClr val="accent1">
                  <a:lumMod val="50000"/>
                </a:schemeClr>
              </a:solidFill>
            </a:endParaRPr>
          </a:p>
          <a:p>
            <a:pPr algn="ctr">
              <a:buNone/>
              <a:tabLst>
                <a:tab pos="2428875" algn="l"/>
              </a:tabLst>
            </a:pPr>
            <a:r>
              <a:rPr lang="es-VE" b="1" i="1" dirty="0" smtClean="0">
                <a:solidFill>
                  <a:schemeClr val="accent1">
                    <a:lumMod val="50000"/>
                  </a:schemeClr>
                </a:solidFill>
              </a:rPr>
              <a:t>MANUAL DE POLÍTICAS, NORMAS Y PROCEDIMIENTOS</a:t>
            </a:r>
            <a:endParaRPr lang="es-VE" dirty="0" smtClean="0">
              <a:solidFill>
                <a:schemeClr val="accent1">
                  <a:lumMod val="50000"/>
                </a:schemeClr>
              </a:solidFill>
            </a:endParaRPr>
          </a:p>
          <a:p>
            <a:pPr algn="ctr">
              <a:buNone/>
              <a:tabLst>
                <a:tab pos="2428875" algn="l"/>
              </a:tabLst>
            </a:pPr>
            <a:r>
              <a:rPr lang="es-VE" b="1" i="1" dirty="0" smtClean="0">
                <a:solidFill>
                  <a:schemeClr val="accent1">
                    <a:lumMod val="50000"/>
                  </a:schemeClr>
                </a:solidFill>
              </a:rPr>
              <a:t>(Basado en riesgos)</a:t>
            </a:r>
            <a:endParaRPr lang="es-VE" dirty="0" smtClean="0">
              <a:solidFill>
                <a:schemeClr val="accent1">
                  <a:lumMod val="50000"/>
                </a:schemeClr>
              </a:solidFill>
            </a:endParaRPr>
          </a:p>
          <a:p>
            <a:pPr algn="ctr">
              <a:buNone/>
              <a:tabLst>
                <a:tab pos="2428875" algn="l"/>
              </a:tabLst>
            </a:pPr>
            <a:r>
              <a:rPr lang="es-VE" b="1" i="1" dirty="0" smtClean="0">
                <a:solidFill>
                  <a:schemeClr val="accent1">
                    <a:lumMod val="50000"/>
                  </a:schemeClr>
                </a:solidFill>
              </a:rPr>
              <a:t>DE LEGITIMACIÓN DE CAPITALES, FINANCIAMIENTO AL TERRORISMO Y FINANCIAMIENTO DE LA PROLIFERACIÓN DE ARMAS DE DESTRUCCIÓN MASIVA.</a:t>
            </a:r>
            <a:endParaRPr lang="es-VE" dirty="0" smtClean="0">
              <a:solidFill>
                <a:schemeClr val="accent1">
                  <a:lumMod val="50000"/>
                </a:schemeClr>
              </a:solidFill>
            </a:endParaRPr>
          </a:p>
          <a:p>
            <a:pPr algn="ctr">
              <a:buNone/>
              <a:tabLst>
                <a:tab pos="2428875" algn="l"/>
              </a:tabLst>
            </a:pPr>
            <a:r>
              <a:rPr lang="es-VE" dirty="0" smtClean="0">
                <a:solidFill>
                  <a:schemeClr val="accent1">
                    <a:lumMod val="50000"/>
                  </a:schemeClr>
                </a:solidFill>
              </a:rPr>
              <a:t> </a:t>
            </a:r>
          </a:p>
          <a:p>
            <a:pPr algn="ctr">
              <a:buNone/>
              <a:tabLst>
                <a:tab pos="2428875" algn="l"/>
              </a:tabLst>
            </a:pPr>
            <a:r>
              <a:rPr lang="es-VE" b="1" i="1" dirty="0" smtClean="0">
                <a:solidFill>
                  <a:schemeClr val="accent1">
                    <a:lumMod val="50000"/>
                  </a:schemeClr>
                </a:solidFill>
              </a:rPr>
              <a:t>CLINISALUD MEDICINA PREPAGADA, S.A.</a:t>
            </a:r>
            <a:endParaRPr lang="es-VE" dirty="0" smtClean="0">
              <a:solidFill>
                <a:schemeClr val="accent1">
                  <a:lumMod val="50000"/>
                </a:schemeClr>
              </a:solidFill>
            </a:endParaRPr>
          </a:p>
          <a:p>
            <a:pPr algn="ctr">
              <a:buNone/>
            </a:pPr>
            <a:r>
              <a:rPr lang="es-VE" sz="2000" dirty="0" smtClean="0">
                <a:solidFill>
                  <a:schemeClr val="accent1">
                    <a:lumMod val="50000"/>
                  </a:schemeClr>
                </a:solidFill>
              </a:rPr>
              <a:t>Caracas, octubre de 2022</a:t>
            </a:r>
          </a:p>
          <a:p>
            <a:pPr algn="just"/>
            <a:endParaRPr lang="es-VE" dirty="0"/>
          </a:p>
        </p:txBody>
      </p:sp>
      <p:pic>
        <p:nvPicPr>
          <p:cNvPr id="5"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23554" name="AutoShape 2" descr="Mercantil Banc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56" name="AutoShape 4"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58" name="AutoShape 6"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23560" name="AutoShape 8" descr="https://www.mercantilbanco.com/mercprod/images/personas/401205_legitima_cap/head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36866" name="Picture 2"/>
          <p:cNvPicPr>
            <a:picLocks noChangeAspect="1" noChangeArrowheads="1"/>
          </p:cNvPicPr>
          <p:nvPr/>
        </p:nvPicPr>
        <p:blipFill>
          <a:blip r:embed="rId3" cstate="print"/>
          <a:srcRect/>
          <a:stretch>
            <a:fillRect/>
          </a:stretch>
        </p:blipFill>
        <p:spPr bwMode="auto">
          <a:xfrm>
            <a:off x="0" y="2214554"/>
            <a:ext cx="2285984" cy="3571900"/>
          </a:xfrm>
          <a:prstGeom prst="rect">
            <a:avLst/>
          </a:prstGeom>
          <a:noFill/>
          <a:ln w="9525">
            <a:noFill/>
            <a:miter lim="800000"/>
            <a:headEnd/>
            <a:tailEnd/>
          </a:ln>
          <a:effectLst/>
        </p:spPr>
      </p:pic>
      <p:pic>
        <p:nvPicPr>
          <p:cNvPr id="9" name="Picture 11"/>
          <p:cNvPicPr>
            <a:picLocks noChangeAspect="1" noChangeArrowheads="1"/>
          </p:cNvPicPr>
          <p:nvPr/>
        </p:nvPicPr>
        <p:blipFill>
          <a:blip r:embed="rId4" cstate="print"/>
          <a:srcRect/>
          <a:stretch>
            <a:fillRect/>
          </a:stretch>
        </p:blipFill>
        <p:spPr bwMode="auto">
          <a:xfrm>
            <a:off x="6215074" y="0"/>
            <a:ext cx="2928926" cy="15716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0" y="2214554"/>
            <a:ext cx="1928794" cy="3571900"/>
          </a:xfrm>
          <a:prstGeom prst="rect">
            <a:avLst/>
          </a:prstGeom>
          <a:noFill/>
          <a:ln w="9525">
            <a:noFill/>
            <a:miter lim="800000"/>
            <a:headEnd/>
            <a:tailEnd/>
          </a:ln>
          <a:effectLst/>
        </p:spPr>
      </p:pic>
      <p:sp>
        <p:nvSpPr>
          <p:cNvPr id="6" name="5 CuadroTexto"/>
          <p:cNvSpPr txBox="1"/>
          <p:nvPr/>
        </p:nvSpPr>
        <p:spPr>
          <a:xfrm>
            <a:off x="2285984" y="571480"/>
            <a:ext cx="4214842" cy="923330"/>
          </a:xfrm>
          <a:prstGeom prst="rect">
            <a:avLst/>
          </a:prstGeom>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VE" sz="5400" dirty="0" smtClean="0"/>
              <a:t>Elaboración</a:t>
            </a:r>
            <a:endParaRPr lang="es-VE" sz="5400" dirty="0"/>
          </a:p>
        </p:txBody>
      </p:sp>
      <p:pic>
        <p:nvPicPr>
          <p:cNvPr id="7" name="Imagen 6"/>
          <p:cNvPicPr>
            <a:picLocks noChangeAspect="1"/>
          </p:cNvPicPr>
          <p:nvPr/>
        </p:nvPicPr>
        <p:blipFill>
          <a:blip r:embed="rId3" cstate="print"/>
          <a:srcRect/>
          <a:stretch>
            <a:fillRect/>
          </a:stretch>
        </p:blipFill>
        <p:spPr bwMode="auto">
          <a:xfrm>
            <a:off x="0" y="0"/>
            <a:ext cx="2214545" cy="2143115"/>
          </a:xfrm>
          <a:prstGeom prst="rect">
            <a:avLst/>
          </a:prstGeom>
          <a:noFill/>
          <a:ln w="9525">
            <a:noFill/>
            <a:miter lim="800000"/>
            <a:headEnd/>
            <a:tailEnd/>
          </a:ln>
        </p:spPr>
      </p:pic>
      <p:pic>
        <p:nvPicPr>
          <p:cNvPr id="8" name="Picture 11"/>
          <p:cNvPicPr>
            <a:picLocks noChangeAspect="1" noChangeArrowheads="1"/>
          </p:cNvPicPr>
          <p:nvPr/>
        </p:nvPicPr>
        <p:blipFill>
          <a:blip r:embed="rId4" cstate="print"/>
          <a:srcRect/>
          <a:stretch>
            <a:fillRect/>
          </a:stretch>
        </p:blipFill>
        <p:spPr bwMode="auto">
          <a:xfrm>
            <a:off x="6858016" y="0"/>
            <a:ext cx="2285984" cy="1571612"/>
          </a:xfrm>
          <a:prstGeom prst="rect">
            <a:avLst/>
          </a:prstGeom>
          <a:noFill/>
          <a:ln w="9525">
            <a:noFill/>
            <a:miter lim="800000"/>
            <a:headEnd/>
            <a:tailEnd/>
          </a:ln>
          <a:effectLst/>
        </p:spPr>
      </p:pic>
      <p:graphicFrame>
        <p:nvGraphicFramePr>
          <p:cNvPr id="9" name="8 Diagrama"/>
          <p:cNvGraphicFramePr/>
          <p:nvPr/>
        </p:nvGraphicFramePr>
        <p:xfrm>
          <a:off x="2143108" y="3571876"/>
          <a:ext cx="6786610"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2" name="11 Diagrama"/>
          <p:cNvGraphicFramePr/>
          <p:nvPr/>
        </p:nvGraphicFramePr>
        <p:xfrm>
          <a:off x="2071670" y="1714488"/>
          <a:ext cx="6858048" cy="471490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graphicFrame>
        <p:nvGraphicFramePr>
          <p:cNvPr id="6" name="5 Diagrama"/>
          <p:cNvGraphicFramePr/>
          <p:nvPr/>
        </p:nvGraphicFramePr>
        <p:xfrm>
          <a:off x="0" y="2071654"/>
          <a:ext cx="9144000" cy="4786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11"/>
          <p:cNvPicPr>
            <a:picLocks noChangeAspect="1" noChangeArrowheads="1"/>
          </p:cNvPicPr>
          <p:nvPr/>
        </p:nvPicPr>
        <p:blipFill>
          <a:blip r:embed="rId8" cstate="print"/>
          <a:srcRect/>
          <a:stretch>
            <a:fillRect/>
          </a:stretch>
        </p:blipFill>
        <p:spPr bwMode="auto">
          <a:xfrm>
            <a:off x="6858016" y="0"/>
            <a:ext cx="2285984" cy="1571612"/>
          </a:xfrm>
          <a:prstGeom prst="rect">
            <a:avLst/>
          </a:prstGeom>
          <a:noFill/>
          <a:ln w="9525">
            <a:noFill/>
            <a:miter lim="800000"/>
            <a:headEnd/>
            <a:tailEnd/>
          </a:ln>
          <a:effectLst/>
        </p:spPr>
      </p:pic>
      <p:pic>
        <p:nvPicPr>
          <p:cNvPr id="9" name="Picture 2"/>
          <p:cNvPicPr>
            <a:picLocks noChangeAspect="1" noChangeArrowheads="1"/>
          </p:cNvPicPr>
          <p:nvPr/>
        </p:nvPicPr>
        <p:blipFill>
          <a:blip r:embed="rId9" cstate="print"/>
          <a:srcRect/>
          <a:stretch>
            <a:fillRect/>
          </a:stretch>
        </p:blipFill>
        <p:spPr bwMode="auto">
          <a:xfrm>
            <a:off x="4929190" y="0"/>
            <a:ext cx="1928794" cy="1571612"/>
          </a:xfrm>
          <a:prstGeom prst="rect">
            <a:avLst/>
          </a:prstGeom>
          <a:noFill/>
          <a:ln w="9525">
            <a:noFill/>
            <a:miter lim="800000"/>
            <a:headEnd/>
            <a:tailEnd/>
          </a:ln>
          <a:effectLst/>
        </p:spPr>
      </p:pic>
      <p:sp>
        <p:nvSpPr>
          <p:cNvPr id="10" name="9 CuadroTexto"/>
          <p:cNvSpPr txBox="1"/>
          <p:nvPr/>
        </p:nvSpPr>
        <p:spPr>
          <a:xfrm>
            <a:off x="6786578" y="2285992"/>
            <a:ext cx="1241045" cy="369332"/>
          </a:xfrm>
          <a:prstGeom prst="rect">
            <a:avLst/>
          </a:prstGeom>
          <a:scene3d>
            <a:camera prst="perspectiveContrastingLeftFacing"/>
            <a:lightRig rig="threePt" dir="t"/>
          </a:scene3d>
        </p:spPr>
        <p:style>
          <a:lnRef idx="2">
            <a:schemeClr val="accent1"/>
          </a:lnRef>
          <a:fillRef idx="1">
            <a:schemeClr val="lt1"/>
          </a:fillRef>
          <a:effectRef idx="0">
            <a:schemeClr val="accent1"/>
          </a:effectRef>
          <a:fontRef idx="minor">
            <a:schemeClr val="dk1"/>
          </a:fontRef>
        </p:style>
        <p:txBody>
          <a:bodyPr wrap="none" rtlCol="0">
            <a:spAutoFit/>
          </a:bodyPr>
          <a:lstStyle/>
          <a:p>
            <a:r>
              <a:rPr lang="es-VE" b="1" dirty="0" smtClean="0"/>
              <a:t>ALCANCE</a:t>
            </a:r>
            <a:endParaRPr lang="es-VE"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1" y="1"/>
            <a:ext cx="1571603" cy="1500173"/>
          </a:xfrm>
          <a:prstGeom prst="rect">
            <a:avLst/>
          </a:prstGeom>
          <a:noFill/>
          <a:ln w="9525">
            <a:noFill/>
            <a:miter lim="800000"/>
            <a:headEnd/>
            <a:tailEnd/>
          </a:ln>
        </p:spPr>
      </p:pic>
      <p:pic>
        <p:nvPicPr>
          <p:cNvPr id="12" name="Picture 2"/>
          <p:cNvPicPr>
            <a:picLocks noChangeAspect="1" noChangeArrowheads="1"/>
          </p:cNvPicPr>
          <p:nvPr/>
        </p:nvPicPr>
        <p:blipFill>
          <a:blip r:embed="rId3" cstate="print"/>
          <a:srcRect/>
          <a:stretch>
            <a:fillRect/>
          </a:stretch>
        </p:blipFill>
        <p:spPr bwMode="auto">
          <a:xfrm>
            <a:off x="5072066" y="0"/>
            <a:ext cx="1928794" cy="1214422"/>
          </a:xfrm>
          <a:prstGeom prst="rect">
            <a:avLst/>
          </a:prstGeom>
          <a:noFill/>
          <a:ln w="9525">
            <a:noFill/>
            <a:miter lim="800000"/>
            <a:headEnd/>
            <a:tailEnd/>
          </a:ln>
          <a:effectLst/>
        </p:spPr>
      </p:pic>
      <p:pic>
        <p:nvPicPr>
          <p:cNvPr id="13" name="Picture 11"/>
          <p:cNvPicPr>
            <a:picLocks noChangeAspect="1" noChangeArrowheads="1"/>
          </p:cNvPicPr>
          <p:nvPr/>
        </p:nvPicPr>
        <p:blipFill>
          <a:blip r:embed="rId4" cstate="print"/>
          <a:srcRect/>
          <a:stretch>
            <a:fillRect/>
          </a:stretch>
        </p:blipFill>
        <p:spPr bwMode="auto">
          <a:xfrm>
            <a:off x="6929454" y="0"/>
            <a:ext cx="2214546" cy="1214422"/>
          </a:xfrm>
          <a:prstGeom prst="rect">
            <a:avLst/>
          </a:prstGeom>
          <a:noFill/>
          <a:ln w="9525">
            <a:noFill/>
            <a:miter lim="800000"/>
            <a:headEnd/>
            <a:tailEnd/>
          </a:ln>
          <a:effectLst/>
        </p:spPr>
      </p:pic>
      <p:graphicFrame>
        <p:nvGraphicFramePr>
          <p:cNvPr id="16" name="15 Diagrama"/>
          <p:cNvGraphicFramePr/>
          <p:nvPr/>
        </p:nvGraphicFramePr>
        <p:xfrm>
          <a:off x="285720" y="1285860"/>
          <a:ext cx="8643998" cy="557214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7" name="16 CuadroTexto"/>
          <p:cNvSpPr txBox="1"/>
          <p:nvPr/>
        </p:nvSpPr>
        <p:spPr>
          <a:xfrm>
            <a:off x="1643042" y="357166"/>
            <a:ext cx="2714644" cy="646331"/>
          </a:xfrm>
          <a:prstGeom prst="rect">
            <a:avLst/>
          </a:prstGeom>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VE" dirty="0" smtClean="0"/>
              <a:t>MARCO LEGAL REGULATORIO</a:t>
            </a:r>
            <a:endParaRPr lang="es-VE" dirty="0"/>
          </a:p>
        </p:txBody>
      </p:sp>
      <p:sp>
        <p:nvSpPr>
          <p:cNvPr id="8" name="7 CuadroTexto"/>
          <p:cNvSpPr txBox="1"/>
          <p:nvPr/>
        </p:nvSpPr>
        <p:spPr>
          <a:xfrm>
            <a:off x="3071802" y="5934670"/>
            <a:ext cx="2928958" cy="523220"/>
          </a:xfrm>
          <a:prstGeom prst="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VE" sz="1400" b="1" dirty="0" smtClean="0"/>
              <a:t>Convención de Palermo</a:t>
            </a:r>
          </a:p>
          <a:p>
            <a:pPr algn="ctr"/>
            <a:r>
              <a:rPr lang="es-VE" sz="1400" b="1" dirty="0" smtClean="0"/>
              <a:t>Palermo Italia Diciembre 2002</a:t>
            </a:r>
            <a:endParaRPr lang="es-VE" sz="14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1" y="1"/>
            <a:ext cx="1571603" cy="1500173"/>
          </a:xfrm>
          <a:prstGeom prst="rect">
            <a:avLst/>
          </a:prstGeom>
          <a:noFill/>
          <a:ln w="9525">
            <a:noFill/>
            <a:miter lim="800000"/>
            <a:headEnd/>
            <a:tailEnd/>
          </a:ln>
        </p:spPr>
      </p:pic>
      <p:pic>
        <p:nvPicPr>
          <p:cNvPr id="12" name="Picture 2"/>
          <p:cNvPicPr>
            <a:picLocks noChangeAspect="1" noChangeArrowheads="1"/>
          </p:cNvPicPr>
          <p:nvPr/>
        </p:nvPicPr>
        <p:blipFill>
          <a:blip r:embed="rId3" cstate="print"/>
          <a:srcRect/>
          <a:stretch>
            <a:fillRect/>
          </a:stretch>
        </p:blipFill>
        <p:spPr bwMode="auto">
          <a:xfrm>
            <a:off x="5072066" y="0"/>
            <a:ext cx="1928794" cy="1571612"/>
          </a:xfrm>
          <a:prstGeom prst="rect">
            <a:avLst/>
          </a:prstGeom>
          <a:noFill/>
          <a:ln w="9525">
            <a:noFill/>
            <a:miter lim="800000"/>
            <a:headEnd/>
            <a:tailEnd/>
          </a:ln>
          <a:effectLst/>
        </p:spPr>
      </p:pic>
      <p:pic>
        <p:nvPicPr>
          <p:cNvPr id="13" name="Picture 11"/>
          <p:cNvPicPr>
            <a:picLocks noChangeAspect="1" noChangeArrowheads="1"/>
          </p:cNvPicPr>
          <p:nvPr/>
        </p:nvPicPr>
        <p:blipFill>
          <a:blip r:embed="rId4" cstate="print"/>
          <a:srcRect/>
          <a:stretch>
            <a:fillRect/>
          </a:stretch>
        </p:blipFill>
        <p:spPr bwMode="auto">
          <a:xfrm>
            <a:off x="6929454" y="0"/>
            <a:ext cx="2214546" cy="1571612"/>
          </a:xfrm>
          <a:prstGeom prst="rect">
            <a:avLst/>
          </a:prstGeom>
          <a:noFill/>
          <a:ln w="9525">
            <a:noFill/>
            <a:miter lim="800000"/>
            <a:headEnd/>
            <a:tailEnd/>
          </a:ln>
          <a:effectLst/>
        </p:spPr>
      </p:pic>
      <p:sp>
        <p:nvSpPr>
          <p:cNvPr id="14" name="13 Rectángulo"/>
          <p:cNvSpPr/>
          <p:nvPr/>
        </p:nvSpPr>
        <p:spPr>
          <a:xfrm>
            <a:off x="1714480" y="2571744"/>
            <a:ext cx="5786478" cy="1446550"/>
          </a:xfrm>
          <a:prstGeom prst="rect">
            <a:avLst/>
          </a:prstGeom>
          <a:scene3d>
            <a:camera prst="perspectiveHeroicExtremeLeftFacing"/>
            <a:lightRig rig="threePt" dir="t"/>
          </a:scene3d>
        </p:spPr>
        <p:style>
          <a:lnRef idx="2">
            <a:schemeClr val="accent1"/>
          </a:lnRef>
          <a:fillRef idx="1">
            <a:schemeClr val="lt1"/>
          </a:fillRef>
          <a:effectRef idx="0">
            <a:schemeClr val="accent1"/>
          </a:effectRef>
          <a:fontRef idx="minor">
            <a:schemeClr val="dk1"/>
          </a:fontRef>
        </p:style>
        <p:txBody>
          <a:bodyPr wrap="square" lIns="91440" tIns="45720" rIns="91440" bIns="45720">
            <a:spAutoFit/>
          </a:bodyPr>
          <a:lstStyle/>
          <a:p>
            <a:pPr algn="ctr"/>
            <a:r>
              <a:rPr lang="es-ES" sz="4400" b="1" cap="none" spc="300" dirty="0" smtClean="0">
                <a:ln w="11430" cmpd="sng">
                  <a:solidFill>
                    <a:schemeClr val="accent1">
                      <a:tint val="10000"/>
                    </a:schemeClr>
                  </a:solidFill>
                  <a:prstDash val="solid"/>
                  <a:miter lim="800000"/>
                </a:ln>
                <a:solidFill>
                  <a:schemeClr val="tx1"/>
                </a:solidFill>
                <a:effectLst>
                  <a:glow rad="45500">
                    <a:schemeClr val="accent1">
                      <a:satMod val="220000"/>
                      <a:alpha val="35000"/>
                    </a:schemeClr>
                  </a:glow>
                </a:effectLst>
              </a:rPr>
              <a:t>GLOSARIO DE TERMINOS</a:t>
            </a:r>
            <a:endParaRPr lang="es-ES" sz="4400" b="1" cap="none" spc="300" dirty="0">
              <a:ln w="11430" cmpd="sng">
                <a:solidFill>
                  <a:schemeClr val="accent1">
                    <a:tint val="10000"/>
                  </a:schemeClr>
                </a:solidFill>
                <a:prstDash val="solid"/>
                <a:miter lim="800000"/>
              </a:ln>
              <a:solidFill>
                <a:schemeClr val="tx1"/>
              </a:solidFill>
              <a:effectLst>
                <a:glow rad="45500">
                  <a:schemeClr val="accent1">
                    <a:satMod val="220000"/>
                    <a:alpha val="35000"/>
                  </a:schemeClr>
                </a:glo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2357422" y="571480"/>
            <a:ext cx="4714908" cy="725470"/>
          </a:xfrm>
          <a:scene3d>
            <a:camera prst="perspectiveContrastingRightFacing"/>
            <a:lightRig rig="threePt" dir="t"/>
          </a:scene3d>
        </p:spPr>
        <p:style>
          <a:lnRef idx="2">
            <a:schemeClr val="accent1"/>
          </a:lnRef>
          <a:fillRef idx="1">
            <a:schemeClr val="lt1"/>
          </a:fillRef>
          <a:effectRef idx="0">
            <a:schemeClr val="accent1"/>
          </a:effectRef>
          <a:fontRef idx="minor">
            <a:schemeClr val="dk1"/>
          </a:fontRef>
        </p:style>
        <p:txBody>
          <a:bodyPr/>
          <a:lstStyle/>
          <a:p>
            <a:pPr algn="ctr"/>
            <a:r>
              <a:rPr lang="es-VE" dirty="0" smtClean="0"/>
              <a:t>Objetivos</a:t>
            </a:r>
            <a:endParaRPr lang="es-VE" dirty="0"/>
          </a:p>
        </p:txBody>
      </p:sp>
      <p:pic>
        <p:nvPicPr>
          <p:cNvPr id="4" name="Imagen 6"/>
          <p:cNvPicPr>
            <a:picLocks noChangeAspect="1"/>
          </p:cNvPicPr>
          <p:nvPr/>
        </p:nvPicPr>
        <p:blipFill>
          <a:blip r:embed="rId2" cstate="print"/>
          <a:srcRect/>
          <a:stretch>
            <a:fillRect/>
          </a:stretch>
        </p:blipFill>
        <p:spPr bwMode="auto">
          <a:xfrm>
            <a:off x="1" y="1"/>
            <a:ext cx="1142975" cy="1071545"/>
          </a:xfrm>
          <a:prstGeom prst="rect">
            <a:avLst/>
          </a:prstGeom>
          <a:noFill/>
          <a:ln w="9525">
            <a:noFill/>
            <a:miter lim="800000"/>
            <a:headEnd/>
            <a:tailEnd/>
          </a:ln>
        </p:spPr>
      </p:pic>
      <p:graphicFrame>
        <p:nvGraphicFramePr>
          <p:cNvPr id="8" name="7 Diagrama"/>
          <p:cNvGraphicFramePr/>
          <p:nvPr/>
        </p:nvGraphicFramePr>
        <p:xfrm>
          <a:off x="428596" y="1714488"/>
          <a:ext cx="8501122" cy="4318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11"/>
          <p:cNvPicPr>
            <a:picLocks noChangeAspect="1" noChangeArrowheads="1"/>
          </p:cNvPicPr>
          <p:nvPr/>
        </p:nvPicPr>
        <p:blipFill>
          <a:blip r:embed="rId8" cstate="print"/>
          <a:srcRect/>
          <a:stretch>
            <a:fillRect/>
          </a:stretch>
        </p:blipFill>
        <p:spPr bwMode="auto">
          <a:xfrm>
            <a:off x="6929454" y="0"/>
            <a:ext cx="2214546" cy="1571612"/>
          </a:xfrm>
          <a:prstGeom prst="rect">
            <a:avLst/>
          </a:prstGeom>
          <a:noFill/>
          <a:ln w="9525">
            <a:noFill/>
            <a:miter lim="800000"/>
            <a:headEnd/>
            <a:tailEnd/>
          </a:ln>
          <a:effectLst/>
        </p:spPr>
      </p:pic>
      <p:pic>
        <p:nvPicPr>
          <p:cNvPr id="6" name="Picture 2"/>
          <p:cNvPicPr>
            <a:picLocks noChangeAspect="1" noChangeArrowheads="1"/>
          </p:cNvPicPr>
          <p:nvPr/>
        </p:nvPicPr>
        <p:blipFill>
          <a:blip r:embed="rId9" cstate="print"/>
          <a:srcRect/>
          <a:stretch>
            <a:fillRect/>
          </a:stretch>
        </p:blipFill>
        <p:spPr bwMode="auto">
          <a:xfrm>
            <a:off x="0" y="3714752"/>
            <a:ext cx="1285852" cy="22860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1" y="1"/>
            <a:ext cx="1142975" cy="1071545"/>
          </a:xfrm>
          <a:prstGeom prst="rect">
            <a:avLst/>
          </a:prstGeom>
          <a:noFill/>
          <a:ln w="9525">
            <a:noFill/>
            <a:miter lim="800000"/>
            <a:headEnd/>
            <a:tailEnd/>
          </a:ln>
        </p:spPr>
      </p:pic>
      <p:graphicFrame>
        <p:nvGraphicFramePr>
          <p:cNvPr id="6" name="5 Diagrama"/>
          <p:cNvGraphicFramePr/>
          <p:nvPr/>
        </p:nvGraphicFramePr>
        <p:xfrm>
          <a:off x="285720" y="1285860"/>
          <a:ext cx="8858280" cy="49292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2 Título"/>
          <p:cNvSpPr>
            <a:spLocks noGrp="1"/>
          </p:cNvSpPr>
          <p:nvPr>
            <p:ph type="title"/>
          </p:nvPr>
        </p:nvSpPr>
        <p:spPr>
          <a:xfrm>
            <a:off x="2357422" y="357166"/>
            <a:ext cx="4714908" cy="571504"/>
          </a:xfrm>
          <a:scene3d>
            <a:camera prst="perspectiveContrastingRightFacing"/>
            <a:lightRig rig="threePt" dir="t"/>
          </a:scene3d>
        </p:spPr>
        <p:style>
          <a:lnRef idx="2">
            <a:schemeClr val="accent1"/>
          </a:lnRef>
          <a:fillRef idx="1">
            <a:schemeClr val="lt1"/>
          </a:fillRef>
          <a:effectRef idx="0">
            <a:schemeClr val="accent1"/>
          </a:effectRef>
          <a:fontRef idx="minor">
            <a:schemeClr val="dk1"/>
          </a:fontRef>
        </p:style>
        <p:txBody>
          <a:bodyPr>
            <a:normAutofit/>
          </a:bodyPr>
          <a:lstStyle/>
          <a:p>
            <a:pPr algn="ctr"/>
            <a:r>
              <a:rPr lang="es-VE" dirty="0" smtClean="0"/>
              <a:t>Objetivos</a:t>
            </a:r>
            <a:endParaRPr lang="es-VE" dirty="0"/>
          </a:p>
        </p:txBody>
      </p:sp>
      <p:pic>
        <p:nvPicPr>
          <p:cNvPr id="9" name="Picture 2"/>
          <p:cNvPicPr>
            <a:picLocks noChangeAspect="1" noChangeArrowheads="1"/>
          </p:cNvPicPr>
          <p:nvPr/>
        </p:nvPicPr>
        <p:blipFill>
          <a:blip r:embed="rId8" cstate="print"/>
          <a:srcRect/>
          <a:stretch>
            <a:fillRect/>
          </a:stretch>
        </p:blipFill>
        <p:spPr bwMode="auto">
          <a:xfrm>
            <a:off x="0" y="1428736"/>
            <a:ext cx="1500198" cy="2571768"/>
          </a:xfrm>
          <a:prstGeom prst="rect">
            <a:avLst/>
          </a:prstGeom>
          <a:noFill/>
          <a:ln w="9525">
            <a:noFill/>
            <a:miter lim="800000"/>
            <a:headEnd/>
            <a:tailEnd/>
          </a:ln>
          <a:effectLst/>
        </p:spPr>
      </p:pic>
      <p:pic>
        <p:nvPicPr>
          <p:cNvPr id="10" name="Picture 11"/>
          <p:cNvPicPr>
            <a:picLocks noChangeAspect="1" noChangeArrowheads="1"/>
          </p:cNvPicPr>
          <p:nvPr/>
        </p:nvPicPr>
        <p:blipFill>
          <a:blip r:embed="rId9" cstate="print"/>
          <a:srcRect/>
          <a:stretch>
            <a:fillRect/>
          </a:stretch>
        </p:blipFill>
        <p:spPr bwMode="auto">
          <a:xfrm>
            <a:off x="6929454" y="0"/>
            <a:ext cx="2214546" cy="12858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1" y="1"/>
            <a:ext cx="1142975" cy="1071545"/>
          </a:xfrm>
          <a:prstGeom prst="rect">
            <a:avLst/>
          </a:prstGeom>
          <a:noFill/>
          <a:ln w="9525">
            <a:noFill/>
            <a:miter lim="800000"/>
            <a:headEnd/>
            <a:tailEnd/>
          </a:ln>
        </p:spPr>
      </p:pic>
      <p:sp>
        <p:nvSpPr>
          <p:cNvPr id="7" name="2 Título"/>
          <p:cNvSpPr>
            <a:spLocks noGrp="1"/>
          </p:cNvSpPr>
          <p:nvPr>
            <p:ph type="title"/>
          </p:nvPr>
        </p:nvSpPr>
        <p:spPr>
          <a:xfrm>
            <a:off x="2357422" y="357166"/>
            <a:ext cx="4714908" cy="571504"/>
          </a:xfrm>
          <a:scene3d>
            <a:camera prst="perspectiveContrastingRightFacing"/>
            <a:lightRig rig="threePt" dir="t"/>
          </a:scene3d>
        </p:spPr>
        <p:style>
          <a:lnRef idx="2">
            <a:schemeClr val="accent1"/>
          </a:lnRef>
          <a:fillRef idx="1">
            <a:schemeClr val="lt1"/>
          </a:fillRef>
          <a:effectRef idx="0">
            <a:schemeClr val="accent1"/>
          </a:effectRef>
          <a:fontRef idx="minor">
            <a:schemeClr val="dk1"/>
          </a:fontRef>
        </p:style>
        <p:txBody>
          <a:bodyPr>
            <a:normAutofit/>
          </a:bodyPr>
          <a:lstStyle/>
          <a:p>
            <a:pPr algn="ctr"/>
            <a:r>
              <a:rPr lang="es-VE" dirty="0" smtClean="0"/>
              <a:t>Objetivos</a:t>
            </a:r>
            <a:endParaRPr lang="es-VE" dirty="0"/>
          </a:p>
        </p:txBody>
      </p:sp>
      <p:graphicFrame>
        <p:nvGraphicFramePr>
          <p:cNvPr id="8" name="7 Diagrama"/>
          <p:cNvGraphicFramePr/>
          <p:nvPr/>
        </p:nvGraphicFramePr>
        <p:xfrm>
          <a:off x="0" y="1571612"/>
          <a:ext cx="9144000" cy="4643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2"/>
          <p:cNvPicPr>
            <a:picLocks noChangeAspect="1" noChangeArrowheads="1"/>
          </p:cNvPicPr>
          <p:nvPr/>
        </p:nvPicPr>
        <p:blipFill>
          <a:blip r:embed="rId8" cstate="print"/>
          <a:srcRect/>
          <a:stretch>
            <a:fillRect/>
          </a:stretch>
        </p:blipFill>
        <p:spPr bwMode="auto">
          <a:xfrm>
            <a:off x="0" y="1285860"/>
            <a:ext cx="1928794" cy="2357454"/>
          </a:xfrm>
          <a:prstGeom prst="rect">
            <a:avLst/>
          </a:prstGeom>
          <a:noFill/>
          <a:ln w="9525">
            <a:noFill/>
            <a:miter lim="800000"/>
            <a:headEnd/>
            <a:tailEnd/>
          </a:ln>
          <a:effectLst/>
        </p:spPr>
      </p:pic>
      <p:pic>
        <p:nvPicPr>
          <p:cNvPr id="10" name="Picture 11"/>
          <p:cNvPicPr>
            <a:picLocks noChangeAspect="1" noChangeArrowheads="1"/>
          </p:cNvPicPr>
          <p:nvPr/>
        </p:nvPicPr>
        <p:blipFill>
          <a:blip r:embed="rId9" cstate="print"/>
          <a:srcRect/>
          <a:stretch>
            <a:fillRect/>
          </a:stretch>
        </p:blipFill>
        <p:spPr bwMode="auto">
          <a:xfrm>
            <a:off x="6929454" y="0"/>
            <a:ext cx="2214546" cy="15716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1" y="1"/>
            <a:ext cx="1142975" cy="1071545"/>
          </a:xfrm>
          <a:prstGeom prst="rect">
            <a:avLst/>
          </a:prstGeom>
          <a:noFill/>
          <a:ln w="9525">
            <a:noFill/>
            <a:miter lim="800000"/>
            <a:headEnd/>
            <a:tailEnd/>
          </a:ln>
        </p:spPr>
      </p:pic>
      <p:graphicFrame>
        <p:nvGraphicFramePr>
          <p:cNvPr id="7" name="6 Diagrama"/>
          <p:cNvGraphicFramePr/>
          <p:nvPr/>
        </p:nvGraphicFramePr>
        <p:xfrm>
          <a:off x="1571604" y="1714488"/>
          <a:ext cx="7358114" cy="4532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2 Título"/>
          <p:cNvSpPr>
            <a:spLocks noGrp="1"/>
          </p:cNvSpPr>
          <p:nvPr>
            <p:ph type="title"/>
          </p:nvPr>
        </p:nvSpPr>
        <p:spPr>
          <a:xfrm>
            <a:off x="2357422" y="357166"/>
            <a:ext cx="4714908" cy="571504"/>
          </a:xfrm>
          <a:scene3d>
            <a:camera prst="perspectiveContrastingRightFacing"/>
            <a:lightRig rig="threePt" dir="t"/>
          </a:scene3d>
        </p:spPr>
        <p:style>
          <a:lnRef idx="2">
            <a:schemeClr val="accent1"/>
          </a:lnRef>
          <a:fillRef idx="1">
            <a:schemeClr val="lt1"/>
          </a:fillRef>
          <a:effectRef idx="0">
            <a:schemeClr val="accent1"/>
          </a:effectRef>
          <a:fontRef idx="minor">
            <a:schemeClr val="dk1"/>
          </a:fontRef>
        </p:style>
        <p:txBody>
          <a:bodyPr>
            <a:normAutofit/>
          </a:bodyPr>
          <a:lstStyle/>
          <a:p>
            <a:pPr algn="ctr"/>
            <a:r>
              <a:rPr lang="es-VE" dirty="0" smtClean="0"/>
              <a:t>Objetivos</a:t>
            </a:r>
            <a:endParaRPr lang="es-VE" dirty="0"/>
          </a:p>
        </p:txBody>
      </p:sp>
      <p:pic>
        <p:nvPicPr>
          <p:cNvPr id="9" name="Picture 11"/>
          <p:cNvPicPr>
            <a:picLocks noChangeAspect="1" noChangeArrowheads="1"/>
          </p:cNvPicPr>
          <p:nvPr/>
        </p:nvPicPr>
        <p:blipFill>
          <a:blip r:embed="rId8" cstate="print"/>
          <a:srcRect/>
          <a:stretch>
            <a:fillRect/>
          </a:stretch>
        </p:blipFill>
        <p:spPr bwMode="auto">
          <a:xfrm>
            <a:off x="6929454" y="0"/>
            <a:ext cx="2214546" cy="1500174"/>
          </a:xfrm>
          <a:prstGeom prst="rect">
            <a:avLst/>
          </a:prstGeom>
          <a:noFill/>
          <a:ln w="9525">
            <a:noFill/>
            <a:miter lim="800000"/>
            <a:headEnd/>
            <a:tailEnd/>
          </a:ln>
          <a:effectLst/>
        </p:spPr>
      </p:pic>
      <p:pic>
        <p:nvPicPr>
          <p:cNvPr id="10" name="Picture 2"/>
          <p:cNvPicPr>
            <a:picLocks noChangeAspect="1" noChangeArrowheads="1"/>
          </p:cNvPicPr>
          <p:nvPr/>
        </p:nvPicPr>
        <p:blipFill>
          <a:blip r:embed="rId9" cstate="print"/>
          <a:srcRect/>
          <a:stretch>
            <a:fillRect/>
          </a:stretch>
        </p:blipFill>
        <p:spPr bwMode="auto">
          <a:xfrm>
            <a:off x="0" y="2500306"/>
            <a:ext cx="1500166" cy="23574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14282" y="1785926"/>
            <a:ext cx="8501122"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a:p>
            <a:pPr algn="just">
              <a:buNone/>
            </a:pPr>
            <a:endParaRPr lang="es-VE" dirty="0" smtClean="0"/>
          </a:p>
          <a:p>
            <a:endParaRPr lang="es-VE" dirty="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714480" y="1428736"/>
            <a:ext cx="7000892" cy="3539430"/>
          </a:xfrm>
          <a:prstGeom prst="rect">
            <a:avLst/>
          </a:prstGeom>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VE" sz="2400" b="1" dirty="0" smtClean="0"/>
              <a:t>CAPÍTULO I. </a:t>
            </a:r>
          </a:p>
          <a:p>
            <a:pPr algn="ctr"/>
            <a:r>
              <a:rPr lang="es-VE" sz="2400" b="1" dirty="0" smtClean="0"/>
              <a:t>DELINCUENCIA ORGANIZADA NACIONAL Y TRANSNACIONAL, TRÁFICO DE DROGAS, CORRUPCIÓN, LEGITIMACIÓN DE CAPITALES, TERRORISMO Y SU FINANCIAMIENTO, Y FINANCIAMIENTO DE LA PROLIFERACIÓN DE ARMAS DE DESTRUCCIÓN MASIVA Y DEMÁS DELITOS DE DELINCUENCIA ORGANIZADA.</a:t>
            </a:r>
            <a:endParaRPr lang="es-VE" sz="2400" dirty="0" smtClean="0"/>
          </a:p>
          <a:p>
            <a:pPr algn="ctr"/>
            <a:endParaRPr lang="es-VE" sz="3200" dirty="0"/>
          </a:p>
        </p:txBody>
      </p:sp>
      <p:pic>
        <p:nvPicPr>
          <p:cNvPr id="6" name="5 Imagen" descr="Resultado de imagen para delincuencia organizada transnacional"/>
          <p:cNvPicPr/>
          <p:nvPr/>
        </p:nvPicPr>
        <p:blipFill>
          <a:blip r:embed="rId3" cstate="print"/>
          <a:srcRect/>
          <a:stretch>
            <a:fillRect/>
          </a:stretch>
        </p:blipFill>
        <p:spPr bwMode="auto">
          <a:xfrm>
            <a:off x="3286116" y="4643446"/>
            <a:ext cx="3571900" cy="1785950"/>
          </a:xfrm>
          <a:prstGeom prst="rect">
            <a:avLst/>
          </a:prstGeom>
          <a:noFill/>
          <a:ln w="9525">
            <a:noFill/>
            <a:miter lim="800000"/>
            <a:headEnd/>
            <a:tailEnd/>
          </a:ln>
        </p:spPr>
      </p:pic>
      <p:pic>
        <p:nvPicPr>
          <p:cNvPr id="7" name="Picture 2"/>
          <p:cNvPicPr>
            <a:picLocks noChangeAspect="1" noChangeArrowheads="1"/>
          </p:cNvPicPr>
          <p:nvPr/>
        </p:nvPicPr>
        <p:blipFill>
          <a:blip r:embed="rId4" cstate="print"/>
          <a:srcRect/>
          <a:stretch>
            <a:fillRect/>
          </a:stretch>
        </p:blipFill>
        <p:spPr bwMode="auto">
          <a:xfrm>
            <a:off x="0" y="2714620"/>
            <a:ext cx="1643042" cy="2357454"/>
          </a:xfrm>
          <a:prstGeom prst="rect">
            <a:avLst/>
          </a:prstGeom>
          <a:noFill/>
          <a:ln w="9525">
            <a:noFill/>
            <a:miter lim="800000"/>
            <a:headEnd/>
            <a:tailEnd/>
          </a:ln>
          <a:effectLst/>
        </p:spPr>
      </p:pic>
      <p:pic>
        <p:nvPicPr>
          <p:cNvPr id="8" name="Picture 11"/>
          <p:cNvPicPr>
            <a:picLocks noChangeAspect="1" noChangeArrowheads="1"/>
          </p:cNvPicPr>
          <p:nvPr/>
        </p:nvPicPr>
        <p:blipFill>
          <a:blip r:embed="rId5" cstate="print"/>
          <a:srcRect/>
          <a:stretch>
            <a:fillRect/>
          </a:stretch>
        </p:blipFill>
        <p:spPr bwMode="auto">
          <a:xfrm>
            <a:off x="6929454" y="0"/>
            <a:ext cx="2214546" cy="15001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643174" y="571480"/>
            <a:ext cx="4000528" cy="1071570"/>
          </a:xfrm>
          <a:solidFill>
            <a:schemeClr val="bg1"/>
          </a:solidFill>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marL="365760" lvl="1" indent="-256032" algn="ctr">
              <a:spcBef>
                <a:spcPts val="400"/>
              </a:spcBef>
              <a:buSzPct val="68000"/>
              <a:buNone/>
            </a:pPr>
            <a:endParaRPr lang="es-VE" sz="2000" dirty="0" smtClean="0"/>
          </a:p>
          <a:p>
            <a:pPr marL="365760" lvl="1" indent="-256032" algn="ctr">
              <a:spcBef>
                <a:spcPts val="400"/>
              </a:spcBef>
              <a:buSzPct val="68000"/>
              <a:buNone/>
            </a:pPr>
            <a:r>
              <a:rPr lang="es-VE" sz="11200" b="1" dirty="0" smtClean="0"/>
              <a:t>  DELINCUENCIA ORGANIZADA</a:t>
            </a:r>
            <a:endParaRPr lang="es-VE" sz="11200" dirty="0" smtClean="0"/>
          </a:p>
          <a:p>
            <a:pPr algn="ctr">
              <a:buNone/>
            </a:pPr>
            <a:r>
              <a:rPr lang="es-VE" sz="11200" dirty="0" smtClean="0"/>
              <a:t>   </a:t>
            </a:r>
          </a:p>
          <a:p>
            <a:endParaRPr lang="es-VE" dirty="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pic>
        <p:nvPicPr>
          <p:cNvPr id="7" name="Picture 11"/>
          <p:cNvPicPr>
            <a:picLocks noChangeAspect="1" noChangeArrowheads="1"/>
          </p:cNvPicPr>
          <p:nvPr/>
        </p:nvPicPr>
        <p:blipFill>
          <a:blip r:embed="rId3" cstate="print"/>
          <a:srcRect/>
          <a:stretch>
            <a:fillRect/>
          </a:stretch>
        </p:blipFill>
        <p:spPr bwMode="auto">
          <a:xfrm>
            <a:off x="6929454" y="0"/>
            <a:ext cx="2214546" cy="1500174"/>
          </a:xfrm>
          <a:prstGeom prst="rect">
            <a:avLst/>
          </a:prstGeom>
          <a:noFill/>
          <a:ln w="9525">
            <a:noFill/>
            <a:miter lim="800000"/>
            <a:headEnd/>
            <a:tailEnd/>
          </a:ln>
          <a:effectLst/>
        </p:spPr>
      </p:pic>
      <p:pic>
        <p:nvPicPr>
          <p:cNvPr id="8" name="Picture 2"/>
          <p:cNvPicPr>
            <a:picLocks noChangeAspect="1" noChangeArrowheads="1"/>
          </p:cNvPicPr>
          <p:nvPr/>
        </p:nvPicPr>
        <p:blipFill>
          <a:blip r:embed="rId4" cstate="print"/>
          <a:srcRect/>
          <a:stretch>
            <a:fillRect/>
          </a:stretch>
        </p:blipFill>
        <p:spPr bwMode="auto">
          <a:xfrm>
            <a:off x="0" y="2714620"/>
            <a:ext cx="1285852" cy="2357454"/>
          </a:xfrm>
          <a:prstGeom prst="rect">
            <a:avLst/>
          </a:prstGeom>
          <a:noFill/>
          <a:ln w="9525">
            <a:noFill/>
            <a:miter lim="800000"/>
            <a:headEnd/>
            <a:tailEnd/>
          </a:ln>
          <a:effectLst/>
        </p:spPr>
      </p:pic>
      <p:pic>
        <p:nvPicPr>
          <p:cNvPr id="1026" name="Picture 2"/>
          <p:cNvPicPr>
            <a:picLocks noChangeAspect="1" noChangeArrowheads="1"/>
          </p:cNvPicPr>
          <p:nvPr/>
        </p:nvPicPr>
        <p:blipFill>
          <a:blip r:embed="rId5" cstate="print"/>
          <a:srcRect/>
          <a:stretch>
            <a:fillRect/>
          </a:stretch>
        </p:blipFill>
        <p:spPr bwMode="auto">
          <a:xfrm>
            <a:off x="1857356" y="4714884"/>
            <a:ext cx="3748097" cy="1928802"/>
          </a:xfrm>
          <a:prstGeom prst="rect">
            <a:avLst/>
          </a:prstGeom>
          <a:noFill/>
          <a:ln w="9525">
            <a:noFill/>
            <a:miter lim="800000"/>
            <a:headEnd/>
            <a:tailEnd/>
          </a:ln>
          <a:effectLst/>
        </p:spPr>
      </p:pic>
      <p:sp>
        <p:nvSpPr>
          <p:cNvPr id="10" name="9 Llamada de flecha a la izquierda"/>
          <p:cNvSpPr/>
          <p:nvPr/>
        </p:nvSpPr>
        <p:spPr>
          <a:xfrm>
            <a:off x="5786446" y="4786322"/>
            <a:ext cx="2857520" cy="1857388"/>
          </a:xfrm>
          <a:prstGeom prst="leftArrow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VE" sz="1600" b="1" dirty="0" smtClean="0">
                <a:solidFill>
                  <a:schemeClr val="tx1"/>
                </a:solidFill>
              </a:rPr>
              <a:t>Operativos  permiten captura de 30 personas implicadas en presunta delincuencia organizada</a:t>
            </a:r>
            <a:endParaRPr lang="es-VE" sz="1600" b="1" dirty="0">
              <a:solidFill>
                <a:schemeClr val="tx1"/>
              </a:solidFill>
            </a:endParaRPr>
          </a:p>
        </p:txBody>
      </p:sp>
      <p:sp>
        <p:nvSpPr>
          <p:cNvPr id="11" name="10 Rectángulo redondeado"/>
          <p:cNvSpPr/>
          <p:nvPr/>
        </p:nvSpPr>
        <p:spPr>
          <a:xfrm>
            <a:off x="1857356" y="2071678"/>
            <a:ext cx="6572296" cy="242889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5760" lvl="1" indent="-256032" algn="just">
              <a:spcBef>
                <a:spcPts val="400"/>
              </a:spcBef>
              <a:buSzPct val="68000"/>
              <a:buNone/>
            </a:pPr>
            <a:r>
              <a:rPr lang="es-VE" sz="2000" dirty="0" smtClean="0"/>
              <a:t>   </a:t>
            </a:r>
            <a:r>
              <a:rPr lang="es-VE" sz="2000" b="1" dirty="0" smtClean="0">
                <a:solidFill>
                  <a:schemeClr val="tx1"/>
                </a:solidFill>
              </a:rPr>
              <a:t>Asociación de tres o más personas para realizar, de forma permanente o reiterada, conductas que tengan como fin cometer alguno o algunos delitos, para obtener directa o indirectamente un beneficio económico o de cualquier índole para así o para terceros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pic>
        <p:nvPicPr>
          <p:cNvPr id="8193" name="Picture 1" descr="C:\Users\contablidad\Desktop\ARCHIVOS JOSE GREGORIO\INDUCCIONES  Y TALLERES\MANUAL DE POLITICAS Y NORMAS LC FT FPADM\Tipos-de-delincuencia-Organizada-nacional.jpg"/>
          <p:cNvPicPr>
            <a:picLocks noChangeAspect="1" noChangeArrowheads="1"/>
          </p:cNvPicPr>
          <p:nvPr/>
        </p:nvPicPr>
        <p:blipFill>
          <a:blip r:embed="rId3" cstate="print"/>
          <a:srcRect/>
          <a:stretch>
            <a:fillRect/>
          </a:stretch>
        </p:blipFill>
        <p:spPr bwMode="auto">
          <a:xfrm>
            <a:off x="3357554" y="4857760"/>
            <a:ext cx="2786082" cy="1571636"/>
          </a:xfrm>
          <a:prstGeom prst="rect">
            <a:avLst/>
          </a:prstGeom>
          <a:noFill/>
        </p:spPr>
      </p:pic>
      <p:pic>
        <p:nvPicPr>
          <p:cNvPr id="8" name="Picture 11"/>
          <p:cNvPicPr>
            <a:picLocks noChangeAspect="1" noChangeArrowheads="1"/>
          </p:cNvPicPr>
          <p:nvPr/>
        </p:nvPicPr>
        <p:blipFill>
          <a:blip r:embed="rId4" cstate="print"/>
          <a:srcRect/>
          <a:stretch>
            <a:fillRect/>
          </a:stretch>
        </p:blipFill>
        <p:spPr bwMode="auto">
          <a:xfrm>
            <a:off x="6929454" y="0"/>
            <a:ext cx="2214546" cy="1500174"/>
          </a:xfrm>
          <a:prstGeom prst="rect">
            <a:avLst/>
          </a:prstGeom>
          <a:noFill/>
          <a:ln w="9525">
            <a:noFill/>
            <a:miter lim="800000"/>
            <a:headEnd/>
            <a:tailEnd/>
          </a:ln>
          <a:effectLst/>
        </p:spPr>
      </p:pic>
      <p:pic>
        <p:nvPicPr>
          <p:cNvPr id="9" name="Picture 2"/>
          <p:cNvPicPr>
            <a:picLocks noChangeAspect="1" noChangeArrowheads="1"/>
          </p:cNvPicPr>
          <p:nvPr/>
        </p:nvPicPr>
        <p:blipFill>
          <a:blip r:embed="rId5" cstate="print"/>
          <a:srcRect/>
          <a:stretch>
            <a:fillRect/>
          </a:stretch>
        </p:blipFill>
        <p:spPr bwMode="auto">
          <a:xfrm>
            <a:off x="0" y="2214554"/>
            <a:ext cx="1428728" cy="2357454"/>
          </a:xfrm>
          <a:prstGeom prst="rect">
            <a:avLst/>
          </a:prstGeom>
          <a:noFill/>
          <a:ln w="9525">
            <a:noFill/>
            <a:miter lim="800000"/>
            <a:headEnd/>
            <a:tailEnd/>
          </a:ln>
          <a:effectLst/>
        </p:spPr>
      </p:pic>
      <p:sp>
        <p:nvSpPr>
          <p:cNvPr id="10" name="9 Rectángulo redondeado"/>
          <p:cNvSpPr/>
          <p:nvPr/>
        </p:nvSpPr>
        <p:spPr>
          <a:xfrm>
            <a:off x="1643042" y="2071678"/>
            <a:ext cx="3429024" cy="242889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5125" lvl="1" indent="-365125" algn="ctr">
              <a:spcBef>
                <a:spcPts val="400"/>
              </a:spcBef>
              <a:buSzPct val="68000"/>
              <a:buNone/>
            </a:pPr>
            <a:r>
              <a:rPr lang="es-VE" sz="2000" b="1" dirty="0" smtClean="0">
                <a:solidFill>
                  <a:schemeClr val="tx1"/>
                </a:solidFill>
              </a:rPr>
              <a:t>Delincuencia Organizada Nacional.        </a:t>
            </a:r>
          </a:p>
          <a:p>
            <a:pPr marL="0" lvl="1" algn="just">
              <a:spcBef>
                <a:spcPts val="400"/>
              </a:spcBef>
              <a:buSzPct val="68000"/>
              <a:buNone/>
            </a:pPr>
            <a:r>
              <a:rPr lang="es-VE" sz="2000" b="1" dirty="0" smtClean="0">
                <a:solidFill>
                  <a:schemeClr val="tx1"/>
                </a:solidFill>
              </a:rPr>
              <a:t>Todos aquellos delitos contemplados en el Código Penal y     demás leyes especiales  de Venezuela.</a:t>
            </a:r>
            <a:endParaRPr lang="es-VE" sz="2000" b="1" dirty="0">
              <a:solidFill>
                <a:schemeClr val="tx1"/>
              </a:solidFill>
            </a:endParaRPr>
          </a:p>
        </p:txBody>
      </p:sp>
      <p:sp>
        <p:nvSpPr>
          <p:cNvPr id="12" name="11 Rectángulo redondeado"/>
          <p:cNvSpPr/>
          <p:nvPr/>
        </p:nvSpPr>
        <p:spPr>
          <a:xfrm>
            <a:off x="5214942" y="2071678"/>
            <a:ext cx="3714776" cy="242889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5760" lvl="1" indent="-256032" algn="ctr">
              <a:spcBef>
                <a:spcPts val="400"/>
              </a:spcBef>
              <a:buSzPct val="68000"/>
              <a:buNone/>
            </a:pPr>
            <a:r>
              <a:rPr lang="es-VE" sz="2000" b="1" dirty="0" smtClean="0">
                <a:solidFill>
                  <a:schemeClr val="tx1"/>
                </a:solidFill>
              </a:rPr>
              <a:t>Delincuencia Organizada Trasnacional. </a:t>
            </a:r>
          </a:p>
          <a:p>
            <a:pPr marL="365760" lvl="1" indent="-256032" algn="just">
              <a:spcBef>
                <a:spcPts val="400"/>
              </a:spcBef>
              <a:buSzPct val="68000"/>
              <a:buNone/>
            </a:pPr>
            <a:r>
              <a:rPr lang="es-VE" sz="2000" b="1" dirty="0" smtClean="0">
                <a:solidFill>
                  <a:schemeClr val="tx1"/>
                </a:solidFill>
              </a:rPr>
              <a:t>    Organización Delictiva que  opera en conexión con otros    países </a:t>
            </a:r>
          </a:p>
        </p:txBody>
      </p:sp>
      <p:pic>
        <p:nvPicPr>
          <p:cNvPr id="11" name="Picture 2"/>
          <p:cNvPicPr>
            <a:picLocks noChangeAspect="1" noChangeArrowheads="1"/>
          </p:cNvPicPr>
          <p:nvPr/>
        </p:nvPicPr>
        <p:blipFill>
          <a:blip r:embed="rId6" cstate="print"/>
          <a:srcRect/>
          <a:stretch>
            <a:fillRect/>
          </a:stretch>
        </p:blipFill>
        <p:spPr bwMode="auto">
          <a:xfrm>
            <a:off x="0" y="5786454"/>
            <a:ext cx="1071538" cy="1071546"/>
          </a:xfrm>
          <a:prstGeom prst="rect">
            <a:avLst/>
          </a:prstGeom>
          <a:noFill/>
          <a:ln w="9525">
            <a:noFill/>
            <a:miter lim="800000"/>
            <a:headEnd/>
            <a:tailEnd/>
          </a:ln>
          <a:effectLst/>
        </p:spPr>
      </p:pic>
      <p:pic>
        <p:nvPicPr>
          <p:cNvPr id="13" name="Imagen 1" descr="D:\Operador\Desktop\imagen de salud.jpg"/>
          <p:cNvPicPr>
            <a:picLocks noChangeAspect="1" noChangeArrowheads="1"/>
          </p:cNvPicPr>
          <p:nvPr/>
        </p:nvPicPr>
        <p:blipFill>
          <a:blip r:embed="rId7" cstate="print"/>
          <a:srcRect/>
          <a:stretch>
            <a:fillRect/>
          </a:stretch>
        </p:blipFill>
        <p:spPr bwMode="auto">
          <a:xfrm>
            <a:off x="1071538" y="6072206"/>
            <a:ext cx="1171575"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7170" name="AutoShape 2" descr="C:\Users\contablidad\Desktop\ARCHIVOS JOSE GREGORIO\INDUCCIONES  Y TALLERES\MANUAL DE POLITICAS Y NORMAS LC FT FPADM\AlejandroRebolledo.libro_-1.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7172" name="AutoShape 4" descr="C:\Users\contablidad\Desktop\ARCHIVOS JOSE GREGORIO\INDUCCIONES  Y TALLERES\MANUAL DE POLITICAS Y NORMAS LC FT FPADM\AlejandroRebolledo.libro_-1.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7174" name="AutoShape 6" descr="C:\Users\contablidad\Desktop\ARCHIVOS JOSE GREGORIO\INDUCCIONES  Y TALLERES\MANUAL DE POLITICAS Y NORMAS LC FT FPADM\Imagen delincuencia organizada.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7176" name="AutoShape 8" descr="C:\Users\contablidad\Desktop\ARCHIVOS JOSE GREGORIO\INDUCCIONES  Y TALLERES\MANUAL DE POLITICAS Y NORMAS LC FT FPADM\Imagen delincuencia organizada.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graphicFrame>
        <p:nvGraphicFramePr>
          <p:cNvPr id="14" name="13 Diagrama"/>
          <p:cNvGraphicFramePr/>
          <p:nvPr/>
        </p:nvGraphicFramePr>
        <p:xfrm>
          <a:off x="1428728" y="1928802"/>
          <a:ext cx="7500990" cy="40719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14 Diagrama"/>
          <p:cNvGraphicFramePr/>
          <p:nvPr/>
        </p:nvGraphicFramePr>
        <p:xfrm>
          <a:off x="2428860" y="0"/>
          <a:ext cx="4643470" cy="28575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6" name="Picture 2"/>
          <p:cNvPicPr>
            <a:picLocks noChangeAspect="1" noChangeArrowheads="1"/>
          </p:cNvPicPr>
          <p:nvPr/>
        </p:nvPicPr>
        <p:blipFill>
          <a:blip r:embed="rId13" cstate="print"/>
          <a:srcRect/>
          <a:stretch>
            <a:fillRect/>
          </a:stretch>
        </p:blipFill>
        <p:spPr bwMode="auto">
          <a:xfrm>
            <a:off x="0" y="2928934"/>
            <a:ext cx="1285852" cy="2357454"/>
          </a:xfrm>
          <a:prstGeom prst="rect">
            <a:avLst/>
          </a:prstGeom>
          <a:noFill/>
          <a:ln w="9525">
            <a:noFill/>
            <a:miter lim="800000"/>
            <a:headEnd/>
            <a:tailEnd/>
          </a:ln>
          <a:effectLst/>
        </p:spPr>
      </p:pic>
      <p:pic>
        <p:nvPicPr>
          <p:cNvPr id="17" name="Picture 11"/>
          <p:cNvPicPr>
            <a:picLocks noChangeAspect="1" noChangeArrowheads="1"/>
          </p:cNvPicPr>
          <p:nvPr/>
        </p:nvPicPr>
        <p:blipFill>
          <a:blip r:embed="rId14" cstate="print"/>
          <a:srcRect/>
          <a:stretch>
            <a:fillRect/>
          </a:stretch>
        </p:blipFill>
        <p:spPr bwMode="auto">
          <a:xfrm>
            <a:off x="7358082" y="0"/>
            <a:ext cx="1785918" cy="1500174"/>
          </a:xfrm>
          <a:prstGeom prst="rect">
            <a:avLst/>
          </a:prstGeom>
          <a:noFill/>
          <a:ln w="9525">
            <a:noFill/>
            <a:miter lim="800000"/>
            <a:headEnd/>
            <a:tailEnd/>
          </a:ln>
          <a:effectLst/>
        </p:spPr>
      </p:pic>
      <p:pic>
        <p:nvPicPr>
          <p:cNvPr id="12" name="Picture 2"/>
          <p:cNvPicPr>
            <a:picLocks noChangeAspect="1" noChangeArrowheads="1"/>
          </p:cNvPicPr>
          <p:nvPr/>
        </p:nvPicPr>
        <p:blipFill>
          <a:blip r:embed="rId15" cstate="print"/>
          <a:srcRect/>
          <a:stretch>
            <a:fillRect/>
          </a:stretch>
        </p:blipFill>
        <p:spPr bwMode="auto">
          <a:xfrm>
            <a:off x="0" y="5786454"/>
            <a:ext cx="1071538" cy="1071546"/>
          </a:xfrm>
          <a:prstGeom prst="rect">
            <a:avLst/>
          </a:prstGeom>
          <a:noFill/>
          <a:ln w="9525">
            <a:noFill/>
            <a:miter lim="800000"/>
            <a:headEnd/>
            <a:tailEnd/>
          </a:ln>
          <a:effectLst/>
        </p:spPr>
      </p:pic>
      <p:pic>
        <p:nvPicPr>
          <p:cNvPr id="13" name="Imagen 1" descr="D:\Operador\Desktop\imagen de salud.jpg"/>
          <p:cNvPicPr>
            <a:picLocks noChangeAspect="1" noChangeArrowheads="1"/>
          </p:cNvPicPr>
          <p:nvPr/>
        </p:nvPicPr>
        <p:blipFill>
          <a:blip r:embed="rId16" cstate="print"/>
          <a:srcRect/>
          <a:stretch>
            <a:fillRect/>
          </a:stretch>
        </p:blipFill>
        <p:spPr bwMode="auto">
          <a:xfrm>
            <a:off x="1071538" y="6072206"/>
            <a:ext cx="1171575"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grpSp>
        <p:nvGrpSpPr>
          <p:cNvPr id="10" name="Diagram group"/>
          <p:cNvGrpSpPr/>
          <p:nvPr/>
        </p:nvGrpSpPr>
        <p:grpSpPr>
          <a:xfrm>
            <a:off x="2714612" y="0"/>
            <a:ext cx="4000528" cy="1534330"/>
            <a:chOff x="0" y="159681"/>
            <a:chExt cx="4643470" cy="1534330"/>
          </a:xfrm>
          <a:scene3d>
            <a:camera prst="perspectiveRelaxedModerately" zoom="92000"/>
            <a:lightRig rig="balanced" dir="t">
              <a:rot lat="0" lon="0" rev="12700000"/>
            </a:lightRig>
          </a:scene3d>
        </p:grpSpPr>
        <p:grpSp>
          <p:nvGrpSpPr>
            <p:cNvPr id="11" name="10 Grupo"/>
            <p:cNvGrpSpPr/>
            <p:nvPr/>
          </p:nvGrpSpPr>
          <p:grpSpPr>
            <a:xfrm>
              <a:off x="0" y="159681"/>
              <a:ext cx="4643470" cy="1534330"/>
              <a:chOff x="0" y="159681"/>
              <a:chExt cx="4643470" cy="1534330"/>
            </a:xfrm>
          </p:grpSpPr>
          <p:sp>
            <p:nvSpPr>
              <p:cNvPr id="12" name="11 Rectángulo redondeado"/>
              <p:cNvSpPr/>
              <p:nvPr/>
            </p:nvSpPr>
            <p:spPr>
              <a:xfrm>
                <a:off x="0" y="159681"/>
                <a:ext cx="4643470" cy="1534330"/>
              </a:xfrm>
              <a:prstGeom prst="roundRect">
                <a:avLst/>
              </a:prstGeom>
              <a:sp3d prstMaterial="plastic">
                <a:bevelT w="50800" h="50800"/>
                <a:bevelB w="50800" h="508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12 Rectángulo"/>
              <p:cNvSpPr/>
              <p:nvPr/>
            </p:nvSpPr>
            <p:spPr>
              <a:xfrm>
                <a:off x="74900" y="234581"/>
                <a:ext cx="4493670" cy="1384530"/>
              </a:xfrm>
              <a:prstGeom prst="rect">
                <a:avLst/>
              </a:prstGeom>
              <a:solidFill>
                <a:schemeClr val="bg1"/>
              </a:solidFill>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100000"/>
                  </a:lnSpc>
                  <a:spcBef>
                    <a:spcPct val="0"/>
                  </a:spcBef>
                  <a:spcAft>
                    <a:spcPct val="35000"/>
                  </a:spcAft>
                </a:pPr>
                <a:r>
                  <a:rPr lang="es-VE" sz="3700" b="0" kern="1200" dirty="0" smtClean="0">
                    <a:solidFill>
                      <a:schemeClr val="tx1"/>
                    </a:solidFill>
                  </a:rPr>
                  <a:t>TIPOS DE DELITOS</a:t>
                </a:r>
                <a:endParaRPr lang="es-VE" sz="3700" b="0" kern="1200" dirty="0">
                  <a:solidFill>
                    <a:schemeClr val="tx1"/>
                  </a:solidFill>
                </a:endParaRPr>
              </a:p>
            </p:txBody>
          </p:sp>
        </p:grpSp>
      </p:grpSp>
      <p:pic>
        <p:nvPicPr>
          <p:cNvPr id="14" name="Picture 11"/>
          <p:cNvPicPr>
            <a:picLocks noChangeAspect="1" noChangeArrowheads="1"/>
          </p:cNvPicPr>
          <p:nvPr/>
        </p:nvPicPr>
        <p:blipFill>
          <a:blip r:embed="rId3" cstate="print"/>
          <a:srcRect/>
          <a:stretch>
            <a:fillRect/>
          </a:stretch>
        </p:blipFill>
        <p:spPr bwMode="auto">
          <a:xfrm>
            <a:off x="7358082" y="0"/>
            <a:ext cx="1785918" cy="1500174"/>
          </a:xfrm>
          <a:prstGeom prst="rect">
            <a:avLst/>
          </a:prstGeom>
          <a:noFill/>
          <a:ln w="9525">
            <a:noFill/>
            <a:miter lim="800000"/>
            <a:headEnd/>
            <a:tailEnd/>
          </a:ln>
          <a:effectLst/>
        </p:spPr>
      </p:pic>
      <p:pic>
        <p:nvPicPr>
          <p:cNvPr id="15" name="Picture 2"/>
          <p:cNvPicPr>
            <a:picLocks noChangeAspect="1" noChangeArrowheads="1"/>
          </p:cNvPicPr>
          <p:nvPr/>
        </p:nvPicPr>
        <p:blipFill>
          <a:blip r:embed="rId4" cstate="print"/>
          <a:srcRect/>
          <a:stretch>
            <a:fillRect/>
          </a:stretch>
        </p:blipFill>
        <p:spPr bwMode="auto">
          <a:xfrm>
            <a:off x="0" y="2928934"/>
            <a:ext cx="1000100" cy="2357454"/>
          </a:xfrm>
          <a:prstGeom prst="rect">
            <a:avLst/>
          </a:prstGeom>
          <a:noFill/>
          <a:ln w="9525">
            <a:noFill/>
            <a:miter lim="800000"/>
            <a:headEnd/>
            <a:tailEnd/>
          </a:ln>
          <a:effectLst/>
        </p:spPr>
      </p:pic>
      <p:graphicFrame>
        <p:nvGraphicFramePr>
          <p:cNvPr id="21" name="20 Diagrama"/>
          <p:cNvGraphicFramePr/>
          <p:nvPr/>
        </p:nvGraphicFramePr>
        <p:xfrm>
          <a:off x="1428728" y="1643050"/>
          <a:ext cx="6643734" cy="438945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6" name="Picture 2"/>
          <p:cNvPicPr>
            <a:picLocks noChangeAspect="1" noChangeArrowheads="1"/>
          </p:cNvPicPr>
          <p:nvPr/>
        </p:nvPicPr>
        <p:blipFill>
          <a:blip r:embed="rId10" cstate="print"/>
          <a:srcRect/>
          <a:stretch>
            <a:fillRect/>
          </a:stretch>
        </p:blipFill>
        <p:spPr bwMode="auto">
          <a:xfrm>
            <a:off x="0" y="5786454"/>
            <a:ext cx="1071538" cy="1071546"/>
          </a:xfrm>
          <a:prstGeom prst="rect">
            <a:avLst/>
          </a:prstGeom>
          <a:noFill/>
          <a:ln w="9525">
            <a:noFill/>
            <a:miter lim="800000"/>
            <a:headEnd/>
            <a:tailEnd/>
          </a:ln>
          <a:effectLst/>
        </p:spPr>
      </p:pic>
      <p:pic>
        <p:nvPicPr>
          <p:cNvPr id="17" name="Imagen 1" descr="D:\Operador\Desktop\imagen de salud.jpg"/>
          <p:cNvPicPr>
            <a:picLocks noChangeAspect="1" noChangeArrowheads="1"/>
          </p:cNvPicPr>
          <p:nvPr/>
        </p:nvPicPr>
        <p:blipFill>
          <a:blip r:embed="rId11" cstate="print"/>
          <a:srcRect/>
          <a:stretch>
            <a:fillRect/>
          </a:stretch>
        </p:blipFill>
        <p:spPr bwMode="auto">
          <a:xfrm>
            <a:off x="1071538" y="6072206"/>
            <a:ext cx="1171575"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1357290" y="1071546"/>
            <a:ext cx="7143800" cy="5000660"/>
          </a:xfrm>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anchor="ctr">
            <a:normAutofit/>
          </a:bodyPr>
          <a:lstStyle/>
          <a:p>
            <a:pPr algn="ctr">
              <a:buNone/>
            </a:pPr>
            <a:r>
              <a:rPr lang="es-VE" sz="2200" b="1" dirty="0" smtClean="0"/>
              <a:t>CAPÍTULO II. </a:t>
            </a:r>
          </a:p>
          <a:p>
            <a:pPr algn="ctr">
              <a:buNone/>
            </a:pPr>
            <a:r>
              <a:rPr lang="es-VE" sz="2200" dirty="0" smtClean="0"/>
              <a:t>   </a:t>
            </a:r>
            <a:r>
              <a:rPr lang="es-VE" sz="2200" b="1" dirty="0" smtClean="0"/>
              <a:t>ESTRUCTURA ORGANIZACIONAL DEL SUJETO OBLIGADO Y DEL SISTEMA INTEGRAL DE ADMINISTRACIÓN DE RIESGOS DE LEGITIMACIÓN DE CAPITALES, FINANCIAMIENTO AL TERRORISMO Y FINANCIAMIENTO DE LA PROLIFERACIÓN DE ARMAS DE DESTRUCCIÓN MASIVA. OBLIGACIONES Y FUNCIONES DE CADA UNO DE LOS ACTOS QUE LO CONFORMAN</a:t>
            </a:r>
          </a:p>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pic>
        <p:nvPicPr>
          <p:cNvPr id="6" name="Picture 11"/>
          <p:cNvPicPr>
            <a:picLocks noChangeAspect="1" noChangeArrowheads="1"/>
          </p:cNvPicPr>
          <p:nvPr/>
        </p:nvPicPr>
        <p:blipFill>
          <a:blip r:embed="rId3" cstate="print"/>
          <a:srcRect/>
          <a:stretch>
            <a:fillRect/>
          </a:stretch>
        </p:blipFill>
        <p:spPr bwMode="auto">
          <a:xfrm>
            <a:off x="7358082" y="0"/>
            <a:ext cx="1785918" cy="1500174"/>
          </a:xfrm>
          <a:prstGeom prst="rect">
            <a:avLst/>
          </a:prstGeom>
          <a:noFill/>
          <a:ln w="9525">
            <a:noFill/>
            <a:miter lim="800000"/>
            <a:headEnd/>
            <a:tailEnd/>
          </a:ln>
          <a:effectLst/>
        </p:spPr>
      </p:pic>
      <p:pic>
        <p:nvPicPr>
          <p:cNvPr id="7" name="Picture 2"/>
          <p:cNvPicPr>
            <a:picLocks noChangeAspect="1" noChangeArrowheads="1"/>
          </p:cNvPicPr>
          <p:nvPr/>
        </p:nvPicPr>
        <p:blipFill>
          <a:blip r:embed="rId4" cstate="print"/>
          <a:srcRect/>
          <a:stretch>
            <a:fillRect/>
          </a:stretch>
        </p:blipFill>
        <p:spPr bwMode="auto">
          <a:xfrm>
            <a:off x="0" y="2928934"/>
            <a:ext cx="1142976" cy="23574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4098" name="AutoShape 2" descr="C:\Users\contablidad\Desktop\ARCHIVOS JOSE GREGORIO\INDUCCIONES  Y TALLERES\MANUAL DE POLITICAS Y NORMAS LC FT FPADM\IMAGENES\ESTRUCTURA-ORGANIZACIONAL-BIZNEO-810x455.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00" name="AutoShape 4" descr="C:\Users\contablidad\Desktop\ARCHIVOS JOSE GREGORIO\INDUCCIONES  Y TALLERES\MANUAL DE POLITICAS Y NORMAS LC FT FPADM\IMAGENES\ESTRUCTURA-ORGANIZACIONAL-BIZNEO-810x455.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02" name="AutoShape 6" descr="C:\Users\contablidad\Desktop\ESTRUCTURA-ORGANIZACIONAL-BIZNEO-810x455.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04" name="AutoShape 8" descr="C:\Users\contablidad\Desktop\ESTRUCTURA-ORGANIZACIONAL-BIZNEO-810x455.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06" name="AutoShape 10" descr="Estructura Organizacional | Cómo crearla y para qué sirv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08" name="AutoShape 12" descr="C:\Users\contablidad\Desktop\Estructura20organizacional-640x453.jp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10" name="AutoShape 14" descr="C:\Users\contablidad\Desktop\Estructura20organizacional-640x453.jp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4112" name="AutoShape 16" descr="C:\Users\contablidad\Desktop\Estructura20organizacional-640x453.jp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6" name="Picture 11"/>
          <p:cNvPicPr>
            <a:picLocks noChangeAspect="1" noChangeArrowheads="1"/>
          </p:cNvPicPr>
          <p:nvPr/>
        </p:nvPicPr>
        <p:blipFill>
          <a:blip r:embed="rId2" cstate="print"/>
          <a:srcRect/>
          <a:stretch>
            <a:fillRect/>
          </a:stretch>
        </p:blipFill>
        <p:spPr bwMode="auto">
          <a:xfrm>
            <a:off x="7358082" y="0"/>
            <a:ext cx="1785918" cy="1500174"/>
          </a:xfrm>
          <a:prstGeom prst="rect">
            <a:avLst/>
          </a:prstGeom>
          <a:noFill/>
          <a:ln w="9525">
            <a:noFill/>
            <a:miter lim="800000"/>
            <a:headEnd/>
            <a:tailEnd/>
          </a:ln>
          <a:effectLst/>
        </p:spPr>
      </p:pic>
      <p:sp>
        <p:nvSpPr>
          <p:cNvPr id="17" name="16 Rectángulo"/>
          <p:cNvSpPr/>
          <p:nvPr/>
        </p:nvSpPr>
        <p:spPr>
          <a:xfrm>
            <a:off x="0" y="1"/>
            <a:ext cx="3071834"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s-VE" sz="2400" dirty="0" smtClean="0"/>
              <a:t> </a:t>
            </a:r>
            <a:r>
              <a:rPr lang="es-VE" sz="1400" b="1" dirty="0" smtClean="0"/>
              <a:t>ESTRUCTURA ORGANIZACIONAL </a:t>
            </a:r>
            <a:endParaRPr lang="es-VE" sz="1400" dirty="0"/>
          </a:p>
        </p:txBody>
      </p:sp>
      <p:pic>
        <p:nvPicPr>
          <p:cNvPr id="18" name="Picture 11"/>
          <p:cNvPicPr>
            <a:picLocks noChangeAspect="1" noChangeArrowheads="1"/>
          </p:cNvPicPr>
          <p:nvPr/>
        </p:nvPicPr>
        <p:blipFill>
          <a:blip r:embed="rId2" cstate="print"/>
          <a:srcRect/>
          <a:stretch>
            <a:fillRect/>
          </a:stretch>
        </p:blipFill>
        <p:spPr bwMode="auto">
          <a:xfrm>
            <a:off x="8215338" y="0"/>
            <a:ext cx="928662" cy="642918"/>
          </a:xfrm>
          <a:prstGeom prst="rect">
            <a:avLst/>
          </a:prstGeom>
          <a:noFill/>
          <a:ln w="9525">
            <a:noFill/>
            <a:miter lim="800000"/>
            <a:headEnd/>
            <a:tailEnd/>
          </a:ln>
          <a:effectLst/>
        </p:spPr>
      </p:pic>
      <p:pic>
        <p:nvPicPr>
          <p:cNvPr id="21" name="Marcador de contenido 7"/>
          <p:cNvPicPr/>
          <p:nvPr/>
        </p:nvPicPr>
        <p:blipFill>
          <a:blip r:embed="rId3" cstate="print"/>
          <a:stretch/>
        </p:blipFill>
        <p:spPr>
          <a:xfrm>
            <a:off x="0" y="0"/>
            <a:ext cx="9144000" cy="6858000"/>
          </a:xfrm>
          <a:prstGeom prst="rect">
            <a:avLst/>
          </a:prstGeom>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85786" y="1785926"/>
            <a:ext cx="7715304"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2357422" y="214290"/>
            <a:ext cx="4214842" cy="1384995"/>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a:spAutoFit/>
          </a:bodyPr>
          <a:lstStyle/>
          <a:p>
            <a:pPr algn="ctr"/>
            <a:r>
              <a:rPr lang="es-VE" sz="2400" b="1" dirty="0" smtClean="0"/>
              <a:t> </a:t>
            </a:r>
          </a:p>
          <a:p>
            <a:pPr algn="ctr"/>
            <a:r>
              <a:rPr lang="es-VE" b="1" dirty="0" smtClean="0"/>
              <a:t>ESTRUCTURA DEL SIAR DE LC/FT/FPADM</a:t>
            </a:r>
          </a:p>
          <a:p>
            <a:endParaRPr lang="es-VE" sz="2400" dirty="0"/>
          </a:p>
        </p:txBody>
      </p:sp>
      <p:pic>
        <p:nvPicPr>
          <p:cNvPr id="2050" name="Diagrama 2"/>
          <p:cNvPicPr>
            <a:picLocks noChangeArrowheads="1"/>
          </p:cNvPicPr>
          <p:nvPr/>
        </p:nvPicPr>
        <p:blipFill>
          <a:blip r:embed="rId3" cstate="print"/>
          <a:srcRect/>
          <a:stretch>
            <a:fillRect/>
          </a:stretch>
        </p:blipFill>
        <p:spPr bwMode="auto">
          <a:xfrm>
            <a:off x="3000364" y="1357298"/>
            <a:ext cx="5929354" cy="5286412"/>
          </a:xfrm>
          <a:prstGeom prst="rect">
            <a:avLst/>
          </a:prstGeom>
          <a:noFill/>
        </p:spPr>
      </p:pic>
      <p:sp>
        <p:nvSpPr>
          <p:cNvPr id="2054" name="Rectángulo: esquinas redondeadas 3"/>
          <p:cNvSpPr>
            <a:spLocks noChangeArrowheads="1"/>
          </p:cNvSpPr>
          <p:nvPr/>
        </p:nvSpPr>
        <p:spPr bwMode="auto">
          <a:xfrm>
            <a:off x="928662" y="3714752"/>
            <a:ext cx="3071834" cy="1428760"/>
          </a:xfrm>
          <a:prstGeom prst="roundRect">
            <a:avLst>
              <a:gd name="adj" fmla="val 16667"/>
            </a:avLst>
          </a:prstGeom>
          <a:solidFill>
            <a:srgbClr val="FFFFFF"/>
          </a:solidFill>
          <a:ln w="12700">
            <a:solidFill>
              <a:srgbClr val="5B9BD5"/>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s-VE" sz="1200" b="1" i="0" u="none" strike="noStrike" cap="none" normalizeH="0" baseline="0" dirty="0" smtClean="0">
                <a:ln>
                  <a:noFill/>
                </a:ln>
                <a:solidFill>
                  <a:schemeClr val="tx1"/>
                </a:solidFill>
                <a:effectLst/>
                <a:latin typeface="Calibri Light" charset="0"/>
                <a:cs typeface="Arial" pitchFamily="34" charset="0"/>
              </a:rPr>
              <a:t>Gerencia o Jefatura:</a:t>
            </a:r>
            <a:r>
              <a:rPr kumimoji="0" lang="es-VE" sz="1200" b="1" i="0" u="none" strike="noStrike" cap="none" normalizeH="0" dirty="0" smtClean="0">
                <a:ln>
                  <a:noFill/>
                </a:ln>
                <a:solidFill>
                  <a:schemeClr val="tx1"/>
                </a:solidFill>
                <a:effectLst/>
                <a:latin typeface="Calibri Light"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lang="es-VE" sz="1200" b="1" baseline="0" dirty="0" smtClean="0">
                <a:latin typeface="Calibri Light" charset="0"/>
                <a:cs typeface="Arial" pitchFamily="34" charset="0"/>
              </a:rPr>
              <a:t>1</a:t>
            </a:r>
            <a:r>
              <a:rPr kumimoji="0" lang="es-VE" sz="1200" b="1" i="0" u="none" strike="noStrike" cap="none" normalizeH="0" baseline="0" dirty="0" smtClean="0">
                <a:ln>
                  <a:noFill/>
                </a:ln>
                <a:solidFill>
                  <a:schemeClr val="tx1"/>
                </a:solidFill>
                <a:effectLst/>
                <a:latin typeface="Calibri Light" charset="0"/>
                <a:cs typeface="Arial" pitchFamily="34" charset="0"/>
              </a:rPr>
              <a:t>Administración de Riesgos</a:t>
            </a:r>
            <a:r>
              <a:rPr kumimoji="0" lang="es-VE" sz="1200" b="1" i="0" u="none" strike="noStrike" cap="none" normalizeH="0" dirty="0" smtClean="0">
                <a:ln>
                  <a:noFill/>
                </a:ln>
                <a:solidFill>
                  <a:schemeClr val="tx1"/>
                </a:solidFill>
                <a:effectLst/>
                <a:latin typeface="Calibri Light" charset="0"/>
                <a:cs typeface="Arial" pitchFamily="34" charset="0"/>
              </a:rPr>
              <a:t> 2</a:t>
            </a:r>
            <a:r>
              <a:rPr kumimoji="0" lang="es-VE" sz="1200" b="1" i="0" u="none" strike="noStrike" cap="none" normalizeH="0" baseline="0" dirty="0" smtClean="0">
                <a:ln>
                  <a:noFill/>
                </a:ln>
                <a:solidFill>
                  <a:schemeClr val="tx1"/>
                </a:solidFill>
                <a:effectLst/>
                <a:latin typeface="Calibri Light" charset="0"/>
                <a:cs typeface="Arial" pitchFamily="34" charset="0"/>
              </a:rPr>
              <a:t>Estadísticas y Análisis Estratégico.</a:t>
            </a:r>
            <a:r>
              <a:rPr lang="es-VE" sz="1200" b="1" dirty="0" smtClean="0">
                <a:latin typeface="Calibri Light" charset="0"/>
                <a:cs typeface="Arial" pitchFamily="34" charset="0"/>
              </a:rPr>
              <a:t>                      </a:t>
            </a:r>
            <a:r>
              <a:rPr kumimoji="0" lang="es-VE" sz="1200" b="1" i="0" u="none" strike="noStrike" cap="none" normalizeH="0" dirty="0" smtClean="0">
                <a:ln>
                  <a:noFill/>
                </a:ln>
                <a:solidFill>
                  <a:schemeClr val="tx1"/>
                </a:solidFill>
                <a:effectLst/>
                <a:latin typeface="Calibri Light" charset="0"/>
                <a:cs typeface="Arial" pitchFamily="34" charset="0"/>
              </a:rPr>
              <a:t> 3</a:t>
            </a:r>
            <a:r>
              <a:rPr kumimoji="0" lang="es-VE" sz="1200" b="1" i="0" u="none" strike="noStrike" cap="none" normalizeH="0" baseline="0" dirty="0" smtClean="0">
                <a:ln>
                  <a:noFill/>
                </a:ln>
                <a:solidFill>
                  <a:schemeClr val="tx1"/>
                </a:solidFill>
                <a:effectLst/>
                <a:latin typeface="Calibri Light" charset="0"/>
                <a:cs typeface="Arial" pitchFamily="34" charset="0"/>
              </a:rPr>
              <a:t>Análisis y Supervisión de Operaciones</a:t>
            </a:r>
            <a:endParaRPr kumimoji="0" lang="es-VE" sz="1200" b="1" i="0" u="none" strike="noStrike" cap="none" normalizeH="0" baseline="0" dirty="0" smtClean="0">
              <a:ln>
                <a:noFill/>
              </a:ln>
              <a:solidFill>
                <a:schemeClr val="tx1"/>
              </a:solidFill>
              <a:effectLst/>
              <a:latin typeface="Arial" pitchFamily="34" charset="0"/>
              <a:cs typeface="Arial" pitchFamily="34" charset="0"/>
            </a:endParaRPr>
          </a:p>
        </p:txBody>
      </p:sp>
      <p:sp>
        <p:nvSpPr>
          <p:cNvPr id="2055" name="Cerrar llave 4"/>
          <p:cNvSpPr>
            <a:spLocks/>
          </p:cNvSpPr>
          <p:nvPr/>
        </p:nvSpPr>
        <p:spPr bwMode="auto">
          <a:xfrm>
            <a:off x="4000496" y="3643314"/>
            <a:ext cx="214314" cy="1500198"/>
          </a:xfrm>
          <a:prstGeom prst="rightBrace">
            <a:avLst>
              <a:gd name="adj1" fmla="val 8316"/>
              <a:gd name="adj2" fmla="val 50000"/>
            </a:avLst>
          </a:prstGeom>
          <a:noFill/>
          <a:ln w="12700">
            <a:solidFill>
              <a:srgbClr val="4472C4"/>
            </a:solidFill>
            <a:miter lim="800000"/>
            <a:headEnd/>
            <a:tailEnd/>
          </a:ln>
        </p:spPr>
        <p:txBody>
          <a:bodyPr vert="horz" wrap="square" lIns="91440" tIns="45720" rIns="91440" bIns="45720" numCol="1" anchor="ctr" anchorCtr="0" compatLnSpc="1">
            <a:prstTxWarp prst="textNoShape">
              <a:avLst/>
            </a:prstTxWarp>
          </a:bodyPr>
          <a:lstStyle/>
          <a:p>
            <a:endParaRPr lang="es-VE" dirty="0"/>
          </a:p>
        </p:txBody>
      </p:sp>
      <p:pic>
        <p:nvPicPr>
          <p:cNvPr id="15" name="Picture 2"/>
          <p:cNvPicPr>
            <a:picLocks noChangeAspect="1" noChangeArrowheads="1"/>
          </p:cNvPicPr>
          <p:nvPr/>
        </p:nvPicPr>
        <p:blipFill>
          <a:blip r:embed="rId4" cstate="print"/>
          <a:srcRect/>
          <a:stretch>
            <a:fillRect/>
          </a:stretch>
        </p:blipFill>
        <p:spPr bwMode="auto">
          <a:xfrm>
            <a:off x="0" y="2786058"/>
            <a:ext cx="857224" cy="2357454"/>
          </a:xfrm>
          <a:prstGeom prst="rect">
            <a:avLst/>
          </a:prstGeom>
          <a:noFill/>
          <a:ln w="9525">
            <a:noFill/>
            <a:miter lim="800000"/>
            <a:headEnd/>
            <a:tailEnd/>
          </a:ln>
          <a:effectLst/>
        </p:spPr>
      </p:pic>
      <p:pic>
        <p:nvPicPr>
          <p:cNvPr id="16" name="Picture 11"/>
          <p:cNvPicPr>
            <a:picLocks noChangeAspect="1" noChangeArrowheads="1"/>
          </p:cNvPicPr>
          <p:nvPr/>
        </p:nvPicPr>
        <p:blipFill>
          <a:blip r:embed="rId5" cstate="print"/>
          <a:srcRect/>
          <a:stretch>
            <a:fillRect/>
          </a:stretch>
        </p:blipFill>
        <p:spPr bwMode="auto">
          <a:xfrm>
            <a:off x="7358082" y="0"/>
            <a:ext cx="1785918" cy="15001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85786" y="1785926"/>
            <a:ext cx="7715304"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3" name="12 Rectángulo"/>
          <p:cNvSpPr/>
          <p:nvPr/>
        </p:nvSpPr>
        <p:spPr>
          <a:xfrm>
            <a:off x="2285984" y="214290"/>
            <a:ext cx="4214842" cy="1046440"/>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a:spAutoFit/>
          </a:bodyPr>
          <a:lstStyle/>
          <a:p>
            <a:pPr algn="ctr"/>
            <a:r>
              <a:rPr lang="es-VE" sz="2400" b="1" dirty="0" smtClean="0"/>
              <a:t> </a:t>
            </a:r>
          </a:p>
          <a:p>
            <a:pPr algn="ctr"/>
            <a:r>
              <a:rPr lang="es-VE" sz="1400" b="1" dirty="0" smtClean="0"/>
              <a:t>ESTRUCTURA DEL SIAR DE LC/FT/FPADM</a:t>
            </a:r>
          </a:p>
          <a:p>
            <a:endParaRPr lang="es-VE" sz="2400" dirty="0"/>
          </a:p>
        </p:txBody>
      </p:sp>
      <p:graphicFrame>
        <p:nvGraphicFramePr>
          <p:cNvPr id="7" name="6 Tabla"/>
          <p:cNvGraphicFramePr>
            <a:graphicFrameLocks noGrp="1"/>
          </p:cNvGraphicFramePr>
          <p:nvPr/>
        </p:nvGraphicFramePr>
        <p:xfrm>
          <a:off x="214282" y="1534303"/>
          <a:ext cx="8715436" cy="5144877"/>
        </p:xfrm>
        <a:graphic>
          <a:graphicData uri="http://schemas.openxmlformats.org/drawingml/2006/table">
            <a:tbl>
              <a:tblPr/>
              <a:tblGrid>
                <a:gridCol w="2094830"/>
                <a:gridCol w="6620606"/>
              </a:tblGrid>
              <a:tr h="1089687">
                <a:tc>
                  <a:txBody>
                    <a:bodyPr/>
                    <a:lstStyle/>
                    <a:p>
                      <a:pPr algn="ctr">
                        <a:lnSpc>
                          <a:spcPct val="115000"/>
                        </a:lnSpc>
                      </a:pPr>
                      <a:r>
                        <a:rPr lang="es-VE" sz="1200" b="1" strike="noStrike" spc="-1" dirty="0">
                          <a:solidFill>
                            <a:srgbClr val="000000"/>
                          </a:solidFill>
                          <a:latin typeface="Calibri Light"/>
                          <a:ea typeface="Calibri"/>
                        </a:rPr>
                        <a:t>Consejo Directivo</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s-VE" sz="1200" b="1" strike="noStrike" spc="-1" dirty="0">
                          <a:solidFill>
                            <a:srgbClr val="000000"/>
                          </a:solidFill>
                          <a:latin typeface="Calibri Light"/>
                          <a:ea typeface="Calibri"/>
                        </a:rPr>
                        <a:t>Guillermo E. Guerrero Tua, C.I. V-14.255.011, Presidente</a:t>
                      </a:r>
                      <a:endParaRPr lang="es-VE" sz="1200" b="0" strike="noStrike" spc="-1" dirty="0">
                        <a:latin typeface="Arial"/>
                      </a:endParaRPr>
                    </a:p>
                    <a:p>
                      <a:pPr algn="just">
                        <a:lnSpc>
                          <a:spcPct val="115000"/>
                        </a:lnSpc>
                      </a:pPr>
                      <a:r>
                        <a:rPr lang="es-VE" sz="1200" b="1" strike="noStrike" spc="-1" dirty="0" err="1">
                          <a:solidFill>
                            <a:srgbClr val="000000"/>
                          </a:solidFill>
                          <a:latin typeface="Calibri Light"/>
                          <a:ea typeface="Calibri"/>
                        </a:rPr>
                        <a:t>Zulay</a:t>
                      </a:r>
                      <a:r>
                        <a:rPr lang="es-VE" sz="1200" b="1" strike="noStrike" spc="-1" dirty="0">
                          <a:solidFill>
                            <a:srgbClr val="000000"/>
                          </a:solidFill>
                          <a:latin typeface="Calibri Light"/>
                          <a:ea typeface="Calibri"/>
                        </a:rPr>
                        <a:t> C. </a:t>
                      </a:r>
                      <a:r>
                        <a:rPr lang="es-VE" sz="1200" b="1" strike="noStrike" spc="-1" dirty="0" err="1">
                          <a:solidFill>
                            <a:srgbClr val="000000"/>
                          </a:solidFill>
                          <a:latin typeface="Calibri Light"/>
                          <a:ea typeface="Calibri"/>
                        </a:rPr>
                        <a:t>Agelvis</a:t>
                      </a:r>
                      <a:r>
                        <a:rPr lang="es-VE" sz="1200" b="1" strike="noStrike" spc="-1" dirty="0">
                          <a:solidFill>
                            <a:srgbClr val="000000"/>
                          </a:solidFill>
                          <a:latin typeface="Calibri Light"/>
                          <a:ea typeface="Calibri"/>
                        </a:rPr>
                        <a:t> Morales C.I. V-5.682.980, Vicepresidente</a:t>
                      </a:r>
                      <a:endParaRPr lang="es-VE" sz="1200" b="0" strike="noStrike" spc="-1" dirty="0">
                        <a:latin typeface="Arial"/>
                      </a:endParaRPr>
                    </a:p>
                    <a:p>
                      <a:pPr algn="just">
                        <a:lnSpc>
                          <a:spcPct val="115000"/>
                        </a:lnSpc>
                      </a:pPr>
                      <a:r>
                        <a:rPr lang="es-VE" sz="1200" b="1" strike="noStrike" spc="-1" dirty="0" err="1">
                          <a:solidFill>
                            <a:srgbClr val="000000"/>
                          </a:solidFill>
                          <a:latin typeface="Calibri Light"/>
                          <a:ea typeface="Calibri"/>
                        </a:rPr>
                        <a:t>Zulimar</a:t>
                      </a:r>
                      <a:r>
                        <a:rPr lang="es-VE" sz="1200" b="1" strike="noStrike" spc="-1" dirty="0">
                          <a:solidFill>
                            <a:srgbClr val="000000"/>
                          </a:solidFill>
                          <a:latin typeface="Calibri Light"/>
                          <a:ea typeface="Calibri"/>
                        </a:rPr>
                        <a:t> del C. Matheus Albornoz, C.I. V-12.325.518, Directora Asistencial </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María Felicia Albornoz Lobo C.I. V-15.920.767, Directora Administrativa</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 </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r>
              <a:tr h="287678">
                <a:tc>
                  <a:txBody>
                    <a:bodyPr/>
                    <a:lstStyle/>
                    <a:p>
                      <a:pPr algn="just">
                        <a:lnSpc>
                          <a:spcPct val="115000"/>
                        </a:lnSpc>
                      </a:pPr>
                      <a:r>
                        <a:rPr lang="es-VE" sz="1200" b="1" strike="noStrike" spc="-1">
                          <a:solidFill>
                            <a:srgbClr val="000000"/>
                          </a:solidFill>
                          <a:latin typeface="Calibri Light"/>
                          <a:ea typeface="Calibri"/>
                        </a:rPr>
                        <a:t>Presidente</a:t>
                      </a:r>
                      <a:endParaRPr lang="es-VE" sz="1200" b="0" strike="noStrike" spc="-1">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s-VE" sz="1200" b="1" strike="noStrike" spc="-1" dirty="0">
                          <a:solidFill>
                            <a:srgbClr val="000000"/>
                          </a:solidFill>
                          <a:latin typeface="Calibri Light"/>
                          <a:ea typeface="Calibri"/>
                        </a:rPr>
                        <a:t>Guillermo E. Guerrero Tua C.I. V-14.255.011</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r>
              <a:tr h="373428">
                <a:tc>
                  <a:txBody>
                    <a:bodyPr/>
                    <a:lstStyle/>
                    <a:p>
                      <a:pPr>
                        <a:lnSpc>
                          <a:spcPct val="115000"/>
                        </a:lnSpc>
                      </a:pPr>
                      <a:r>
                        <a:rPr lang="es-VE" sz="1200" b="1" strike="noStrike" spc="-1">
                          <a:solidFill>
                            <a:srgbClr val="000000"/>
                          </a:solidFill>
                          <a:latin typeface="Calibri Light"/>
                          <a:ea typeface="Calibri"/>
                        </a:rPr>
                        <a:t>Oficial de Cumplimiento</a:t>
                      </a:r>
                      <a:endParaRPr lang="es-VE" sz="1200" b="0" strike="noStrike" spc="-1">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s-VE" sz="1200" b="1" strike="noStrike" spc="-1" dirty="0">
                          <a:solidFill>
                            <a:srgbClr val="000000"/>
                          </a:solidFill>
                          <a:latin typeface="Calibri Light"/>
                          <a:ea typeface="Calibri"/>
                        </a:rPr>
                        <a:t>José Gregorio Rosales Medina C.I. V-5.123.645</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r>
              <a:tr h="559983">
                <a:tc>
                  <a:txBody>
                    <a:bodyPr/>
                    <a:lstStyle/>
                    <a:p>
                      <a:pPr>
                        <a:lnSpc>
                          <a:spcPct val="115000"/>
                        </a:lnSpc>
                      </a:pPr>
                      <a:r>
                        <a:rPr lang="es-VE" sz="1200" b="1" strike="noStrike" spc="-1">
                          <a:solidFill>
                            <a:srgbClr val="000000"/>
                          </a:solidFill>
                          <a:latin typeface="Calibri Light"/>
                          <a:ea typeface="Calibri"/>
                        </a:rPr>
                        <a:t>Unidad de Administración de Riesgos LC/FT/FPADM</a:t>
                      </a:r>
                      <a:endParaRPr lang="es-VE" sz="1200" b="0" strike="noStrike" spc="-1">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s-VE" sz="1200" b="1" strike="noStrike" spc="-1" dirty="0">
                          <a:solidFill>
                            <a:srgbClr val="000000"/>
                          </a:solidFill>
                          <a:latin typeface="Calibri Light"/>
                          <a:ea typeface="Calibri"/>
                        </a:rPr>
                        <a:t>1 Especialista (Vacante)</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r>
              <a:tr h="2798631">
                <a:tc>
                  <a:txBody>
                    <a:bodyPr/>
                    <a:lstStyle/>
                    <a:p>
                      <a:pPr>
                        <a:lnSpc>
                          <a:spcPct val="115000"/>
                        </a:lnSpc>
                      </a:pPr>
                      <a:r>
                        <a:rPr lang="es-VE" sz="1200" b="1" strike="noStrike" spc="-1">
                          <a:solidFill>
                            <a:srgbClr val="000000"/>
                          </a:solidFill>
                          <a:latin typeface="Calibri Light"/>
                          <a:ea typeface="Calibri"/>
                        </a:rPr>
                        <a:t>Responsables de cumplimiento</a:t>
                      </a:r>
                      <a:endParaRPr lang="es-VE" sz="1200" b="0" strike="noStrike" spc="-1">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s-VE" sz="1200" b="1" strike="noStrike" spc="-1" dirty="0">
                          <a:solidFill>
                            <a:srgbClr val="000000"/>
                          </a:solidFill>
                          <a:latin typeface="Calibri Light"/>
                          <a:ea typeface="Calibri"/>
                        </a:rPr>
                        <a:t>Gerencia Asistencial: Zulymar Matheus</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Clinisalud El Vigía</a:t>
                      </a:r>
                      <a:r>
                        <a:rPr lang="es-VE" sz="1200" b="1" strike="noStrike" spc="-1" dirty="0" smtClean="0">
                          <a:solidFill>
                            <a:srgbClr val="000000"/>
                          </a:solidFill>
                          <a:latin typeface="Calibri Light"/>
                          <a:ea typeface="Calibri"/>
                        </a:rPr>
                        <a:t>:</a:t>
                      </a:r>
                      <a:r>
                        <a:rPr lang="es-VE" sz="1200" b="1" strike="noStrike" spc="-1" baseline="0" dirty="0" smtClean="0">
                          <a:solidFill>
                            <a:srgbClr val="000000"/>
                          </a:solidFill>
                          <a:latin typeface="Calibri Light"/>
                          <a:ea typeface="Calibri"/>
                        </a:rPr>
                        <a:t> Vacante</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Medicina Ocupacional y Seguridad Laboral: Armando Villasmil</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Comercialización y Facturación: coordinadora:Yasmely Zambrano</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Contabilidad: Analista de Contabilidad: Edwin E. Ramírez Villarreal. </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Ventas y Suscripción: Vacante (Encargado Armando Villasmil)</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Administrativa Clínica Mérida: Marla Bustamante</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del Quirófano: Javier E. Linares</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Gerente de Sistemas: Franklin Monsalve</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Talento Humano: Juan C. Flores</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Gerencia de Administración y Finanzas: María Albornoz</a:t>
                      </a:r>
                      <a:endParaRPr lang="es-VE" sz="1200" b="0" strike="noStrike" spc="-1" dirty="0">
                        <a:latin typeface="Arial"/>
                      </a:endParaRPr>
                    </a:p>
                    <a:p>
                      <a:pPr algn="just">
                        <a:lnSpc>
                          <a:spcPct val="115000"/>
                        </a:lnSpc>
                      </a:pPr>
                      <a:r>
                        <a:rPr lang="es-VE" sz="1200" b="1" strike="noStrike" spc="-1" dirty="0">
                          <a:solidFill>
                            <a:srgbClr val="000000"/>
                          </a:solidFill>
                          <a:latin typeface="Calibri Light"/>
                          <a:ea typeface="Calibri"/>
                        </a:rPr>
                        <a:t>Coordinación de Compras: Yury Hernández</a:t>
                      </a:r>
                      <a:endParaRPr lang="es-VE" sz="1200" b="0" strike="noStrike" spc="-1" dirty="0">
                        <a:latin typeface="Arial"/>
                      </a:endParaRPr>
                    </a:p>
                  </a:txBody>
                  <a:tcPr marL="55440" marR="5544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85786" y="1785926"/>
            <a:ext cx="7715304"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pic>
        <p:nvPicPr>
          <p:cNvPr id="4" name="Imagen 6"/>
          <p:cNvPicPr>
            <a:picLocks noChangeAspect="1"/>
          </p:cNvPicPr>
          <p:nvPr/>
        </p:nvPicPr>
        <p:blipFill>
          <a:blip r:embed="rId2" cstate="print"/>
          <a:srcRect/>
          <a:stretch>
            <a:fillRect/>
          </a:stretch>
        </p:blipFill>
        <p:spPr bwMode="auto">
          <a:xfrm>
            <a:off x="0" y="0"/>
            <a:ext cx="2214545" cy="1785926"/>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pic>
        <p:nvPicPr>
          <p:cNvPr id="8" name="Picture 2"/>
          <p:cNvPicPr>
            <a:picLocks noChangeAspect="1" noChangeArrowheads="1"/>
          </p:cNvPicPr>
          <p:nvPr/>
        </p:nvPicPr>
        <p:blipFill>
          <a:blip r:embed="rId3" cstate="print"/>
          <a:srcRect/>
          <a:stretch>
            <a:fillRect/>
          </a:stretch>
        </p:blipFill>
        <p:spPr bwMode="auto">
          <a:xfrm>
            <a:off x="3643306" y="5715016"/>
            <a:ext cx="1928826" cy="1142984"/>
          </a:xfrm>
          <a:prstGeom prst="rect">
            <a:avLst/>
          </a:prstGeom>
          <a:noFill/>
          <a:ln w="9525">
            <a:noFill/>
            <a:miter lim="800000"/>
            <a:headEnd/>
            <a:tailEnd/>
          </a:ln>
          <a:effectLst/>
        </p:spPr>
      </p:pic>
      <p:pic>
        <p:nvPicPr>
          <p:cNvPr id="9" name="Picture 11"/>
          <p:cNvPicPr>
            <a:picLocks noChangeAspect="1" noChangeArrowheads="1"/>
          </p:cNvPicPr>
          <p:nvPr/>
        </p:nvPicPr>
        <p:blipFill>
          <a:blip r:embed="rId4" cstate="print"/>
          <a:srcRect/>
          <a:stretch>
            <a:fillRect/>
          </a:stretch>
        </p:blipFill>
        <p:spPr bwMode="auto">
          <a:xfrm>
            <a:off x="7358082" y="0"/>
            <a:ext cx="1785918" cy="1500174"/>
          </a:xfrm>
          <a:prstGeom prst="rect">
            <a:avLst/>
          </a:prstGeom>
          <a:noFill/>
          <a:ln w="9525">
            <a:noFill/>
            <a:miter lim="800000"/>
            <a:headEnd/>
            <a:tailEnd/>
          </a:ln>
          <a:effectLst/>
        </p:spPr>
      </p:pic>
      <p:pic>
        <p:nvPicPr>
          <p:cNvPr id="10" name="Picture 2"/>
          <p:cNvPicPr>
            <a:picLocks noChangeAspect="1" noChangeArrowheads="1"/>
          </p:cNvPicPr>
          <p:nvPr/>
        </p:nvPicPr>
        <p:blipFill>
          <a:blip r:embed="rId5" cstate="print"/>
          <a:srcRect/>
          <a:stretch>
            <a:fillRect/>
          </a:stretch>
        </p:blipFill>
        <p:spPr bwMode="auto">
          <a:xfrm>
            <a:off x="6000760" y="0"/>
            <a:ext cx="1428728" cy="1500174"/>
          </a:xfrm>
          <a:prstGeom prst="rect">
            <a:avLst/>
          </a:prstGeom>
          <a:noFill/>
          <a:ln w="9525">
            <a:noFill/>
            <a:miter lim="800000"/>
            <a:headEnd/>
            <a:tailEnd/>
          </a:ln>
          <a:effectLst/>
        </p:spPr>
      </p:pic>
      <p:grpSp>
        <p:nvGrpSpPr>
          <p:cNvPr id="11" name="10 Grupo"/>
          <p:cNvGrpSpPr/>
          <p:nvPr/>
        </p:nvGrpSpPr>
        <p:grpSpPr>
          <a:xfrm>
            <a:off x="428596" y="2786058"/>
            <a:ext cx="2195672" cy="2928958"/>
            <a:chOff x="7346" y="638530"/>
            <a:chExt cx="2195672" cy="2786938"/>
          </a:xfrm>
        </p:grpSpPr>
        <p:sp>
          <p:nvSpPr>
            <p:cNvPr id="24" name="23 Rectángulo redondeado"/>
            <p:cNvSpPr/>
            <p:nvPr/>
          </p:nvSpPr>
          <p:spPr>
            <a:xfrm>
              <a:off x="7346" y="638530"/>
              <a:ext cx="2195672" cy="2786938"/>
            </a:xfrm>
            <a:prstGeom prst="roundRect">
              <a:avLst>
                <a:gd name="adj" fmla="val 10000"/>
              </a:avLst>
            </a:prstGeom>
          </p:spPr>
          <p:style>
            <a:lnRef idx="1">
              <a:schemeClr val="accent5"/>
            </a:lnRef>
            <a:fillRef idx="3">
              <a:schemeClr val="accent5"/>
            </a:fillRef>
            <a:effectRef idx="2">
              <a:schemeClr val="accent5"/>
            </a:effectRef>
            <a:fontRef idx="minor">
              <a:schemeClr val="lt1"/>
            </a:fontRef>
          </p:style>
        </p:sp>
        <p:sp>
          <p:nvSpPr>
            <p:cNvPr id="25" name="24 Rectángulo"/>
            <p:cNvSpPr/>
            <p:nvPr/>
          </p:nvSpPr>
          <p:spPr>
            <a:xfrm>
              <a:off x="71655" y="702839"/>
              <a:ext cx="2067054" cy="265832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
              </a:r>
              <a:br>
                <a:rPr lang="es-VE" sz="2000" b="1" kern="1200" dirty="0" smtClean="0">
                  <a:solidFill>
                    <a:schemeClr val="tx1"/>
                  </a:solidFill>
                </a:rPr>
              </a:br>
              <a:endParaRPr lang="es-VE" sz="2000" kern="1200" dirty="0">
                <a:solidFill>
                  <a:schemeClr val="tx1"/>
                </a:solidFill>
              </a:endParaRPr>
            </a:p>
          </p:txBody>
        </p:sp>
      </p:grpSp>
      <p:grpSp>
        <p:nvGrpSpPr>
          <p:cNvPr id="12" name="11 Grupo"/>
          <p:cNvGrpSpPr/>
          <p:nvPr/>
        </p:nvGrpSpPr>
        <p:grpSpPr>
          <a:xfrm>
            <a:off x="2843835" y="3978702"/>
            <a:ext cx="465482" cy="544526"/>
            <a:chOff x="2422585" y="1759736"/>
            <a:chExt cx="465482" cy="544526"/>
          </a:xfrm>
        </p:grpSpPr>
        <p:sp>
          <p:nvSpPr>
            <p:cNvPr id="22" name="21 Flecha derecha"/>
            <p:cNvSpPr/>
            <p:nvPr/>
          </p:nvSpPr>
          <p:spPr>
            <a:xfrm>
              <a:off x="2422585" y="1759736"/>
              <a:ext cx="465482" cy="544526"/>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3" name="Flecha derecha 6"/>
            <p:cNvSpPr/>
            <p:nvPr/>
          </p:nvSpPr>
          <p:spPr>
            <a:xfrm>
              <a:off x="2422585" y="1868641"/>
              <a:ext cx="325837" cy="3267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s-VE" sz="1800" kern="1200" dirty="0"/>
            </a:p>
          </p:txBody>
        </p:sp>
      </p:grpSp>
      <p:grpSp>
        <p:nvGrpSpPr>
          <p:cNvPr id="13" name="12 Grupo"/>
          <p:cNvGrpSpPr/>
          <p:nvPr/>
        </p:nvGrpSpPr>
        <p:grpSpPr>
          <a:xfrm>
            <a:off x="3500430" y="2714620"/>
            <a:ext cx="2195672" cy="3001252"/>
            <a:chOff x="3081286" y="638530"/>
            <a:chExt cx="2195672" cy="2786938"/>
          </a:xfrm>
        </p:grpSpPr>
        <p:sp>
          <p:nvSpPr>
            <p:cNvPr id="20" name="19 Rectángulo redondeado"/>
            <p:cNvSpPr/>
            <p:nvPr/>
          </p:nvSpPr>
          <p:spPr>
            <a:xfrm>
              <a:off x="3081286" y="638530"/>
              <a:ext cx="2195672" cy="278693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20 Rectángulo"/>
            <p:cNvSpPr/>
            <p:nvPr/>
          </p:nvSpPr>
          <p:spPr>
            <a:xfrm>
              <a:off x="3145595" y="702839"/>
              <a:ext cx="2067054" cy="265832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effectLst/>
                </a:rPr>
                <a:t>Normas, Políticas,</a:t>
              </a:r>
              <a:br>
                <a:rPr lang="es-VE" sz="2000" b="1" kern="1200" dirty="0" smtClean="0">
                  <a:solidFill>
                    <a:schemeClr val="tx1"/>
                  </a:solidFill>
                  <a:effectLst/>
                </a:rPr>
              </a:br>
              <a:r>
                <a:rPr lang="es-VE" sz="2000" b="1" kern="1200" dirty="0" smtClean="0">
                  <a:solidFill>
                    <a:schemeClr val="tx1"/>
                  </a:solidFill>
                  <a:effectLst/>
                </a:rPr>
                <a:t>Procedimientos Programas Planes Medidas Controles internos</a:t>
              </a:r>
              <a:endParaRPr lang="es-VE" sz="2000" b="1" kern="1200" dirty="0">
                <a:solidFill>
                  <a:schemeClr val="tx1"/>
                </a:solidFill>
              </a:endParaRPr>
            </a:p>
          </p:txBody>
        </p:sp>
      </p:grpSp>
      <p:grpSp>
        <p:nvGrpSpPr>
          <p:cNvPr id="14" name="13 Grupo"/>
          <p:cNvGrpSpPr/>
          <p:nvPr/>
        </p:nvGrpSpPr>
        <p:grpSpPr>
          <a:xfrm>
            <a:off x="5917776" y="3500438"/>
            <a:ext cx="465482" cy="1357322"/>
            <a:chOff x="5496526" y="1759736"/>
            <a:chExt cx="465482" cy="544526"/>
          </a:xfrm>
        </p:grpSpPr>
        <p:sp>
          <p:nvSpPr>
            <p:cNvPr id="18" name="17 Flecha derecha"/>
            <p:cNvSpPr/>
            <p:nvPr/>
          </p:nvSpPr>
          <p:spPr>
            <a:xfrm>
              <a:off x="5496526" y="1759736"/>
              <a:ext cx="465482" cy="544526"/>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9" name="Flecha derecha 10"/>
            <p:cNvSpPr/>
            <p:nvPr/>
          </p:nvSpPr>
          <p:spPr>
            <a:xfrm>
              <a:off x="5496526" y="1868641"/>
              <a:ext cx="325837" cy="3267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s-VE" sz="1800" kern="1200" dirty="0"/>
            </a:p>
          </p:txBody>
        </p:sp>
      </p:grpSp>
      <p:grpSp>
        <p:nvGrpSpPr>
          <p:cNvPr id="15" name="14 Grupo"/>
          <p:cNvGrpSpPr/>
          <p:nvPr/>
        </p:nvGrpSpPr>
        <p:grpSpPr>
          <a:xfrm>
            <a:off x="6572264" y="2071678"/>
            <a:ext cx="2195672" cy="3929946"/>
            <a:chOff x="6155227" y="638530"/>
            <a:chExt cx="2195672" cy="2786938"/>
          </a:xfrm>
        </p:grpSpPr>
        <p:sp>
          <p:nvSpPr>
            <p:cNvPr id="16" name="15 Rectángulo redondeado"/>
            <p:cNvSpPr/>
            <p:nvPr/>
          </p:nvSpPr>
          <p:spPr>
            <a:xfrm>
              <a:off x="6155227" y="638530"/>
              <a:ext cx="2195672" cy="278693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16 Rectángulo"/>
            <p:cNvSpPr/>
            <p:nvPr/>
          </p:nvSpPr>
          <p:spPr>
            <a:xfrm>
              <a:off x="6219536" y="702839"/>
              <a:ext cx="2067054" cy="265832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VE" sz="1600" b="1" kern="1200" dirty="0" smtClean="0">
                  <a:solidFill>
                    <a:schemeClr val="tx1"/>
                  </a:solidFill>
                  <a:effectLst/>
                </a:rPr>
                <a:t/>
              </a:r>
              <a:br>
                <a:rPr lang="es-VE" sz="1600" b="1" kern="1200" dirty="0" smtClean="0">
                  <a:solidFill>
                    <a:schemeClr val="tx1"/>
                  </a:solidFill>
                  <a:effectLst/>
                </a:rPr>
              </a:br>
              <a:endParaRPr lang="es-VE" sz="1600" b="1" kern="1200" dirty="0">
                <a:solidFill>
                  <a:schemeClr val="tx1"/>
                </a:solidFill>
              </a:endParaRPr>
            </a:p>
          </p:txBody>
        </p:sp>
      </p:grpSp>
      <p:sp>
        <p:nvSpPr>
          <p:cNvPr id="26" name="25 Rectángulo"/>
          <p:cNvSpPr/>
          <p:nvPr/>
        </p:nvSpPr>
        <p:spPr>
          <a:xfrm>
            <a:off x="500034" y="3286124"/>
            <a:ext cx="2071702" cy="1477328"/>
          </a:xfrm>
          <a:prstGeom prst="rect">
            <a:avLst/>
          </a:prstGeom>
          <a:ln>
            <a:solidFill>
              <a:schemeClr val="accent1"/>
            </a:solidFill>
          </a:ln>
        </p:spPr>
        <p:style>
          <a:lnRef idx="1">
            <a:schemeClr val="accent5"/>
          </a:lnRef>
          <a:fillRef idx="2">
            <a:schemeClr val="accent5"/>
          </a:fillRef>
          <a:effectRef idx="1">
            <a:schemeClr val="accent5"/>
          </a:effectRef>
          <a:fontRef idx="minor">
            <a:schemeClr val="dk1"/>
          </a:fontRef>
        </p:style>
        <p:txBody>
          <a:bodyPr wrap="square">
            <a:spAutoFit/>
          </a:bodyPr>
          <a:lstStyle/>
          <a:p>
            <a:pPr lvl="0"/>
            <a:r>
              <a:rPr lang="es-VE" b="1" dirty="0" smtClean="0"/>
              <a:t>Sistema Integral de Administración de Riesgos de (SIAR/LC/FT /FPADM</a:t>
            </a:r>
            <a:endParaRPr lang="es-VE" dirty="0"/>
          </a:p>
        </p:txBody>
      </p:sp>
      <p:sp>
        <p:nvSpPr>
          <p:cNvPr id="27" name="26 Rectángulo"/>
          <p:cNvSpPr/>
          <p:nvPr/>
        </p:nvSpPr>
        <p:spPr>
          <a:xfrm>
            <a:off x="6643702" y="2214554"/>
            <a:ext cx="2071702" cy="3693319"/>
          </a:xfrm>
          <a:prstGeom prst="rect">
            <a:avLst/>
          </a:prstGeom>
        </p:spPr>
        <p:txBody>
          <a:bodyPr wrap="square">
            <a:spAutoFit/>
          </a:bodyPr>
          <a:lstStyle/>
          <a:p>
            <a:pPr lvl="0"/>
            <a:r>
              <a:rPr lang="es-VE" b="1" dirty="0" smtClean="0"/>
              <a:t>Reducir o mitigar la posibilidad de que sus Productos, Servicios, Clientes y Canales de Comercialización sean empleados para ocultar el origen, propósito y destino de los capitales de origen ilícito  dirigidos a la LC/FT/FPADM.</a:t>
            </a:r>
            <a:endParaRPr lang="es-VE" dirty="0"/>
          </a:p>
        </p:txBody>
      </p:sp>
      <p:sp>
        <p:nvSpPr>
          <p:cNvPr id="28" name="27 Rectángulo"/>
          <p:cNvSpPr/>
          <p:nvPr/>
        </p:nvSpPr>
        <p:spPr>
          <a:xfrm>
            <a:off x="2071670" y="1142984"/>
            <a:ext cx="3929091" cy="830997"/>
          </a:xfrm>
          <a:prstGeom prst="rect">
            <a:avLst/>
          </a:prstGeom>
        </p:spPr>
        <p:txBody>
          <a:bodyPr wrap="square">
            <a:spAutoFit/>
          </a:bodyPr>
          <a:lstStyle/>
          <a:p>
            <a:pPr algn="ctr"/>
            <a:r>
              <a:rPr lang="es-VE" sz="2400" b="1" dirty="0" smtClean="0">
                <a:solidFill>
                  <a:schemeClr val="accent1">
                    <a:lumMod val="50000"/>
                  </a:schemeClr>
                </a:solidFill>
              </a:rPr>
              <a:t>Sistema Integral de Administración de Riesgos</a:t>
            </a:r>
            <a:endParaRPr lang="es-VE" sz="2400" dirty="0">
              <a:solidFill>
                <a:schemeClr val="accent1">
                  <a:lumMod val="50000"/>
                </a:schemeClr>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pic>
        <p:nvPicPr>
          <p:cNvPr id="11"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sp>
        <p:nvSpPr>
          <p:cNvPr id="7" name="1 Marcador de contenido"/>
          <p:cNvSpPr>
            <a:spLocks noGrp="1"/>
          </p:cNvSpPr>
          <p:nvPr>
            <p:ph idx="1"/>
          </p:nvPr>
        </p:nvSpPr>
        <p:spPr>
          <a:xfrm>
            <a:off x="785786" y="1785926"/>
            <a:ext cx="7715304"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sp>
        <p:nvSpPr>
          <p:cNvPr id="10" name="9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13" name="12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pic>
        <p:nvPicPr>
          <p:cNvPr id="14" name="Picture 2"/>
          <p:cNvPicPr>
            <a:picLocks noChangeAspect="1" noChangeArrowheads="1"/>
          </p:cNvPicPr>
          <p:nvPr/>
        </p:nvPicPr>
        <p:blipFill>
          <a:blip r:embed="rId4" cstate="print"/>
          <a:srcRect/>
          <a:stretch>
            <a:fillRect/>
          </a:stretch>
        </p:blipFill>
        <p:spPr bwMode="auto">
          <a:xfrm>
            <a:off x="3643306" y="5715016"/>
            <a:ext cx="1928826" cy="1142984"/>
          </a:xfrm>
          <a:prstGeom prst="rect">
            <a:avLst/>
          </a:prstGeom>
          <a:noFill/>
          <a:ln w="9525">
            <a:noFill/>
            <a:miter lim="800000"/>
            <a:headEnd/>
            <a:tailEnd/>
          </a:ln>
          <a:effectLst/>
        </p:spPr>
      </p:pic>
      <p:pic>
        <p:nvPicPr>
          <p:cNvPr id="15" name="Picture 11"/>
          <p:cNvPicPr>
            <a:picLocks noChangeAspect="1" noChangeArrowheads="1"/>
          </p:cNvPicPr>
          <p:nvPr/>
        </p:nvPicPr>
        <p:blipFill>
          <a:blip r:embed="rId3" cstate="print"/>
          <a:srcRect/>
          <a:stretch>
            <a:fillRect/>
          </a:stretch>
        </p:blipFill>
        <p:spPr bwMode="auto">
          <a:xfrm>
            <a:off x="7358082" y="0"/>
            <a:ext cx="1785918" cy="1500174"/>
          </a:xfrm>
          <a:prstGeom prst="rect">
            <a:avLst/>
          </a:prstGeom>
          <a:noFill/>
          <a:ln w="9525">
            <a:noFill/>
            <a:miter lim="800000"/>
            <a:headEnd/>
            <a:tailEnd/>
          </a:ln>
          <a:effectLst/>
        </p:spPr>
      </p:pic>
      <p:pic>
        <p:nvPicPr>
          <p:cNvPr id="16" name="Picture 2"/>
          <p:cNvPicPr>
            <a:picLocks noChangeAspect="1" noChangeArrowheads="1"/>
          </p:cNvPicPr>
          <p:nvPr/>
        </p:nvPicPr>
        <p:blipFill>
          <a:blip r:embed="rId5" cstate="print"/>
          <a:srcRect/>
          <a:stretch>
            <a:fillRect/>
          </a:stretch>
        </p:blipFill>
        <p:spPr bwMode="auto">
          <a:xfrm>
            <a:off x="6000760" y="0"/>
            <a:ext cx="1428728" cy="1500174"/>
          </a:xfrm>
          <a:prstGeom prst="rect">
            <a:avLst/>
          </a:prstGeom>
          <a:noFill/>
          <a:ln w="9525">
            <a:noFill/>
            <a:miter lim="800000"/>
            <a:headEnd/>
            <a:tailEnd/>
          </a:ln>
          <a:effectLst/>
        </p:spPr>
      </p:pic>
      <p:grpSp>
        <p:nvGrpSpPr>
          <p:cNvPr id="17" name="16 Grupo"/>
          <p:cNvGrpSpPr/>
          <p:nvPr/>
        </p:nvGrpSpPr>
        <p:grpSpPr>
          <a:xfrm>
            <a:off x="1285852" y="2500306"/>
            <a:ext cx="2195672" cy="2928958"/>
            <a:chOff x="7346" y="638530"/>
            <a:chExt cx="2195672" cy="2786938"/>
          </a:xfrm>
        </p:grpSpPr>
        <p:sp>
          <p:nvSpPr>
            <p:cNvPr id="18" name="17 Rectángulo redondeado"/>
            <p:cNvSpPr/>
            <p:nvPr/>
          </p:nvSpPr>
          <p:spPr>
            <a:xfrm>
              <a:off x="7346" y="638530"/>
              <a:ext cx="2195672" cy="2786938"/>
            </a:xfrm>
            <a:prstGeom prst="roundRect">
              <a:avLst>
                <a:gd name="adj" fmla="val 10000"/>
              </a:avLst>
            </a:prstGeom>
          </p:spPr>
          <p:style>
            <a:lnRef idx="1">
              <a:schemeClr val="accent5"/>
            </a:lnRef>
            <a:fillRef idx="3">
              <a:schemeClr val="accent5"/>
            </a:fillRef>
            <a:effectRef idx="2">
              <a:schemeClr val="accent5"/>
            </a:effectRef>
            <a:fontRef idx="minor">
              <a:schemeClr val="lt1"/>
            </a:fontRef>
          </p:style>
        </p:sp>
        <p:sp>
          <p:nvSpPr>
            <p:cNvPr id="19" name="18 Rectángulo"/>
            <p:cNvSpPr/>
            <p:nvPr/>
          </p:nvSpPr>
          <p:spPr>
            <a:xfrm>
              <a:off x="71655" y="702839"/>
              <a:ext cx="2067054" cy="265832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s-VE" sz="2000" b="1" kern="1200" dirty="0" smtClean="0">
                  <a:solidFill>
                    <a:schemeClr val="tx1"/>
                  </a:solidFill>
                </a:rPr>
                <a:t/>
              </a:r>
              <a:br>
                <a:rPr lang="es-VE" sz="2000" b="1" kern="1200" dirty="0" smtClean="0">
                  <a:solidFill>
                    <a:schemeClr val="tx1"/>
                  </a:solidFill>
                </a:rPr>
              </a:br>
              <a:endParaRPr lang="es-VE" sz="2000" kern="1200" dirty="0">
                <a:solidFill>
                  <a:schemeClr val="tx1"/>
                </a:solidFill>
              </a:endParaRPr>
            </a:p>
          </p:txBody>
        </p:sp>
      </p:grpSp>
      <p:grpSp>
        <p:nvGrpSpPr>
          <p:cNvPr id="20" name="19 Grupo"/>
          <p:cNvGrpSpPr/>
          <p:nvPr/>
        </p:nvGrpSpPr>
        <p:grpSpPr>
          <a:xfrm>
            <a:off x="4286248" y="3929066"/>
            <a:ext cx="465482" cy="544526"/>
            <a:chOff x="2422585" y="1759736"/>
            <a:chExt cx="465482" cy="544526"/>
          </a:xfrm>
        </p:grpSpPr>
        <p:sp>
          <p:nvSpPr>
            <p:cNvPr id="21" name="20 Flecha derecha"/>
            <p:cNvSpPr/>
            <p:nvPr/>
          </p:nvSpPr>
          <p:spPr>
            <a:xfrm>
              <a:off x="2422585" y="1759736"/>
              <a:ext cx="465482" cy="544526"/>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2" name="Flecha derecha 6"/>
            <p:cNvSpPr/>
            <p:nvPr/>
          </p:nvSpPr>
          <p:spPr>
            <a:xfrm>
              <a:off x="2422585" y="1868641"/>
              <a:ext cx="325837" cy="3267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s-VE" sz="1800" kern="1200" dirty="0"/>
            </a:p>
          </p:txBody>
        </p:sp>
      </p:grpSp>
      <p:grpSp>
        <p:nvGrpSpPr>
          <p:cNvPr id="23" name="22 Grupo"/>
          <p:cNvGrpSpPr/>
          <p:nvPr/>
        </p:nvGrpSpPr>
        <p:grpSpPr>
          <a:xfrm>
            <a:off x="5286380" y="2500306"/>
            <a:ext cx="2195672" cy="3001252"/>
            <a:chOff x="3081286" y="638530"/>
            <a:chExt cx="2195672" cy="2786938"/>
          </a:xfrm>
        </p:grpSpPr>
        <p:sp>
          <p:nvSpPr>
            <p:cNvPr id="24" name="23 Rectángulo redondeado"/>
            <p:cNvSpPr/>
            <p:nvPr/>
          </p:nvSpPr>
          <p:spPr>
            <a:xfrm>
              <a:off x="3081286" y="638530"/>
              <a:ext cx="2195672" cy="278693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24 Rectángulo"/>
            <p:cNvSpPr/>
            <p:nvPr/>
          </p:nvSpPr>
          <p:spPr>
            <a:xfrm>
              <a:off x="3145595" y="702839"/>
              <a:ext cx="2067054" cy="265832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es-VE" sz="2000" b="1" dirty="0" smtClean="0">
                  <a:solidFill>
                    <a:schemeClr val="tx1"/>
                  </a:solidFill>
                </a:rPr>
                <a:t>Constituye el órgano técnico operativo que servirá de apoyo al Oficial de Cumplimiento en el ejercicio de sus funciones.</a:t>
              </a:r>
              <a:endParaRPr lang="es-VE" sz="2000" dirty="0" smtClean="0">
                <a:solidFill>
                  <a:schemeClr val="tx1"/>
                </a:solidFill>
              </a:endParaRPr>
            </a:p>
            <a:p>
              <a:pPr lvl="0" algn="ctr" defTabSz="889000">
                <a:lnSpc>
                  <a:spcPct val="90000"/>
                </a:lnSpc>
                <a:spcBef>
                  <a:spcPct val="0"/>
                </a:spcBef>
                <a:spcAft>
                  <a:spcPct val="35000"/>
                </a:spcAft>
              </a:pPr>
              <a:endParaRPr lang="es-VE" sz="2000" b="1" kern="1200" dirty="0">
                <a:solidFill>
                  <a:schemeClr val="tx1"/>
                </a:solidFill>
              </a:endParaRPr>
            </a:p>
          </p:txBody>
        </p:sp>
      </p:grpSp>
      <p:sp>
        <p:nvSpPr>
          <p:cNvPr id="32" name="31 Rectángulo"/>
          <p:cNvSpPr/>
          <p:nvPr/>
        </p:nvSpPr>
        <p:spPr>
          <a:xfrm>
            <a:off x="1357290" y="3286124"/>
            <a:ext cx="2071702" cy="1477328"/>
          </a:xfrm>
          <a:prstGeom prst="rect">
            <a:avLst/>
          </a:prstGeom>
          <a:ln>
            <a:solidFill>
              <a:schemeClr val="accent1"/>
            </a:solidFill>
          </a:ln>
        </p:spPr>
        <p:style>
          <a:lnRef idx="1">
            <a:schemeClr val="accent5"/>
          </a:lnRef>
          <a:fillRef idx="2">
            <a:schemeClr val="accent5"/>
          </a:fillRef>
          <a:effectRef idx="1">
            <a:schemeClr val="accent5"/>
          </a:effectRef>
          <a:fontRef idx="minor">
            <a:schemeClr val="dk1"/>
          </a:fontRef>
        </p:style>
        <p:txBody>
          <a:bodyPr wrap="square">
            <a:spAutoFit/>
          </a:bodyPr>
          <a:lstStyle/>
          <a:p>
            <a:pPr lvl="0" algn="ctr"/>
            <a:r>
              <a:rPr lang="es-VE" b="1" dirty="0" smtClean="0"/>
              <a:t>Unidad de Administración de Riesgos de (SIAR/LC/FT /FPADM</a:t>
            </a:r>
            <a:endParaRPr lang="es-VE" dirty="0"/>
          </a:p>
        </p:txBody>
      </p:sp>
      <p:sp>
        <p:nvSpPr>
          <p:cNvPr id="34" name="33 Rectángulo"/>
          <p:cNvSpPr/>
          <p:nvPr/>
        </p:nvSpPr>
        <p:spPr>
          <a:xfrm>
            <a:off x="2143108" y="785794"/>
            <a:ext cx="3929091" cy="1200329"/>
          </a:xfrm>
          <a:prstGeom prst="rect">
            <a:avLst/>
          </a:prstGeom>
        </p:spPr>
        <p:txBody>
          <a:bodyPr wrap="square">
            <a:spAutoFit/>
          </a:bodyPr>
          <a:lstStyle/>
          <a:p>
            <a:pPr lvl="0" algn="ctr"/>
            <a:r>
              <a:rPr lang="es-VE" sz="2400" b="1" dirty="0" smtClean="0"/>
              <a:t>Unidad de Administración de Riesgos de LC/FT/FPADM</a:t>
            </a:r>
            <a:endParaRPr lang="es-VE" sz="2400" dirty="0" smtClean="0"/>
          </a:p>
          <a:p>
            <a:pPr algn="ctr"/>
            <a:endParaRPr lang="es-VE" sz="2400" dirty="0">
              <a:solidFill>
                <a:schemeClr val="accent1">
                  <a:lumMod val="50000"/>
                </a:schemeClr>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85786" y="1785926"/>
            <a:ext cx="7715304" cy="4286280"/>
          </a:xfrm>
        </p:spPr>
        <p:txBody>
          <a:bodyPr>
            <a:normAutofit/>
          </a:bodyPr>
          <a:lstStyle/>
          <a:p>
            <a:pPr marL="365760" lvl="1" indent="-256032" algn="just">
              <a:spcBef>
                <a:spcPts val="400"/>
              </a:spcBef>
              <a:buSzPct val="68000"/>
            </a:pPr>
            <a:endParaRPr lang="es-VE" sz="2000" dirty="0" smtClean="0"/>
          </a:p>
          <a:p>
            <a:pPr marL="365760" lvl="1" indent="-256032" algn="just">
              <a:spcBef>
                <a:spcPts val="400"/>
              </a:spcBef>
              <a:buSzPct val="68000"/>
            </a:pPr>
            <a:endParaRPr lang="es-VE" sz="2000" dirty="0" smtClean="0"/>
          </a:p>
        </p:txBody>
      </p:sp>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graphicFrame>
        <p:nvGraphicFramePr>
          <p:cNvPr id="7" name="6 Diagrama"/>
          <p:cNvGraphicFramePr/>
          <p:nvPr/>
        </p:nvGraphicFramePr>
        <p:xfrm>
          <a:off x="571472" y="1142984"/>
          <a:ext cx="8572528" cy="4921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7 Rectángulo"/>
          <p:cNvSpPr/>
          <p:nvPr/>
        </p:nvSpPr>
        <p:spPr>
          <a:xfrm>
            <a:off x="2428860" y="214290"/>
            <a:ext cx="6286544" cy="8002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s-VE" sz="1400" b="1" dirty="0" smtClean="0"/>
              <a:t>FUNCIONES, OBLIGACIONES Y RESPONSABILIDADES DE LOS INTEGRANTES DEL SISTEMA DE ADMINISTRACIÓN DE RIESGOS DE LC/FT/FPADM</a:t>
            </a:r>
            <a:r>
              <a:rPr lang="es-VE" b="1" dirty="0" smtClean="0"/>
              <a:t>.</a:t>
            </a:r>
            <a:endParaRPr lang="es-VE" b="1" dirty="0"/>
          </a:p>
        </p:txBody>
      </p:sp>
      <p:pic>
        <p:nvPicPr>
          <p:cNvPr id="9" name="Picture 11"/>
          <p:cNvPicPr>
            <a:picLocks noChangeAspect="1" noChangeArrowheads="1"/>
          </p:cNvPicPr>
          <p:nvPr/>
        </p:nvPicPr>
        <p:blipFill>
          <a:blip r:embed="rId8" cstate="print"/>
          <a:srcRect/>
          <a:stretch>
            <a:fillRect/>
          </a:stretch>
        </p:blipFill>
        <p:spPr bwMode="auto">
          <a:xfrm>
            <a:off x="7643834" y="1285860"/>
            <a:ext cx="1500166" cy="928670"/>
          </a:xfrm>
          <a:prstGeom prst="rect">
            <a:avLst/>
          </a:prstGeom>
          <a:noFill/>
          <a:ln w="9525">
            <a:noFill/>
            <a:miter lim="800000"/>
            <a:headEnd/>
            <a:tailEnd/>
          </a:ln>
          <a:effectLst/>
        </p:spPr>
      </p:pic>
      <p:pic>
        <p:nvPicPr>
          <p:cNvPr id="10" name="Picture 2"/>
          <p:cNvPicPr>
            <a:picLocks noChangeAspect="1" noChangeArrowheads="1"/>
          </p:cNvPicPr>
          <p:nvPr/>
        </p:nvPicPr>
        <p:blipFill>
          <a:blip r:embed="rId9" cstate="print"/>
          <a:srcRect/>
          <a:stretch>
            <a:fillRect/>
          </a:stretch>
        </p:blipFill>
        <p:spPr bwMode="auto">
          <a:xfrm>
            <a:off x="0" y="2500306"/>
            <a:ext cx="1571604"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8" name="7 Rectángulo"/>
          <p:cNvSpPr/>
          <p:nvPr/>
        </p:nvSpPr>
        <p:spPr>
          <a:xfrm>
            <a:off x="2285984" y="857232"/>
            <a:ext cx="6286544" cy="369332"/>
          </a:xfrm>
          <a:prstGeom prst="rect">
            <a:avLst/>
          </a:prstGeom>
        </p:spPr>
        <p:txBody>
          <a:bodyPr wrap="square">
            <a:spAutoFit/>
          </a:bodyPr>
          <a:lstStyle/>
          <a:p>
            <a:pPr algn="ctr"/>
            <a:r>
              <a:rPr lang="es-VE" b="1" dirty="0" smtClean="0"/>
              <a:t>.</a:t>
            </a:r>
            <a:endParaRPr lang="es-VE" b="1" dirty="0"/>
          </a:p>
        </p:txBody>
      </p:sp>
      <p:sp>
        <p:nvSpPr>
          <p:cNvPr id="7" name="6 Rectángulo"/>
          <p:cNvSpPr/>
          <p:nvPr/>
        </p:nvSpPr>
        <p:spPr>
          <a:xfrm>
            <a:off x="2571736" y="1000108"/>
            <a:ext cx="5786478" cy="646331"/>
          </a:xfrm>
          <a:prstGeom prst="rect">
            <a:avLst/>
          </a:prstGeom>
          <a:scene3d>
            <a:camera prst="isometricOffAxis2Left"/>
            <a:lightRig rig="threePt" dir="t"/>
          </a:scene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s-VE" sz="3600" b="1" dirty="0" smtClean="0"/>
              <a:t>CODIGO DE ETICA</a:t>
            </a:r>
            <a:endParaRPr lang="es-VE" sz="3600" b="1" dirty="0"/>
          </a:p>
        </p:txBody>
      </p:sp>
      <p:pic>
        <p:nvPicPr>
          <p:cNvPr id="2050" name="Picture 2"/>
          <p:cNvPicPr>
            <a:picLocks noChangeAspect="1" noChangeArrowheads="1"/>
          </p:cNvPicPr>
          <p:nvPr/>
        </p:nvPicPr>
        <p:blipFill>
          <a:blip r:embed="rId3" cstate="print"/>
          <a:srcRect/>
          <a:stretch>
            <a:fillRect/>
          </a:stretch>
        </p:blipFill>
        <p:spPr bwMode="auto">
          <a:xfrm>
            <a:off x="1928794" y="2428868"/>
            <a:ext cx="6572296" cy="3819525"/>
          </a:xfrm>
          <a:prstGeom prst="rect">
            <a:avLst/>
          </a:prstGeom>
          <a:noFill/>
          <a:ln w="9525">
            <a:noFill/>
            <a:miter lim="800000"/>
            <a:headEnd/>
            <a:tailEnd/>
          </a:ln>
          <a:effectLst/>
        </p:spPr>
      </p:pic>
      <p:pic>
        <p:nvPicPr>
          <p:cNvPr id="10" name="Imagen 6"/>
          <p:cNvPicPr>
            <a:picLocks noChangeAspect="1"/>
          </p:cNvPicPr>
          <p:nvPr/>
        </p:nvPicPr>
        <p:blipFill>
          <a:blip r:embed="rId2" cstate="print"/>
          <a:srcRect/>
          <a:stretch>
            <a:fillRect/>
          </a:stretch>
        </p:blipFill>
        <p:spPr bwMode="auto">
          <a:xfrm>
            <a:off x="2500298" y="2214554"/>
            <a:ext cx="1643075" cy="1285859"/>
          </a:xfrm>
          <a:prstGeom prst="rect">
            <a:avLst/>
          </a:prstGeom>
          <a:noFill/>
          <a:ln w="9525">
            <a:noFill/>
            <a:miter lim="800000"/>
            <a:headEnd/>
            <a:tailEnd/>
          </a:ln>
        </p:spPr>
      </p:pic>
      <p:pic>
        <p:nvPicPr>
          <p:cNvPr id="9" name="Picture 11"/>
          <p:cNvPicPr>
            <a:picLocks noChangeAspect="1" noChangeArrowheads="1"/>
          </p:cNvPicPr>
          <p:nvPr/>
        </p:nvPicPr>
        <p:blipFill>
          <a:blip r:embed="rId4" cstate="print"/>
          <a:srcRect/>
          <a:stretch>
            <a:fillRect/>
          </a:stretch>
        </p:blipFill>
        <p:spPr bwMode="auto">
          <a:xfrm>
            <a:off x="7429520" y="0"/>
            <a:ext cx="1500166" cy="928670"/>
          </a:xfrm>
          <a:prstGeom prst="rect">
            <a:avLst/>
          </a:prstGeom>
          <a:noFill/>
          <a:ln w="9525">
            <a:noFill/>
            <a:miter lim="800000"/>
            <a:headEnd/>
            <a:tailEnd/>
          </a:ln>
          <a:effectLst/>
        </p:spPr>
      </p:pic>
      <p:pic>
        <p:nvPicPr>
          <p:cNvPr id="11" name="Picture 2"/>
          <p:cNvPicPr>
            <a:picLocks noChangeAspect="1" noChangeArrowheads="1"/>
          </p:cNvPicPr>
          <p:nvPr/>
        </p:nvPicPr>
        <p:blipFill>
          <a:blip r:embed="rId5" cstate="print"/>
          <a:srcRect/>
          <a:stretch>
            <a:fillRect/>
          </a:stretch>
        </p:blipFill>
        <p:spPr bwMode="auto">
          <a:xfrm>
            <a:off x="0" y="2500306"/>
            <a:ext cx="1571604"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8" name="7 Rectángulo"/>
          <p:cNvSpPr/>
          <p:nvPr/>
        </p:nvSpPr>
        <p:spPr>
          <a:xfrm>
            <a:off x="2285984" y="857232"/>
            <a:ext cx="6286544" cy="369332"/>
          </a:xfrm>
          <a:prstGeom prst="rect">
            <a:avLst/>
          </a:prstGeom>
        </p:spPr>
        <p:txBody>
          <a:bodyPr wrap="square">
            <a:spAutoFit/>
          </a:bodyPr>
          <a:lstStyle/>
          <a:p>
            <a:pPr algn="ctr"/>
            <a:r>
              <a:rPr lang="es-VE" b="1" dirty="0" smtClean="0"/>
              <a:t>.</a:t>
            </a:r>
            <a:endParaRPr lang="es-VE" b="1" dirty="0"/>
          </a:p>
        </p:txBody>
      </p:sp>
      <p:sp>
        <p:nvSpPr>
          <p:cNvPr id="7" name="6 Rectángulo"/>
          <p:cNvSpPr/>
          <p:nvPr/>
        </p:nvSpPr>
        <p:spPr>
          <a:xfrm>
            <a:off x="1000100" y="1571612"/>
            <a:ext cx="7215238" cy="2308324"/>
          </a:xfrm>
          <a:prstGeom prst="rect">
            <a:avLst/>
          </a:prstGeom>
          <a:solidFill>
            <a:schemeClr val="bg1"/>
          </a:solidFill>
          <a:ln>
            <a:solidFill>
              <a:schemeClr val="bg2">
                <a:lumMod val="50000"/>
              </a:schemeClr>
            </a:solidFill>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VE" sz="3600" dirty="0" smtClean="0"/>
              <a:t>Código de Ética: Instrumento que regula la conducta interna de las personas que conforman un sujeto obligado.</a:t>
            </a:r>
            <a:endParaRPr lang="es-VE" sz="3600" dirty="0"/>
          </a:p>
        </p:txBody>
      </p:sp>
      <p:pic>
        <p:nvPicPr>
          <p:cNvPr id="10" name="Picture 2"/>
          <p:cNvPicPr>
            <a:picLocks noChangeAspect="1" noChangeArrowheads="1"/>
          </p:cNvPicPr>
          <p:nvPr/>
        </p:nvPicPr>
        <p:blipFill>
          <a:blip r:embed="rId3" cstate="print"/>
          <a:srcRect/>
          <a:stretch>
            <a:fillRect/>
          </a:stretch>
        </p:blipFill>
        <p:spPr bwMode="auto">
          <a:xfrm>
            <a:off x="5491171" y="3714752"/>
            <a:ext cx="3652829" cy="2962269"/>
          </a:xfrm>
          <a:prstGeom prst="rect">
            <a:avLst/>
          </a:prstGeom>
          <a:noFill/>
          <a:ln w="9525">
            <a:noFill/>
            <a:miter lim="800000"/>
            <a:headEnd/>
            <a:tailEnd/>
          </a:ln>
          <a:effectLst/>
        </p:spPr>
      </p:pic>
      <p:pic>
        <p:nvPicPr>
          <p:cNvPr id="11" name="Imagen 6"/>
          <p:cNvPicPr>
            <a:picLocks noChangeAspect="1"/>
          </p:cNvPicPr>
          <p:nvPr/>
        </p:nvPicPr>
        <p:blipFill>
          <a:blip r:embed="rId2" cstate="print"/>
          <a:srcRect/>
          <a:stretch>
            <a:fillRect/>
          </a:stretch>
        </p:blipFill>
        <p:spPr bwMode="auto">
          <a:xfrm>
            <a:off x="5429256" y="3714752"/>
            <a:ext cx="1285884" cy="1000133"/>
          </a:xfrm>
          <a:prstGeom prst="rect">
            <a:avLst/>
          </a:prstGeom>
          <a:noFill/>
          <a:ln w="9525">
            <a:noFill/>
            <a:miter lim="800000"/>
            <a:headEnd/>
            <a:tailEnd/>
          </a:ln>
        </p:spPr>
      </p:pic>
      <p:pic>
        <p:nvPicPr>
          <p:cNvPr id="12" name="Picture 2"/>
          <p:cNvPicPr>
            <a:picLocks noChangeAspect="1" noChangeArrowheads="1"/>
          </p:cNvPicPr>
          <p:nvPr/>
        </p:nvPicPr>
        <p:blipFill>
          <a:blip r:embed="rId4" cstate="print"/>
          <a:srcRect/>
          <a:stretch>
            <a:fillRect/>
          </a:stretch>
        </p:blipFill>
        <p:spPr bwMode="auto">
          <a:xfrm>
            <a:off x="0" y="3857628"/>
            <a:ext cx="1357290" cy="2071702"/>
          </a:xfrm>
          <a:prstGeom prst="rect">
            <a:avLst/>
          </a:prstGeom>
          <a:noFill/>
          <a:ln w="9525">
            <a:noFill/>
            <a:miter lim="800000"/>
            <a:headEnd/>
            <a:tailEnd/>
          </a:ln>
          <a:effectLst/>
        </p:spPr>
      </p:pic>
      <p:pic>
        <p:nvPicPr>
          <p:cNvPr id="13" name="Picture 11"/>
          <p:cNvPicPr>
            <a:picLocks noChangeAspect="1" noChangeArrowheads="1"/>
          </p:cNvPicPr>
          <p:nvPr/>
        </p:nvPicPr>
        <p:blipFill>
          <a:blip r:embed="rId5" cstate="print"/>
          <a:srcRect/>
          <a:stretch>
            <a:fillRect/>
          </a:stretch>
        </p:blipFill>
        <p:spPr bwMode="auto">
          <a:xfrm>
            <a:off x="7643834" y="0"/>
            <a:ext cx="1500166" cy="928670"/>
          </a:xfrm>
          <a:prstGeom prst="rect">
            <a:avLst/>
          </a:prstGeom>
          <a:noFill/>
          <a:ln w="9525">
            <a:noFill/>
            <a:miter lim="800000"/>
            <a:headEnd/>
            <a:tailEnd/>
          </a:ln>
          <a:effectLst/>
        </p:spPr>
      </p:pic>
      <p:sp>
        <p:nvSpPr>
          <p:cNvPr id="14" name="13 Rectángulo"/>
          <p:cNvSpPr/>
          <p:nvPr/>
        </p:nvSpPr>
        <p:spPr>
          <a:xfrm>
            <a:off x="2143108" y="714356"/>
            <a:ext cx="5786478" cy="646331"/>
          </a:xfrm>
          <a:prstGeom prst="rect">
            <a:avLst/>
          </a:prstGeom>
          <a:scene3d>
            <a:camera prst="isometricOffAxis2Left"/>
            <a:lightRig rig="threePt" dir="t"/>
          </a:scene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s-VE" sz="3600" b="1" dirty="0" smtClean="0"/>
              <a:t>CODIGO DE ETICA</a:t>
            </a:r>
            <a:endParaRPr lang="es-VE" sz="3600"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1285852" y="2214554"/>
            <a:ext cx="7000892" cy="954107"/>
          </a:xfrm>
          <a:prstGeom prst="rect">
            <a:avLst/>
          </a:prstGeom>
          <a:noFill/>
        </p:spPr>
        <p:txBody>
          <a:bodyPr wrap="square" rtlCol="0">
            <a:spAutoFit/>
          </a:bodyPr>
          <a:lstStyle/>
          <a:p>
            <a:pPr algn="ctr"/>
            <a:endParaRPr lang="es-VE" sz="2400" dirty="0" smtClean="0"/>
          </a:p>
          <a:p>
            <a:pPr algn="ctr"/>
            <a:endParaRPr lang="es-VE" sz="3200"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2" name="11 Rectángulo"/>
          <p:cNvSpPr/>
          <p:nvPr/>
        </p:nvSpPr>
        <p:spPr>
          <a:xfrm>
            <a:off x="1428728" y="1214422"/>
            <a:ext cx="7072362" cy="3970318"/>
          </a:xfrm>
          <a:prstGeom prst="rect">
            <a:avLst/>
          </a:prstGeom>
          <a:solidFill>
            <a:schemeClr val="bg1"/>
          </a:solidFill>
          <a:ln>
            <a:solidFill>
              <a:schemeClr val="bg2">
                <a:lumMod val="25000"/>
              </a:schemeClr>
            </a:solidFill>
          </a:ln>
          <a:scene3d>
            <a:camera prst="perspectiveRelaxed"/>
            <a:lightRig rig="threePt" dir="t"/>
          </a:scene3d>
        </p:spPr>
        <p:txBody>
          <a:bodyPr wrap="square">
            <a:spAutoFit/>
          </a:bodyPr>
          <a:lstStyle/>
          <a:p>
            <a:pPr algn="ctr"/>
            <a:r>
              <a:rPr lang="es-VE" sz="2800" b="1" dirty="0" smtClean="0"/>
              <a:t>CAPÍTULO IV.</a:t>
            </a:r>
          </a:p>
          <a:p>
            <a:pPr algn="ctr"/>
            <a:r>
              <a:rPr lang="es-VE" sz="2800" b="1" dirty="0" smtClean="0"/>
              <a:t>METODOLOGÍA UTILIZADA PARA LA IDENTIFICACIÓN, SEGMENTACIÓN, ANÁLISIS Y EVALUACIÓN DEL NIVEL DE RIESGO DE LEGITIMACIÓN DE CAPITALES, FINANCIAMIENTO AL TERRORISMO Y FINANCIAMIENTO DE LA PROLIFERACIÓN DE ARMAS DE DESTRUCCIÓN MASIVA.</a:t>
            </a:r>
            <a:endParaRPr lang="es-VE" sz="2800" b="1" dirty="0"/>
          </a:p>
        </p:txBody>
      </p:sp>
      <p:pic>
        <p:nvPicPr>
          <p:cNvPr id="13" name="12 Imagen" descr="Resultado de imagen para ; • Segmentación de los riesgos; • Medición o evaluación de los riesgos; • Control; • Monitoreo."/>
          <p:cNvPicPr/>
          <p:nvPr/>
        </p:nvPicPr>
        <p:blipFill>
          <a:blip r:embed="rId3" cstate="print"/>
          <a:srcRect/>
          <a:stretch>
            <a:fillRect/>
          </a:stretch>
        </p:blipFill>
        <p:spPr bwMode="auto">
          <a:xfrm>
            <a:off x="3500430" y="4714884"/>
            <a:ext cx="3428992" cy="2143116"/>
          </a:xfrm>
          <a:prstGeom prst="rect">
            <a:avLst/>
          </a:prstGeom>
          <a:noFill/>
          <a:ln w="9525">
            <a:noFill/>
            <a:miter lim="800000"/>
            <a:headEnd/>
            <a:tailEnd/>
          </a:ln>
        </p:spPr>
      </p:pic>
      <p:pic>
        <p:nvPicPr>
          <p:cNvPr id="9"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0" name="Picture 2"/>
          <p:cNvPicPr>
            <a:picLocks noChangeAspect="1" noChangeArrowheads="1"/>
          </p:cNvPicPr>
          <p:nvPr/>
        </p:nvPicPr>
        <p:blipFill>
          <a:blip r:embed="rId5" cstate="print"/>
          <a:srcRect/>
          <a:stretch>
            <a:fillRect/>
          </a:stretch>
        </p:blipFill>
        <p:spPr bwMode="auto">
          <a:xfrm>
            <a:off x="0" y="2143116"/>
            <a:ext cx="1142976"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5" name="4 CuadroTexto"/>
          <p:cNvSpPr txBox="1"/>
          <p:nvPr/>
        </p:nvSpPr>
        <p:spPr>
          <a:xfrm>
            <a:off x="2714612" y="500042"/>
            <a:ext cx="4357718" cy="707886"/>
          </a:xfrm>
          <a:prstGeom prst="rect">
            <a:avLst/>
          </a:prstGeom>
          <a:solidFill>
            <a:schemeClr val="accent1"/>
          </a:solidFill>
          <a:scene3d>
            <a:camera prst="isometricOffAxis2Left"/>
            <a:lightRig rig="threePt" dir="t"/>
          </a:scene3d>
        </p:spPr>
        <p:txBody>
          <a:bodyPr wrap="square" rtlCol="0">
            <a:spAutoFit/>
          </a:bodyPr>
          <a:lstStyle/>
          <a:p>
            <a:pPr algn="ctr"/>
            <a:r>
              <a:rPr lang="es-VE" sz="3200" b="1" dirty="0" smtClean="0"/>
              <a:t>   </a:t>
            </a:r>
            <a:r>
              <a:rPr lang="es-VE" sz="4000" b="1" dirty="0" smtClean="0"/>
              <a:t>METODOLOGÍA</a:t>
            </a:r>
            <a:endParaRPr lang="es-VE" sz="4000" b="1" dirty="0"/>
          </a:p>
        </p:txBody>
      </p:sp>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pic>
        <p:nvPicPr>
          <p:cNvPr id="3074" name="Picture 2" descr="C:\Users\contablidad\Desktop\IMAGEN ETAPAS SIAR.png"/>
          <p:cNvPicPr>
            <a:picLocks noChangeAspect="1" noChangeArrowheads="1"/>
          </p:cNvPicPr>
          <p:nvPr/>
        </p:nvPicPr>
        <p:blipFill>
          <a:blip r:embed="rId3" cstate="print"/>
          <a:srcRect/>
          <a:stretch>
            <a:fillRect/>
          </a:stretch>
        </p:blipFill>
        <p:spPr bwMode="auto">
          <a:xfrm>
            <a:off x="0" y="1428736"/>
            <a:ext cx="9144000" cy="5214974"/>
          </a:xfrm>
          <a:prstGeom prst="rect">
            <a:avLst/>
          </a:prstGeom>
          <a:noFill/>
        </p:spPr>
      </p:pic>
      <p:pic>
        <p:nvPicPr>
          <p:cNvPr id="7"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9" name="Picture 2"/>
          <p:cNvPicPr>
            <a:picLocks noChangeAspect="1" noChangeArrowheads="1"/>
          </p:cNvPicPr>
          <p:nvPr/>
        </p:nvPicPr>
        <p:blipFill>
          <a:blip r:embed="rId5" cstate="print"/>
          <a:srcRect/>
          <a:stretch>
            <a:fillRect/>
          </a:stretch>
        </p:blipFill>
        <p:spPr bwMode="auto">
          <a:xfrm>
            <a:off x="0" y="2786058"/>
            <a:ext cx="785786"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8" name="7 Rectángulo"/>
          <p:cNvSpPr/>
          <p:nvPr/>
        </p:nvSpPr>
        <p:spPr>
          <a:xfrm>
            <a:off x="2857488" y="1285860"/>
            <a:ext cx="5214974" cy="369332"/>
          </a:xfrm>
          <a:prstGeom prst="rect">
            <a:avLst/>
          </a:prstGeom>
        </p:spPr>
        <p:txBody>
          <a:bodyPr wrap="square">
            <a:spAutoFit/>
          </a:bodyPr>
          <a:lstStyle/>
          <a:p>
            <a:pPr algn="ctr"/>
            <a:r>
              <a:rPr lang="es-VE" b="1" dirty="0" smtClean="0"/>
              <a:t>.</a:t>
            </a:r>
            <a:endParaRPr lang="es-VE" b="1" dirty="0"/>
          </a:p>
        </p:txBody>
      </p:sp>
      <p:sp>
        <p:nvSpPr>
          <p:cNvPr id="5121" name="Rectangle 1"/>
          <p:cNvSpPr>
            <a:spLocks noChangeArrowheads="1"/>
          </p:cNvSpPr>
          <p:nvPr/>
        </p:nvSpPr>
        <p:spPr bwMode="auto">
          <a:xfrm>
            <a:off x="571472" y="1435088"/>
            <a:ext cx="7929618" cy="3416320"/>
          </a:xfrm>
          <a:prstGeom prst="rect">
            <a:avLst/>
          </a:prstGeom>
          <a:solidFill>
            <a:schemeClr val="bg1"/>
          </a:solidFill>
          <a:ln w="9525">
            <a:noFill/>
            <a:miter lim="800000"/>
            <a:headEnd/>
            <a:tailEnd/>
          </a:ln>
          <a:effectLst/>
          <a:scene3d>
            <a:camera prst="perspectiveRelaxed"/>
            <a:lightRig rig="threePt" dir="t"/>
          </a:scene3d>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VE" sz="2400" b="1" i="0" u="none" strike="noStrike" cap="none" normalizeH="0" baseline="0" dirty="0" smtClean="0">
                <a:ln>
                  <a:noFill/>
                </a:ln>
                <a:effectLst/>
                <a:latin typeface="Arial" pitchFamily="34" charset="0"/>
                <a:ea typeface="Times New Roman" pitchFamily="18" charset="0"/>
                <a:cs typeface="Arial" pitchFamily="34" charset="0"/>
              </a:rPr>
              <a:t>Qu</a:t>
            </a:r>
            <a:r>
              <a:rPr kumimoji="0" lang="es-VE" sz="2400" b="1" i="0" u="none" strike="noStrike" cap="none" normalizeH="0" baseline="0" dirty="0" smtClean="0">
                <a:ln>
                  <a:noFill/>
                </a:ln>
                <a:effectLst/>
                <a:latin typeface="Calibri"/>
                <a:ea typeface="Times New Roman" pitchFamily="18" charset="0"/>
                <a:cs typeface="Arial" pitchFamily="34" charset="0"/>
              </a:rPr>
              <a:t>é</a:t>
            </a:r>
            <a:r>
              <a:rPr kumimoji="0" lang="es-VE" sz="2400" b="1" i="0" u="none" strike="noStrike" cap="none" normalizeH="0" baseline="0" dirty="0" smtClean="0">
                <a:ln>
                  <a:noFill/>
                </a:ln>
                <a:effectLst/>
                <a:latin typeface="Arial" pitchFamily="34" charset="0"/>
                <a:ea typeface="Times New Roman" pitchFamily="18" charset="0"/>
                <a:cs typeface="Arial" pitchFamily="34" charset="0"/>
              </a:rPr>
              <a:t> es la identificaci</a:t>
            </a:r>
            <a:r>
              <a:rPr kumimoji="0" lang="es-VE" sz="2400" b="1" i="0" u="none" strike="noStrike" cap="none" normalizeH="0" baseline="0" dirty="0" smtClean="0">
                <a:ln>
                  <a:noFill/>
                </a:ln>
                <a:effectLst/>
                <a:latin typeface="Calibri"/>
                <a:ea typeface="Times New Roman" pitchFamily="18" charset="0"/>
                <a:cs typeface="Arial" pitchFamily="34" charset="0"/>
              </a:rPr>
              <a:t>ó</a:t>
            </a:r>
            <a:r>
              <a:rPr kumimoji="0" lang="es-VE" sz="2400" b="1" i="0" u="none" strike="noStrike" cap="none" normalizeH="0" baseline="0" dirty="0" smtClean="0">
                <a:ln>
                  <a:noFill/>
                </a:ln>
                <a:effectLst/>
                <a:latin typeface="Arial" pitchFamily="34" charset="0"/>
                <a:ea typeface="Times New Roman" pitchFamily="18" charset="0"/>
                <a:cs typeface="Arial" pitchFamily="34" charset="0"/>
              </a:rPr>
              <a:t>n de riesgos</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VE"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sz="2400" b="1" i="0" u="none" strike="noStrike" cap="none" normalizeH="0" baseline="0" dirty="0" smtClean="0">
                <a:ln>
                  <a:noFill/>
                </a:ln>
                <a:solidFill>
                  <a:srgbClr val="202124"/>
                </a:solidFill>
                <a:effectLst/>
                <a:latin typeface="Arial" pitchFamily="34" charset="0"/>
                <a:ea typeface="Times New Roman" pitchFamily="18" charset="0"/>
                <a:cs typeface="Arial" pitchFamily="34" charset="0"/>
              </a:rPr>
              <a:t>Es la parte del proceso de gesti</a:t>
            </a:r>
            <a:r>
              <a:rPr kumimoji="0" lang="es-ES" sz="2400" b="1" i="0" u="none" strike="noStrike" cap="none" normalizeH="0" baseline="0" dirty="0" smtClean="0">
                <a:ln>
                  <a:noFill/>
                </a:ln>
                <a:solidFill>
                  <a:srgbClr val="202124"/>
                </a:solidFill>
                <a:effectLst/>
                <a:latin typeface="Calibri"/>
                <a:ea typeface="Times New Roman" pitchFamily="18" charset="0"/>
                <a:cs typeface="Arial" pitchFamily="34" charset="0"/>
              </a:rPr>
              <a:t>ó</a:t>
            </a:r>
            <a:r>
              <a:rPr kumimoji="0" lang="es-ES" sz="2400" b="1" i="0" u="none" strike="noStrike" cap="none" normalizeH="0" baseline="0" dirty="0" smtClean="0">
                <a:ln>
                  <a:noFill/>
                </a:ln>
                <a:solidFill>
                  <a:srgbClr val="202124"/>
                </a:solidFill>
                <a:effectLst/>
                <a:latin typeface="Arial" pitchFamily="34" charset="0"/>
                <a:ea typeface="Times New Roman" pitchFamily="18" charset="0"/>
                <a:cs typeface="Arial" pitchFamily="34" charset="0"/>
              </a:rPr>
              <a:t>n de riesgos en la que conocemos </a:t>
            </a:r>
            <a:r>
              <a:rPr lang="es-ES" sz="2400" b="1" dirty="0" smtClean="0">
                <a:solidFill>
                  <a:srgbClr val="202124"/>
                </a:solidFill>
                <a:latin typeface="Arial" pitchFamily="34" charset="0"/>
                <a:ea typeface="Times New Roman" pitchFamily="18" charset="0"/>
                <a:cs typeface="Arial" pitchFamily="34" charset="0"/>
              </a:rPr>
              <a:t>y verificamos </a:t>
            </a:r>
            <a:r>
              <a:rPr kumimoji="0" lang="es-ES" sz="2400" b="1" i="0" u="none" strike="noStrike" cap="none" normalizeH="0" baseline="0" dirty="0" smtClean="0">
                <a:ln>
                  <a:noFill/>
                </a:ln>
                <a:solidFill>
                  <a:srgbClr val="202124"/>
                </a:solidFill>
                <a:effectLst/>
                <a:latin typeface="Arial" pitchFamily="34" charset="0"/>
                <a:ea typeface="Times New Roman" pitchFamily="18" charset="0"/>
                <a:cs typeface="Arial" pitchFamily="34" charset="0"/>
              </a:rPr>
              <a:t>los posibles riesgos. El objetivo de la identificaci</a:t>
            </a:r>
            <a:r>
              <a:rPr kumimoji="0" lang="es-ES" sz="2400" b="1" i="0" u="none" strike="noStrike" cap="none" normalizeH="0" baseline="0" dirty="0" smtClean="0">
                <a:ln>
                  <a:noFill/>
                </a:ln>
                <a:solidFill>
                  <a:srgbClr val="202124"/>
                </a:solidFill>
                <a:effectLst/>
                <a:latin typeface="Calibri"/>
                <a:ea typeface="Times New Roman" pitchFamily="18" charset="0"/>
                <a:cs typeface="Arial" pitchFamily="34" charset="0"/>
              </a:rPr>
              <a:t>ó</a:t>
            </a:r>
            <a:r>
              <a:rPr kumimoji="0" lang="es-ES" sz="2400" b="1" i="0" u="none" strike="noStrike" cap="none" normalizeH="0" baseline="0" dirty="0" smtClean="0">
                <a:ln>
                  <a:noFill/>
                </a:ln>
                <a:solidFill>
                  <a:srgbClr val="202124"/>
                </a:solidFill>
                <a:effectLst/>
                <a:latin typeface="Arial" pitchFamily="34" charset="0"/>
                <a:ea typeface="Times New Roman" pitchFamily="18" charset="0"/>
                <a:cs typeface="Arial" pitchFamily="34" charset="0"/>
              </a:rPr>
              <a:t>n del riesgo es conocer los sucesos que se pueden producir en la organizaci</a:t>
            </a:r>
            <a:r>
              <a:rPr kumimoji="0" lang="es-ES" sz="2400" b="1" i="0" u="none" strike="noStrike" cap="none" normalizeH="0" baseline="0" dirty="0" smtClean="0">
                <a:ln>
                  <a:noFill/>
                </a:ln>
                <a:solidFill>
                  <a:srgbClr val="202124"/>
                </a:solidFill>
                <a:effectLst/>
                <a:latin typeface="Calibri"/>
                <a:ea typeface="Times New Roman" pitchFamily="18" charset="0"/>
                <a:cs typeface="Arial" pitchFamily="34" charset="0"/>
              </a:rPr>
              <a:t>ó</a:t>
            </a:r>
            <a:r>
              <a:rPr kumimoji="0" lang="es-ES" sz="2400" b="1" i="0" u="none" strike="noStrike" cap="none" normalizeH="0" baseline="0" dirty="0" smtClean="0">
                <a:ln>
                  <a:noFill/>
                </a:ln>
                <a:solidFill>
                  <a:srgbClr val="202124"/>
                </a:solidFill>
                <a:effectLst/>
                <a:latin typeface="Arial" pitchFamily="34" charset="0"/>
                <a:ea typeface="Times New Roman" pitchFamily="18" charset="0"/>
                <a:cs typeface="Arial" pitchFamily="34" charset="0"/>
              </a:rPr>
              <a:t>n y las consecuencias que puedan tener sobre los objetivos de la empresa.</a:t>
            </a:r>
            <a:endParaRPr kumimoji="0" lang="es-VE"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VE"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9" name="Picture 2" descr="C:\Users\contablidad\Desktop\segmentacion_factores.jpg"/>
          <p:cNvPicPr>
            <a:picLocks noChangeAspect="1" noChangeArrowheads="1"/>
          </p:cNvPicPr>
          <p:nvPr/>
        </p:nvPicPr>
        <p:blipFill>
          <a:blip r:embed="rId3" cstate="print"/>
          <a:srcRect/>
          <a:stretch>
            <a:fillRect/>
          </a:stretch>
        </p:blipFill>
        <p:spPr bwMode="auto">
          <a:xfrm>
            <a:off x="3571868" y="4572008"/>
            <a:ext cx="5286412" cy="2285992"/>
          </a:xfrm>
          <a:prstGeom prst="rect">
            <a:avLst/>
          </a:prstGeom>
          <a:noFill/>
        </p:spPr>
      </p:pic>
      <p:sp>
        <p:nvSpPr>
          <p:cNvPr id="10" name="9 CuadroTexto"/>
          <p:cNvSpPr txBox="1"/>
          <p:nvPr/>
        </p:nvSpPr>
        <p:spPr>
          <a:xfrm>
            <a:off x="2714612" y="500042"/>
            <a:ext cx="4357718" cy="707886"/>
          </a:xfrm>
          <a:prstGeom prst="rect">
            <a:avLst/>
          </a:prstGeom>
          <a:solidFill>
            <a:schemeClr val="bg1"/>
          </a:solidFill>
          <a:scene3d>
            <a:camera prst="isometricOffAxis2Left"/>
            <a:lightRig rig="threePt" dir="t"/>
          </a:scene3d>
        </p:spPr>
        <p:txBody>
          <a:bodyPr wrap="square" rtlCol="0">
            <a:spAutoFit/>
          </a:bodyPr>
          <a:lstStyle/>
          <a:p>
            <a:pPr algn="ctr"/>
            <a:r>
              <a:rPr lang="es-VE" sz="3200" b="1" dirty="0" smtClean="0"/>
              <a:t>   </a:t>
            </a:r>
            <a:r>
              <a:rPr lang="es-VE" sz="4000" b="1" dirty="0" smtClean="0"/>
              <a:t>METODOLOGÍA</a:t>
            </a:r>
            <a:endParaRPr lang="es-VE" sz="4000" b="1" dirty="0"/>
          </a:p>
        </p:txBody>
      </p:sp>
      <p:pic>
        <p:nvPicPr>
          <p:cNvPr id="11"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2" name="Picture 2"/>
          <p:cNvPicPr>
            <a:picLocks noChangeAspect="1" noChangeArrowheads="1"/>
          </p:cNvPicPr>
          <p:nvPr/>
        </p:nvPicPr>
        <p:blipFill>
          <a:blip r:embed="rId5" cstate="print"/>
          <a:srcRect/>
          <a:stretch>
            <a:fillRect/>
          </a:stretch>
        </p:blipFill>
        <p:spPr bwMode="auto">
          <a:xfrm>
            <a:off x="0" y="4500570"/>
            <a:ext cx="1214414" cy="13573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8" name="7 Rectángulo"/>
          <p:cNvSpPr/>
          <p:nvPr/>
        </p:nvSpPr>
        <p:spPr>
          <a:xfrm>
            <a:off x="2857488" y="1285860"/>
            <a:ext cx="5214974" cy="369332"/>
          </a:xfrm>
          <a:prstGeom prst="rect">
            <a:avLst/>
          </a:prstGeom>
        </p:spPr>
        <p:txBody>
          <a:bodyPr wrap="square">
            <a:spAutoFit/>
          </a:bodyPr>
          <a:lstStyle/>
          <a:p>
            <a:pPr algn="ctr"/>
            <a:r>
              <a:rPr lang="es-VE" b="1" dirty="0" smtClean="0"/>
              <a:t>.</a:t>
            </a:r>
            <a:endParaRPr lang="es-VE" b="1" dirty="0"/>
          </a:p>
        </p:txBody>
      </p:sp>
      <p:sp>
        <p:nvSpPr>
          <p:cNvPr id="50177" name="Rectangle 1"/>
          <p:cNvSpPr>
            <a:spLocks noChangeArrowheads="1"/>
          </p:cNvSpPr>
          <p:nvPr/>
        </p:nvSpPr>
        <p:spPr bwMode="auto">
          <a:xfrm>
            <a:off x="714348" y="2000240"/>
            <a:ext cx="7786742" cy="4062651"/>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VE" sz="2000" b="1" i="0" u="none" strike="noStrike" cap="none" normalizeH="0" baseline="0" dirty="0" smtClean="0">
                <a:ln>
                  <a:noFill/>
                </a:ln>
                <a:effectLst/>
                <a:latin typeface="Arial" pitchFamily="34" charset="0"/>
                <a:ea typeface="Times New Roman" pitchFamily="18" charset="0"/>
                <a:cs typeface="Arial" pitchFamily="34" charset="0"/>
              </a:rPr>
              <a:t>Qu</a:t>
            </a:r>
            <a:r>
              <a:rPr kumimoji="0" lang="es-VE" sz="2000" b="1" i="0" u="none" strike="noStrike" cap="none" normalizeH="0" baseline="0" dirty="0" smtClean="0">
                <a:ln>
                  <a:noFill/>
                </a:ln>
                <a:effectLst/>
                <a:latin typeface="Calibri"/>
                <a:ea typeface="Times New Roman" pitchFamily="18" charset="0"/>
                <a:cs typeface="Arial" pitchFamily="34" charset="0"/>
              </a:rPr>
              <a:t>é</a:t>
            </a:r>
            <a:r>
              <a:rPr kumimoji="0" lang="es-VE" sz="2000" b="1" i="0" u="none" strike="noStrike" cap="none" normalizeH="0" baseline="0" dirty="0" smtClean="0">
                <a:ln>
                  <a:noFill/>
                </a:ln>
                <a:effectLst/>
                <a:latin typeface="Arial" pitchFamily="34" charset="0"/>
                <a:ea typeface="Times New Roman" pitchFamily="18" charset="0"/>
                <a:cs typeface="Arial" pitchFamily="34" charset="0"/>
              </a:rPr>
              <a:t> es segmentaci</a:t>
            </a:r>
            <a:r>
              <a:rPr kumimoji="0" lang="es-VE" sz="2000" b="1" i="0" u="none" strike="noStrike" cap="none" normalizeH="0" baseline="0" dirty="0" smtClean="0">
                <a:ln>
                  <a:noFill/>
                </a:ln>
                <a:effectLst/>
                <a:latin typeface="Calibri"/>
                <a:ea typeface="Times New Roman" pitchFamily="18" charset="0"/>
                <a:cs typeface="Arial" pitchFamily="34" charset="0"/>
              </a:rPr>
              <a:t>ó</a:t>
            </a:r>
            <a:r>
              <a:rPr kumimoji="0" lang="es-VE" sz="2000" b="1" i="0" u="none" strike="noStrike" cap="none" normalizeH="0" baseline="0" dirty="0" smtClean="0">
                <a:ln>
                  <a:noFill/>
                </a:ln>
                <a:effectLst/>
                <a:latin typeface="Arial" pitchFamily="34" charset="0"/>
                <a:ea typeface="Times New Roman" pitchFamily="18" charset="0"/>
                <a:cs typeface="Arial" pitchFamily="34" charset="0"/>
              </a:rPr>
              <a:t>n de factores de riesgo</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VE" sz="2000" b="1" i="0" u="none" strike="noStrike" cap="none" normalizeH="0" baseline="0" dirty="0" smtClean="0">
              <a:ln>
                <a:noFill/>
              </a:ln>
              <a:effectLst/>
              <a:latin typeface="Arial" pitchFamily="34" charset="0"/>
              <a:cs typeface="Arial" pitchFamily="34" charset="0"/>
            </a:endParaRPr>
          </a:p>
          <a:p>
            <a:pPr algn="just"/>
            <a:r>
              <a:rPr kumimoji="0" lang="es-ES" sz="2000" b="1" i="0" u="none" strike="noStrike" cap="none" normalizeH="0" baseline="0" dirty="0" smtClean="0">
                <a:ln>
                  <a:noFill/>
                </a:ln>
                <a:effectLst/>
                <a:latin typeface="Arial" pitchFamily="34" charset="0"/>
                <a:ea typeface="Times New Roman" pitchFamily="18" charset="0"/>
                <a:cs typeface="Arial" pitchFamily="34" charset="0"/>
              </a:rPr>
              <a:t>La segmentaci</a:t>
            </a:r>
            <a:r>
              <a:rPr kumimoji="0" lang="es-ES" sz="2000" b="1" i="0" u="none" strike="noStrike" cap="none" normalizeH="0" baseline="0" dirty="0" smtClean="0">
                <a:ln>
                  <a:noFill/>
                </a:ln>
                <a:effectLst/>
                <a:latin typeface="Calibri"/>
                <a:ea typeface="Times New Roman" pitchFamily="18" charset="0"/>
                <a:cs typeface="Arial" pitchFamily="34" charset="0"/>
              </a:rPr>
              <a:t>ó</a:t>
            </a:r>
            <a:r>
              <a:rPr kumimoji="0" lang="es-ES" sz="2000" b="1" i="0" u="none" strike="noStrike" cap="none" normalizeH="0" baseline="0" dirty="0" smtClean="0">
                <a:ln>
                  <a:noFill/>
                </a:ln>
                <a:effectLst/>
                <a:latin typeface="Arial" pitchFamily="34" charset="0"/>
                <a:ea typeface="Times New Roman" pitchFamily="18" charset="0"/>
                <a:cs typeface="Arial" pitchFamily="34" charset="0"/>
              </a:rPr>
              <a:t>n de los factores de riesgo</a:t>
            </a:r>
            <a:r>
              <a:rPr kumimoji="0" lang="es-ES" sz="2000" b="1" i="0" u="none" strike="noStrike" cap="none" normalizeH="0" baseline="0" dirty="0" smtClean="0">
                <a:ln>
                  <a:noFill/>
                </a:ln>
                <a:effectLst/>
                <a:latin typeface="Calibri"/>
                <a:ea typeface="Times New Roman" pitchFamily="18" charset="0"/>
                <a:cs typeface="Arial" pitchFamily="34" charset="0"/>
              </a:rPr>
              <a:t> </a:t>
            </a:r>
            <a:r>
              <a:rPr kumimoji="0" lang="es-ES" sz="2000" b="1" i="0" u="none" strike="noStrike" cap="none" normalizeH="0" baseline="0" dirty="0" smtClean="0">
                <a:ln>
                  <a:noFill/>
                </a:ln>
                <a:effectLst/>
                <a:latin typeface="Arial" pitchFamily="34" charset="0"/>
                <a:ea typeface="Times New Roman" pitchFamily="18" charset="0"/>
                <a:cs typeface="Arial" pitchFamily="34" charset="0"/>
              </a:rPr>
              <a:t>es el punto de partida para que las entidades puedan aplicar las etapas de gesti</a:t>
            </a:r>
            <a:r>
              <a:rPr kumimoji="0" lang="es-ES" sz="2000" b="1" i="0" u="none" strike="noStrike" cap="none" normalizeH="0" baseline="0" dirty="0" smtClean="0">
                <a:ln>
                  <a:noFill/>
                </a:ln>
                <a:effectLst/>
                <a:latin typeface="Calibri"/>
                <a:ea typeface="Times New Roman" pitchFamily="18" charset="0"/>
                <a:cs typeface="Arial" pitchFamily="34" charset="0"/>
              </a:rPr>
              <a:t>ó</a:t>
            </a:r>
            <a:r>
              <a:rPr kumimoji="0" lang="es-ES" sz="2000" b="1" i="0" u="none" strike="noStrike" cap="none" normalizeH="0" baseline="0" dirty="0" smtClean="0">
                <a:ln>
                  <a:noFill/>
                </a:ln>
                <a:effectLst/>
                <a:latin typeface="Arial" pitchFamily="34" charset="0"/>
                <a:ea typeface="Times New Roman" pitchFamily="18" charset="0"/>
                <a:cs typeface="Arial" pitchFamily="34" charset="0"/>
              </a:rPr>
              <a:t>n de riesgo: identificaci</a:t>
            </a:r>
            <a:r>
              <a:rPr kumimoji="0" lang="es-ES" sz="2000" b="1" i="0" u="none" strike="noStrike" cap="none" normalizeH="0" baseline="0" dirty="0" smtClean="0">
                <a:ln>
                  <a:noFill/>
                </a:ln>
                <a:effectLst/>
                <a:latin typeface="Calibri"/>
                <a:ea typeface="Times New Roman" pitchFamily="18" charset="0"/>
                <a:cs typeface="Arial" pitchFamily="34" charset="0"/>
              </a:rPr>
              <a:t>ó</a:t>
            </a:r>
            <a:r>
              <a:rPr kumimoji="0" lang="es-ES" sz="2000" b="1" i="0" u="none" strike="noStrike" cap="none" normalizeH="0" baseline="0" dirty="0" smtClean="0">
                <a:ln>
                  <a:noFill/>
                </a:ln>
                <a:effectLst/>
                <a:latin typeface="Arial" pitchFamily="34" charset="0"/>
                <a:ea typeface="Times New Roman" pitchFamily="18" charset="0"/>
                <a:cs typeface="Arial" pitchFamily="34" charset="0"/>
              </a:rPr>
              <a:t>n, medici</a:t>
            </a:r>
            <a:r>
              <a:rPr kumimoji="0" lang="es-ES" sz="2000" b="1" i="0" u="none" strike="noStrike" cap="none" normalizeH="0" baseline="0" dirty="0" smtClean="0">
                <a:ln>
                  <a:noFill/>
                </a:ln>
                <a:effectLst/>
                <a:latin typeface="Calibri"/>
                <a:ea typeface="Times New Roman" pitchFamily="18" charset="0"/>
                <a:cs typeface="Arial" pitchFamily="34" charset="0"/>
              </a:rPr>
              <a:t>ó</a:t>
            </a:r>
            <a:r>
              <a:rPr kumimoji="0" lang="es-ES" sz="2000" b="1" i="0" u="none" strike="noStrike" cap="none" normalizeH="0" baseline="0" dirty="0" smtClean="0">
                <a:ln>
                  <a:noFill/>
                </a:ln>
                <a:effectLst/>
                <a:latin typeface="Arial" pitchFamily="34" charset="0"/>
                <a:ea typeface="Times New Roman" pitchFamily="18" charset="0"/>
                <a:cs typeface="Arial" pitchFamily="34" charset="0"/>
              </a:rPr>
              <a:t>n, control y monitoreo. </a:t>
            </a:r>
          </a:p>
          <a:p>
            <a:pPr algn="just"/>
            <a:r>
              <a:rPr lang="es-VE" sz="2000" b="1" dirty="0" smtClean="0"/>
              <a:t>Segmentación de Riesgos En la gestión de riesgos asociados al lavado de activos y financiación del terrorismo este proceso se aplica en los cuatros factores de riesgo: Clientes, Productos, Canales y  Zonas Geográficas.</a:t>
            </a:r>
          </a:p>
          <a:p>
            <a:pPr algn="just"/>
            <a:r>
              <a:rPr lang="es-VE" sz="2000" b="1" dirty="0" smtClean="0"/>
              <a:t> </a:t>
            </a:r>
          </a:p>
          <a:p>
            <a:pPr algn="just" eaLnBrk="0" fontAlgn="base" hangingPunct="0">
              <a:spcBef>
                <a:spcPct val="0"/>
              </a:spcBef>
              <a:spcAft>
                <a:spcPct val="0"/>
              </a:spcAft>
            </a:pPr>
            <a:endParaRPr kumimoji="0" lang="es-VE" sz="2000" i="0" u="none" strike="noStrike" cap="none" normalizeH="0" baseline="0" dirty="0" smtClean="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VE"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0" name="9 Imagen" descr="Resultado de imagen para ; • Segmentación de los riesgos; • Medición o evaluación de los riesgos; • Control; • Monitoreo."/>
          <p:cNvPicPr/>
          <p:nvPr/>
        </p:nvPicPr>
        <p:blipFill>
          <a:blip r:embed="rId3" cstate="print"/>
          <a:srcRect/>
          <a:stretch>
            <a:fillRect/>
          </a:stretch>
        </p:blipFill>
        <p:spPr bwMode="auto">
          <a:xfrm>
            <a:off x="5357818" y="5148895"/>
            <a:ext cx="3299777" cy="1709105"/>
          </a:xfrm>
          <a:prstGeom prst="rect">
            <a:avLst/>
          </a:prstGeom>
          <a:noFill/>
          <a:ln w="9525">
            <a:noFill/>
            <a:miter lim="800000"/>
            <a:headEnd/>
            <a:tailEnd/>
          </a:ln>
        </p:spPr>
      </p:pic>
      <p:sp>
        <p:nvSpPr>
          <p:cNvPr id="9" name="8 CuadroTexto"/>
          <p:cNvSpPr txBox="1"/>
          <p:nvPr/>
        </p:nvSpPr>
        <p:spPr>
          <a:xfrm>
            <a:off x="2714612" y="500042"/>
            <a:ext cx="4357718" cy="707886"/>
          </a:xfrm>
          <a:prstGeom prst="rect">
            <a:avLst/>
          </a:prstGeom>
          <a:solidFill>
            <a:schemeClr val="bg1"/>
          </a:solidFill>
          <a:scene3d>
            <a:camera prst="isometricOffAxis2Left"/>
            <a:lightRig rig="threePt" dir="t"/>
          </a:scene3d>
        </p:spPr>
        <p:txBody>
          <a:bodyPr wrap="square" rtlCol="0">
            <a:spAutoFit/>
          </a:bodyPr>
          <a:lstStyle/>
          <a:p>
            <a:pPr algn="ctr"/>
            <a:r>
              <a:rPr lang="es-VE" sz="3200" b="1" dirty="0" smtClean="0"/>
              <a:t>   </a:t>
            </a:r>
            <a:r>
              <a:rPr lang="es-VE" sz="4000" b="1" dirty="0" smtClean="0"/>
              <a:t>METODOLOGÍA</a:t>
            </a:r>
            <a:endParaRPr lang="es-VE" sz="4000" b="1" dirty="0"/>
          </a:p>
        </p:txBody>
      </p:sp>
      <p:pic>
        <p:nvPicPr>
          <p:cNvPr id="11"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2" name="Picture 2"/>
          <p:cNvPicPr>
            <a:picLocks noChangeAspect="1" noChangeArrowheads="1"/>
          </p:cNvPicPr>
          <p:nvPr/>
        </p:nvPicPr>
        <p:blipFill>
          <a:blip r:embed="rId5" cstate="print"/>
          <a:srcRect/>
          <a:stretch>
            <a:fillRect/>
          </a:stretch>
        </p:blipFill>
        <p:spPr bwMode="auto">
          <a:xfrm>
            <a:off x="0" y="2857496"/>
            <a:ext cx="714348"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6145" name="Rectangle 1"/>
          <p:cNvSpPr>
            <a:spLocks noChangeArrowheads="1"/>
          </p:cNvSpPr>
          <p:nvPr/>
        </p:nvSpPr>
        <p:spPr bwMode="auto">
          <a:xfrm>
            <a:off x="785786" y="2285992"/>
            <a:ext cx="7858180" cy="1938992"/>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s-VE" sz="2000" b="1" dirty="0" smtClean="0">
                <a:latin typeface="Arial" pitchFamily="34" charset="0"/>
                <a:ea typeface="Times New Roman" pitchFamily="18" charset="0"/>
                <a:cs typeface="Arial" pitchFamily="34" charset="0"/>
              </a:rPr>
              <a:t>Análisis y </a:t>
            </a:r>
            <a:r>
              <a:rPr kumimoji="0" lang="es-VE" sz="2000" b="1" i="0" u="none" strike="noStrike" cap="none" normalizeH="0" baseline="0" dirty="0" smtClean="0">
                <a:ln>
                  <a:noFill/>
                </a:ln>
                <a:effectLst/>
                <a:latin typeface="Arial" pitchFamily="34" charset="0"/>
                <a:ea typeface="Times New Roman" pitchFamily="18" charset="0"/>
                <a:cs typeface="Arial" pitchFamily="34" charset="0"/>
              </a:rPr>
              <a:t> Evaluación  del Riesgo</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VE" sz="2000" b="1" i="0" u="none" strike="noStrike" cap="none" normalizeH="0" baseline="0" dirty="0" smtClean="0">
              <a:ln>
                <a:noFill/>
              </a:ln>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sz="2000" i="0" u="none" strike="noStrike" cap="none" normalizeH="0" baseline="0" dirty="0" smtClean="0">
                <a:ln>
                  <a:noFill/>
                </a:ln>
                <a:effectLst/>
                <a:latin typeface="Arial" pitchFamily="34" charset="0"/>
                <a:ea typeface="Times New Roman" pitchFamily="18" charset="0"/>
                <a:cs typeface="Arial" pitchFamily="34" charset="0"/>
              </a:rPr>
              <a:t>La evaluación de riesgo es el proceso por el cual se analiza la probabilidad de ocurrencia y posibles consecuencias del daño o del evento que surge como resultado de la exposición a determinados riesgos</a:t>
            </a:r>
            <a:r>
              <a:rPr kumimoji="0" lang="es-ES" sz="2000" b="0" i="0" u="none" strike="noStrike" cap="none" normalizeH="0" baseline="0" dirty="0" smtClean="0">
                <a:ln>
                  <a:noFill/>
                </a:ln>
                <a:effectLst/>
                <a:latin typeface="Arial" pitchFamily="34" charset="0"/>
                <a:ea typeface="Times New Roman" pitchFamily="18" charset="0"/>
                <a:cs typeface="Arial" pitchFamily="34" charset="0"/>
              </a:rPr>
              <a:t>.</a:t>
            </a:r>
            <a:endParaRPr kumimoji="0" lang="es-ES" sz="2000" b="0" i="0" u="none" strike="noStrike" cap="none" normalizeH="0" baseline="0" dirty="0" smtClean="0">
              <a:ln>
                <a:noFill/>
              </a:ln>
              <a:effectLst/>
              <a:latin typeface="Arial" pitchFamily="34" charset="0"/>
              <a:cs typeface="Arial" pitchFamily="34" charset="0"/>
            </a:endParaRPr>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033" name="Picture 9" descr="C:\Users\contablidad\Desktop\ARCHIVOS JOSE GREGORIO\INDUCCIONES  Y TALLERES\MANUAL DE POLITICAS Y NORMAS LC FT FPADM\IMAGENES\EVALUACION DE RIESGOS II.jpg"/>
          <p:cNvPicPr>
            <a:picLocks noChangeAspect="1" noChangeArrowheads="1"/>
          </p:cNvPicPr>
          <p:nvPr/>
        </p:nvPicPr>
        <p:blipFill>
          <a:blip r:embed="rId3" cstate="print"/>
          <a:srcRect/>
          <a:stretch>
            <a:fillRect/>
          </a:stretch>
        </p:blipFill>
        <p:spPr bwMode="auto">
          <a:xfrm>
            <a:off x="5214942" y="4429132"/>
            <a:ext cx="3286148" cy="2000264"/>
          </a:xfrm>
          <a:prstGeom prst="rect">
            <a:avLst/>
          </a:prstGeom>
          <a:noFill/>
        </p:spPr>
      </p:pic>
      <p:pic>
        <p:nvPicPr>
          <p:cNvPr id="1035" name="Picture 11" descr="Gerenciamento de riscos na validação de software"/>
          <p:cNvPicPr>
            <a:picLocks noChangeAspect="1" noChangeArrowheads="1"/>
          </p:cNvPicPr>
          <p:nvPr/>
        </p:nvPicPr>
        <p:blipFill>
          <a:blip r:embed="rId4" cstate="print"/>
          <a:srcRect/>
          <a:stretch>
            <a:fillRect/>
          </a:stretch>
        </p:blipFill>
        <p:spPr bwMode="auto">
          <a:xfrm>
            <a:off x="1928794" y="4429132"/>
            <a:ext cx="3286148" cy="2000264"/>
          </a:xfrm>
          <a:prstGeom prst="rect">
            <a:avLst/>
          </a:prstGeom>
          <a:noFill/>
        </p:spPr>
      </p:pic>
      <p:sp>
        <p:nvSpPr>
          <p:cNvPr id="12" name="11 CuadroTexto"/>
          <p:cNvSpPr txBox="1"/>
          <p:nvPr/>
        </p:nvSpPr>
        <p:spPr>
          <a:xfrm>
            <a:off x="2786050" y="571480"/>
            <a:ext cx="4357718" cy="707886"/>
          </a:xfrm>
          <a:prstGeom prst="rect">
            <a:avLst/>
          </a:prstGeom>
          <a:solidFill>
            <a:schemeClr val="bg1"/>
          </a:solidFill>
          <a:scene3d>
            <a:camera prst="isometricOffAxis2Left"/>
            <a:lightRig rig="threePt" dir="t"/>
          </a:scene3d>
        </p:spPr>
        <p:txBody>
          <a:bodyPr wrap="square" rtlCol="0">
            <a:spAutoFit/>
          </a:bodyPr>
          <a:lstStyle/>
          <a:p>
            <a:pPr algn="ctr"/>
            <a:r>
              <a:rPr lang="es-VE" sz="3200" b="1" dirty="0" smtClean="0"/>
              <a:t>   </a:t>
            </a:r>
            <a:r>
              <a:rPr lang="es-VE" sz="4000" b="1" dirty="0" smtClean="0"/>
              <a:t>METODOLOGÍA</a:t>
            </a:r>
            <a:endParaRPr lang="es-VE" sz="4000" b="1" dirty="0"/>
          </a:p>
        </p:txBody>
      </p:sp>
      <p:pic>
        <p:nvPicPr>
          <p:cNvPr id="13" name="Picture 11"/>
          <p:cNvPicPr>
            <a:picLocks noChangeAspect="1" noChangeArrowheads="1"/>
          </p:cNvPicPr>
          <p:nvPr/>
        </p:nvPicPr>
        <p:blipFill>
          <a:blip r:embed="rId5" cstate="print"/>
          <a:srcRect/>
          <a:stretch>
            <a:fillRect/>
          </a:stretch>
        </p:blipFill>
        <p:spPr bwMode="auto">
          <a:xfrm>
            <a:off x="7643834" y="0"/>
            <a:ext cx="1500166" cy="928670"/>
          </a:xfrm>
          <a:prstGeom prst="rect">
            <a:avLst/>
          </a:prstGeom>
          <a:noFill/>
          <a:ln w="9525">
            <a:noFill/>
            <a:miter lim="800000"/>
            <a:headEnd/>
            <a:tailEnd/>
          </a:ln>
          <a:effectLst/>
        </p:spPr>
      </p:pic>
      <p:pic>
        <p:nvPicPr>
          <p:cNvPr id="14" name="Picture 2"/>
          <p:cNvPicPr>
            <a:picLocks noChangeAspect="1" noChangeArrowheads="1"/>
          </p:cNvPicPr>
          <p:nvPr/>
        </p:nvPicPr>
        <p:blipFill>
          <a:blip r:embed="rId6" cstate="print"/>
          <a:srcRect/>
          <a:stretch>
            <a:fillRect/>
          </a:stretch>
        </p:blipFill>
        <p:spPr bwMode="auto">
          <a:xfrm>
            <a:off x="0" y="3643314"/>
            <a:ext cx="714348"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1" name="10 Rectángulo"/>
          <p:cNvSpPr/>
          <p:nvPr/>
        </p:nvSpPr>
        <p:spPr>
          <a:xfrm>
            <a:off x="928662" y="1142984"/>
            <a:ext cx="7500990" cy="4524315"/>
          </a:xfrm>
          <a:prstGeom prst="rect">
            <a:avLst/>
          </a:prstGeom>
          <a:solidFill>
            <a:schemeClr val="bg1"/>
          </a:solidFill>
          <a:ln w="28575">
            <a:solidFill>
              <a:schemeClr val="accent1"/>
            </a:solidFill>
            <a:prstDash val="solid"/>
          </a:ln>
          <a:scene3d>
            <a:camera prst="perspectiveRelaxed"/>
            <a:lightRig rig="threePt" dir="t"/>
          </a:scene3d>
        </p:spPr>
        <p:txBody>
          <a:bodyPr wrap="square">
            <a:spAutoFit/>
          </a:bodyPr>
          <a:lstStyle/>
          <a:p>
            <a:pPr algn="ctr"/>
            <a:r>
              <a:rPr lang="es-VE" sz="2400" b="1" dirty="0" smtClean="0"/>
              <a:t>CAPÍTULO V.  </a:t>
            </a:r>
          </a:p>
          <a:p>
            <a:pPr algn="ctr"/>
            <a:r>
              <a:rPr lang="es-VE" sz="2400" b="1" dirty="0" smtClean="0"/>
              <a:t>PROGRAMAS DE ADMINISTRACIÓN DE RIESGOS DE LEGITIMACIÓN DE CAPITALES, FINANCIAMIENTO AL TERRORISMO Y FINANCIAMIENTO DE LA PROLIFERACIÓN DE ARMAS DE DESTRUCCIÓN MASIVA, EN CUMPLIMIENTO DE LA POLÍTICAS: CONOZCA A SU CLIENTE, CONOZCA AL CLIENTE DE SU CLIENTE, CONOZCA A SU EMPLEADO, CONOZCA A SU INTERMEDIARIO, CONOZCA A SU REASEGURADOR Y CONOZCA A SU PROVEEDOR DE SERVICIO</a:t>
            </a:r>
            <a:r>
              <a:rPr lang="es-VE" sz="2000" b="1" dirty="0" smtClean="0"/>
              <a:t>.</a:t>
            </a:r>
            <a:endParaRPr lang="es-VE" sz="2000" b="1" dirty="0"/>
          </a:p>
        </p:txBody>
      </p:sp>
      <p:pic>
        <p:nvPicPr>
          <p:cNvPr id="9" name="Picture 2"/>
          <p:cNvPicPr>
            <a:picLocks noChangeAspect="1" noChangeArrowheads="1"/>
          </p:cNvPicPr>
          <p:nvPr/>
        </p:nvPicPr>
        <p:blipFill>
          <a:blip r:embed="rId3" cstate="print"/>
          <a:srcRect/>
          <a:stretch>
            <a:fillRect/>
          </a:stretch>
        </p:blipFill>
        <p:spPr bwMode="auto">
          <a:xfrm>
            <a:off x="7643834" y="5214926"/>
            <a:ext cx="1142976" cy="1643074"/>
          </a:xfrm>
          <a:prstGeom prst="rect">
            <a:avLst/>
          </a:prstGeom>
          <a:noFill/>
          <a:ln w="9525">
            <a:noFill/>
            <a:miter lim="800000"/>
            <a:headEnd/>
            <a:tailEnd/>
          </a:ln>
          <a:effectLst/>
        </p:spPr>
      </p:pic>
      <p:pic>
        <p:nvPicPr>
          <p:cNvPr id="10"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 name="9 CuadroTexto"/>
          <p:cNvSpPr txBox="1"/>
          <p:nvPr/>
        </p:nvSpPr>
        <p:spPr>
          <a:xfrm>
            <a:off x="3500430" y="1142984"/>
            <a:ext cx="2236510" cy="584775"/>
          </a:xfrm>
          <a:prstGeom prst="rect">
            <a:avLst/>
          </a:prstGeom>
          <a:solidFill>
            <a:schemeClr val="bg1"/>
          </a:solidFill>
          <a:ln>
            <a:solidFill>
              <a:schemeClr val="tx1"/>
            </a:solidFill>
          </a:ln>
          <a:scene3d>
            <a:camera prst="perspectiveContrastingRightFacing"/>
            <a:lightRig rig="threePt" dir="t"/>
          </a:scene3d>
        </p:spPr>
        <p:txBody>
          <a:bodyPr wrap="none" rtlCol="0">
            <a:spAutoFit/>
          </a:bodyPr>
          <a:lstStyle/>
          <a:p>
            <a:r>
              <a:rPr lang="es-VE" sz="3200" b="1" dirty="0" smtClean="0"/>
              <a:t>POLITIC</a:t>
            </a:r>
            <a:r>
              <a:rPr lang="es-VE" sz="3200" dirty="0" smtClean="0"/>
              <a:t>AS</a:t>
            </a:r>
            <a:endParaRPr lang="es-VE" sz="3200"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1"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2" name="Picture 2"/>
          <p:cNvPicPr>
            <a:picLocks noChangeAspect="1" noChangeArrowheads="1"/>
          </p:cNvPicPr>
          <p:nvPr/>
        </p:nvPicPr>
        <p:blipFill>
          <a:blip r:embed="rId4" cstate="print"/>
          <a:srcRect/>
          <a:stretch>
            <a:fillRect/>
          </a:stretch>
        </p:blipFill>
        <p:spPr bwMode="auto">
          <a:xfrm>
            <a:off x="0" y="2071678"/>
            <a:ext cx="714348" cy="2071702"/>
          </a:xfrm>
          <a:prstGeom prst="rect">
            <a:avLst/>
          </a:prstGeom>
          <a:noFill/>
          <a:ln w="9525">
            <a:noFill/>
            <a:miter lim="800000"/>
            <a:headEnd/>
            <a:tailEnd/>
          </a:ln>
          <a:effectLst/>
        </p:spPr>
      </p:pic>
      <p:graphicFrame>
        <p:nvGraphicFramePr>
          <p:cNvPr id="13" name="12 Diagrama"/>
          <p:cNvGraphicFramePr/>
          <p:nvPr/>
        </p:nvGraphicFramePr>
        <p:xfrm>
          <a:off x="1142976" y="2071678"/>
          <a:ext cx="7429552"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0" name="Rectangle 2"/>
          <p:cNvSpPr>
            <a:spLocks noChangeArrowheads="1"/>
          </p:cNvSpPr>
          <p:nvPr/>
        </p:nvSpPr>
        <p:spPr bwMode="auto">
          <a:xfrm>
            <a:off x="2428860" y="357166"/>
            <a:ext cx="5429288" cy="1077218"/>
          </a:xfrm>
          <a:prstGeom prst="rect">
            <a:avLst/>
          </a:prstGeom>
          <a:solidFill>
            <a:schemeClr val="bg1"/>
          </a:solidFill>
          <a:ln w="9525">
            <a:noFill/>
            <a:miter lim="800000"/>
            <a:headEnd/>
            <a:tailEnd/>
          </a:ln>
          <a:effectLst/>
          <a:scene3d>
            <a:camera prst="perspectiveContrastingLeftFacing"/>
            <a:lightRig rig="threePt" dir="t"/>
          </a:scene3d>
        </p:spPr>
        <p:txBody>
          <a:bodyPr vert="horz" wrap="square" lIns="91440" tIns="45720" rIns="91440" bIns="45720" numCol="1" anchor="ctr" anchorCtr="0" compatLnSpc="1">
            <a:prstTxWarp prst="textNoShape">
              <a:avLst/>
            </a:prstTxWarp>
            <a:spAutoFit/>
          </a:bodyPr>
          <a:lstStyle/>
          <a:p>
            <a:pPr marL="457200" marR="0" lvl="1" indent="0" algn="ctr" defTabSz="914400" rtl="0" eaLnBrk="1" fontAlgn="base" latinLnBrk="0" hangingPunct="1">
              <a:lnSpc>
                <a:spcPct val="100000"/>
              </a:lnSpc>
              <a:spcBef>
                <a:spcPct val="0"/>
              </a:spcBef>
              <a:spcAft>
                <a:spcPct val="0"/>
              </a:spcAft>
              <a:buClrTx/>
              <a:buSzTx/>
              <a:tabLst/>
            </a:pPr>
            <a:r>
              <a:rPr kumimoji="0" lang="es-VE" sz="3200" b="1" i="0" u="none" strike="noStrike" cap="none" normalizeH="0" baseline="0" dirty="0" smtClean="0">
                <a:ln>
                  <a:noFill/>
                </a:ln>
                <a:solidFill>
                  <a:schemeClr val="tx1"/>
                </a:solidFill>
                <a:effectLst/>
                <a:latin typeface="Calibri Light" charset="0"/>
                <a:ea typeface="Calibri" pitchFamily="34" charset="0"/>
                <a:cs typeface="Tahoma" pitchFamily="34" charset="0"/>
              </a:rPr>
              <a:t>Debida Diligencia sobre el Cliente</a:t>
            </a:r>
            <a:endParaRPr kumimoji="0" lang="es-VE"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13" name="12 Rectángulo"/>
          <p:cNvSpPr/>
          <p:nvPr/>
        </p:nvSpPr>
        <p:spPr>
          <a:xfrm>
            <a:off x="928662" y="2143116"/>
            <a:ext cx="7572428" cy="1938992"/>
          </a:xfrm>
          <a:prstGeom prst="rect">
            <a:avLst/>
          </a:prstGeom>
          <a:solidFill>
            <a:schemeClr val="bg1"/>
          </a:solidFill>
          <a:ln>
            <a:solidFill>
              <a:schemeClr val="tx1"/>
            </a:solidFill>
          </a:ln>
        </p:spPr>
        <p:txBody>
          <a:bodyPr wrap="square">
            <a:spAutoFit/>
          </a:bodyPr>
          <a:lstStyle/>
          <a:p>
            <a:pPr algn="just"/>
            <a:r>
              <a:rPr lang="es-VE" sz="2000" dirty="0" smtClean="0"/>
              <a:t>La debida diligencia del cliente (DDC) es un </a:t>
            </a:r>
            <a:r>
              <a:rPr lang="es-VE" sz="2000" b="1" dirty="0" smtClean="0"/>
              <a:t>proceso en el que las empresas intentan 	obtener información clave acerca de sus clientes para asegurar que sean quienes dicen ser</a:t>
            </a:r>
            <a:r>
              <a:rPr lang="es-VE" sz="2000" dirty="0" smtClean="0"/>
              <a:t>. El proceso incluye la comprobación y la verificación de identidad como formas de evaluación de riesgo.</a:t>
            </a:r>
            <a:endParaRPr lang="es-VE" sz="2000"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53253" name="Picture 5"/>
          <p:cNvPicPr>
            <a:picLocks noChangeAspect="1" noChangeArrowheads="1"/>
          </p:cNvPicPr>
          <p:nvPr/>
        </p:nvPicPr>
        <p:blipFill>
          <a:blip r:embed="rId3" cstate="print"/>
          <a:srcRect/>
          <a:stretch>
            <a:fillRect/>
          </a:stretch>
        </p:blipFill>
        <p:spPr bwMode="auto">
          <a:xfrm>
            <a:off x="5072066" y="4214818"/>
            <a:ext cx="3305189" cy="2000264"/>
          </a:xfrm>
          <a:prstGeom prst="rect">
            <a:avLst/>
          </a:prstGeom>
          <a:noFill/>
          <a:ln w="9525">
            <a:noFill/>
            <a:miter lim="800000"/>
            <a:headEnd/>
            <a:tailEnd/>
          </a:ln>
          <a:effectLst/>
        </p:spPr>
      </p:pic>
      <p:sp>
        <p:nvSpPr>
          <p:cNvPr id="53254" name="Rectangle 6"/>
          <p:cNvSpPr>
            <a:spLocks noChangeArrowheads="1"/>
          </p:cNvSpPr>
          <p:nvPr/>
        </p:nvSpPr>
        <p:spPr bwMode="auto">
          <a:xfrm>
            <a:off x="285720" y="4537277"/>
            <a:ext cx="4500594" cy="1569660"/>
          </a:xfrm>
          <a:prstGeom prst="rect">
            <a:avLst/>
          </a:prstGeom>
          <a:solidFill>
            <a:schemeClr val="bg1"/>
          </a:solidFill>
          <a:ln>
            <a:headEnd/>
            <a:tailEnd/>
          </a:ln>
          <a:scene3d>
            <a:camera prst="perspectiveContrastingRightFacing"/>
            <a:lightRig rig="threePt" dir="t"/>
          </a:scene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s-VE" sz="1600" b="1" i="0" u="none" strike="noStrike" cap="none" normalizeH="0" baseline="0" dirty="0" smtClean="0">
                <a:ln>
                  <a:noFill/>
                </a:ln>
                <a:solidFill>
                  <a:schemeClr val="tx1"/>
                </a:solidFill>
                <a:effectLst/>
                <a:latin typeface="Calibri Light" charset="0"/>
                <a:ea typeface="Calibri" pitchFamily="34" charset="0"/>
                <a:cs typeface="Tahoma" pitchFamily="34" charset="0"/>
              </a:rPr>
              <a:t>Debida Diligencia Intensificada cuando se consideren riesgos altos.</a:t>
            </a:r>
            <a:endParaRPr kumimoji="0" lang="es-VE" sz="16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VE" sz="1600" b="1" i="0" u="none" strike="noStrike" cap="none" normalizeH="0" baseline="0" dirty="0" smtClean="0">
                <a:ln>
                  <a:noFill/>
                </a:ln>
                <a:solidFill>
                  <a:schemeClr val="tx1"/>
                </a:solidFill>
                <a:effectLst/>
                <a:latin typeface="Calibri Light" charset="0"/>
                <a:ea typeface="Calibri" pitchFamily="34" charset="0"/>
                <a:cs typeface="Tahoma" pitchFamily="34" charset="0"/>
              </a:rPr>
              <a:t>Debida Diligencia Mejorada cuando se consideren riesgos moderados.</a:t>
            </a:r>
            <a:endParaRPr kumimoji="0" lang="es-VE" sz="16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VE" sz="1600" b="1" i="0" u="none" strike="noStrike" cap="none" normalizeH="0" baseline="0" dirty="0" smtClean="0">
                <a:ln>
                  <a:noFill/>
                </a:ln>
                <a:solidFill>
                  <a:schemeClr val="tx1"/>
                </a:solidFill>
                <a:effectLst/>
                <a:latin typeface="Calibri Light" charset="0"/>
                <a:ea typeface="Calibri" pitchFamily="34" charset="0"/>
                <a:cs typeface="Tahoma" pitchFamily="34" charset="0"/>
              </a:rPr>
              <a:t>Debida Diligencia Estándar cuando se consideren riesgos bajos.</a:t>
            </a:r>
            <a:endParaRPr kumimoji="0" lang="es-VE" sz="1600" b="1" i="0" u="none" strike="noStrike" cap="none" normalizeH="0" baseline="0" dirty="0" smtClean="0">
              <a:ln>
                <a:noFill/>
              </a:ln>
              <a:solidFill>
                <a:schemeClr val="tx1"/>
              </a:solidFill>
              <a:effectLst/>
              <a:latin typeface="Arial" pitchFamily="34" charset="0"/>
              <a:cs typeface="Arial" pitchFamily="34" charset="0"/>
            </a:endParaRPr>
          </a:p>
        </p:txBody>
      </p:sp>
      <p:pic>
        <p:nvPicPr>
          <p:cNvPr id="14"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5" name="Picture 2"/>
          <p:cNvPicPr>
            <a:picLocks noChangeAspect="1" noChangeArrowheads="1"/>
          </p:cNvPicPr>
          <p:nvPr/>
        </p:nvPicPr>
        <p:blipFill>
          <a:blip r:embed="rId5" cstate="print"/>
          <a:srcRect/>
          <a:stretch>
            <a:fillRect/>
          </a:stretch>
        </p:blipFill>
        <p:spPr bwMode="auto">
          <a:xfrm>
            <a:off x="0" y="2071678"/>
            <a:ext cx="714348"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4273" name="Rectangle 1"/>
          <p:cNvSpPr>
            <a:spLocks noChangeArrowheads="1"/>
          </p:cNvSpPr>
          <p:nvPr/>
        </p:nvSpPr>
        <p:spPr bwMode="auto">
          <a:xfrm rot="10800000" flipV="1">
            <a:off x="1357290" y="2028358"/>
            <a:ext cx="6786610" cy="3282885"/>
          </a:xfrm>
          <a:prstGeom prst="rect">
            <a:avLst/>
          </a:prstGeom>
          <a:solidFill>
            <a:schemeClr val="bg1"/>
          </a:solidFill>
          <a:ln w="9525">
            <a:solidFill>
              <a:schemeClr val="bg2">
                <a:lumMod val="50000"/>
              </a:schemeClr>
            </a:solidFill>
            <a:miter lim="800000"/>
            <a:headEnd/>
            <a:tailEnd/>
          </a:ln>
          <a:effectLst/>
          <a:scene3d>
            <a:camera prst="perspectiveBelow"/>
            <a:lightRig rig="threePt" dir="t"/>
          </a:scene3d>
        </p:spPr>
        <p:txBody>
          <a:bodyPr vert="horz" wrap="square" lIns="228528"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4000" b="1" i="0" u="none" strike="noStrike" cap="none" normalizeH="0" baseline="0" dirty="0" smtClean="0">
                <a:ln>
                  <a:noFill/>
                </a:ln>
                <a:solidFill>
                  <a:schemeClr val="tx1"/>
                </a:solidFill>
                <a:effectLst/>
                <a:latin typeface="+mj-lt"/>
                <a:ea typeface="Times New Roman" pitchFamily="18" charset="0"/>
                <a:cs typeface="Calibri Light" charset="0"/>
              </a:rPr>
              <a:t>CAPÍTULO VI. </a:t>
            </a:r>
            <a:endParaRPr kumimoji="0" lang="es-VE" sz="4000" b="0" i="0" u="none" strike="noStrike" cap="none" normalizeH="0" baseline="0" dirty="0" smtClean="0">
              <a:ln>
                <a:noFill/>
              </a:ln>
              <a:solidFill>
                <a:srgbClr val="2E74B5"/>
              </a:solidFill>
              <a:effectLst/>
              <a:latin typeface="+mj-lt"/>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4000" b="1" i="0" u="none" strike="noStrike" cap="none" normalizeH="0" baseline="0" dirty="0" smtClean="0">
                <a:ln>
                  <a:noFill/>
                </a:ln>
                <a:solidFill>
                  <a:schemeClr val="tx1"/>
                </a:solidFill>
                <a:effectLst/>
                <a:latin typeface="+mj-lt"/>
                <a:ea typeface="Calibri" pitchFamily="34" charset="0"/>
                <a:cs typeface="Tahoma" pitchFamily="34" charset="0"/>
              </a:rPr>
              <a:t>CANALES DE COMUNICACIÓN E INSTANCIAS DE REPORTE INTERNO</a:t>
            </a:r>
            <a:r>
              <a:rPr kumimoji="0" lang="es-VE" sz="4000" b="0" i="0" u="none" strike="noStrike" cap="none" normalizeH="0" baseline="0" dirty="0" smtClean="0">
                <a:ln>
                  <a:noFill/>
                </a:ln>
                <a:solidFill>
                  <a:schemeClr val="tx1"/>
                </a:solidFill>
                <a:effectLst/>
                <a:latin typeface="+mj-lt"/>
                <a:cs typeface="Arial" pitchFamily="34" charset="0"/>
              </a:rPr>
              <a:t> </a:t>
            </a:r>
          </a:p>
        </p:txBody>
      </p:sp>
      <p:pic>
        <p:nvPicPr>
          <p:cNvPr id="11"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2" name="Picture 2"/>
          <p:cNvPicPr>
            <a:picLocks noChangeAspect="1" noChangeArrowheads="1"/>
          </p:cNvPicPr>
          <p:nvPr/>
        </p:nvPicPr>
        <p:blipFill>
          <a:blip r:embed="rId4" cstate="print"/>
          <a:srcRect/>
          <a:stretch>
            <a:fillRect/>
          </a:stretch>
        </p:blipFill>
        <p:spPr bwMode="auto">
          <a:xfrm>
            <a:off x="0" y="2071678"/>
            <a:ext cx="1142976"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2" name="11 Rectángulo"/>
          <p:cNvSpPr/>
          <p:nvPr/>
        </p:nvSpPr>
        <p:spPr>
          <a:xfrm>
            <a:off x="2928926" y="357166"/>
            <a:ext cx="5214974" cy="646331"/>
          </a:xfrm>
          <a:prstGeom prst="rect">
            <a:avLst/>
          </a:prstGeom>
        </p:spPr>
        <p:txBody>
          <a:bodyPr wrap="square">
            <a:spAutoFit/>
          </a:bodyPr>
          <a:lstStyle/>
          <a:p>
            <a:pPr lvl="0" algn="ctr" eaLnBrk="0" fontAlgn="base" hangingPunct="0">
              <a:spcBef>
                <a:spcPct val="0"/>
              </a:spcBef>
              <a:spcAft>
                <a:spcPct val="0"/>
              </a:spcAft>
            </a:pPr>
            <a:r>
              <a:rPr lang="es-VE" b="1" dirty="0" smtClean="0">
                <a:ea typeface="Calibri" pitchFamily="34" charset="0"/>
                <a:cs typeface="Tahoma" pitchFamily="34" charset="0"/>
              </a:rPr>
              <a:t>CANALES DE COMUNICACIÓN E INSTANCIAS DE REPORTE INTERNO</a:t>
            </a:r>
            <a:r>
              <a:rPr lang="es-VE" dirty="0" smtClean="0">
                <a:cs typeface="Arial" pitchFamily="34" charset="0"/>
              </a:rPr>
              <a:t> </a:t>
            </a:r>
          </a:p>
        </p:txBody>
      </p:sp>
      <p:graphicFrame>
        <p:nvGraphicFramePr>
          <p:cNvPr id="13" name="12 Diagrama"/>
          <p:cNvGraphicFramePr/>
          <p:nvPr/>
        </p:nvGraphicFramePr>
        <p:xfrm>
          <a:off x="357158" y="1142984"/>
          <a:ext cx="8572560" cy="4706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1"/>
          <p:cNvPicPr>
            <a:picLocks noChangeAspect="1" noChangeArrowheads="1"/>
          </p:cNvPicPr>
          <p:nvPr/>
        </p:nvPicPr>
        <p:blipFill>
          <a:blip r:embed="rId8" cstate="print"/>
          <a:srcRect/>
          <a:stretch>
            <a:fillRect/>
          </a:stretch>
        </p:blipFill>
        <p:spPr bwMode="auto">
          <a:xfrm>
            <a:off x="2571736" y="785794"/>
            <a:ext cx="1500166" cy="928670"/>
          </a:xfrm>
          <a:prstGeom prst="rect">
            <a:avLst/>
          </a:prstGeom>
          <a:noFill/>
          <a:ln w="9525">
            <a:noFill/>
            <a:miter lim="800000"/>
            <a:headEnd/>
            <a:tailEnd/>
          </a:ln>
          <a:effectLst/>
        </p:spPr>
      </p:pic>
      <p:pic>
        <p:nvPicPr>
          <p:cNvPr id="16" name="Picture 2"/>
          <p:cNvPicPr>
            <a:picLocks noChangeAspect="1" noChangeArrowheads="1"/>
          </p:cNvPicPr>
          <p:nvPr/>
        </p:nvPicPr>
        <p:blipFill>
          <a:blip r:embed="rId9" cstate="print"/>
          <a:srcRect/>
          <a:stretch>
            <a:fillRect/>
          </a:stretch>
        </p:blipFill>
        <p:spPr bwMode="auto">
          <a:xfrm>
            <a:off x="0" y="4786298"/>
            <a:ext cx="1142976"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2" name="11 Rectángulo"/>
          <p:cNvSpPr/>
          <p:nvPr/>
        </p:nvSpPr>
        <p:spPr>
          <a:xfrm>
            <a:off x="2857488" y="357166"/>
            <a:ext cx="5214974"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gn="ctr" eaLnBrk="0" fontAlgn="base" hangingPunct="0">
              <a:spcBef>
                <a:spcPct val="0"/>
              </a:spcBef>
              <a:spcAft>
                <a:spcPct val="0"/>
              </a:spcAft>
            </a:pPr>
            <a:r>
              <a:rPr lang="es-VE" b="1" dirty="0" smtClean="0">
                <a:ea typeface="Calibri" pitchFamily="34" charset="0"/>
                <a:cs typeface="Tahoma" pitchFamily="34" charset="0"/>
              </a:rPr>
              <a:t>CANALES DE COMUNICACIÓN E INSTANCIAS DE REPORTE INTERNO</a:t>
            </a:r>
            <a:r>
              <a:rPr lang="es-VE" dirty="0" smtClean="0">
                <a:cs typeface="Arial" pitchFamily="34" charset="0"/>
              </a:rPr>
              <a:t> </a:t>
            </a:r>
          </a:p>
        </p:txBody>
      </p:sp>
      <p:graphicFrame>
        <p:nvGraphicFramePr>
          <p:cNvPr id="14" name="13 Diagrama"/>
          <p:cNvGraphicFramePr/>
          <p:nvPr/>
        </p:nvGraphicFramePr>
        <p:xfrm>
          <a:off x="0" y="1500174"/>
          <a:ext cx="9144000" cy="5357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6" name="15 Conector recto de flecha"/>
          <p:cNvCxnSpPr/>
          <p:nvPr/>
        </p:nvCxnSpPr>
        <p:spPr>
          <a:xfrm rot="16200000" flipH="1">
            <a:off x="2178827" y="3679033"/>
            <a:ext cx="1071570" cy="42862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rot="16200000" flipH="1">
            <a:off x="3036083" y="5107793"/>
            <a:ext cx="500066" cy="42862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flipV="1">
            <a:off x="5214942" y="5072074"/>
            <a:ext cx="642942" cy="35560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p:nvPr/>
        </p:nvCxnSpPr>
        <p:spPr>
          <a:xfrm rot="5400000" flipH="1" flipV="1">
            <a:off x="5607851" y="3464719"/>
            <a:ext cx="1000132" cy="78581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pic>
        <p:nvPicPr>
          <p:cNvPr id="28" name="Picture 2"/>
          <p:cNvPicPr>
            <a:picLocks noChangeAspect="1" noChangeArrowheads="1"/>
          </p:cNvPicPr>
          <p:nvPr/>
        </p:nvPicPr>
        <p:blipFill>
          <a:blip r:embed="rId8" cstate="print"/>
          <a:srcRect/>
          <a:stretch>
            <a:fillRect/>
          </a:stretch>
        </p:blipFill>
        <p:spPr bwMode="auto">
          <a:xfrm>
            <a:off x="0" y="2928934"/>
            <a:ext cx="857224" cy="1643074"/>
          </a:xfrm>
          <a:prstGeom prst="rect">
            <a:avLst/>
          </a:prstGeom>
          <a:noFill/>
          <a:ln w="9525">
            <a:noFill/>
            <a:miter lim="800000"/>
            <a:headEnd/>
            <a:tailEnd/>
          </a:ln>
          <a:effectLst/>
        </p:spPr>
      </p:pic>
      <p:pic>
        <p:nvPicPr>
          <p:cNvPr id="29" name="Picture 11"/>
          <p:cNvPicPr>
            <a:picLocks noChangeAspect="1" noChangeArrowheads="1"/>
          </p:cNvPicPr>
          <p:nvPr/>
        </p:nvPicPr>
        <p:blipFill>
          <a:blip r:embed="rId9" cstate="print"/>
          <a:srcRect/>
          <a:stretch>
            <a:fillRect/>
          </a:stretch>
        </p:blipFill>
        <p:spPr bwMode="auto">
          <a:xfrm>
            <a:off x="7643834" y="1142984"/>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6321" name="Rectangle 1"/>
          <p:cNvSpPr>
            <a:spLocks noChangeArrowheads="1"/>
          </p:cNvSpPr>
          <p:nvPr/>
        </p:nvSpPr>
        <p:spPr bwMode="auto">
          <a:xfrm>
            <a:off x="1357290" y="1929931"/>
            <a:ext cx="6858048" cy="3652217"/>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91440"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mj-lt"/>
                <a:ea typeface="Times New Roman" pitchFamily="18" charset="0"/>
                <a:cs typeface="Times New Roman" pitchFamily="18" charset="0"/>
              </a:rPr>
              <a:t>CAPÍTULO VII. </a:t>
            </a:r>
            <a:endParaRPr kumimoji="0" lang="es-VE" sz="2800" b="0" i="0" u="none" strike="noStrike" cap="none" normalizeH="0" baseline="0" dirty="0" smtClean="0">
              <a:ln>
                <a:noFill/>
              </a:ln>
              <a:solidFill>
                <a:srgbClr val="2E74B5"/>
              </a:solidFill>
              <a:effectLst/>
              <a:latin typeface="+mj-lt"/>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mj-lt"/>
                <a:ea typeface="Calibri" pitchFamily="34" charset="0"/>
                <a:cs typeface="Tahoma" pitchFamily="34" charset="0"/>
              </a:rPr>
              <a:t>SEÑALES DE ALERTA Y ACTIVIDADES O SITUACIONES QUE GENERAL RIESGOS EN MATERIA DE LEGITIMACIÓN DE CAPITALES, FINANCIAMIENTO AL TERRORISMO Y FINANCIAMIENTO DE LA PROLIFERACIÓN DE ARMAS DE DESTRUCCIÓN MASIVA</a:t>
            </a:r>
            <a:r>
              <a:rPr kumimoji="0" lang="es-VE" sz="2800" b="0" i="0" u="none" strike="noStrike" cap="none" normalizeH="0" baseline="0" dirty="0" smtClean="0">
                <a:ln>
                  <a:noFill/>
                </a:ln>
                <a:solidFill>
                  <a:schemeClr val="tx1"/>
                </a:solidFill>
                <a:effectLst/>
                <a:latin typeface="+mj-lt"/>
                <a:cs typeface="Arial" pitchFamily="34" charset="0"/>
              </a:rPr>
              <a:t> </a:t>
            </a:r>
          </a:p>
        </p:txBody>
      </p:sp>
      <p:pic>
        <p:nvPicPr>
          <p:cNvPr id="11"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2" name="Picture 2"/>
          <p:cNvPicPr>
            <a:picLocks noChangeAspect="1" noChangeArrowheads="1"/>
          </p:cNvPicPr>
          <p:nvPr/>
        </p:nvPicPr>
        <p:blipFill>
          <a:blip r:embed="rId4" cstate="print"/>
          <a:srcRect/>
          <a:stretch>
            <a:fillRect/>
          </a:stretch>
        </p:blipFill>
        <p:spPr bwMode="auto">
          <a:xfrm>
            <a:off x="0" y="2928934"/>
            <a:ext cx="857224"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1" name="10 Rectángulo"/>
          <p:cNvSpPr/>
          <p:nvPr/>
        </p:nvSpPr>
        <p:spPr>
          <a:xfrm>
            <a:off x="785786" y="2214554"/>
            <a:ext cx="7929618" cy="1631216"/>
          </a:xfrm>
          <a:prstGeom prst="rect">
            <a:avLst/>
          </a:prstGeom>
          <a:solidFill>
            <a:schemeClr val="bg1"/>
          </a:solidFill>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s-VE" sz="2000" b="1" dirty="0" smtClean="0"/>
              <a:t>Las "señales de alerta" o "banderas rojas" ayudan a identificar o detectar comportamientos, conductas, actividades, métodos o situaciones atípicas que pueden encubrir operaciones de lavado. Pero la presencia de ellas no significa estar frente a una operación sospechosa que debe ser objeto de reporte inmediato.</a:t>
            </a:r>
            <a:endParaRPr lang="es-VE" sz="2000" b="1" dirty="0"/>
          </a:p>
        </p:txBody>
      </p:sp>
      <p:sp>
        <p:nvSpPr>
          <p:cNvPr id="12" name="11 Rectángulo"/>
          <p:cNvSpPr/>
          <p:nvPr/>
        </p:nvSpPr>
        <p:spPr>
          <a:xfrm>
            <a:off x="3071802" y="928670"/>
            <a:ext cx="3500462" cy="461665"/>
          </a:xfrm>
          <a:prstGeom prst="rect">
            <a:avLst/>
          </a:prstGeom>
          <a:solidFill>
            <a:schemeClr val="bg1"/>
          </a:solidFill>
          <a:scene3d>
            <a:camera prst="perspectiveContrastingLeftFacing"/>
            <a:lightRig rig="threePt" dir="t"/>
          </a:scene3d>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VE" sz="2400" b="1" dirty="0" smtClean="0">
                <a:ea typeface="Calibri" pitchFamily="34" charset="0"/>
                <a:cs typeface="Tahoma" pitchFamily="34" charset="0"/>
              </a:rPr>
              <a:t>SEÑALES DE ALERTA </a:t>
            </a:r>
            <a:endParaRPr lang="es-VE" sz="2400" dirty="0"/>
          </a:p>
        </p:txBody>
      </p:sp>
      <p:pic>
        <p:nvPicPr>
          <p:cNvPr id="57346" name="Picture 2" descr="C:\Users\contablidad\Desktop\ARCHIVOS JOSE GREGORIO\INDUCCIONES  Y TALLERES\MANUAL DE POLITICAS Y NORMAS LC FT FPADM\IMAGENES\SEÑALES DE ALERTA.jpg"/>
          <p:cNvPicPr>
            <a:picLocks noChangeAspect="1" noChangeArrowheads="1"/>
          </p:cNvPicPr>
          <p:nvPr/>
        </p:nvPicPr>
        <p:blipFill>
          <a:blip r:embed="rId3" cstate="print"/>
          <a:srcRect/>
          <a:stretch>
            <a:fillRect/>
          </a:stretch>
        </p:blipFill>
        <p:spPr bwMode="auto">
          <a:xfrm>
            <a:off x="5357818" y="4643446"/>
            <a:ext cx="2828925" cy="1619250"/>
          </a:xfrm>
          <a:prstGeom prst="rect">
            <a:avLst/>
          </a:prstGeom>
          <a:noFill/>
        </p:spPr>
      </p:pic>
      <p:pic>
        <p:nvPicPr>
          <p:cNvPr id="13"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4" name="Picture 2"/>
          <p:cNvPicPr>
            <a:picLocks noChangeAspect="1" noChangeArrowheads="1"/>
          </p:cNvPicPr>
          <p:nvPr/>
        </p:nvPicPr>
        <p:blipFill>
          <a:blip r:embed="rId5" cstate="print"/>
          <a:srcRect/>
          <a:stretch>
            <a:fillRect/>
          </a:stretch>
        </p:blipFill>
        <p:spPr bwMode="auto">
          <a:xfrm>
            <a:off x="0" y="4071942"/>
            <a:ext cx="857224"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8369" name="Rectangle 1"/>
          <p:cNvSpPr>
            <a:spLocks noChangeArrowheads="1"/>
          </p:cNvSpPr>
          <p:nvPr/>
        </p:nvSpPr>
        <p:spPr bwMode="auto">
          <a:xfrm>
            <a:off x="1500166" y="1428736"/>
            <a:ext cx="6858048" cy="4665621"/>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91440"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4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CAPÍTULO VIII. </a:t>
            </a:r>
            <a:endParaRPr kumimoji="0" lang="es-VE" sz="2400" b="1"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24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PROCEDIMIENTOS DE DETECCIÓN Y REPORTE DE ACTIVIDADES SOSPECHOSAS; DE VERIFICACIÓN DE LAS LISTAS EMITIDAS POR EL CONSEJO DE SEGURIDAD DE LA NACIONES UNIDAS DE PERSONAS NATURALES Y JURÍDICAS RELACIONADAS CON EL TERRORISMO, EL FINANCIAMIENTO AL TERRORISMO Y FINANCIAMIENTO DE LA PROLIFERACIÓN DE ARMAS DE DESTRUCCIÓN MASIVA</a:t>
            </a:r>
            <a:r>
              <a:rPr kumimoji="0" lang="es-VE" sz="20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a:t>
            </a:r>
            <a:endParaRPr kumimoji="0" lang="es-VE" sz="2000" b="1"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VE" sz="2000" b="1" i="0" u="none" strike="noStrike" cap="none" normalizeH="0" baseline="0" dirty="0" smtClean="0">
              <a:ln>
                <a:noFill/>
              </a:ln>
              <a:solidFill>
                <a:schemeClr val="tx1"/>
              </a:solidFill>
              <a:effectLst/>
              <a:latin typeface="Arial" pitchFamily="34" charset="0"/>
              <a:cs typeface="Arial" pitchFamily="34" charset="0"/>
            </a:endParaRPr>
          </a:p>
        </p:txBody>
      </p:sp>
      <p:pic>
        <p:nvPicPr>
          <p:cNvPr id="11" name="Picture 2"/>
          <p:cNvPicPr>
            <a:picLocks noChangeAspect="1" noChangeArrowheads="1"/>
          </p:cNvPicPr>
          <p:nvPr/>
        </p:nvPicPr>
        <p:blipFill>
          <a:blip r:embed="rId3" cstate="print"/>
          <a:srcRect/>
          <a:stretch>
            <a:fillRect/>
          </a:stretch>
        </p:blipFill>
        <p:spPr bwMode="auto">
          <a:xfrm>
            <a:off x="0" y="4000504"/>
            <a:ext cx="857224" cy="1643074"/>
          </a:xfrm>
          <a:prstGeom prst="rect">
            <a:avLst/>
          </a:prstGeom>
          <a:noFill/>
          <a:ln w="9525">
            <a:noFill/>
            <a:miter lim="800000"/>
            <a:headEnd/>
            <a:tailEnd/>
          </a:ln>
          <a:effectLst/>
        </p:spPr>
      </p:pic>
      <p:pic>
        <p:nvPicPr>
          <p:cNvPr id="12"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1" name="10 Rectángulo"/>
          <p:cNvSpPr/>
          <p:nvPr/>
        </p:nvSpPr>
        <p:spPr>
          <a:xfrm>
            <a:off x="1000100" y="2071678"/>
            <a:ext cx="7072362" cy="193899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s-VE" sz="2400" b="1" dirty="0" smtClean="0"/>
              <a:t>RAS: Es un reporte documentado que realiza el Analista y/o Especialista de la Unidad de Prevención y Control de Legitimación de Capitales y Financiamiento al Terrorismo y Financiamiento de la Proliferación de Armas de Destrucción Masiva.</a:t>
            </a:r>
            <a:endParaRPr lang="es-VE" sz="2400" b="1" dirty="0"/>
          </a:p>
        </p:txBody>
      </p:sp>
      <p:sp>
        <p:nvSpPr>
          <p:cNvPr id="12" name="11 Rectángulo"/>
          <p:cNvSpPr/>
          <p:nvPr/>
        </p:nvSpPr>
        <p:spPr>
          <a:xfrm>
            <a:off x="2714612" y="642918"/>
            <a:ext cx="4572000" cy="707886"/>
          </a:xfrm>
          <a:prstGeom prst="rect">
            <a:avLst/>
          </a:prstGeom>
          <a:scene3d>
            <a:camera prst="perspectiveHeroicExtremeRightFacing"/>
            <a:lightRig rig="threePt" dir="t"/>
          </a:scene3d>
        </p:spPr>
        <p:style>
          <a:lnRef idx="2">
            <a:schemeClr val="accent1"/>
          </a:lnRef>
          <a:fillRef idx="1">
            <a:schemeClr val="lt1"/>
          </a:fillRef>
          <a:effectRef idx="0">
            <a:schemeClr val="accent1"/>
          </a:effectRef>
          <a:fontRef idx="minor">
            <a:schemeClr val="dk1"/>
          </a:fontRef>
        </p:style>
        <p:txBody>
          <a:bodyPr>
            <a:spAutoFit/>
          </a:bodyPr>
          <a:lstStyle/>
          <a:p>
            <a:pPr algn="ctr"/>
            <a:r>
              <a:rPr lang="es-VE" sz="2000" b="1" dirty="0" smtClean="0">
                <a:latin typeface="Calibri Light" charset="0"/>
                <a:ea typeface="Times New Roman" pitchFamily="18" charset="0"/>
                <a:cs typeface="Times New Roman" pitchFamily="18" charset="0"/>
              </a:rPr>
              <a:t>REPORTE DE ACTIVIDADES SOSPECHOSAS</a:t>
            </a:r>
            <a:endParaRPr lang="es-VE" sz="2000"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59395" name="Picture 3" descr="C:\Users\contablidad\Desktop\ARCHIVOS JOSE GREGORIO\INDUCCIONES  Y TALLERES\MANUAL DE POLITICAS Y NORMAS LC FT FPADM\IMAGENES\el-ciclo-de-un-reporte-de-operacion-sospechosa.jpg"/>
          <p:cNvPicPr>
            <a:picLocks noChangeAspect="1" noChangeArrowheads="1"/>
          </p:cNvPicPr>
          <p:nvPr/>
        </p:nvPicPr>
        <p:blipFill>
          <a:blip r:embed="rId3" cstate="print"/>
          <a:srcRect/>
          <a:stretch>
            <a:fillRect/>
          </a:stretch>
        </p:blipFill>
        <p:spPr bwMode="auto">
          <a:xfrm>
            <a:off x="4429124" y="4572008"/>
            <a:ext cx="3714776" cy="1736052"/>
          </a:xfrm>
          <a:prstGeom prst="rect">
            <a:avLst/>
          </a:prstGeom>
          <a:noFill/>
        </p:spPr>
      </p:pic>
      <p:pic>
        <p:nvPicPr>
          <p:cNvPr id="14"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pic>
        <p:nvPicPr>
          <p:cNvPr id="15" name="Picture 2"/>
          <p:cNvPicPr>
            <a:picLocks noChangeAspect="1" noChangeArrowheads="1"/>
          </p:cNvPicPr>
          <p:nvPr/>
        </p:nvPicPr>
        <p:blipFill>
          <a:blip r:embed="rId5" cstate="print"/>
          <a:srcRect/>
          <a:stretch>
            <a:fillRect/>
          </a:stretch>
        </p:blipFill>
        <p:spPr bwMode="auto">
          <a:xfrm>
            <a:off x="0" y="4000504"/>
            <a:ext cx="857224"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60418" name="Picture 2" descr="C:\Users\contablidad\Desktop\ARCHIVOS JOSE GREGORIO\INDUCCIONES  Y TALLERES\MANUAL DE POLITICAS Y NORMAS LC FT FPADM\IMAGENES\Logo_UNIF UNIDAD NACIONAL DE INTELIGENCIA FINANCIERA.png"/>
          <p:cNvPicPr>
            <a:picLocks noChangeAspect="1" noChangeArrowheads="1"/>
          </p:cNvPicPr>
          <p:nvPr/>
        </p:nvPicPr>
        <p:blipFill>
          <a:blip r:embed="rId3" cstate="print"/>
          <a:srcRect/>
          <a:stretch>
            <a:fillRect/>
          </a:stretch>
        </p:blipFill>
        <p:spPr bwMode="auto">
          <a:xfrm>
            <a:off x="2643174" y="500042"/>
            <a:ext cx="5929354" cy="1193490"/>
          </a:xfrm>
          <a:prstGeom prst="rect">
            <a:avLst/>
          </a:prstGeom>
          <a:noFill/>
        </p:spPr>
      </p:pic>
      <p:graphicFrame>
        <p:nvGraphicFramePr>
          <p:cNvPr id="16" name="15 Diagrama"/>
          <p:cNvGraphicFramePr/>
          <p:nvPr/>
        </p:nvGraphicFramePr>
        <p:xfrm>
          <a:off x="928662" y="1928802"/>
          <a:ext cx="7500990" cy="42783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7" name="Picture 2"/>
          <p:cNvPicPr>
            <a:picLocks noChangeAspect="1" noChangeArrowheads="1"/>
          </p:cNvPicPr>
          <p:nvPr/>
        </p:nvPicPr>
        <p:blipFill>
          <a:blip r:embed="rId9" cstate="print"/>
          <a:srcRect/>
          <a:stretch>
            <a:fillRect/>
          </a:stretch>
        </p:blipFill>
        <p:spPr bwMode="auto">
          <a:xfrm>
            <a:off x="0" y="4000504"/>
            <a:ext cx="857224" cy="1643074"/>
          </a:xfrm>
          <a:prstGeom prst="rect">
            <a:avLst/>
          </a:prstGeom>
          <a:noFill/>
          <a:ln w="9525">
            <a:noFill/>
            <a:miter lim="800000"/>
            <a:headEnd/>
            <a:tailEnd/>
          </a:ln>
          <a:effectLst/>
        </p:spPr>
      </p:pic>
      <p:pic>
        <p:nvPicPr>
          <p:cNvPr id="18" name="Picture 11"/>
          <p:cNvPicPr>
            <a:picLocks noChangeAspect="1" noChangeArrowheads="1"/>
          </p:cNvPicPr>
          <p:nvPr/>
        </p:nvPicPr>
        <p:blipFill>
          <a:blip r:embed="rId10" cstate="print"/>
          <a:srcRect/>
          <a:stretch>
            <a:fillRect/>
          </a:stretch>
        </p:blipFill>
        <p:spPr bwMode="auto">
          <a:xfrm>
            <a:off x="7643834" y="0"/>
            <a:ext cx="1500166" cy="928670"/>
          </a:xfrm>
          <a:prstGeom prst="rect">
            <a:avLst/>
          </a:prstGeom>
          <a:noFill/>
          <a:ln w="9525">
            <a:noFill/>
            <a:miter lim="800000"/>
            <a:headEnd/>
            <a:tailEnd/>
          </a:ln>
          <a:effectLst/>
        </p:spPr>
      </p:pic>
      <p:pic>
        <p:nvPicPr>
          <p:cNvPr id="19" name="Picture 11"/>
          <p:cNvPicPr>
            <a:picLocks noChangeAspect="1" noChangeArrowheads="1"/>
          </p:cNvPicPr>
          <p:nvPr/>
        </p:nvPicPr>
        <p:blipFill>
          <a:blip r:embed="rId10" cstate="print"/>
          <a:srcRect/>
          <a:stretch>
            <a:fillRect/>
          </a:stretch>
        </p:blipFill>
        <p:spPr bwMode="auto">
          <a:xfrm>
            <a:off x="7796234" y="152400"/>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1441" name="Rectangle 1"/>
          <p:cNvSpPr>
            <a:spLocks noChangeArrowheads="1"/>
          </p:cNvSpPr>
          <p:nvPr/>
        </p:nvSpPr>
        <p:spPr bwMode="auto">
          <a:xfrm>
            <a:off x="1714480" y="1142984"/>
            <a:ext cx="6715140" cy="4513992"/>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91440"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CAPÍTULO IX.</a:t>
            </a:r>
            <a:endParaRPr kumimoji="0" lang="es-VE" sz="2800" b="0"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PROCEDIMIENTOS PARA LA CONSERVACIÓN DE LOS REGISTROS, Y SU DISPONIBILIDAD PARA LOS ÓRGANOS DE INVESTIGACIÓN PENAL, MINISTERIO PÚBLICO, ORGANISMOS SUPERVISORES Y ÓRGANOS JURISDICCIONALES.</a:t>
            </a:r>
            <a:endParaRPr kumimoji="0" lang="es-VE" sz="2800" b="0"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VE"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5" name="Picture 2"/>
          <p:cNvPicPr>
            <a:picLocks noChangeAspect="1" noChangeArrowheads="1"/>
          </p:cNvPicPr>
          <p:nvPr/>
        </p:nvPicPr>
        <p:blipFill>
          <a:blip r:embed="rId4" cstate="print"/>
          <a:srcRect/>
          <a:stretch>
            <a:fillRect/>
          </a:stretch>
        </p:blipFill>
        <p:spPr bwMode="auto">
          <a:xfrm>
            <a:off x="0" y="2928934"/>
            <a:ext cx="857224"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3" name="12 Rectángulo"/>
          <p:cNvSpPr/>
          <p:nvPr/>
        </p:nvSpPr>
        <p:spPr>
          <a:xfrm>
            <a:off x="2786050" y="714356"/>
            <a:ext cx="4572000" cy="646331"/>
          </a:xfrm>
          <a:prstGeom prst="rect">
            <a:avLst/>
          </a:prstGeom>
          <a:scene3d>
            <a:camera prst="isometricOffAxis2Left"/>
            <a:lightRig rig="threePt" dir="t"/>
          </a:scene3d>
        </p:spPr>
        <p:style>
          <a:lnRef idx="2">
            <a:schemeClr val="accent1"/>
          </a:lnRef>
          <a:fillRef idx="1">
            <a:schemeClr val="lt1"/>
          </a:fillRef>
          <a:effectRef idx="0">
            <a:schemeClr val="accent1"/>
          </a:effectRef>
          <a:fontRef idx="minor">
            <a:schemeClr val="dk1"/>
          </a:fontRef>
        </p:style>
        <p:txBody>
          <a:bodyPr>
            <a:spAutoFit/>
          </a:bodyPr>
          <a:lstStyle/>
          <a:p>
            <a:pPr algn="ctr"/>
            <a:r>
              <a:rPr lang="es-VE" b="1" dirty="0" smtClean="0">
                <a:latin typeface="Calibri Light" charset="0"/>
                <a:ea typeface="Times New Roman" pitchFamily="18" charset="0"/>
                <a:cs typeface="Times New Roman" pitchFamily="18" charset="0"/>
              </a:rPr>
              <a:t>PROCEDIMIENTOS PARA LA CONSERVACIÓN DE LOS REGISTROS,</a:t>
            </a:r>
            <a:endParaRPr lang="es-VE" dirty="0"/>
          </a:p>
        </p:txBody>
      </p:sp>
      <p:graphicFrame>
        <p:nvGraphicFramePr>
          <p:cNvPr id="14" name="13 Diagrama"/>
          <p:cNvGraphicFramePr/>
          <p:nvPr/>
        </p:nvGraphicFramePr>
        <p:xfrm>
          <a:off x="714348" y="2000240"/>
          <a:ext cx="7929618" cy="4286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1"/>
          <p:cNvPicPr>
            <a:picLocks noChangeAspect="1" noChangeArrowheads="1"/>
          </p:cNvPicPr>
          <p:nvPr/>
        </p:nvPicPr>
        <p:blipFill>
          <a:blip r:embed="rId8" cstate="print"/>
          <a:srcRect/>
          <a:stretch>
            <a:fillRect/>
          </a:stretch>
        </p:blipFill>
        <p:spPr bwMode="auto">
          <a:xfrm>
            <a:off x="7643834" y="0"/>
            <a:ext cx="1500166" cy="928670"/>
          </a:xfrm>
          <a:prstGeom prst="rect">
            <a:avLst/>
          </a:prstGeom>
          <a:noFill/>
          <a:ln w="9525">
            <a:noFill/>
            <a:miter lim="800000"/>
            <a:headEnd/>
            <a:tailEnd/>
          </a:ln>
          <a:effectLst/>
        </p:spPr>
      </p:pic>
      <p:pic>
        <p:nvPicPr>
          <p:cNvPr id="16" name="Picture 2"/>
          <p:cNvPicPr>
            <a:picLocks noChangeAspect="1" noChangeArrowheads="1"/>
          </p:cNvPicPr>
          <p:nvPr/>
        </p:nvPicPr>
        <p:blipFill>
          <a:blip r:embed="rId9" cstate="print"/>
          <a:srcRect/>
          <a:stretch>
            <a:fillRect/>
          </a:stretch>
        </p:blipFill>
        <p:spPr bwMode="auto">
          <a:xfrm>
            <a:off x="0" y="2928934"/>
            <a:ext cx="642910"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3489" name="Rectangle 1"/>
          <p:cNvSpPr>
            <a:spLocks noChangeArrowheads="1"/>
          </p:cNvSpPr>
          <p:nvPr/>
        </p:nvSpPr>
        <p:spPr bwMode="auto">
          <a:xfrm>
            <a:off x="928662" y="1265695"/>
            <a:ext cx="7572428" cy="3898439"/>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91440"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000" b="1" i="0" u="none" strike="noStrike" cap="none" normalizeH="0" baseline="0" dirty="0" smtClean="0">
                <a:ln>
                  <a:noFill/>
                </a:ln>
                <a:solidFill>
                  <a:schemeClr val="tx1"/>
                </a:solidFill>
                <a:effectLst/>
                <a:latin typeface="Calibri Light" charset="0"/>
                <a:ea typeface="Times New Roman" pitchFamily="18" charset="0"/>
                <a:cs typeface="Times New Roman" pitchFamily="18" charset="0"/>
              </a:rPr>
              <a:t>CAPÍTULO X. </a:t>
            </a:r>
            <a:endParaRPr kumimoji="0" lang="es-VE" sz="2000" b="0"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20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PROCESOS Y MEDIDAS DE DEBIDA DILIGENCIA DERIVADAS DE LAS POLÍTICAS PARA LA ADMINISTRACIÓN DE RIESGOS DE LEGITIMACIÓN DE CAPITALES, FINANCIAMIENTO AL TERRORISMO Y FINANCIAMIENTO DE LA PROLIFERACIÓN DE ARMAS DE DESTRUCCIÓN MASIVA, PARA LA IDENTIFICACIÓN Y VERIFICACIÓN DE CLIENTES, INTERMEDIARIOS, PROVEEDORES DE SERVICIOS, EMPLEADOS, REASEGURADORES, ORGANIZACIONES SIN FINES DE LUCRO, PERSONAS EXPUESTAS POLÍTICAMENTE Y DEMÁS VINCULADOS (BENEFICIARIO FINAL).</a:t>
            </a:r>
            <a:endParaRPr kumimoji="0" lang="es-VE" sz="20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2"/>
          <p:cNvPicPr>
            <a:picLocks noChangeAspect="1" noChangeArrowheads="1"/>
          </p:cNvPicPr>
          <p:nvPr/>
        </p:nvPicPr>
        <p:blipFill>
          <a:blip r:embed="rId3" cstate="print"/>
          <a:srcRect/>
          <a:stretch>
            <a:fillRect/>
          </a:stretch>
        </p:blipFill>
        <p:spPr bwMode="auto">
          <a:xfrm>
            <a:off x="0" y="4286256"/>
            <a:ext cx="857224" cy="1643074"/>
          </a:xfrm>
          <a:prstGeom prst="rect">
            <a:avLst/>
          </a:prstGeom>
          <a:noFill/>
          <a:ln w="9525">
            <a:noFill/>
            <a:miter lim="800000"/>
            <a:headEnd/>
            <a:tailEnd/>
          </a:ln>
          <a:effectLst/>
        </p:spPr>
      </p:pic>
      <p:pic>
        <p:nvPicPr>
          <p:cNvPr id="13"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3489" name="Rectangle 1"/>
          <p:cNvSpPr>
            <a:spLocks noChangeArrowheads="1"/>
          </p:cNvSpPr>
          <p:nvPr/>
        </p:nvSpPr>
        <p:spPr bwMode="auto">
          <a:xfrm>
            <a:off x="1214414" y="1793325"/>
            <a:ext cx="7286676" cy="3159775"/>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91440" tIns="101568" rIns="91440" bIns="101568" numCol="1" anchor="ctr" anchorCtr="0" compatLnSpc="1">
            <a:prstTxWarp prst="textNoShape">
              <a:avLst/>
            </a:prstTxWarp>
            <a:spAutoFit/>
          </a:bodyPr>
          <a:lstStyle/>
          <a:p>
            <a:pPr algn="ctr"/>
            <a:r>
              <a:rPr lang="es-VE" sz="2400" b="1" dirty="0" smtClean="0"/>
              <a:t>CAPÍTULO XI. </a:t>
            </a:r>
          </a:p>
          <a:p>
            <a:pPr algn="ctr"/>
            <a:r>
              <a:rPr lang="es-VE" sz="2400" b="1" dirty="0" smtClean="0"/>
              <a:t>PROCESOS RELACIONADOS CON LAS AUDITORÍAS INTERNAS, EN MATERIA DE LEGITIMACIÓN DE CAPITALES, FINANCIAMIENTO AL TERRORISMO Y FINANCIAMIENTO DE LA PROLIFERACIÓN DE ARMAS DE DESTRUCCIÓN MASIVA.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VE" sz="2400" b="1" i="0" u="none" strike="noStrike" cap="none" normalizeH="0" baseline="0" dirty="0" smtClean="0">
                <a:ln>
                  <a:noFill/>
                </a:ln>
                <a:solidFill>
                  <a:schemeClr val="tx1"/>
                </a:solidFill>
                <a:effectLst/>
                <a:latin typeface="Calibri Light" charset="0"/>
                <a:ea typeface="Times New Roman" pitchFamily="18" charset="0"/>
                <a:cs typeface="Tahoma" pitchFamily="34" charset="0"/>
              </a:rPr>
              <a:t>  </a:t>
            </a:r>
            <a:endParaRPr kumimoji="0" lang="es-VE"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0" y="4286256"/>
            <a:ext cx="857224"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4513" name="Rectangle 1"/>
          <p:cNvSpPr>
            <a:spLocks noChangeArrowheads="1"/>
          </p:cNvSpPr>
          <p:nvPr/>
        </p:nvSpPr>
        <p:spPr bwMode="auto">
          <a:xfrm>
            <a:off x="642910" y="2154128"/>
            <a:ext cx="7858180" cy="3785652"/>
          </a:xfrm>
          <a:prstGeom prst="rect">
            <a:avLst/>
          </a:prstGeom>
          <a:solidFill>
            <a:schemeClr val="bg1"/>
          </a:solidFill>
          <a:ln>
            <a:headEnd/>
            <a:tailEnd/>
          </a:ln>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Entre las unidades o instancias de la empresa que deberán desarrollar y poner en práctica esta serie de actividades dirigidas a garantizar el cumplimiento de las normas de Administración de Riesgos de los delitos graves de LC/FT/FPADM, se encuentran:</a:t>
            </a:r>
          </a:p>
          <a:p>
            <a:pPr lvl="0" algn="just" fontAlgn="base">
              <a:spcBef>
                <a:spcPct val="0"/>
              </a:spcBef>
              <a:spcAft>
                <a:spcPct val="0"/>
              </a:spcAft>
            </a:pP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  1) Auditoría.</a:t>
            </a:r>
            <a:r>
              <a:rPr kumimoji="0" lang="es-VE" sz="2000" b="0" i="0" u="none" strike="noStrike" cap="none" normalizeH="0" dirty="0" smtClean="0">
                <a:ln>
                  <a:noFill/>
                </a:ln>
                <a:solidFill>
                  <a:schemeClr val="tx1"/>
                </a:solidFill>
                <a:effectLst/>
                <a:latin typeface="Calibri" pitchFamily="34" charset="0"/>
                <a:ea typeface="Calibri" pitchFamily="34" charset="0"/>
                <a:cs typeface="Calibri" pitchFamily="34" charset="0"/>
              </a:rPr>
              <a:t> </a:t>
            </a:r>
            <a:r>
              <a:rPr lang="es-VE" sz="2000" i="1" dirty="0" smtClean="0">
                <a:latin typeface="Calibri" pitchFamily="34" charset="0"/>
                <a:cs typeface="Calibri" pitchFamily="34" charset="0"/>
              </a:rPr>
              <a:t>Programa Anual de Seguimiento, Evaluación y Control</a:t>
            </a:r>
            <a:endPar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2) Consultoría Jurídica o Gerencia Legal</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3) Recursos Humanos o Talento Humano </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4) Sistemas o Tecnología </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5) Operaciones</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6) Producción</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7) Administración </a:t>
            </a:r>
          </a:p>
          <a:p>
            <a:pPr marL="0" marR="0" lvl="0" indent="0" algn="just" defTabSz="914400" rtl="0" eaLnBrk="1" fontAlgn="base" latinLnBrk="0" hangingPunct="1">
              <a:lnSpc>
                <a:spcPct val="100000"/>
              </a:lnSpc>
              <a:spcBef>
                <a:spcPct val="0"/>
              </a:spcBef>
              <a:spcAft>
                <a:spcPct val="0"/>
              </a:spcAft>
              <a:buClrTx/>
              <a:buSzTx/>
              <a:buFontTx/>
              <a:buNone/>
              <a:tabLst/>
            </a:pPr>
            <a:r>
              <a:rPr lang="es-VE" sz="2000" dirty="0" smtClean="0">
                <a:latin typeface="Calibri" pitchFamily="34" charset="0"/>
                <a:ea typeface="Calibri" pitchFamily="34" charset="0"/>
                <a:cs typeface="Calibri" pitchFamily="34" charset="0"/>
              </a:rPr>
              <a:t>  </a:t>
            </a:r>
            <a:r>
              <a:rPr kumimoji="0" lang="es-VE" sz="20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8) Directivos y Gerentes de Nivel Superior</a:t>
            </a:r>
            <a:endParaRPr kumimoji="0" lang="es-VE" sz="2000" b="0" i="0" u="none" strike="noStrike" cap="none" normalizeH="0" baseline="0" dirty="0" smtClean="0">
              <a:ln>
                <a:noFill/>
              </a:ln>
              <a:solidFill>
                <a:schemeClr val="tx1"/>
              </a:solidFill>
              <a:effectLst/>
              <a:latin typeface="Calibri" pitchFamily="34" charset="0"/>
              <a:cs typeface="Calibri" pitchFamily="34" charset="0"/>
            </a:endParaRPr>
          </a:p>
        </p:txBody>
      </p:sp>
      <p:sp>
        <p:nvSpPr>
          <p:cNvPr id="13" name="12 Rectángulo"/>
          <p:cNvSpPr/>
          <p:nvPr/>
        </p:nvSpPr>
        <p:spPr>
          <a:xfrm>
            <a:off x="3214678" y="1357298"/>
            <a:ext cx="3519105" cy="40011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s-VE" sz="2000" b="1" dirty="0" smtClean="0">
                <a:latin typeface="Calibri Light" charset="0"/>
                <a:ea typeface="Calibri" pitchFamily="34" charset="0"/>
                <a:cs typeface="Tahoma" pitchFamily="34" charset="0"/>
              </a:rPr>
              <a:t>UNIDADES  o INSTANCIAS </a:t>
            </a:r>
            <a:endParaRPr lang="es-VE" sz="2000" b="1" dirty="0"/>
          </a:p>
        </p:txBody>
      </p:sp>
      <p:pic>
        <p:nvPicPr>
          <p:cNvPr id="14"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6" name="Picture 2"/>
          <p:cNvPicPr>
            <a:picLocks noChangeAspect="1" noChangeArrowheads="1"/>
          </p:cNvPicPr>
          <p:nvPr/>
        </p:nvPicPr>
        <p:blipFill>
          <a:blip r:embed="rId4" cstate="print"/>
          <a:srcRect/>
          <a:stretch>
            <a:fillRect/>
          </a:stretch>
        </p:blipFill>
        <p:spPr bwMode="auto">
          <a:xfrm>
            <a:off x="6643702" y="0"/>
            <a:ext cx="1000132"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6561" name="Rectangle 1"/>
          <p:cNvSpPr>
            <a:spLocks noChangeArrowheads="1"/>
          </p:cNvSpPr>
          <p:nvPr/>
        </p:nvSpPr>
        <p:spPr bwMode="auto">
          <a:xfrm>
            <a:off x="928662" y="1966396"/>
            <a:ext cx="7286644" cy="3067442"/>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226941" tIns="101568" rIns="91440" bIns="101568"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Calibri Light" charset="0"/>
                <a:ea typeface="Times New Roman" pitchFamily="18" charset="0"/>
                <a:cs typeface="Calibri Light" charset="0"/>
              </a:rPr>
              <a:t>CAPÍTULO XII. </a:t>
            </a:r>
            <a:endParaRPr kumimoji="0" lang="es-VE" sz="2800" b="0"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VE" sz="2800" b="1" i="0" u="none" strike="noStrike" cap="none" normalizeH="0" baseline="0" dirty="0" smtClean="0">
                <a:ln>
                  <a:noFill/>
                </a:ln>
                <a:solidFill>
                  <a:schemeClr val="tx1"/>
                </a:solidFill>
                <a:effectLst/>
                <a:latin typeface="Calibri Light" charset="0"/>
                <a:ea typeface="Times New Roman" pitchFamily="18" charset="0"/>
                <a:cs typeface="Calibri Light" charset="0"/>
              </a:rPr>
              <a:t>SANCIONES INTERNAS IMPUESTAS POR EL INCUMPLIMIENTO DEL MANUAL, SUS PROCESOS Y PROCEDIMIENTOS Y EL CÓDIGO DE ÉTICA</a:t>
            </a:r>
            <a:endParaRPr kumimoji="0" lang="es-VE" sz="2800" b="0" i="0" u="none" strike="noStrike" cap="none" normalizeH="0" baseline="0" dirty="0" smtClean="0">
              <a:ln>
                <a:noFill/>
              </a:ln>
              <a:solidFill>
                <a:srgbClr val="2E74B5"/>
              </a:solidFill>
              <a:effectLst/>
              <a:latin typeface="Calibri Light"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VE"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6643702" y="0"/>
            <a:ext cx="1000132"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6561" name="Rectangle 1"/>
          <p:cNvSpPr>
            <a:spLocks noChangeArrowheads="1"/>
          </p:cNvSpPr>
          <p:nvPr/>
        </p:nvSpPr>
        <p:spPr bwMode="auto">
          <a:xfrm>
            <a:off x="928662" y="1596743"/>
            <a:ext cx="7286644" cy="3806106"/>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226941" tIns="101568" rIns="91440" bIns="101568" numCol="1" anchor="ctr" anchorCtr="0" compatLnSpc="1">
            <a:prstTxWarp prst="textNoShape">
              <a:avLst/>
            </a:prstTxWarp>
            <a:spAutoFit/>
          </a:bodyPr>
          <a:lstStyle/>
          <a:p>
            <a:pPr algn="ctr"/>
            <a:r>
              <a:rPr lang="es-VE" sz="2400" b="1" dirty="0" smtClean="0"/>
              <a:t>CAPÍTULO XIII. </a:t>
            </a:r>
          </a:p>
          <a:p>
            <a:pPr algn="ctr"/>
            <a:r>
              <a:rPr lang="es-VE" sz="2400" b="1" dirty="0" smtClean="0"/>
              <a:t>SANCIONES QUE ESTABLECE LA NORMATIVA VIGENTE APLICABLE, EN CUANTO AL INCUMPLIMIENTO DE LOS PROCESOS RELACIONADOS CON LA ADMINISTRACIÓN DE RIESGOS DE LEGITIMACIÓN DE CAPITALES, FINANCIAMIENTO AL TERRORISMO Y FINANCIAMIENTO DE LA PROLIFERACIÓN DE ARMAS DE DESTRUCCIÓN MASIVA</a:t>
            </a:r>
            <a:r>
              <a:rPr lang="es-VE" b="1" dirty="0" smtClean="0"/>
              <a: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VE"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2"/>
          <p:cNvPicPr>
            <a:picLocks noChangeAspect="1" noChangeArrowheads="1"/>
          </p:cNvPicPr>
          <p:nvPr/>
        </p:nvPicPr>
        <p:blipFill>
          <a:blip r:embed="rId3" cstate="print"/>
          <a:srcRect/>
          <a:stretch>
            <a:fillRect/>
          </a:stretch>
        </p:blipFill>
        <p:spPr bwMode="auto">
          <a:xfrm>
            <a:off x="6286512" y="0"/>
            <a:ext cx="1357322" cy="928670"/>
          </a:xfrm>
          <a:prstGeom prst="rect">
            <a:avLst/>
          </a:prstGeom>
          <a:noFill/>
          <a:ln w="9525">
            <a:noFill/>
            <a:miter lim="800000"/>
            <a:headEnd/>
            <a:tailEnd/>
          </a:ln>
          <a:effectLst/>
        </p:spPr>
      </p:pic>
      <p:pic>
        <p:nvPicPr>
          <p:cNvPr id="13" name="Picture 11"/>
          <p:cNvPicPr>
            <a:picLocks noChangeAspect="1" noChangeArrowheads="1"/>
          </p:cNvPicPr>
          <p:nvPr/>
        </p:nvPicPr>
        <p:blipFill>
          <a:blip r:embed="rId4" cstate="print"/>
          <a:srcRect/>
          <a:stretch>
            <a:fillRect/>
          </a:stretch>
        </p:blipFill>
        <p:spPr bwMode="auto">
          <a:xfrm>
            <a:off x="7643834" y="0"/>
            <a:ext cx="1500166"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66561" name="Rectangle 1"/>
          <p:cNvSpPr>
            <a:spLocks noChangeArrowheads="1"/>
          </p:cNvSpPr>
          <p:nvPr/>
        </p:nvSpPr>
        <p:spPr bwMode="auto">
          <a:xfrm>
            <a:off x="928662" y="1995801"/>
            <a:ext cx="7286644" cy="3436774"/>
          </a:xfrm>
          <a:prstGeom prst="rect">
            <a:avLst/>
          </a:prstGeom>
          <a:ln>
            <a:headEnd/>
            <a:tailEnd/>
          </a:ln>
          <a:scene3d>
            <a:camera prst="perspectiveRelaxed"/>
            <a:lightRig rig="threePt" dir="t"/>
          </a:scene3d>
        </p:spPr>
        <p:style>
          <a:lnRef idx="2">
            <a:schemeClr val="accent1"/>
          </a:lnRef>
          <a:fillRef idx="1">
            <a:schemeClr val="lt1"/>
          </a:fillRef>
          <a:effectRef idx="0">
            <a:schemeClr val="accent1"/>
          </a:effectRef>
          <a:fontRef idx="minor">
            <a:schemeClr val="dk1"/>
          </a:fontRef>
        </p:style>
        <p:txBody>
          <a:bodyPr vert="horz" wrap="square" lIns="226941" tIns="101568" rIns="91440" bIns="101568" numCol="1" anchor="ctr" anchorCtr="0" compatLnSpc="1">
            <a:prstTxWarp prst="textNoShape">
              <a:avLst/>
            </a:prstTxWarp>
            <a:spAutoFit/>
          </a:bodyPr>
          <a:lstStyle/>
          <a:p>
            <a:pPr algn="ctr"/>
            <a:r>
              <a:rPr lang="es-VE" sz="2400" b="1" dirty="0" smtClean="0"/>
              <a:t>CAPÍTULO XIV. </a:t>
            </a:r>
          </a:p>
          <a:p>
            <a:pPr algn="ctr"/>
            <a:r>
              <a:rPr lang="es-VE" sz="2400" b="1" dirty="0" smtClean="0"/>
              <a:t>TIPOLOGÍAS UTILIZADAS EN LA ACTIVIDAD ASEGURADORA PARA LA LEGITIMACIÓN DE CAPITALES, FINANCIAMIENTO AL TERRORISMO Y FINANCIAMIENTO DE LA PROLIFERACIÓN DE ARMAS DE DESTRUCCIÓN MASIVA. MECANISMOS, INSTRUMENTOS Y ESQUEMAS UTILIZADOS</a:t>
            </a:r>
            <a:r>
              <a:rPr lang="es-VE" b="1" dirty="0" smtClean="0"/>
              <a: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VE"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6286512" y="0"/>
            <a:ext cx="1357322" cy="9286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928670"/>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6286512" y="0"/>
            <a:ext cx="1357322" cy="928670"/>
          </a:xfrm>
          <a:prstGeom prst="rect">
            <a:avLst/>
          </a:prstGeom>
          <a:noFill/>
          <a:ln w="9525">
            <a:noFill/>
            <a:miter lim="800000"/>
            <a:headEnd/>
            <a:tailEnd/>
          </a:ln>
          <a:effectLst/>
        </p:spPr>
      </p:pic>
      <p:sp>
        <p:nvSpPr>
          <p:cNvPr id="14" name="13 Rectángulo"/>
          <p:cNvSpPr/>
          <p:nvPr/>
        </p:nvSpPr>
        <p:spPr>
          <a:xfrm>
            <a:off x="2214546" y="1000108"/>
            <a:ext cx="4572000" cy="646331"/>
          </a:xfrm>
          <a:prstGeom prst="rect">
            <a:avLst/>
          </a:prstGeom>
        </p:spPr>
        <p:txBody>
          <a:bodyPr>
            <a:spAutoFit/>
          </a:bodyPr>
          <a:lstStyle/>
          <a:p>
            <a:pPr algn="ctr"/>
            <a:r>
              <a:rPr lang="es-VE" b="1" dirty="0" smtClean="0"/>
              <a:t>TIPOLOGÍAS UTILIZADAS EN LA ACTIVIDAD ASEGURADORA</a:t>
            </a:r>
            <a:endParaRPr lang="es-VE" dirty="0"/>
          </a:p>
        </p:txBody>
      </p:sp>
      <p:sp>
        <p:nvSpPr>
          <p:cNvPr id="15" name="14 Rectángulo"/>
          <p:cNvSpPr/>
          <p:nvPr/>
        </p:nvSpPr>
        <p:spPr>
          <a:xfrm>
            <a:off x="785786" y="2214554"/>
            <a:ext cx="7715304" cy="4370427"/>
          </a:xfrm>
          <a:prstGeom prst="rect">
            <a:avLst/>
          </a:prstGeom>
        </p:spPr>
        <p:txBody>
          <a:bodyPr wrap="square">
            <a:spAutoFit/>
          </a:bodyPr>
          <a:lstStyle/>
          <a:p>
            <a:pPr>
              <a:buFont typeface="Arial" pitchFamily="34" charset="0"/>
              <a:buChar char="•"/>
            </a:pPr>
            <a:r>
              <a:rPr lang="es-VE" b="1" dirty="0" smtClean="0"/>
              <a:t> </a:t>
            </a:r>
            <a:r>
              <a:rPr lang="es-VE" sz="2000" b="1" dirty="0" smtClean="0"/>
              <a:t>Dinero electrónico y cajeros automáticos.</a:t>
            </a:r>
          </a:p>
          <a:p>
            <a:pPr marL="0" lvl="2">
              <a:buFont typeface="Arial" pitchFamily="34" charset="0"/>
              <a:buChar char="•"/>
            </a:pPr>
            <a:r>
              <a:rPr lang="es-VE" sz="2000" b="1" dirty="0" smtClean="0"/>
              <a:t>Mercado fronterizo internacional.</a:t>
            </a:r>
          </a:p>
          <a:p>
            <a:pPr marL="0" lvl="2">
              <a:buFont typeface="Arial" pitchFamily="34" charset="0"/>
              <a:buChar char="•"/>
            </a:pPr>
            <a:r>
              <a:rPr lang="es-VE" sz="2000" b="1" dirty="0" smtClean="0"/>
              <a:t>Mercado de Pesos Clandestinos.</a:t>
            </a:r>
          </a:p>
          <a:p>
            <a:pPr marL="0" lvl="2">
              <a:buFont typeface="Arial" pitchFamily="34" charset="0"/>
              <a:buChar char="•"/>
            </a:pPr>
            <a:r>
              <a:rPr lang="es-VE" sz="2000" b="1" dirty="0" smtClean="0"/>
              <a:t>El sector construcción de Inmuebles.</a:t>
            </a:r>
          </a:p>
          <a:p>
            <a:pPr marL="0" lvl="2">
              <a:buFont typeface="Arial" pitchFamily="34" charset="0"/>
              <a:buChar char="•"/>
            </a:pPr>
            <a:r>
              <a:rPr lang="es-VE" sz="2000" b="1" dirty="0" smtClean="0"/>
              <a:t>Adquisición de pólizas de seguros o planes de salud con la intención de solicitar la terminación anticipada del contrato.</a:t>
            </a:r>
            <a:r>
              <a:rPr lang="es-VE" sz="2000" dirty="0" smtClean="0"/>
              <a:t> </a:t>
            </a:r>
          </a:p>
          <a:p>
            <a:pPr marL="0" lvl="2">
              <a:buFont typeface="Arial" pitchFamily="34" charset="0"/>
              <a:buChar char="•"/>
            </a:pPr>
            <a:r>
              <a:rPr lang="es-VE" sz="2000" b="1" dirty="0" smtClean="0"/>
              <a:t>Contratación de fianzas con la intención de apoyar esquemas más  complejos de legitimación.</a:t>
            </a:r>
          </a:p>
          <a:p>
            <a:pPr marL="0" lvl="2">
              <a:buFont typeface="Arial" pitchFamily="34" charset="0"/>
              <a:buChar char="•"/>
            </a:pPr>
            <a:r>
              <a:rPr lang="es-VE" sz="2000" b="1" dirty="0" smtClean="0"/>
              <a:t>Contrabando de dinero en efectivo.</a:t>
            </a:r>
          </a:p>
          <a:p>
            <a:pPr marL="0" lvl="2">
              <a:buFont typeface="Arial" pitchFamily="34" charset="0"/>
              <a:buChar char="•"/>
            </a:pPr>
            <a:r>
              <a:rPr lang="es-VE" sz="2000" b="1" dirty="0" smtClean="0"/>
              <a:t>Estructuración.</a:t>
            </a:r>
          </a:p>
          <a:p>
            <a:pPr marL="0" lvl="2">
              <a:buFont typeface="Arial" pitchFamily="34" charset="0"/>
              <a:buChar char="•"/>
            </a:pPr>
            <a:r>
              <a:rPr lang="es-VE" sz="2000" b="1" dirty="0" smtClean="0"/>
              <a:t>Complicidad organizacional y complicidad interna.</a:t>
            </a:r>
          </a:p>
          <a:p>
            <a:pPr marL="0" lvl="2">
              <a:buFont typeface="Arial" pitchFamily="34" charset="0"/>
              <a:buChar char="•"/>
            </a:pPr>
            <a:r>
              <a:rPr lang="es-VE" sz="2000" b="1" dirty="0" smtClean="0"/>
              <a:t>Tipologías de delitos informáticos.</a:t>
            </a:r>
            <a:endParaRPr lang="es-VE" sz="2000" dirty="0" smtClean="0"/>
          </a:p>
          <a:p>
            <a:pPr marL="0" lvl="2">
              <a:buFont typeface="Arial" pitchFamily="34" charset="0"/>
              <a:buChar char="•"/>
            </a:pPr>
            <a:endParaRPr lang="es-VE" sz="2000" dirty="0" smtClean="0"/>
          </a:p>
          <a:p>
            <a:pPr>
              <a:buFont typeface="Arial" pitchFamily="34" charset="0"/>
              <a:buChar char="•"/>
            </a:pPr>
            <a:endParaRPr lang="es-VE"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6"/>
          <p:cNvPicPr>
            <a:picLocks noChangeAspect="1"/>
          </p:cNvPicPr>
          <p:nvPr/>
        </p:nvPicPr>
        <p:blipFill>
          <a:blip r:embed="rId2" cstate="print"/>
          <a:srcRect/>
          <a:stretch>
            <a:fillRect/>
          </a:stretch>
        </p:blipFill>
        <p:spPr bwMode="auto">
          <a:xfrm>
            <a:off x="0" y="0"/>
            <a:ext cx="2214545" cy="2143115"/>
          </a:xfrm>
          <a:prstGeom prst="rect">
            <a:avLst/>
          </a:prstGeom>
          <a:noFill/>
          <a:ln w="9525">
            <a:noFill/>
            <a:miter lim="800000"/>
            <a:headEnd/>
            <a:tailEnd/>
          </a:ln>
        </p:spPr>
      </p:pic>
      <p:sp>
        <p:nvSpPr>
          <p:cNvPr id="6" name="5 Rectángulo"/>
          <p:cNvSpPr/>
          <p:nvPr/>
        </p:nvSpPr>
        <p:spPr>
          <a:xfrm>
            <a:off x="4137386" y="2714620"/>
            <a:ext cx="282449" cy="461665"/>
          </a:xfrm>
          <a:prstGeom prst="rect">
            <a:avLst/>
          </a:prstGeom>
        </p:spPr>
        <p:txBody>
          <a:bodyPr wrap="none">
            <a:spAutoFit/>
          </a:bodyPr>
          <a:lstStyle/>
          <a:p>
            <a:pPr algn="ctr"/>
            <a:r>
              <a:rPr lang="es-VE" sz="2400" dirty="0" smtClean="0"/>
              <a:t> </a:t>
            </a:r>
            <a:endParaRPr lang="es-VE" sz="2400" dirty="0"/>
          </a:p>
        </p:txBody>
      </p:sp>
      <p:sp>
        <p:nvSpPr>
          <p:cNvPr id="1026" name="AutoShape 2" descr="C:\Users\contablidad\Desktop\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28" name="AutoShape 4"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0" name="AutoShape 6" descr="C:\Users\contablidad\Desktop\ARCHIVOS JOSE GREGORIO\INDUCCIONES  Y TALLERES\MANUAL DE POLITICAS Y NORMAS LC FT FPADM\IMAGENES\IMAGEN EVALUACION DE RIESGO.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1032" name="AutoShape 8" descr="¡Fácil y sencillo! Análisis de riesgos en 6 pas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2226" name="AutoShape 2" descr="https://www.provincial.com/content/dam/public-web/global/images/micro-illustrations/woman_user.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3252" name="AutoShape 4" descr="Debida diligenc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sp>
        <p:nvSpPr>
          <p:cNvPr id="59394" name="AutoShape 2" descr="El Ciclo de un Reporte de Operación Sospechosa - ACAMS Tod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VE" dirty="0"/>
          </a:p>
        </p:txBody>
      </p:sp>
      <p:pic>
        <p:nvPicPr>
          <p:cNvPr id="12" name="Picture 11"/>
          <p:cNvPicPr>
            <a:picLocks noChangeAspect="1" noChangeArrowheads="1"/>
          </p:cNvPicPr>
          <p:nvPr/>
        </p:nvPicPr>
        <p:blipFill>
          <a:blip r:embed="rId3" cstate="print"/>
          <a:srcRect/>
          <a:stretch>
            <a:fillRect/>
          </a:stretch>
        </p:blipFill>
        <p:spPr bwMode="auto">
          <a:xfrm>
            <a:off x="7643834" y="0"/>
            <a:ext cx="1500166" cy="1285860"/>
          </a:xfrm>
          <a:prstGeom prst="rect">
            <a:avLst/>
          </a:prstGeom>
          <a:noFill/>
          <a:ln w="9525">
            <a:noFill/>
            <a:miter lim="800000"/>
            <a:headEnd/>
            <a:tailEnd/>
          </a:ln>
          <a:effectLst/>
        </p:spPr>
      </p:pic>
      <p:pic>
        <p:nvPicPr>
          <p:cNvPr id="13" name="Picture 2"/>
          <p:cNvPicPr>
            <a:picLocks noChangeAspect="1" noChangeArrowheads="1"/>
          </p:cNvPicPr>
          <p:nvPr/>
        </p:nvPicPr>
        <p:blipFill>
          <a:blip r:embed="rId4" cstate="print"/>
          <a:srcRect/>
          <a:stretch>
            <a:fillRect/>
          </a:stretch>
        </p:blipFill>
        <p:spPr bwMode="auto">
          <a:xfrm>
            <a:off x="6215074" y="0"/>
            <a:ext cx="1357322" cy="1357298"/>
          </a:xfrm>
          <a:prstGeom prst="rect">
            <a:avLst/>
          </a:prstGeom>
          <a:noFill/>
          <a:ln w="9525">
            <a:noFill/>
            <a:miter lim="800000"/>
            <a:headEnd/>
            <a:tailEnd/>
          </a:ln>
          <a:effectLst/>
        </p:spPr>
      </p:pic>
      <p:sp>
        <p:nvSpPr>
          <p:cNvPr id="17" name="AutoShape 6" descr="Superintendencia de la Actividad Aseguradora | Caracas">
            <a:extLst>
              <a:ext uri="{FF2B5EF4-FFF2-40B4-BE49-F238E27FC236}">
                <a16:creationId xmlns:a16="http://schemas.microsoft.com/office/drawing/2014/main" xmlns="" id="{81F9DB46-99E0-F7D8-A5FF-71420AEBDA06}"/>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sp>
        <p:nvSpPr>
          <p:cNvPr id="18" name="7 Rectángulo">
            <a:extLst>
              <a:ext uri="{FF2B5EF4-FFF2-40B4-BE49-F238E27FC236}">
                <a16:creationId xmlns:a16="http://schemas.microsoft.com/office/drawing/2014/main" xmlns="" id="{4E668D82-2BBB-557D-72E1-16DD0179387C}"/>
              </a:ext>
            </a:extLst>
          </p:cNvPr>
          <p:cNvSpPr>
            <a:spLocks noChangeArrowheads="1"/>
          </p:cNvSpPr>
          <p:nvPr/>
        </p:nvSpPr>
        <p:spPr bwMode="auto">
          <a:xfrm>
            <a:off x="4572000" y="6072188"/>
            <a:ext cx="4572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s-VE" altLang="es-VE" b="1" dirty="0">
                <a:latin typeface="Agency FB" panose="020B0503020202020204" pitchFamily="34" charset="77"/>
              </a:rPr>
              <a:t>18 años ofreciendo bienestar y servicios </a:t>
            </a:r>
          </a:p>
          <a:p>
            <a:pPr algn="r" eaLnBrk="1" hangingPunct="1"/>
            <a:r>
              <a:rPr lang="es-VE" altLang="es-VE" b="1" dirty="0">
                <a:latin typeface="Agency FB" panose="020B0503020202020204" pitchFamily="34" charset="77"/>
              </a:rPr>
              <a:t>Porque su salud no es un gasto, es una sana inversión </a:t>
            </a:r>
          </a:p>
        </p:txBody>
      </p:sp>
      <p:sp>
        <p:nvSpPr>
          <p:cNvPr id="19" name="8 Título">
            <a:extLst>
              <a:ext uri="{FF2B5EF4-FFF2-40B4-BE49-F238E27FC236}">
                <a16:creationId xmlns:a16="http://schemas.microsoft.com/office/drawing/2014/main" xmlns="" id="{94C833C0-1136-51E0-BD0C-0A1FD065CD6C}"/>
              </a:ext>
            </a:extLst>
          </p:cNvPr>
          <p:cNvSpPr txBox="1">
            <a:spLocks/>
          </p:cNvSpPr>
          <p:nvPr/>
        </p:nvSpPr>
        <p:spPr>
          <a:xfrm>
            <a:off x="785786" y="1214422"/>
            <a:ext cx="7629524" cy="642942"/>
          </a:xfrm>
          <a:prstGeom prst="rect">
            <a:avLst/>
          </a:prstGeom>
        </p:spPr>
        <p:txBody>
          <a:bodyPr vert="horz" lIns="91440" tIns="45720" rIns="91440" bIns="45720" rtlCol="0" anchor="ctr">
            <a:noAutofit/>
          </a:body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s-VE" sz="2400" b="0" i="0" u="none" strike="noStrike" kern="1200" cap="none" spc="0" normalizeH="0" baseline="0" noProof="0" dirty="0" smtClean="0">
                <a:ln>
                  <a:noFill/>
                </a:ln>
                <a:solidFill>
                  <a:schemeClr val="tx1"/>
                </a:solidFill>
                <a:effectLst/>
                <a:uLnTx/>
                <a:uFillTx/>
                <a:latin typeface="+mj-lt"/>
                <a:ea typeface="+mj-ea"/>
                <a:cs typeface="+mj-cs"/>
              </a:rPr>
              <a:t/>
            </a:r>
            <a:br>
              <a:rPr kumimoji="0" lang="es-VE" sz="2400" b="0" i="0" u="none" strike="noStrike" kern="1200" cap="none" spc="0" normalizeH="0" baseline="0" noProof="0" dirty="0" smtClean="0">
                <a:ln>
                  <a:noFill/>
                </a:ln>
                <a:solidFill>
                  <a:schemeClr val="tx1"/>
                </a:solidFill>
                <a:effectLst/>
                <a:uLnTx/>
                <a:uFillTx/>
                <a:latin typeface="+mj-lt"/>
                <a:ea typeface="+mj-ea"/>
                <a:cs typeface="+mj-cs"/>
              </a:rPr>
            </a:br>
            <a:endParaRPr kumimoji="0" lang="es-VE"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20" name="AutoShape 2" descr="gracias por su atencion">
            <a:extLst>
              <a:ext uri="{FF2B5EF4-FFF2-40B4-BE49-F238E27FC236}">
                <a16:creationId xmlns:a16="http://schemas.microsoft.com/office/drawing/2014/main" xmlns="" id="{00C7892D-D178-9FD6-4A6E-BCFD72FFC3B0}"/>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sp>
        <p:nvSpPr>
          <p:cNvPr id="23" name="10 Rectángulo redondeado">
            <a:extLst>
              <a:ext uri="{FF2B5EF4-FFF2-40B4-BE49-F238E27FC236}">
                <a16:creationId xmlns:a16="http://schemas.microsoft.com/office/drawing/2014/main" xmlns="" id="{31A6A9AB-E304-B7C2-8AA6-BA563791FB7D}"/>
              </a:ext>
            </a:extLst>
          </p:cNvPr>
          <p:cNvSpPr/>
          <p:nvPr/>
        </p:nvSpPr>
        <p:spPr>
          <a:xfrm>
            <a:off x="1214437" y="2159104"/>
            <a:ext cx="6715125" cy="2724323"/>
          </a:xfrm>
          <a:prstGeom prst="roundRect">
            <a:avLst/>
          </a:prstGeom>
          <a:noFill/>
          <a:ln w="38100">
            <a:solidFill>
              <a:srgbClr val="FF8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VE" sz="6000" b="1" dirty="0">
                <a:solidFill>
                  <a:srgbClr val="005B9D"/>
                </a:solidFill>
              </a:rPr>
              <a:t>GRACIAS POR SU ATENCIÓN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LANTILLA PRESENTAC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 PRESENTACION</Template>
  <TotalTime>2167</TotalTime>
  <Words>2823</Words>
  <Application>Microsoft Office PowerPoint</Application>
  <PresentationFormat>Presentación en pantalla (4:3)</PresentationFormat>
  <Paragraphs>279</Paragraphs>
  <Slides>50</Slides>
  <Notes>0</Notes>
  <HiddenSlides>0</HiddenSlides>
  <MMClips>0</MMClips>
  <ScaleCrop>false</ScaleCrop>
  <HeadingPairs>
    <vt:vector size="4" baseType="variant">
      <vt:variant>
        <vt:lpstr>Tema</vt:lpstr>
      </vt:variant>
      <vt:variant>
        <vt:i4>1</vt:i4>
      </vt:variant>
      <vt:variant>
        <vt:lpstr>Títulos de diapositiva</vt:lpstr>
      </vt:variant>
      <vt:variant>
        <vt:i4>50</vt:i4>
      </vt:variant>
    </vt:vector>
  </HeadingPairs>
  <TitlesOfParts>
    <vt:vector size="51" baseType="lpstr">
      <vt:lpstr>PLANTILLA PRESENTACION</vt:lpstr>
      <vt:lpstr>Diapositiva 1</vt:lpstr>
      <vt:lpstr>Diapositiva 2</vt:lpstr>
      <vt:lpstr>Diapositiva 3</vt:lpstr>
      <vt:lpstr>Diapositiva 4</vt:lpstr>
      <vt:lpstr>Diapositiva 5</vt:lpstr>
      <vt:lpstr>Diapositiva 6</vt:lpstr>
      <vt:lpstr>Objetivos</vt:lpstr>
      <vt:lpstr>Objetivos</vt:lpstr>
      <vt:lpstr>Objetivos</vt:lpstr>
      <vt:lpstr>Objetivos</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contablidad</dc:creator>
  <cp:lastModifiedBy>contablidad</cp:lastModifiedBy>
  <cp:revision>346</cp:revision>
  <dcterms:created xsi:type="dcterms:W3CDTF">2023-01-26T19:03:44Z</dcterms:created>
  <dcterms:modified xsi:type="dcterms:W3CDTF">2023-06-27T14:59:57Z</dcterms:modified>
</cp:coreProperties>
</file>