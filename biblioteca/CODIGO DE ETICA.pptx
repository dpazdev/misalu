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1"/>
  </p:notesMasterIdLst>
  <p:sldIdLst>
    <p:sldId id="317" r:id="rId2"/>
    <p:sldId id="337" r:id="rId3"/>
    <p:sldId id="257" r:id="rId4"/>
    <p:sldId id="338" r:id="rId5"/>
    <p:sldId id="313" r:id="rId6"/>
    <p:sldId id="265" r:id="rId7"/>
    <p:sldId id="336" r:id="rId8"/>
    <p:sldId id="260" r:id="rId9"/>
    <p:sldId id="271" r:id="rId10"/>
    <p:sldId id="306" r:id="rId11"/>
    <p:sldId id="307" r:id="rId12"/>
    <p:sldId id="308" r:id="rId13"/>
    <p:sldId id="309" r:id="rId14"/>
    <p:sldId id="310" r:id="rId15"/>
    <p:sldId id="305" r:id="rId16"/>
    <p:sldId id="311" r:id="rId17"/>
    <p:sldId id="268" r:id="rId18"/>
    <p:sldId id="314" r:id="rId19"/>
    <p:sldId id="269" r:id="rId20"/>
    <p:sldId id="272" r:id="rId21"/>
    <p:sldId id="323" r:id="rId22"/>
    <p:sldId id="320" r:id="rId23"/>
    <p:sldId id="274" r:id="rId24"/>
    <p:sldId id="259" r:id="rId25"/>
    <p:sldId id="312" r:id="rId26"/>
    <p:sldId id="293" r:id="rId27"/>
    <p:sldId id="324" r:id="rId28"/>
    <p:sldId id="294" r:id="rId29"/>
    <p:sldId id="295" r:id="rId30"/>
    <p:sldId id="319" r:id="rId31"/>
    <p:sldId id="325" r:id="rId32"/>
    <p:sldId id="296" r:id="rId33"/>
    <p:sldId id="297" r:id="rId34"/>
    <p:sldId id="276" r:id="rId35"/>
    <p:sldId id="279" r:id="rId36"/>
    <p:sldId id="298" r:id="rId37"/>
    <p:sldId id="280" r:id="rId38"/>
    <p:sldId id="266" r:id="rId39"/>
    <p:sldId id="315" r:id="rId40"/>
  </p:sldIdLst>
  <p:sldSz cx="9144000" cy="6858000" type="screen4x3"/>
  <p:notesSz cx="6858000" cy="91440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7" autoAdjust="0"/>
    <p:restoredTop sz="91800" autoAdjust="0"/>
  </p:normalViewPr>
  <p:slideViewPr>
    <p:cSldViewPr>
      <p:cViewPr varScale="1">
        <p:scale>
          <a:sx n="65" d="100"/>
          <a:sy n="65" d="100"/>
        </p:scale>
        <p:origin x="143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VE"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60AFC5-1BB9-4365-9E69-4AE9E65550ED}" type="datetimeFigureOut">
              <a:rPr lang="es-VE" smtClean="0"/>
              <a:pPr/>
              <a:t>21/12/2023</a:t>
            </a:fld>
            <a:endParaRPr lang="es-VE"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VE"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VE"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F7B3F8-2A75-4D46-982D-CEE4BF34B1B6}" type="slidenum">
              <a:rPr lang="es-VE" smtClean="0"/>
              <a:pPr/>
              <a:t>‹Nº›</a:t>
            </a:fld>
            <a:endParaRPr lang="es-VE"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BF7B3F8-2A75-4D46-982D-CEE4BF34B1B6}" type="slidenum">
              <a:rPr lang="es-VE" smtClean="0"/>
              <a:pPr/>
              <a:t>3</a:t>
            </a:fld>
            <a:endParaRPr lang="es-VE" dirty="0"/>
          </a:p>
        </p:txBody>
      </p:sp>
    </p:spTree>
    <p:extLst>
      <p:ext uri="{BB962C8B-B14F-4D97-AF65-F5344CB8AC3E}">
        <p14:creationId xmlns:p14="http://schemas.microsoft.com/office/powerpoint/2010/main" val="3607527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BF7B3F8-2A75-4D46-982D-CEE4BF34B1B6}" type="slidenum">
              <a:rPr lang="es-VE" smtClean="0"/>
              <a:pPr/>
              <a:t>21</a:t>
            </a:fld>
            <a:endParaRPr lang="es-VE" dirty="0"/>
          </a:p>
        </p:txBody>
      </p:sp>
    </p:spTree>
    <p:extLst>
      <p:ext uri="{BB962C8B-B14F-4D97-AF65-F5344CB8AC3E}">
        <p14:creationId xmlns:p14="http://schemas.microsoft.com/office/powerpoint/2010/main" val="539463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E12104-20DA-05B8-407B-1BD346167635}"/>
              </a:ext>
            </a:extLst>
          </p:cNvPr>
          <p:cNvSpPr>
            <a:spLocks noGrp="1"/>
          </p:cNvSpPr>
          <p:nvPr>
            <p:ph type="ctrTitle"/>
          </p:nvPr>
        </p:nvSpPr>
        <p:spPr>
          <a:xfrm>
            <a:off x="1143000" y="1122363"/>
            <a:ext cx="6858000" cy="2387600"/>
          </a:xfrm>
        </p:spPr>
        <p:txBody>
          <a:bodyPr anchor="b"/>
          <a:lstStyle>
            <a:lvl1pPr algn="ctr">
              <a:defRPr sz="4500"/>
            </a:lvl1pPr>
          </a:lstStyle>
          <a:p>
            <a:r>
              <a:rPr lang="es-ES" smtClean="0"/>
              <a:t>Haga clic para modificar el estilo de título del patrón</a:t>
            </a:r>
            <a:endParaRPr lang="es-VE"/>
          </a:p>
        </p:txBody>
      </p:sp>
      <p:sp>
        <p:nvSpPr>
          <p:cNvPr id="3" name="Subtítulo 2">
            <a:extLst>
              <a:ext uri="{FF2B5EF4-FFF2-40B4-BE49-F238E27FC236}">
                <a16:creationId xmlns:a16="http://schemas.microsoft.com/office/drawing/2014/main" id="{DF163B45-B681-3F6F-67F7-7BDCB388788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smtClean="0"/>
              <a:t>Haga clic para modificar el estilo de subtítulo del patrón</a:t>
            </a:r>
            <a:endParaRPr lang="es-VE"/>
          </a:p>
        </p:txBody>
      </p:sp>
      <p:sp>
        <p:nvSpPr>
          <p:cNvPr id="4" name="Marcador de fecha 3">
            <a:extLst>
              <a:ext uri="{FF2B5EF4-FFF2-40B4-BE49-F238E27FC236}">
                <a16:creationId xmlns:a16="http://schemas.microsoft.com/office/drawing/2014/main" id="{B9B42077-E71F-EECC-0F1A-D0B94E8336E0}"/>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5" name="Marcador de pie de página 4">
            <a:extLst>
              <a:ext uri="{FF2B5EF4-FFF2-40B4-BE49-F238E27FC236}">
                <a16:creationId xmlns:a16="http://schemas.microsoft.com/office/drawing/2014/main" id="{0F52EDE8-63CC-E276-1A31-1EF945EB8B2C}"/>
              </a:ext>
            </a:extLst>
          </p:cNvPr>
          <p:cNvSpPr>
            <a:spLocks noGrp="1"/>
          </p:cNvSpPr>
          <p:nvPr>
            <p:ph type="ftr" sz="quarter" idx="11"/>
          </p:nvPr>
        </p:nvSpPr>
        <p:spPr/>
        <p:txBody>
          <a:bodyPr/>
          <a:lstStyle/>
          <a:p>
            <a:endParaRPr lang="es-VE" dirty="0"/>
          </a:p>
        </p:txBody>
      </p:sp>
      <p:sp>
        <p:nvSpPr>
          <p:cNvPr id="6" name="Marcador de número de diapositiva 5">
            <a:extLst>
              <a:ext uri="{FF2B5EF4-FFF2-40B4-BE49-F238E27FC236}">
                <a16:creationId xmlns:a16="http://schemas.microsoft.com/office/drawing/2014/main" id="{CC1E6C6B-8506-2554-E400-BF3F29F21E98}"/>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2431825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9858E-3DA8-19FE-CA15-B9ABFB54461A}"/>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contenido 2">
            <a:extLst>
              <a:ext uri="{FF2B5EF4-FFF2-40B4-BE49-F238E27FC236}">
                <a16:creationId xmlns:a16="http://schemas.microsoft.com/office/drawing/2014/main" id="{8757B9BA-D8A4-8D4B-49D4-FA8B5F39A4D8}"/>
              </a:ext>
            </a:extLst>
          </p:cNvPr>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fecha 3">
            <a:extLst>
              <a:ext uri="{FF2B5EF4-FFF2-40B4-BE49-F238E27FC236}">
                <a16:creationId xmlns:a16="http://schemas.microsoft.com/office/drawing/2014/main" id="{77903F39-DB43-EB3F-AB52-A7A796AAD315}"/>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5" name="Marcador de pie de página 4">
            <a:extLst>
              <a:ext uri="{FF2B5EF4-FFF2-40B4-BE49-F238E27FC236}">
                <a16:creationId xmlns:a16="http://schemas.microsoft.com/office/drawing/2014/main" id="{56BBC387-1A06-3DCB-62CB-31A09F2FF87B}"/>
              </a:ext>
            </a:extLst>
          </p:cNvPr>
          <p:cNvSpPr>
            <a:spLocks noGrp="1"/>
          </p:cNvSpPr>
          <p:nvPr>
            <p:ph type="ftr" sz="quarter" idx="11"/>
          </p:nvPr>
        </p:nvSpPr>
        <p:spPr/>
        <p:txBody>
          <a:bodyPr/>
          <a:lstStyle/>
          <a:p>
            <a:endParaRPr lang="es-VE" dirty="0"/>
          </a:p>
        </p:txBody>
      </p:sp>
      <p:sp>
        <p:nvSpPr>
          <p:cNvPr id="6" name="Marcador de número de diapositiva 5">
            <a:extLst>
              <a:ext uri="{FF2B5EF4-FFF2-40B4-BE49-F238E27FC236}">
                <a16:creationId xmlns:a16="http://schemas.microsoft.com/office/drawing/2014/main" id="{4254708C-4E85-0DDE-7C3C-E8DC931F155A}"/>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3560964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44C126-BA27-B2A1-18B1-D78553FBE333}"/>
              </a:ext>
            </a:extLst>
          </p:cNvPr>
          <p:cNvSpPr>
            <a:spLocks noGrp="1"/>
          </p:cNvSpPr>
          <p:nvPr>
            <p:ph type="title"/>
          </p:nvPr>
        </p:nvSpPr>
        <p:spPr>
          <a:xfrm>
            <a:off x="623888" y="1709739"/>
            <a:ext cx="7886700" cy="2852737"/>
          </a:xfrm>
        </p:spPr>
        <p:txBody>
          <a:bodyPr anchor="b"/>
          <a:lstStyle>
            <a:lvl1pPr>
              <a:defRPr sz="4500"/>
            </a:lvl1pPr>
          </a:lstStyle>
          <a:p>
            <a:r>
              <a:rPr lang="es-ES" smtClean="0"/>
              <a:t>Haga clic para modificar el estilo de título del patrón</a:t>
            </a:r>
            <a:endParaRPr lang="es-VE"/>
          </a:p>
        </p:txBody>
      </p:sp>
      <p:sp>
        <p:nvSpPr>
          <p:cNvPr id="3" name="Marcador de texto 2">
            <a:extLst>
              <a:ext uri="{FF2B5EF4-FFF2-40B4-BE49-F238E27FC236}">
                <a16:creationId xmlns:a16="http://schemas.microsoft.com/office/drawing/2014/main" id="{2B99081D-B15B-27AD-1147-849085533395}"/>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smtClean="0"/>
              <a:t>Haga clic para modificar el estilo de texto del patrón</a:t>
            </a:r>
          </a:p>
        </p:txBody>
      </p:sp>
      <p:sp>
        <p:nvSpPr>
          <p:cNvPr id="4" name="Marcador de fecha 3">
            <a:extLst>
              <a:ext uri="{FF2B5EF4-FFF2-40B4-BE49-F238E27FC236}">
                <a16:creationId xmlns:a16="http://schemas.microsoft.com/office/drawing/2014/main" id="{1B18E64A-8611-7576-EEFA-F819695B7221}"/>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5" name="Marcador de pie de página 4">
            <a:extLst>
              <a:ext uri="{FF2B5EF4-FFF2-40B4-BE49-F238E27FC236}">
                <a16:creationId xmlns:a16="http://schemas.microsoft.com/office/drawing/2014/main" id="{785C6D8A-B4A5-77CC-2149-544E5B32A422}"/>
              </a:ext>
            </a:extLst>
          </p:cNvPr>
          <p:cNvSpPr>
            <a:spLocks noGrp="1"/>
          </p:cNvSpPr>
          <p:nvPr>
            <p:ph type="ftr" sz="quarter" idx="11"/>
          </p:nvPr>
        </p:nvSpPr>
        <p:spPr/>
        <p:txBody>
          <a:bodyPr/>
          <a:lstStyle/>
          <a:p>
            <a:endParaRPr lang="es-VE" dirty="0"/>
          </a:p>
        </p:txBody>
      </p:sp>
      <p:sp>
        <p:nvSpPr>
          <p:cNvPr id="6" name="Marcador de número de diapositiva 5">
            <a:extLst>
              <a:ext uri="{FF2B5EF4-FFF2-40B4-BE49-F238E27FC236}">
                <a16:creationId xmlns:a16="http://schemas.microsoft.com/office/drawing/2014/main" id="{A02F107D-5A4D-C8BD-720C-BFB592DD98C0}"/>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1014196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45FAEE-1974-28EA-4322-85F03684B7E5}"/>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contenido 2">
            <a:extLst>
              <a:ext uri="{FF2B5EF4-FFF2-40B4-BE49-F238E27FC236}">
                <a16:creationId xmlns:a16="http://schemas.microsoft.com/office/drawing/2014/main" id="{7229B877-4A22-0FB9-4723-59D02703E3F1}"/>
              </a:ext>
            </a:extLst>
          </p:cNvPr>
          <p:cNvSpPr>
            <a:spLocks noGrp="1"/>
          </p:cNvSpPr>
          <p:nvPr>
            <p:ph sz="half" idx="1"/>
          </p:nvPr>
        </p:nvSpPr>
        <p:spPr>
          <a:xfrm>
            <a:off x="6286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contenido 3">
            <a:extLst>
              <a:ext uri="{FF2B5EF4-FFF2-40B4-BE49-F238E27FC236}">
                <a16:creationId xmlns:a16="http://schemas.microsoft.com/office/drawing/2014/main" id="{E94D0D32-D2DF-C36B-AD1F-4F00C6B80982}"/>
              </a:ext>
            </a:extLst>
          </p:cNvPr>
          <p:cNvSpPr>
            <a:spLocks noGrp="1"/>
          </p:cNvSpPr>
          <p:nvPr>
            <p:ph sz="half" idx="2"/>
          </p:nvPr>
        </p:nvSpPr>
        <p:spPr>
          <a:xfrm>
            <a:off x="4629150" y="1825625"/>
            <a:ext cx="38862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5" name="Marcador de fecha 4">
            <a:extLst>
              <a:ext uri="{FF2B5EF4-FFF2-40B4-BE49-F238E27FC236}">
                <a16:creationId xmlns:a16="http://schemas.microsoft.com/office/drawing/2014/main" id="{9C75B6E7-754C-1AA5-C707-CA95D6093CE6}"/>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6" name="Marcador de pie de página 5">
            <a:extLst>
              <a:ext uri="{FF2B5EF4-FFF2-40B4-BE49-F238E27FC236}">
                <a16:creationId xmlns:a16="http://schemas.microsoft.com/office/drawing/2014/main" id="{2B78FC5C-E289-A198-E113-3DFC454429A6}"/>
              </a:ext>
            </a:extLst>
          </p:cNvPr>
          <p:cNvSpPr>
            <a:spLocks noGrp="1"/>
          </p:cNvSpPr>
          <p:nvPr>
            <p:ph type="ftr" sz="quarter" idx="11"/>
          </p:nvPr>
        </p:nvSpPr>
        <p:spPr/>
        <p:txBody>
          <a:bodyPr/>
          <a:lstStyle/>
          <a:p>
            <a:endParaRPr lang="es-VE" dirty="0"/>
          </a:p>
        </p:txBody>
      </p:sp>
      <p:sp>
        <p:nvSpPr>
          <p:cNvPr id="7" name="Marcador de número de diapositiva 6">
            <a:extLst>
              <a:ext uri="{FF2B5EF4-FFF2-40B4-BE49-F238E27FC236}">
                <a16:creationId xmlns:a16="http://schemas.microsoft.com/office/drawing/2014/main" id="{84D49A57-04E2-0843-4FA5-BC63FA2F7E31}"/>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35726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4F8B54-7487-498B-08B1-A9F7C3A68138}"/>
              </a:ext>
            </a:extLst>
          </p:cNvPr>
          <p:cNvSpPr>
            <a:spLocks noGrp="1"/>
          </p:cNvSpPr>
          <p:nvPr>
            <p:ph type="title"/>
          </p:nvPr>
        </p:nvSpPr>
        <p:spPr>
          <a:xfrm>
            <a:off x="629841" y="365126"/>
            <a:ext cx="7886700" cy="1325563"/>
          </a:xfrm>
        </p:spPr>
        <p:txBody>
          <a:bodyPr/>
          <a:lstStyle/>
          <a:p>
            <a:r>
              <a:rPr lang="es-ES" smtClean="0"/>
              <a:t>Haga clic para modificar el estilo de título del patrón</a:t>
            </a:r>
            <a:endParaRPr lang="es-VE"/>
          </a:p>
        </p:txBody>
      </p:sp>
      <p:sp>
        <p:nvSpPr>
          <p:cNvPr id="3" name="Marcador de texto 2">
            <a:extLst>
              <a:ext uri="{FF2B5EF4-FFF2-40B4-BE49-F238E27FC236}">
                <a16:creationId xmlns:a16="http://schemas.microsoft.com/office/drawing/2014/main" id="{65E8DA89-DB87-791B-7DFB-776B4C6F8FF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smtClean="0"/>
              <a:t>Haga clic para modificar el estilo de texto del patrón</a:t>
            </a:r>
          </a:p>
        </p:txBody>
      </p:sp>
      <p:sp>
        <p:nvSpPr>
          <p:cNvPr id="4" name="Marcador de contenido 3">
            <a:extLst>
              <a:ext uri="{FF2B5EF4-FFF2-40B4-BE49-F238E27FC236}">
                <a16:creationId xmlns:a16="http://schemas.microsoft.com/office/drawing/2014/main" id="{41C502A7-121B-A79A-E05D-2C50AA055FD2}"/>
              </a:ext>
            </a:extLst>
          </p:cNvPr>
          <p:cNvSpPr>
            <a:spLocks noGrp="1"/>
          </p:cNvSpPr>
          <p:nvPr>
            <p:ph sz="half" idx="2"/>
          </p:nvPr>
        </p:nvSpPr>
        <p:spPr>
          <a:xfrm>
            <a:off x="629842" y="2505075"/>
            <a:ext cx="3868340"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5" name="Marcador de texto 4">
            <a:extLst>
              <a:ext uri="{FF2B5EF4-FFF2-40B4-BE49-F238E27FC236}">
                <a16:creationId xmlns:a16="http://schemas.microsoft.com/office/drawing/2014/main" id="{C1945597-AB7E-6443-868F-CA48AA41ABF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smtClean="0"/>
              <a:t>Haga clic para modificar el estilo de texto del patrón</a:t>
            </a:r>
          </a:p>
        </p:txBody>
      </p:sp>
      <p:sp>
        <p:nvSpPr>
          <p:cNvPr id="6" name="Marcador de contenido 5">
            <a:extLst>
              <a:ext uri="{FF2B5EF4-FFF2-40B4-BE49-F238E27FC236}">
                <a16:creationId xmlns:a16="http://schemas.microsoft.com/office/drawing/2014/main" id="{F1807428-E4F0-3838-EC16-10340B1573EB}"/>
              </a:ext>
            </a:extLst>
          </p:cNvPr>
          <p:cNvSpPr>
            <a:spLocks noGrp="1"/>
          </p:cNvSpPr>
          <p:nvPr>
            <p:ph sz="quarter" idx="4"/>
          </p:nvPr>
        </p:nvSpPr>
        <p:spPr>
          <a:xfrm>
            <a:off x="4629150" y="2505075"/>
            <a:ext cx="3887391"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7" name="Marcador de fecha 6">
            <a:extLst>
              <a:ext uri="{FF2B5EF4-FFF2-40B4-BE49-F238E27FC236}">
                <a16:creationId xmlns:a16="http://schemas.microsoft.com/office/drawing/2014/main" id="{AAC20B8C-3295-29A4-C641-7768B421755A}"/>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8" name="Marcador de pie de página 7">
            <a:extLst>
              <a:ext uri="{FF2B5EF4-FFF2-40B4-BE49-F238E27FC236}">
                <a16:creationId xmlns:a16="http://schemas.microsoft.com/office/drawing/2014/main" id="{3B608B71-041F-BDDD-3669-31CBA9287F08}"/>
              </a:ext>
            </a:extLst>
          </p:cNvPr>
          <p:cNvSpPr>
            <a:spLocks noGrp="1"/>
          </p:cNvSpPr>
          <p:nvPr>
            <p:ph type="ftr" sz="quarter" idx="11"/>
          </p:nvPr>
        </p:nvSpPr>
        <p:spPr/>
        <p:txBody>
          <a:bodyPr/>
          <a:lstStyle/>
          <a:p>
            <a:endParaRPr lang="es-VE" dirty="0"/>
          </a:p>
        </p:txBody>
      </p:sp>
      <p:sp>
        <p:nvSpPr>
          <p:cNvPr id="9" name="Marcador de número de diapositiva 8">
            <a:extLst>
              <a:ext uri="{FF2B5EF4-FFF2-40B4-BE49-F238E27FC236}">
                <a16:creationId xmlns:a16="http://schemas.microsoft.com/office/drawing/2014/main" id="{7CA437EB-2646-A6A1-229C-F6CB3B8B801E}"/>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1557210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0292BD-DDA3-C00B-0B04-8FDE81A8A5A7}"/>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fecha 2">
            <a:extLst>
              <a:ext uri="{FF2B5EF4-FFF2-40B4-BE49-F238E27FC236}">
                <a16:creationId xmlns:a16="http://schemas.microsoft.com/office/drawing/2014/main" id="{5B61AE77-6983-804E-B490-A0B928B44E21}"/>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4" name="Marcador de pie de página 3">
            <a:extLst>
              <a:ext uri="{FF2B5EF4-FFF2-40B4-BE49-F238E27FC236}">
                <a16:creationId xmlns:a16="http://schemas.microsoft.com/office/drawing/2014/main" id="{8912ABC8-BD8F-77CE-6683-230BC6A98686}"/>
              </a:ext>
            </a:extLst>
          </p:cNvPr>
          <p:cNvSpPr>
            <a:spLocks noGrp="1"/>
          </p:cNvSpPr>
          <p:nvPr>
            <p:ph type="ftr" sz="quarter" idx="11"/>
          </p:nvPr>
        </p:nvSpPr>
        <p:spPr/>
        <p:txBody>
          <a:bodyPr/>
          <a:lstStyle/>
          <a:p>
            <a:endParaRPr lang="es-VE" dirty="0"/>
          </a:p>
        </p:txBody>
      </p:sp>
      <p:sp>
        <p:nvSpPr>
          <p:cNvPr id="5" name="Marcador de número de diapositiva 4">
            <a:extLst>
              <a:ext uri="{FF2B5EF4-FFF2-40B4-BE49-F238E27FC236}">
                <a16:creationId xmlns:a16="http://schemas.microsoft.com/office/drawing/2014/main" id="{90387717-222D-B263-D9BD-E0177848CC09}"/>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3700449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DF20DD5-F9E3-1BDD-93E9-E49026FE4BED}"/>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3" name="Marcador de pie de página 2">
            <a:extLst>
              <a:ext uri="{FF2B5EF4-FFF2-40B4-BE49-F238E27FC236}">
                <a16:creationId xmlns:a16="http://schemas.microsoft.com/office/drawing/2014/main" id="{63F01B87-0BB6-8285-2544-1483DD175A61}"/>
              </a:ext>
            </a:extLst>
          </p:cNvPr>
          <p:cNvSpPr>
            <a:spLocks noGrp="1"/>
          </p:cNvSpPr>
          <p:nvPr>
            <p:ph type="ftr" sz="quarter" idx="11"/>
          </p:nvPr>
        </p:nvSpPr>
        <p:spPr/>
        <p:txBody>
          <a:bodyPr/>
          <a:lstStyle/>
          <a:p>
            <a:endParaRPr lang="es-VE" dirty="0"/>
          </a:p>
        </p:txBody>
      </p:sp>
      <p:sp>
        <p:nvSpPr>
          <p:cNvPr id="4" name="Marcador de número de diapositiva 3">
            <a:extLst>
              <a:ext uri="{FF2B5EF4-FFF2-40B4-BE49-F238E27FC236}">
                <a16:creationId xmlns:a16="http://schemas.microsoft.com/office/drawing/2014/main" id="{386F0086-E115-D13F-8FE2-565424F0BF00}"/>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407223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E82521-CCC8-3AFC-B81E-3172ED254E97}"/>
              </a:ext>
            </a:extLst>
          </p:cNvPr>
          <p:cNvSpPr>
            <a:spLocks noGrp="1"/>
          </p:cNvSpPr>
          <p:nvPr>
            <p:ph type="title"/>
          </p:nvPr>
        </p:nvSpPr>
        <p:spPr>
          <a:xfrm>
            <a:off x="629841" y="457200"/>
            <a:ext cx="2949178" cy="1600200"/>
          </a:xfrm>
        </p:spPr>
        <p:txBody>
          <a:bodyPr anchor="b"/>
          <a:lstStyle>
            <a:lvl1pPr>
              <a:defRPr sz="2400"/>
            </a:lvl1pPr>
          </a:lstStyle>
          <a:p>
            <a:r>
              <a:rPr lang="es-ES" smtClean="0"/>
              <a:t>Haga clic para modificar el estilo de título del patrón</a:t>
            </a:r>
            <a:endParaRPr lang="es-VE"/>
          </a:p>
        </p:txBody>
      </p:sp>
      <p:sp>
        <p:nvSpPr>
          <p:cNvPr id="3" name="Marcador de contenido 2">
            <a:extLst>
              <a:ext uri="{FF2B5EF4-FFF2-40B4-BE49-F238E27FC236}">
                <a16:creationId xmlns:a16="http://schemas.microsoft.com/office/drawing/2014/main" id="{C4AEBA1F-915B-9FDA-781D-29B598EA113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texto 3">
            <a:extLst>
              <a:ext uri="{FF2B5EF4-FFF2-40B4-BE49-F238E27FC236}">
                <a16:creationId xmlns:a16="http://schemas.microsoft.com/office/drawing/2014/main" id="{090A3E79-AD0E-A76D-7E97-737FD6B359E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Marcador de fecha 4">
            <a:extLst>
              <a:ext uri="{FF2B5EF4-FFF2-40B4-BE49-F238E27FC236}">
                <a16:creationId xmlns:a16="http://schemas.microsoft.com/office/drawing/2014/main" id="{6E2A7931-D2CE-F02B-0188-AB2F1CB5DBAD}"/>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6" name="Marcador de pie de página 5">
            <a:extLst>
              <a:ext uri="{FF2B5EF4-FFF2-40B4-BE49-F238E27FC236}">
                <a16:creationId xmlns:a16="http://schemas.microsoft.com/office/drawing/2014/main" id="{AA42FFB7-7346-C1C1-2384-19BD1A6A2CE3}"/>
              </a:ext>
            </a:extLst>
          </p:cNvPr>
          <p:cNvSpPr>
            <a:spLocks noGrp="1"/>
          </p:cNvSpPr>
          <p:nvPr>
            <p:ph type="ftr" sz="quarter" idx="11"/>
          </p:nvPr>
        </p:nvSpPr>
        <p:spPr/>
        <p:txBody>
          <a:bodyPr/>
          <a:lstStyle/>
          <a:p>
            <a:endParaRPr lang="es-VE" dirty="0"/>
          </a:p>
        </p:txBody>
      </p:sp>
      <p:sp>
        <p:nvSpPr>
          <p:cNvPr id="7" name="Marcador de número de diapositiva 6">
            <a:extLst>
              <a:ext uri="{FF2B5EF4-FFF2-40B4-BE49-F238E27FC236}">
                <a16:creationId xmlns:a16="http://schemas.microsoft.com/office/drawing/2014/main" id="{FF305443-163F-A41E-AF59-62389C861864}"/>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1083863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ECCE6A-538C-D7E5-56B2-FA93F80A0215}"/>
              </a:ext>
            </a:extLst>
          </p:cNvPr>
          <p:cNvSpPr>
            <a:spLocks noGrp="1"/>
          </p:cNvSpPr>
          <p:nvPr>
            <p:ph type="title"/>
          </p:nvPr>
        </p:nvSpPr>
        <p:spPr>
          <a:xfrm>
            <a:off x="629841" y="457200"/>
            <a:ext cx="2949178" cy="1600200"/>
          </a:xfrm>
        </p:spPr>
        <p:txBody>
          <a:bodyPr anchor="b"/>
          <a:lstStyle>
            <a:lvl1pPr>
              <a:defRPr sz="2400"/>
            </a:lvl1pPr>
          </a:lstStyle>
          <a:p>
            <a:r>
              <a:rPr lang="es-ES" smtClean="0"/>
              <a:t>Haga clic para modificar el estilo de título del patrón</a:t>
            </a:r>
            <a:endParaRPr lang="es-VE"/>
          </a:p>
        </p:txBody>
      </p:sp>
      <p:sp>
        <p:nvSpPr>
          <p:cNvPr id="3" name="Marcador de posición de imagen 2">
            <a:extLst>
              <a:ext uri="{FF2B5EF4-FFF2-40B4-BE49-F238E27FC236}">
                <a16:creationId xmlns:a16="http://schemas.microsoft.com/office/drawing/2014/main" id="{F366D8AD-6D05-AEEC-32EA-93ACAF0B1F6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dirty="0" smtClean="0"/>
              <a:t>Haga clic en el icono para agregar una imagen</a:t>
            </a:r>
            <a:endParaRPr lang="es-VE" dirty="0"/>
          </a:p>
        </p:txBody>
      </p:sp>
      <p:sp>
        <p:nvSpPr>
          <p:cNvPr id="4" name="Marcador de texto 3">
            <a:extLst>
              <a:ext uri="{FF2B5EF4-FFF2-40B4-BE49-F238E27FC236}">
                <a16:creationId xmlns:a16="http://schemas.microsoft.com/office/drawing/2014/main" id="{41CFC213-CC5C-580F-8640-76F7CC98B14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Marcador de fecha 4">
            <a:extLst>
              <a:ext uri="{FF2B5EF4-FFF2-40B4-BE49-F238E27FC236}">
                <a16:creationId xmlns:a16="http://schemas.microsoft.com/office/drawing/2014/main" id="{44B96481-030D-7069-A7D0-4F436ACE7D8A}"/>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6" name="Marcador de pie de página 5">
            <a:extLst>
              <a:ext uri="{FF2B5EF4-FFF2-40B4-BE49-F238E27FC236}">
                <a16:creationId xmlns:a16="http://schemas.microsoft.com/office/drawing/2014/main" id="{EB94E785-A55C-0853-485B-0527B89F47CD}"/>
              </a:ext>
            </a:extLst>
          </p:cNvPr>
          <p:cNvSpPr>
            <a:spLocks noGrp="1"/>
          </p:cNvSpPr>
          <p:nvPr>
            <p:ph type="ftr" sz="quarter" idx="11"/>
          </p:nvPr>
        </p:nvSpPr>
        <p:spPr/>
        <p:txBody>
          <a:bodyPr/>
          <a:lstStyle/>
          <a:p>
            <a:endParaRPr lang="es-VE" dirty="0"/>
          </a:p>
        </p:txBody>
      </p:sp>
      <p:sp>
        <p:nvSpPr>
          <p:cNvPr id="7" name="Marcador de número de diapositiva 6">
            <a:extLst>
              <a:ext uri="{FF2B5EF4-FFF2-40B4-BE49-F238E27FC236}">
                <a16:creationId xmlns:a16="http://schemas.microsoft.com/office/drawing/2014/main" id="{768BAC42-5306-29B8-59B8-BF498A506E84}"/>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1824165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88FB3C-1DD1-97D7-F3D3-82DE3159BB84}"/>
              </a:ext>
            </a:extLst>
          </p:cNvPr>
          <p:cNvSpPr>
            <a:spLocks noGrp="1"/>
          </p:cNvSpPr>
          <p:nvPr>
            <p:ph type="title"/>
          </p:nvPr>
        </p:nvSpPr>
        <p:spPr/>
        <p:txBody>
          <a:bodyPr/>
          <a:lstStyle/>
          <a:p>
            <a:r>
              <a:rPr lang="es-ES" smtClean="0"/>
              <a:t>Haga clic para modificar el estilo de título del patrón</a:t>
            </a:r>
            <a:endParaRPr lang="es-VE"/>
          </a:p>
        </p:txBody>
      </p:sp>
      <p:sp>
        <p:nvSpPr>
          <p:cNvPr id="3" name="Marcador de texto vertical 2">
            <a:extLst>
              <a:ext uri="{FF2B5EF4-FFF2-40B4-BE49-F238E27FC236}">
                <a16:creationId xmlns:a16="http://schemas.microsoft.com/office/drawing/2014/main" id="{380300DA-8D9F-BFD7-D93F-0B9C95D11F37}"/>
              </a:ext>
            </a:extLst>
          </p:cNvPr>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fecha 3">
            <a:extLst>
              <a:ext uri="{FF2B5EF4-FFF2-40B4-BE49-F238E27FC236}">
                <a16:creationId xmlns:a16="http://schemas.microsoft.com/office/drawing/2014/main" id="{424A6390-A069-7AC2-E8EE-DA084DCEB4F0}"/>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5" name="Marcador de pie de página 4">
            <a:extLst>
              <a:ext uri="{FF2B5EF4-FFF2-40B4-BE49-F238E27FC236}">
                <a16:creationId xmlns:a16="http://schemas.microsoft.com/office/drawing/2014/main" id="{A4A5FFDF-4808-8459-79A4-5D3383DC2091}"/>
              </a:ext>
            </a:extLst>
          </p:cNvPr>
          <p:cNvSpPr>
            <a:spLocks noGrp="1"/>
          </p:cNvSpPr>
          <p:nvPr>
            <p:ph type="ftr" sz="quarter" idx="11"/>
          </p:nvPr>
        </p:nvSpPr>
        <p:spPr/>
        <p:txBody>
          <a:bodyPr/>
          <a:lstStyle/>
          <a:p>
            <a:endParaRPr lang="es-VE" dirty="0"/>
          </a:p>
        </p:txBody>
      </p:sp>
      <p:sp>
        <p:nvSpPr>
          <p:cNvPr id="6" name="Marcador de número de diapositiva 5">
            <a:extLst>
              <a:ext uri="{FF2B5EF4-FFF2-40B4-BE49-F238E27FC236}">
                <a16:creationId xmlns:a16="http://schemas.microsoft.com/office/drawing/2014/main" id="{97470D75-5DB2-94DF-5B67-A7FDE4CF63C8}"/>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2784141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8FFD3D8-520A-09D3-81F8-06C36F901A01}"/>
              </a:ext>
            </a:extLst>
          </p:cNvPr>
          <p:cNvSpPr>
            <a:spLocks noGrp="1"/>
          </p:cNvSpPr>
          <p:nvPr>
            <p:ph type="title" orient="vert"/>
          </p:nvPr>
        </p:nvSpPr>
        <p:spPr>
          <a:xfrm>
            <a:off x="6543675" y="365125"/>
            <a:ext cx="1971675" cy="5811838"/>
          </a:xfrm>
        </p:spPr>
        <p:txBody>
          <a:bodyPr vert="eaVert"/>
          <a:lstStyle/>
          <a:p>
            <a:r>
              <a:rPr lang="es-ES" smtClean="0"/>
              <a:t>Haga clic para modificar el estilo de título del patrón</a:t>
            </a:r>
            <a:endParaRPr lang="es-VE"/>
          </a:p>
        </p:txBody>
      </p:sp>
      <p:sp>
        <p:nvSpPr>
          <p:cNvPr id="3" name="Marcador de texto vertical 2">
            <a:extLst>
              <a:ext uri="{FF2B5EF4-FFF2-40B4-BE49-F238E27FC236}">
                <a16:creationId xmlns:a16="http://schemas.microsoft.com/office/drawing/2014/main" id="{B22C14C5-ED69-1B4B-906B-4CF7FE71DC86}"/>
              </a:ext>
            </a:extLst>
          </p:cNvPr>
          <p:cNvSpPr>
            <a:spLocks noGrp="1"/>
          </p:cNvSpPr>
          <p:nvPr>
            <p:ph type="body" orient="vert" idx="1"/>
          </p:nvPr>
        </p:nvSpPr>
        <p:spPr>
          <a:xfrm>
            <a:off x="628650" y="365125"/>
            <a:ext cx="5800725"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VE"/>
          </a:p>
        </p:txBody>
      </p:sp>
      <p:sp>
        <p:nvSpPr>
          <p:cNvPr id="4" name="Marcador de fecha 3">
            <a:extLst>
              <a:ext uri="{FF2B5EF4-FFF2-40B4-BE49-F238E27FC236}">
                <a16:creationId xmlns:a16="http://schemas.microsoft.com/office/drawing/2014/main" id="{4F75F89A-6CBB-9242-F216-95FF3B09022B}"/>
              </a:ext>
            </a:extLst>
          </p:cNvPr>
          <p:cNvSpPr>
            <a:spLocks noGrp="1"/>
          </p:cNvSpPr>
          <p:nvPr>
            <p:ph type="dt" sz="half" idx="10"/>
          </p:nvPr>
        </p:nvSpPr>
        <p:spPr/>
        <p:txBody>
          <a:bodyPr/>
          <a:lstStyle/>
          <a:p>
            <a:fld id="{6DF63EF0-67A6-4A1E-8BB4-73D322D6E11D}" type="datetimeFigureOut">
              <a:rPr lang="es-VE" smtClean="0"/>
              <a:pPr/>
              <a:t>21/12/2023</a:t>
            </a:fld>
            <a:endParaRPr lang="es-VE" dirty="0"/>
          </a:p>
        </p:txBody>
      </p:sp>
      <p:sp>
        <p:nvSpPr>
          <p:cNvPr id="5" name="Marcador de pie de página 4">
            <a:extLst>
              <a:ext uri="{FF2B5EF4-FFF2-40B4-BE49-F238E27FC236}">
                <a16:creationId xmlns:a16="http://schemas.microsoft.com/office/drawing/2014/main" id="{C4A7D410-8108-358C-82E2-4F28D0C758A0}"/>
              </a:ext>
            </a:extLst>
          </p:cNvPr>
          <p:cNvSpPr>
            <a:spLocks noGrp="1"/>
          </p:cNvSpPr>
          <p:nvPr>
            <p:ph type="ftr" sz="quarter" idx="11"/>
          </p:nvPr>
        </p:nvSpPr>
        <p:spPr/>
        <p:txBody>
          <a:bodyPr/>
          <a:lstStyle/>
          <a:p>
            <a:endParaRPr lang="es-VE" dirty="0"/>
          </a:p>
        </p:txBody>
      </p:sp>
      <p:sp>
        <p:nvSpPr>
          <p:cNvPr id="6" name="Marcador de número de diapositiva 5">
            <a:extLst>
              <a:ext uri="{FF2B5EF4-FFF2-40B4-BE49-F238E27FC236}">
                <a16:creationId xmlns:a16="http://schemas.microsoft.com/office/drawing/2014/main" id="{7B77523B-0D23-D852-558C-DB6A06C85241}"/>
              </a:ext>
            </a:extLst>
          </p:cNvPr>
          <p:cNvSpPr>
            <a:spLocks noGrp="1"/>
          </p:cNvSpPr>
          <p:nvPr>
            <p:ph type="sldNum" sz="quarter" idx="12"/>
          </p:nvPr>
        </p:nvSpPr>
        <p:spPr/>
        <p:txBody>
          <a:body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26275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43000">
              <a:schemeClr val="accent2">
                <a:lumMod val="0"/>
                <a:lumOff val="100000"/>
              </a:schemeClr>
            </a:gs>
            <a:gs pos="100000">
              <a:srgbClr val="72CFFA"/>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018514E-DEE6-5DF2-43CC-4FA13C3D0E2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MX"/>
              <a:t>Haz clic para modificar el estilo de título del patrón</a:t>
            </a:r>
            <a:endParaRPr lang="es-VE"/>
          </a:p>
        </p:txBody>
      </p:sp>
      <p:sp>
        <p:nvSpPr>
          <p:cNvPr id="3" name="Marcador de texto 2">
            <a:extLst>
              <a:ext uri="{FF2B5EF4-FFF2-40B4-BE49-F238E27FC236}">
                <a16:creationId xmlns:a16="http://schemas.microsoft.com/office/drawing/2014/main" id="{5A612245-5EC6-48D0-A51F-310FC041B05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VE"/>
          </a:p>
        </p:txBody>
      </p:sp>
      <p:sp>
        <p:nvSpPr>
          <p:cNvPr id="4" name="Marcador de fecha 3">
            <a:extLst>
              <a:ext uri="{FF2B5EF4-FFF2-40B4-BE49-F238E27FC236}">
                <a16:creationId xmlns:a16="http://schemas.microsoft.com/office/drawing/2014/main" id="{B3E79396-08C5-D630-7F18-F78091B9C22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DF63EF0-67A6-4A1E-8BB4-73D322D6E11D}" type="datetimeFigureOut">
              <a:rPr lang="es-VE" smtClean="0"/>
              <a:pPr/>
              <a:t>21/12/2023</a:t>
            </a:fld>
            <a:endParaRPr lang="es-VE" dirty="0"/>
          </a:p>
        </p:txBody>
      </p:sp>
      <p:sp>
        <p:nvSpPr>
          <p:cNvPr id="5" name="Marcador de pie de página 4">
            <a:extLst>
              <a:ext uri="{FF2B5EF4-FFF2-40B4-BE49-F238E27FC236}">
                <a16:creationId xmlns:a16="http://schemas.microsoft.com/office/drawing/2014/main" id="{449D00CB-3B3F-CAF3-3B67-EBFA0F1E90C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VE" dirty="0"/>
          </a:p>
        </p:txBody>
      </p:sp>
      <p:sp>
        <p:nvSpPr>
          <p:cNvPr id="6" name="Marcador de número de diapositiva 5">
            <a:extLst>
              <a:ext uri="{FF2B5EF4-FFF2-40B4-BE49-F238E27FC236}">
                <a16:creationId xmlns:a16="http://schemas.microsoft.com/office/drawing/2014/main" id="{832453EB-4ED4-428F-95EE-D23503EC722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2D7876-AFE7-4965-B7AA-CF03916C5538}" type="slidenum">
              <a:rPr lang="es-VE" smtClean="0"/>
              <a:pPr/>
              <a:t>‹Nº›</a:t>
            </a:fld>
            <a:endParaRPr lang="es-VE" dirty="0"/>
          </a:p>
        </p:txBody>
      </p:sp>
    </p:spTree>
    <p:extLst>
      <p:ext uri="{BB962C8B-B14F-4D97-AF65-F5344CB8AC3E}">
        <p14:creationId xmlns:p14="http://schemas.microsoft.com/office/powerpoint/2010/main" val="11200387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V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6.wmf"/><Relationship Id="rId4"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966132" cy="1949623"/>
          </a:xfrm>
          <a:prstGeom prst="rect">
            <a:avLst/>
          </a:prstGeom>
        </p:spPr>
      </p:pic>
      <p:pic>
        <p:nvPicPr>
          <p:cNvPr id="7" name="8 Imagen" descr="C:\Users\contablidad\Downloads\9be860_prevencion-de-legitimacion-de-capitales_w688.jpg">
            <a:extLst>
              <a:ext uri="{FF2B5EF4-FFF2-40B4-BE49-F238E27FC236}">
                <a16:creationId xmlns:a16="http://schemas.microsoft.com/office/drawing/2014/main" id="{1A6CE49E-3ECF-2AA7-212A-8EB561AB12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2159" y="1"/>
            <a:ext cx="3158917" cy="1556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8 Rectángulo"/>
          <p:cNvSpPr/>
          <p:nvPr/>
        </p:nvSpPr>
        <p:spPr>
          <a:xfrm>
            <a:off x="-9796" y="3807263"/>
            <a:ext cx="9171076" cy="1508105"/>
          </a:xfrm>
          <a:prstGeom prst="rect">
            <a:avLst/>
          </a:prstGeom>
        </p:spPr>
        <p:txBody>
          <a:bodyPr wrap="square">
            <a:spAutoFit/>
          </a:bodyPr>
          <a:lstStyle/>
          <a:p>
            <a:pPr algn="ctr"/>
            <a:r>
              <a:rPr lang="es-VE" sz="6000" b="1" dirty="0" smtClean="0">
                <a:solidFill>
                  <a:srgbClr val="002060"/>
                </a:solidFill>
                <a:latin typeface="Microsoft Sans Serif" panose="020B0604020202020204" pitchFamily="34" charset="0"/>
                <a:cs typeface="Microsoft Sans Serif" panose="020B0604020202020204" pitchFamily="34" charset="0"/>
              </a:rPr>
              <a:t>CODIGO DE ÈTICA</a:t>
            </a:r>
          </a:p>
          <a:p>
            <a:pPr algn="ctr"/>
            <a:r>
              <a:rPr lang="es-VE" sz="3200" b="1" dirty="0" smtClean="0">
                <a:solidFill>
                  <a:srgbClr val="002060"/>
                </a:solidFill>
                <a:latin typeface="Microsoft Sans Serif" panose="020B0604020202020204" pitchFamily="34" charset="0"/>
                <a:cs typeface="Microsoft Sans Serif" panose="020B0604020202020204" pitchFamily="34" charset="0"/>
              </a:rPr>
              <a:t>CLINISALUD MEDICINA PREPAGADA S.A. </a:t>
            </a:r>
            <a:endParaRPr lang="es-VE" sz="3200" b="1" dirty="0">
              <a:solidFill>
                <a:srgbClr val="002060"/>
              </a:solidFill>
              <a:latin typeface="Microsoft Sans Serif" panose="020B0604020202020204" pitchFamily="34" charset="0"/>
              <a:cs typeface="Microsoft Sans Serif" panose="020B0604020202020204" pitchFamily="34" charset="0"/>
            </a:endParaRPr>
          </a:p>
        </p:txBody>
      </p:sp>
      <p:sp>
        <p:nvSpPr>
          <p:cNvPr id="11" name="Rectángulo 10"/>
          <p:cNvSpPr/>
          <p:nvPr/>
        </p:nvSpPr>
        <p:spPr>
          <a:xfrm>
            <a:off x="755576" y="1834428"/>
            <a:ext cx="7764335" cy="1569660"/>
          </a:xfrm>
          <a:prstGeom prst="rect">
            <a:avLst/>
          </a:prstGeom>
        </p:spPr>
        <p:txBody>
          <a:bodyPr wrap="square">
            <a:spAutoFit/>
          </a:bodyPr>
          <a:lstStyle/>
          <a:p>
            <a:pPr algn="just"/>
            <a:r>
              <a:rPr lang="es-VE" sz="2400" b="1" dirty="0" smtClean="0">
                <a:solidFill>
                  <a:srgbClr val="002060"/>
                </a:solidFill>
                <a:latin typeface="Microsoft Sans Serif" panose="020B0604020202020204" pitchFamily="34" charset="0"/>
                <a:cs typeface="Microsoft Sans Serif" panose="020B0604020202020204" pitchFamily="34" charset="0"/>
              </a:rPr>
              <a:t>UNIDAD DE PREVENCION DE LEGITIMACION </a:t>
            </a:r>
            <a:r>
              <a:rPr lang="es-VE" sz="2400" b="1" dirty="0">
                <a:solidFill>
                  <a:srgbClr val="002060"/>
                </a:solidFill>
                <a:latin typeface="Microsoft Sans Serif" panose="020B0604020202020204" pitchFamily="34" charset="0"/>
                <a:cs typeface="Microsoft Sans Serif" panose="020B0604020202020204" pitchFamily="34" charset="0"/>
              </a:rPr>
              <a:t>DE CAPITALES, FINANCIAMIENTO AL TERRORISMO Y FINANCIAMIENTO A LA PROLIFERACION DE ARMAS DE DESTRUCCION </a:t>
            </a:r>
            <a:r>
              <a:rPr lang="es-VE" sz="2400" b="1" dirty="0" smtClean="0">
                <a:solidFill>
                  <a:srgbClr val="002060"/>
                </a:solidFill>
                <a:latin typeface="Microsoft Sans Serif" panose="020B0604020202020204" pitchFamily="34" charset="0"/>
                <a:cs typeface="Microsoft Sans Serif" panose="020B0604020202020204" pitchFamily="34" charset="0"/>
              </a:rPr>
              <a:t>MASIVA.  </a:t>
            </a:r>
            <a:endParaRPr lang="es-ES" sz="2400" dirty="0">
              <a:solidFill>
                <a:srgbClr val="002060"/>
              </a:solidFill>
              <a:latin typeface="Microsoft Sans Serif" panose="020B0604020202020204" pitchFamily="34" charset="0"/>
              <a:cs typeface="Microsoft Sans Serif" panose="020B0604020202020204" pitchFamily="34" charset="0"/>
            </a:endParaRPr>
          </a:p>
        </p:txBody>
      </p:sp>
      <p:sp>
        <p:nvSpPr>
          <p:cNvPr id="2" name="Rectángulo 1"/>
          <p:cNvSpPr/>
          <p:nvPr/>
        </p:nvSpPr>
        <p:spPr>
          <a:xfrm>
            <a:off x="4860032" y="5805264"/>
            <a:ext cx="4595418" cy="830997"/>
          </a:xfrm>
          <a:prstGeom prst="rect">
            <a:avLst/>
          </a:prstGeom>
        </p:spPr>
        <p:txBody>
          <a:bodyPr wrap="square">
            <a:spAutoFit/>
          </a:bodyPr>
          <a:lstStyle/>
          <a:p>
            <a:pPr lvl="0" algn="ctr">
              <a:defRPr/>
            </a:pPr>
            <a:r>
              <a:rPr lang="es-VE" sz="2400" b="1" dirty="0">
                <a:solidFill>
                  <a:prstClr val="black"/>
                </a:solidFill>
                <a:latin typeface="Microsoft Sans Serif" panose="020B0604020202020204" pitchFamily="34" charset="0"/>
                <a:cs typeface="Microsoft Sans Serif" panose="020B0604020202020204" pitchFamily="34" charset="0"/>
              </a:rPr>
              <a:t>José Gregorio Rosales</a:t>
            </a:r>
          </a:p>
          <a:p>
            <a:pPr lvl="0" algn="ctr">
              <a:defRPr/>
            </a:pPr>
            <a:r>
              <a:rPr lang="es-VE" sz="2400" b="1" dirty="0">
                <a:solidFill>
                  <a:prstClr val="black"/>
                </a:solidFill>
                <a:latin typeface="Microsoft Sans Serif" panose="020B0604020202020204" pitchFamily="34" charset="0"/>
                <a:cs typeface="Microsoft Sans Serif" panose="020B0604020202020204" pitchFamily="34" charset="0"/>
              </a:rPr>
              <a:t>Oficial de Cumplimiento</a:t>
            </a:r>
          </a:p>
        </p:txBody>
      </p:sp>
      <p:pic>
        <p:nvPicPr>
          <p:cNvPr id="8" name="Picture 2"/>
          <p:cNvPicPr>
            <a:picLocks noChangeAspect="1" noChangeArrowheads="1"/>
          </p:cNvPicPr>
          <p:nvPr/>
        </p:nvPicPr>
        <p:blipFill>
          <a:blip r:embed="rId4" cstate="print"/>
          <a:srcRect/>
          <a:stretch>
            <a:fillRect/>
          </a:stretch>
        </p:blipFill>
        <p:spPr bwMode="auto">
          <a:xfrm>
            <a:off x="1943511" y="-1"/>
            <a:ext cx="1143008" cy="1556794"/>
          </a:xfrm>
          <a:prstGeom prst="rect">
            <a:avLst/>
          </a:prstGeom>
          <a:noFill/>
          <a:ln w="9525">
            <a:noFill/>
            <a:miter lim="800000"/>
            <a:headEnd/>
            <a:tailEnd/>
          </a:ln>
          <a:effectLst/>
        </p:spPr>
      </p:pic>
    </p:spTree>
    <p:extLst>
      <p:ext uri="{BB962C8B-B14F-4D97-AF65-F5344CB8AC3E}">
        <p14:creationId xmlns:p14="http://schemas.microsoft.com/office/powerpoint/2010/main" val="42311295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107504" y="2636912"/>
            <a:ext cx="3528392" cy="3384376"/>
          </a:xfrm>
          <a:prstGeom prst="rect">
            <a:avLst/>
          </a:prstGeom>
          <a:noFill/>
          <a:ln w="9525">
            <a:noFill/>
            <a:miter lim="800000"/>
            <a:headEnd/>
            <a:tailEnd/>
          </a:ln>
          <a:effectLst/>
        </p:spPr>
      </p:pic>
      <p:sp>
        <p:nvSpPr>
          <p:cNvPr id="5" name="Rectángulo 4"/>
          <p:cNvSpPr/>
          <p:nvPr/>
        </p:nvSpPr>
        <p:spPr>
          <a:xfrm>
            <a:off x="3851920" y="3068960"/>
            <a:ext cx="4752528" cy="1815882"/>
          </a:xfrm>
          <a:prstGeom prst="rect">
            <a:avLst/>
          </a:prstGeom>
        </p:spPr>
        <p:txBody>
          <a:bodyPr wrap="square">
            <a:spAutoFit/>
          </a:bodyPr>
          <a:lstStyle/>
          <a:p>
            <a:pPr algn="just"/>
            <a:r>
              <a:rPr lang="es-VE" sz="2800" dirty="0" smtClean="0">
                <a:solidFill>
                  <a:srgbClr val="002060"/>
                </a:solidFill>
                <a:latin typeface="Microsoft Sans Serif" panose="020B0604020202020204" pitchFamily="34" charset="0"/>
                <a:cs typeface="Microsoft Sans Serif" panose="020B0604020202020204" pitchFamily="34" charset="0"/>
              </a:rPr>
              <a:t>Instrumento </a:t>
            </a:r>
            <a:r>
              <a:rPr lang="es-VE" sz="2800" dirty="0">
                <a:solidFill>
                  <a:srgbClr val="002060"/>
                </a:solidFill>
                <a:latin typeface="Microsoft Sans Serif" panose="020B0604020202020204" pitchFamily="34" charset="0"/>
                <a:cs typeface="Microsoft Sans Serif" panose="020B0604020202020204" pitchFamily="34" charset="0"/>
              </a:rPr>
              <a:t>que regula la conducta interna de las personas que conforman un sujeto obligado</a:t>
            </a:r>
            <a:r>
              <a:rPr lang="es-VE" dirty="0">
                <a:solidFill>
                  <a:srgbClr val="002060"/>
                </a:solidFill>
              </a:rPr>
              <a:t>.</a:t>
            </a:r>
          </a:p>
        </p:txBody>
      </p:sp>
      <p:pic>
        <p:nvPicPr>
          <p:cNvPr id="6" name="Imagen 3">
            <a:extLst>
              <a:ext uri="{FF2B5EF4-FFF2-40B4-BE49-F238E27FC236}">
                <a16:creationId xmlns:a16="http://schemas.microsoft.com/office/drawing/2014/main" id="{550F80E7-BE42-CF0B-4F68-37EF0052C6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1966132" cy="1949623"/>
          </a:xfrm>
          <a:prstGeom prst="rect">
            <a:avLst/>
          </a:prstGeom>
        </p:spPr>
      </p:pic>
      <p:sp>
        <p:nvSpPr>
          <p:cNvPr id="8" name="Rectángulo 7"/>
          <p:cNvSpPr/>
          <p:nvPr/>
        </p:nvSpPr>
        <p:spPr>
          <a:xfrm>
            <a:off x="1966132" y="513145"/>
            <a:ext cx="6638316" cy="923330"/>
          </a:xfrm>
          <a:prstGeom prst="rect">
            <a:avLst/>
          </a:prstGeom>
        </p:spPr>
        <p:txBody>
          <a:bodyPr wrap="square">
            <a:spAutoFit/>
          </a:bodyPr>
          <a:lstStyle/>
          <a:p>
            <a:pPr lvl="0" algn="ctr"/>
            <a:r>
              <a:rPr lang="es-VE" sz="5400" b="1" dirty="0">
                <a:solidFill>
                  <a:srgbClr val="002060"/>
                </a:solidFill>
                <a:latin typeface="Microsoft Sans Serif" panose="020B0604020202020204" pitchFamily="34" charset="0"/>
                <a:cs typeface="Microsoft Sans Serif" panose="020B0604020202020204" pitchFamily="34" charset="0"/>
              </a:rPr>
              <a:t>CODIGO DE È</a:t>
            </a:r>
            <a:r>
              <a:rPr lang="es-VE" sz="5400" b="1" dirty="0" smtClean="0">
                <a:solidFill>
                  <a:srgbClr val="002060"/>
                </a:solidFill>
                <a:latin typeface="Microsoft Sans Serif" panose="020B0604020202020204" pitchFamily="34" charset="0"/>
                <a:cs typeface="Microsoft Sans Serif" panose="020B0604020202020204" pitchFamily="34" charset="0"/>
              </a:rPr>
              <a:t>TICA</a:t>
            </a:r>
            <a:endParaRPr lang="es-VE" sz="5400" b="1" dirty="0">
              <a:solidFill>
                <a:srgbClr val="002060"/>
              </a:solidFill>
              <a:latin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5716214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3">
            <a:extLst>
              <a:ext uri="{FF2B5EF4-FFF2-40B4-BE49-F238E27FC236}">
                <a16:creationId xmlns:a16="http://schemas.microsoft.com/office/drawing/2014/main" id="{550F80E7-BE42-CF0B-4F68-37EF0052C6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48" y="50454"/>
            <a:ext cx="1956113" cy="1648940"/>
          </a:xfrm>
          <a:prstGeom prst="rect">
            <a:avLst/>
          </a:prstGeom>
        </p:spPr>
      </p:pic>
      <p:sp>
        <p:nvSpPr>
          <p:cNvPr id="7" name="5 Título"/>
          <p:cNvSpPr txBox="1">
            <a:spLocks/>
          </p:cNvSpPr>
          <p:nvPr/>
        </p:nvSpPr>
        <p:spPr>
          <a:xfrm>
            <a:off x="642910" y="1857364"/>
            <a:ext cx="7558086" cy="3857652"/>
          </a:xfrm>
          <a:prstGeom prst="rect">
            <a:avLst/>
          </a:prstGeom>
        </p:spPr>
        <p:txBody>
          <a:bodyPr vert="horz" anchor="b">
            <a:noAutofit/>
            <a:scene3d>
              <a:camera prst="orthographicFront"/>
              <a:lightRig rig="soft" dir="t"/>
            </a:scene3d>
            <a:sp3d prstMaterial="softEdge">
              <a:bevelT w="25400" h="25400"/>
            </a:sp3d>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endParaRPr kumimoji="0" lang="es-VE" sz="1600" b="1" i="0" u="none" strike="noStrike" kern="1200" cap="none" spc="0" normalizeH="0" baseline="0" noProof="0" dirty="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endParaRPr>
          </a:p>
        </p:txBody>
      </p:sp>
      <p:sp>
        <p:nvSpPr>
          <p:cNvPr id="8"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VE" sz="1800" b="0" i="0" u="none" strike="noStrike" kern="0" cap="none" spc="0" normalizeH="0" baseline="0" noProof="0" dirty="0">
              <a:ln>
                <a:noFill/>
              </a:ln>
              <a:solidFill>
                <a:sysClr val="windowText" lastClr="000000"/>
              </a:solidFill>
              <a:effectLst/>
              <a:uLnTx/>
              <a:uFillTx/>
            </a:endParaRPr>
          </a:p>
        </p:txBody>
      </p:sp>
      <p:sp>
        <p:nvSpPr>
          <p:cNvPr id="21" name="CuadroTexto 20"/>
          <p:cNvSpPr txBox="1"/>
          <p:nvPr/>
        </p:nvSpPr>
        <p:spPr>
          <a:xfrm>
            <a:off x="642910" y="2564904"/>
            <a:ext cx="7889530" cy="4062651"/>
          </a:xfrm>
          <a:prstGeom prst="rect">
            <a:avLst/>
          </a:prstGeom>
          <a:noFill/>
        </p:spPr>
        <p:txBody>
          <a:bodyPr wrap="square" rtlCol="0">
            <a:spAutoFit/>
          </a:bodyPr>
          <a:lstStyle/>
          <a:p>
            <a:pPr algn="just"/>
            <a:r>
              <a:rPr lang="es-ES" sz="2000" b="1" dirty="0" smtClean="0">
                <a:solidFill>
                  <a:srgbClr val="002060"/>
                </a:solidFill>
                <a:latin typeface="Microsoft Sans Serif" panose="020B0604020202020204" pitchFamily="34" charset="0"/>
                <a:cs typeface="Microsoft Sans Serif" panose="020B0604020202020204" pitchFamily="34" charset="0"/>
              </a:rPr>
              <a:t>Articulo 42. Código de Ética.</a:t>
            </a:r>
          </a:p>
          <a:p>
            <a:pPr algn="just"/>
            <a:r>
              <a:rPr lang="es-ES" sz="2000" dirty="0" smtClean="0">
                <a:solidFill>
                  <a:srgbClr val="002060"/>
                </a:solidFill>
                <a:latin typeface="Microsoft Sans Serif" panose="020B0604020202020204" pitchFamily="34" charset="0"/>
                <a:cs typeface="Microsoft Sans Serif" panose="020B0604020202020204" pitchFamily="34" charset="0"/>
              </a:rPr>
              <a:t>Los sujetos obligados deben adoptar un Código de  Ética, de carácter general que incluya  los aspectos  concernientes a la administración de riesgos de legitimación de capitales, financiamiento al terrorismo y financiamiento a la  proliferación de armas de destrucción masiva, el cual es de obligatorio conocimiento y cumplimiento para todo su personal; este se  encuentra dirigido a la creación de un clima de valores morales, poniendo en practica medidas encaminadas a aumentar la sensibilidad de su personal ante los riesgos identificados, mediante el establecimiento de criterios que permitan anteponer los principios éticos, en cuanto al lucro e intereses personales.</a:t>
            </a:r>
          </a:p>
          <a:p>
            <a:r>
              <a:rPr lang="es-ES" dirty="0">
                <a:solidFill>
                  <a:srgbClr val="002060"/>
                </a:solidFill>
                <a:latin typeface="Microsoft Sans Serif" panose="020B0604020202020204" pitchFamily="34" charset="0"/>
                <a:cs typeface="Microsoft Sans Serif" panose="020B0604020202020204" pitchFamily="34" charset="0"/>
              </a:rPr>
              <a:t> </a:t>
            </a:r>
          </a:p>
        </p:txBody>
      </p:sp>
      <p:sp>
        <p:nvSpPr>
          <p:cNvPr id="22" name="8 Rectángulo"/>
          <p:cNvSpPr/>
          <p:nvPr/>
        </p:nvSpPr>
        <p:spPr>
          <a:xfrm>
            <a:off x="1187624" y="641624"/>
            <a:ext cx="8136904" cy="923330"/>
          </a:xfrm>
          <a:prstGeom prst="rect">
            <a:avLst/>
          </a:prstGeom>
        </p:spPr>
        <p:txBody>
          <a:bodyPr wrap="square">
            <a:spAutoFit/>
          </a:bodyPr>
          <a:lstStyle/>
          <a:p>
            <a:pPr algn="ctr"/>
            <a:r>
              <a:rPr lang="es-VE" sz="5400" b="1" dirty="0" smtClean="0">
                <a:solidFill>
                  <a:srgbClr val="002060"/>
                </a:solidFill>
                <a:latin typeface="Microsoft Sans Serif" panose="020B0604020202020204" pitchFamily="34" charset="0"/>
                <a:cs typeface="Microsoft Sans Serif" panose="020B0604020202020204" pitchFamily="34" charset="0"/>
              </a:rPr>
              <a:t>CODIGO DE ÈTICA</a:t>
            </a:r>
            <a:endParaRPr lang="es-VE" sz="5400" b="1" dirty="0">
              <a:solidFill>
                <a:srgbClr val="002060"/>
              </a:solidFill>
              <a:latin typeface="Microsoft Sans Serif" panose="020B0604020202020204" pitchFamily="34" charset="0"/>
              <a:cs typeface="Microsoft Sans Serif" panose="020B0604020202020204" pitchFamily="34" charset="0"/>
            </a:endParaRPr>
          </a:p>
        </p:txBody>
      </p:sp>
      <p:sp>
        <p:nvSpPr>
          <p:cNvPr id="23" name="Rectángulo 22"/>
          <p:cNvSpPr/>
          <p:nvPr/>
        </p:nvSpPr>
        <p:spPr>
          <a:xfrm>
            <a:off x="642910" y="1886194"/>
            <a:ext cx="3017173" cy="369332"/>
          </a:xfrm>
          <a:prstGeom prst="rect">
            <a:avLst/>
          </a:prstGeom>
        </p:spPr>
        <p:txBody>
          <a:bodyPr wrap="none">
            <a:spAutoFit/>
          </a:bodyPr>
          <a:lstStyle/>
          <a:p>
            <a:r>
              <a:rPr lang="es-ES" b="1" dirty="0">
                <a:solidFill>
                  <a:srgbClr val="002060"/>
                </a:solidFill>
                <a:latin typeface="Microsoft Sans Serif" panose="020B0604020202020204" pitchFamily="34" charset="0"/>
                <a:cs typeface="Microsoft Sans Serif" panose="020B0604020202020204" pitchFamily="34" charset="0"/>
              </a:rPr>
              <a:t>Normativa SAA-8-004-2021</a:t>
            </a:r>
            <a:endParaRPr lang="es-ES"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48" y="50454"/>
            <a:ext cx="1956113" cy="1648940"/>
          </a:xfrm>
          <a:prstGeom prst="rect">
            <a:avLst/>
          </a:prstGeom>
        </p:spPr>
      </p:pic>
      <p:sp>
        <p:nvSpPr>
          <p:cNvPr id="3" name="5 Título"/>
          <p:cNvSpPr txBox="1">
            <a:spLocks/>
          </p:cNvSpPr>
          <p:nvPr/>
        </p:nvSpPr>
        <p:spPr>
          <a:xfrm>
            <a:off x="642910" y="1857364"/>
            <a:ext cx="7889530" cy="3857652"/>
          </a:xfrm>
          <a:prstGeom prst="rect">
            <a:avLst/>
          </a:prstGeom>
        </p:spPr>
        <p:txBody>
          <a:bodyPr vert="horz" anchor="b">
            <a:noAutofit/>
            <a:scene3d>
              <a:camera prst="orthographicFront"/>
              <a:lightRig rig="soft" dir="t"/>
            </a:scene3d>
            <a:sp3d prstMaterial="softEdge">
              <a:bevelT w="25400" h="25400"/>
            </a:sp3d>
          </a:bodyPr>
          <a:lstStyle/>
          <a:p>
            <a:pPr marL="0" marR="0" lvl="0" indent="0" algn="just" defTabSz="914400" rtl="0" eaLnBrk="1" fontAlgn="auto" latinLnBrk="0" hangingPunct="1">
              <a:lnSpc>
                <a:spcPct val="100000"/>
              </a:lnSpc>
              <a:spcBef>
                <a:spcPct val="0"/>
              </a:spcBef>
              <a:spcAft>
                <a:spcPts val="0"/>
              </a:spcAft>
              <a:buClrTx/>
              <a:buSzTx/>
              <a:buFontTx/>
              <a:buNone/>
              <a:tabLst/>
              <a:defRPr/>
            </a:pPr>
            <a: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20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t/>
            </a:r>
            <a:br>
              <a:rPr kumimoji="0" lang="es-VE" sz="1600" b="1" i="0" u="none" strike="noStrike" kern="1200" cap="none" spc="0" normalizeH="0" baseline="0" noProof="0" dirty="0" smtClean="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rPr>
            </a:br>
            <a:endParaRPr kumimoji="0" lang="es-VE" sz="1600" b="1" i="0" u="none" strike="noStrike" kern="1200" cap="none" spc="0" normalizeH="0" baseline="0" noProof="0" dirty="0">
              <a:ln>
                <a:noFill/>
              </a:ln>
              <a:solidFill>
                <a:srgbClr val="464646"/>
              </a:solidFill>
              <a:effectLst>
                <a:outerShdw blurRad="31750" dist="25400" dir="5400000" algn="tl" rotWithShape="0">
                  <a:srgbClr val="000000">
                    <a:alpha val="25000"/>
                  </a:srgbClr>
                </a:outerShdw>
              </a:effectLst>
              <a:uLnTx/>
              <a:uFillTx/>
              <a:latin typeface="Lucida Sans Unicode"/>
              <a:ea typeface="+mj-ea"/>
              <a:cs typeface="+mj-cs"/>
            </a:endParaRPr>
          </a:p>
        </p:txBody>
      </p:sp>
      <p:sp>
        <p:nvSpPr>
          <p:cNvPr id="4" name="AutoShape 6" descr="Superintendencia de la Actividad Aseguradora | Carac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VE" sz="1800" b="0" i="0" u="none" strike="noStrike" kern="0" cap="none" spc="0" normalizeH="0" baseline="0" noProof="0" dirty="0">
              <a:ln>
                <a:noFill/>
              </a:ln>
              <a:solidFill>
                <a:sysClr val="windowText" lastClr="000000"/>
              </a:solidFill>
              <a:effectLst/>
              <a:uLnTx/>
              <a:uFillTx/>
            </a:endParaRPr>
          </a:p>
        </p:txBody>
      </p:sp>
      <p:sp>
        <p:nvSpPr>
          <p:cNvPr id="5" name="CuadroTexto 4"/>
          <p:cNvSpPr txBox="1"/>
          <p:nvPr/>
        </p:nvSpPr>
        <p:spPr>
          <a:xfrm>
            <a:off x="460375" y="2564904"/>
            <a:ext cx="8019948" cy="3447098"/>
          </a:xfrm>
          <a:prstGeom prst="rect">
            <a:avLst/>
          </a:prstGeom>
          <a:noFill/>
        </p:spPr>
        <p:txBody>
          <a:bodyPr wrap="square" rtlCol="0">
            <a:spAutoFit/>
          </a:bodyPr>
          <a:lstStyle/>
          <a:p>
            <a:pPr algn="just"/>
            <a:r>
              <a:rPr lang="es-ES" sz="2000" b="1" dirty="0" smtClean="0">
                <a:solidFill>
                  <a:srgbClr val="002060"/>
                </a:solidFill>
                <a:latin typeface="Microsoft Sans Serif" panose="020B0604020202020204" pitchFamily="34" charset="0"/>
                <a:cs typeface="Microsoft Sans Serif" panose="020B0604020202020204" pitchFamily="34" charset="0"/>
              </a:rPr>
              <a:t>Articulo 43. Aprobación.</a:t>
            </a:r>
          </a:p>
          <a:p>
            <a:pPr algn="just"/>
            <a:r>
              <a:rPr lang="es-ES" dirty="0" smtClean="0">
                <a:solidFill>
                  <a:srgbClr val="002060"/>
                </a:solidFill>
                <a:latin typeface="Microsoft Sans Serif" panose="020B0604020202020204" pitchFamily="34" charset="0"/>
                <a:cs typeface="Microsoft Sans Serif" panose="020B0604020202020204" pitchFamily="34" charset="0"/>
              </a:rPr>
              <a:t>El código de ética será aprobado y suscrito por la Junta Directiva o el órgano que ejerza función equivalente, debiendo encontrarse a disposición de la Superintendencia de la Actividad Aseguradora. </a:t>
            </a:r>
          </a:p>
          <a:p>
            <a:pPr algn="just"/>
            <a:endParaRPr lang="es-ES" dirty="0">
              <a:solidFill>
                <a:srgbClr val="002060"/>
              </a:solidFill>
              <a:latin typeface="Microsoft Sans Serif" panose="020B0604020202020204" pitchFamily="34" charset="0"/>
              <a:cs typeface="Microsoft Sans Serif" panose="020B0604020202020204" pitchFamily="34" charset="0"/>
            </a:endParaRPr>
          </a:p>
          <a:p>
            <a:pPr algn="just"/>
            <a:r>
              <a:rPr lang="es-ES" b="1" dirty="0" smtClean="0">
                <a:solidFill>
                  <a:srgbClr val="002060"/>
                </a:solidFill>
                <a:latin typeface="Microsoft Sans Serif" panose="020B0604020202020204" pitchFamily="34" charset="0"/>
                <a:cs typeface="Microsoft Sans Serif" panose="020B0604020202020204" pitchFamily="34" charset="0"/>
              </a:rPr>
              <a:t>Articulo 44. Cumplimiento.</a:t>
            </a:r>
          </a:p>
          <a:p>
            <a:pPr algn="just"/>
            <a:r>
              <a:rPr lang="es-ES" dirty="0" smtClean="0">
                <a:solidFill>
                  <a:srgbClr val="002060"/>
                </a:solidFill>
                <a:latin typeface="Microsoft Sans Serif" panose="020B0604020202020204" pitchFamily="34" charset="0"/>
                <a:cs typeface="Microsoft Sans Serif" panose="020B0604020202020204" pitchFamily="34" charset="0"/>
              </a:rPr>
              <a:t>El Oficial de Cumplimiento, la Gerencia de talento Humano o dependencia que ejerza función equivalente y los supervisores  de todos lo niveles, son garantes de la difusión y cumplimiento del contenido del Código de Ética, de manera que actúen bajo sus postulados; a tal efecto, deben entregar un ejemplar del mismo en formato digital o físico a todos sus empleados, dejando estos constancia de haberlo recibido en su expediente de personal.</a:t>
            </a:r>
            <a:endParaRPr lang="es-ES" dirty="0">
              <a:solidFill>
                <a:srgbClr val="002060"/>
              </a:solidFill>
              <a:latin typeface="Microsoft Sans Serif" panose="020B0604020202020204" pitchFamily="34" charset="0"/>
              <a:cs typeface="Microsoft Sans Serif" panose="020B0604020202020204" pitchFamily="34" charset="0"/>
            </a:endParaRPr>
          </a:p>
        </p:txBody>
      </p:sp>
      <p:sp>
        <p:nvSpPr>
          <p:cNvPr id="6" name="8 Rectángulo"/>
          <p:cNvSpPr/>
          <p:nvPr/>
        </p:nvSpPr>
        <p:spPr>
          <a:xfrm>
            <a:off x="1187624" y="641624"/>
            <a:ext cx="8136904" cy="923330"/>
          </a:xfrm>
          <a:prstGeom prst="rect">
            <a:avLst/>
          </a:prstGeom>
        </p:spPr>
        <p:txBody>
          <a:bodyPr wrap="square">
            <a:spAutoFit/>
          </a:bodyPr>
          <a:lstStyle/>
          <a:p>
            <a:pPr algn="ctr"/>
            <a:r>
              <a:rPr lang="es-VE" sz="5400" b="1" dirty="0" smtClean="0">
                <a:solidFill>
                  <a:srgbClr val="002060"/>
                </a:solidFill>
                <a:latin typeface="Microsoft Sans Serif" panose="020B0604020202020204" pitchFamily="34" charset="0"/>
                <a:cs typeface="Microsoft Sans Serif" panose="020B0604020202020204" pitchFamily="34" charset="0"/>
              </a:rPr>
              <a:t>CODIGO DE ÈTICA</a:t>
            </a:r>
            <a:endParaRPr lang="es-VE" sz="5400" b="1" dirty="0">
              <a:solidFill>
                <a:srgbClr val="002060"/>
              </a:solidFill>
              <a:latin typeface="Microsoft Sans Serif" panose="020B0604020202020204" pitchFamily="34" charset="0"/>
              <a:cs typeface="Microsoft Sans Serif" panose="020B0604020202020204" pitchFamily="34" charset="0"/>
            </a:endParaRPr>
          </a:p>
        </p:txBody>
      </p:sp>
      <p:sp>
        <p:nvSpPr>
          <p:cNvPr id="7" name="Rectángulo 6"/>
          <p:cNvSpPr/>
          <p:nvPr/>
        </p:nvSpPr>
        <p:spPr>
          <a:xfrm>
            <a:off x="642910" y="1886194"/>
            <a:ext cx="3017173" cy="369332"/>
          </a:xfrm>
          <a:prstGeom prst="rect">
            <a:avLst/>
          </a:prstGeom>
        </p:spPr>
        <p:txBody>
          <a:bodyPr wrap="none">
            <a:spAutoFit/>
          </a:bodyPr>
          <a:lstStyle/>
          <a:p>
            <a:r>
              <a:rPr lang="es-ES" b="1" dirty="0">
                <a:solidFill>
                  <a:srgbClr val="002060"/>
                </a:solidFill>
                <a:latin typeface="Microsoft Sans Serif" panose="020B0604020202020204" pitchFamily="34" charset="0"/>
                <a:cs typeface="Microsoft Sans Serif" panose="020B0604020202020204" pitchFamily="34" charset="0"/>
              </a:rPr>
              <a:t>Normativa SAA-8-004-2021</a:t>
            </a:r>
            <a:endParaRPr lang="es-ES" b="1" dirty="0"/>
          </a:p>
        </p:txBody>
      </p:sp>
    </p:spTree>
    <p:extLst>
      <p:ext uri="{BB962C8B-B14F-4D97-AF65-F5344CB8AC3E}">
        <p14:creationId xmlns:p14="http://schemas.microsoft.com/office/powerpoint/2010/main" val="18734579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56113" cy="1643050"/>
          </a:xfrm>
          <a:prstGeom prst="rect">
            <a:avLst/>
          </a:prstGeom>
        </p:spPr>
      </p:pic>
      <p:sp>
        <p:nvSpPr>
          <p:cNvPr id="9" name="Rectángulo 8"/>
          <p:cNvSpPr/>
          <p:nvPr/>
        </p:nvSpPr>
        <p:spPr>
          <a:xfrm>
            <a:off x="539552" y="1637390"/>
            <a:ext cx="7920880" cy="4514569"/>
          </a:xfrm>
          <a:prstGeom prst="rect">
            <a:avLst/>
          </a:prstGeom>
        </p:spPr>
        <p:txBody>
          <a:bodyPr wrap="square">
            <a:spAutoFit/>
          </a:bodyPr>
          <a:lstStyle/>
          <a:p>
            <a:pPr algn="ctr">
              <a:lnSpc>
                <a:spcPct val="115000"/>
              </a:lnSpc>
              <a:spcBef>
                <a:spcPts val="800"/>
              </a:spcBef>
              <a:spcAft>
                <a:spcPts val="800"/>
              </a:spcAft>
            </a:pPr>
            <a:r>
              <a:rPr lang="es-VE" sz="2000" b="1" dirty="0">
                <a:latin typeface="Microsoft Sans Serif" panose="020B0604020202020204" pitchFamily="34" charset="0"/>
                <a:ea typeface="Calibri" panose="020F0502020204030204" pitchFamily="34" charset="0"/>
                <a:cs typeface="Microsoft Sans Serif" panose="020B0604020202020204" pitchFamily="34" charset="0"/>
              </a:rPr>
              <a:t>INTRODUCCIÓN</a:t>
            </a:r>
            <a:endParaRPr lang="es-ES" sz="2000" dirty="0">
              <a:latin typeface="Microsoft Sans Serif" panose="020B0604020202020204" pitchFamily="34" charset="0"/>
              <a:ea typeface="Calibri" panose="020F0502020204030204" pitchFamily="34" charset="0"/>
              <a:cs typeface="Microsoft Sans Serif" panose="020B0604020202020204" pitchFamily="34" charset="0"/>
            </a:endParaRPr>
          </a:p>
          <a:p>
            <a:pPr algn="just"/>
            <a:r>
              <a:rPr lang="es-VE" sz="2000" dirty="0">
                <a:latin typeface="Microsoft Sans Serif" panose="020B0604020202020204" pitchFamily="34" charset="0"/>
                <a:ea typeface="Calibri" panose="020F0502020204030204" pitchFamily="34" charset="0"/>
                <a:cs typeface="Microsoft Sans Serif" panose="020B0604020202020204" pitchFamily="34" charset="0"/>
              </a:rPr>
              <a:t>El presente Código de Ética tiene como finalidad desarrollar un conjunto de principios de carácter ético, dirigido a los directivos, gerentes, empleados y trabajadores en general de CLINISALUD MEDICINA PREPAGADA, </a:t>
            </a:r>
            <a:r>
              <a:rPr lang="es-VE" sz="2000" dirty="0" smtClean="0">
                <a:latin typeface="Microsoft Sans Serif" panose="020B0604020202020204" pitchFamily="34" charset="0"/>
                <a:ea typeface="Calibri" panose="020F0502020204030204" pitchFamily="34" charset="0"/>
                <a:cs typeface="Microsoft Sans Serif" panose="020B0604020202020204" pitchFamily="34" charset="0"/>
              </a:rPr>
              <a:t>S.A</a:t>
            </a:r>
            <a:r>
              <a:rPr lang="es-VE" sz="2000" dirty="0">
                <a:latin typeface="Microsoft Sans Serif" panose="020B0604020202020204" pitchFamily="34" charset="0"/>
                <a:ea typeface="Calibri" panose="020F0502020204030204" pitchFamily="34" charset="0"/>
                <a:cs typeface="Microsoft Sans Serif" panose="020B0604020202020204" pitchFamily="34" charset="0"/>
              </a:rPr>
              <a:t>, en el cumplimiento de sus responsabilidades cotidianas y las  actividades laborales de la organización, con la finalidad de aumentar la sensibilidad del personal de </a:t>
            </a:r>
            <a:r>
              <a:rPr lang="es-VE" sz="2000" dirty="0">
                <a:latin typeface="Microsoft Sans Serif" panose="020B0604020202020204" pitchFamily="34" charset="0"/>
                <a:cs typeface="Microsoft Sans Serif" panose="020B0604020202020204" pitchFamily="34" charset="0"/>
              </a:rPr>
              <a:t>la organización en la administración de riesgos de legitimación de capitales, financiamiento al terrorismo y financiamiento de la proliferación de armas de destrucción masiva, dirigido a la creación de un clima de valores morales, mediante el establecimiento de criterios que permitan anteponer los principios éticos sobre el lucro e intereses personales.</a:t>
            </a:r>
            <a:endParaRPr lang="es-ES" sz="2000" dirty="0">
              <a:latin typeface="Microsoft Sans Serif" panose="020B0604020202020204" pitchFamily="34" charset="0"/>
              <a:cs typeface="Microsoft Sans Serif" panose="020B0604020202020204" pitchFamily="34" charset="0"/>
            </a:endParaRPr>
          </a:p>
          <a:p>
            <a:pPr algn="just"/>
            <a:endParaRPr lang="es-ES" sz="2000" dirty="0">
              <a:latin typeface="Microsoft Sans Serif" panose="020B060402020202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699" y="96811"/>
            <a:ext cx="2030506" cy="1949623"/>
          </a:xfrm>
          <a:prstGeom prst="rect">
            <a:avLst/>
          </a:prstGeom>
        </p:spPr>
      </p:pic>
      <p:sp>
        <p:nvSpPr>
          <p:cNvPr id="3" name="Rectángulo 2"/>
          <p:cNvSpPr/>
          <p:nvPr/>
        </p:nvSpPr>
        <p:spPr>
          <a:xfrm>
            <a:off x="395536" y="2708920"/>
            <a:ext cx="8208912" cy="1713290"/>
          </a:xfrm>
          <a:prstGeom prst="rect">
            <a:avLst/>
          </a:prstGeom>
        </p:spPr>
        <p:txBody>
          <a:bodyPr wrap="square">
            <a:spAutoFit/>
          </a:bodyPr>
          <a:lstStyle/>
          <a:p>
            <a:pPr algn="ctr">
              <a:lnSpc>
                <a:spcPct val="115000"/>
              </a:lnSpc>
              <a:spcBef>
                <a:spcPts val="800"/>
              </a:spcBef>
              <a:spcAft>
                <a:spcPts val="800"/>
              </a:spcAft>
            </a:pPr>
            <a:r>
              <a:rPr lang="es-VE" sz="4000" b="1" i="1" dirty="0">
                <a:latin typeface="Microsoft Sans Serif" panose="020B0604020202020204" pitchFamily="34" charset="0"/>
                <a:ea typeface="Calibri" panose="020F0502020204030204" pitchFamily="34" charset="0"/>
                <a:cs typeface="Microsoft Sans Serif" panose="020B0604020202020204" pitchFamily="34" charset="0"/>
              </a:rPr>
              <a:t>CAPITULO I</a:t>
            </a:r>
            <a:endParaRPr lang="es-ES" sz="4000" dirty="0">
              <a:latin typeface="Microsoft Sans Serif" panose="020B0604020202020204" pitchFamily="34" charset="0"/>
              <a:ea typeface="Calibri" panose="020F0502020204030204" pitchFamily="34" charset="0"/>
              <a:cs typeface="Microsoft Sans Serif" panose="020B0604020202020204" pitchFamily="34" charset="0"/>
            </a:endParaRPr>
          </a:p>
          <a:p>
            <a:pPr algn="ctr">
              <a:lnSpc>
                <a:spcPct val="115000"/>
              </a:lnSpc>
              <a:spcBef>
                <a:spcPts val="800"/>
              </a:spcBef>
              <a:spcAft>
                <a:spcPts val="800"/>
              </a:spcAft>
            </a:pPr>
            <a:r>
              <a:rPr lang="es-VE" sz="4000" b="1" i="1" dirty="0">
                <a:latin typeface="Microsoft Sans Serif" panose="020B0604020202020204" pitchFamily="34" charset="0"/>
                <a:ea typeface="Calibri" panose="020F0502020204030204" pitchFamily="34" charset="0"/>
                <a:cs typeface="Microsoft Sans Serif" panose="020B0604020202020204" pitchFamily="34" charset="0"/>
              </a:rPr>
              <a:t>DISPOSICIONES GENERALES</a:t>
            </a:r>
            <a:endParaRPr lang="es-ES" sz="4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56113" cy="1949623"/>
          </a:xfrm>
          <a:prstGeom prst="rect">
            <a:avLst/>
          </a:prstGeom>
        </p:spPr>
      </p:pic>
      <p:sp>
        <p:nvSpPr>
          <p:cNvPr id="7" name="Rectángulo 6"/>
          <p:cNvSpPr/>
          <p:nvPr/>
        </p:nvSpPr>
        <p:spPr>
          <a:xfrm>
            <a:off x="467544" y="2274838"/>
            <a:ext cx="8136904" cy="2677656"/>
          </a:xfrm>
          <a:prstGeom prst="rect">
            <a:avLst/>
          </a:prstGeom>
        </p:spPr>
        <p:txBody>
          <a:bodyPr wrap="square">
            <a:spAutoFit/>
          </a:bodyPr>
          <a:lstStyle/>
          <a:p>
            <a:pPr algn="just"/>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1.-</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 El presente Código de Ética es de obligatorio cumplimiento para todos los directivos, gerentes, empleados y demás trabajadores de </a:t>
            </a:r>
            <a:r>
              <a:rPr lang="es-VE" sz="24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 En tal sentido, comprende las conductas esenciales desarrollados por ellos en todo momento, dentro y fuera de la organización</a:t>
            </a:r>
            <a:endParaRPr lang="es-ES" sz="2400" dirty="0">
              <a:latin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0805722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5921"/>
            <a:ext cx="1714480" cy="1571612"/>
          </a:xfrm>
          <a:prstGeom prst="rect">
            <a:avLst/>
          </a:prstGeom>
        </p:spPr>
      </p:pic>
      <p:sp>
        <p:nvSpPr>
          <p:cNvPr id="2" name="Rectángulo 1"/>
          <p:cNvSpPr/>
          <p:nvPr/>
        </p:nvSpPr>
        <p:spPr>
          <a:xfrm>
            <a:off x="467544" y="1844824"/>
            <a:ext cx="8136904" cy="4302012"/>
          </a:xfrm>
          <a:prstGeom prst="rect">
            <a:avLst/>
          </a:prstGeom>
        </p:spPr>
        <p:txBody>
          <a:bodyPr wrap="square">
            <a:spAutoFit/>
          </a:bodyPr>
          <a:lstStyle/>
          <a:p>
            <a:pPr algn="just">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2.-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Los directores, gerentes, empleados y demás trabajadores de </a:t>
            </a:r>
            <a:r>
              <a:rPr lang="es-VE" sz="24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a:t>
            </a:r>
            <a:r>
              <a:rPr lang="es-VE" sz="2400" b="1" dirty="0" smtClean="0">
                <a:latin typeface="Microsoft Sans Serif" panose="020B0604020202020204" pitchFamily="34" charset="0"/>
                <a:ea typeface="Calibri" panose="020F0502020204030204" pitchFamily="34" charset="0"/>
                <a:cs typeface="Microsoft Sans Serif" panose="020B0604020202020204" pitchFamily="34" charset="0"/>
              </a:rPr>
              <a:t>S.A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deberán ajustar su conducta a los valores de honor y dignidad que caracterizan al hombre honesto, dentro de y fuera de la organización, anteponiendo los principios de integridad, lealtad, imparcialidad, honorabilidad, eficiencia, responsabilidad, veracidad, pulcritud, decoro, trasparencia y actitud de servicio al logro de las metas comerciales, de producción, cobro de cuotas e intereses personales.</a:t>
            </a:r>
            <a:endParaRPr lang="es-ES" sz="24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467544" y="1637533"/>
            <a:ext cx="8136904" cy="4832092"/>
          </a:xfrm>
          <a:prstGeom prst="rect">
            <a:avLst/>
          </a:prstGeom>
        </p:spPr>
        <p:txBody>
          <a:bodyPr wrap="square">
            <a:spAutoFit/>
          </a:bodyPr>
          <a:lstStyle/>
          <a:p>
            <a:pPr algn="just"/>
            <a:r>
              <a:rPr lang="es-VE" sz="2200" b="1" i="1" dirty="0">
                <a:latin typeface="Microsoft Sans Serif" panose="020B0604020202020204" pitchFamily="34" charset="0"/>
                <a:ea typeface="Calibri" panose="020F0502020204030204" pitchFamily="34" charset="0"/>
                <a:cs typeface="Microsoft Sans Serif" panose="020B0604020202020204" pitchFamily="34" charset="0"/>
              </a:rPr>
              <a:t>ARTÍCULO 3.- </a:t>
            </a:r>
            <a:r>
              <a:rPr lang="es-VE" sz="2200" i="1" dirty="0">
                <a:latin typeface="Microsoft Sans Serif" panose="020B0604020202020204" pitchFamily="34" charset="0"/>
                <a:ea typeface="Calibri" panose="020F0502020204030204" pitchFamily="34" charset="0"/>
                <a:cs typeface="Microsoft Sans Serif" panose="020B0604020202020204" pitchFamily="34" charset="0"/>
              </a:rPr>
              <a:t>EL espíritu, propósito y razón del presente Código es establecer las reglas bajo las cuales deberá conducirse al personal de </a:t>
            </a:r>
            <a:r>
              <a:rPr lang="es-VE" sz="22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a:t>
            </a:r>
            <a:r>
              <a:rPr lang="es-VE" sz="2200" b="1" dirty="0" smtClean="0">
                <a:latin typeface="Microsoft Sans Serif" panose="020B0604020202020204" pitchFamily="34" charset="0"/>
                <a:ea typeface="Calibri" panose="020F0502020204030204" pitchFamily="34" charset="0"/>
                <a:cs typeface="Microsoft Sans Serif" panose="020B0604020202020204" pitchFamily="34" charset="0"/>
              </a:rPr>
              <a:t>S.A</a:t>
            </a:r>
            <a:r>
              <a:rPr lang="es-VE" sz="2200" i="1" dirty="0">
                <a:latin typeface="Microsoft Sans Serif" panose="020B0604020202020204" pitchFamily="34" charset="0"/>
                <a:ea typeface="Calibri" panose="020F0502020204030204" pitchFamily="34" charset="0"/>
                <a:cs typeface="Microsoft Sans Serif" panose="020B0604020202020204" pitchFamily="34" charset="0"/>
              </a:rPr>
              <a:t>, dirigido a evitar que las operaciones desarrolladas por la organización sean utilizadas como mecanismo para legitimar capitales, financiar el terrorismo o financiar la proliferación de armas de destrucción masiva. La conducta del personal deberá sujetarse en todo momento a las reglas de honor, dignidad, honradez y franqueza. No deberán aconsejar ni ejecutar actos dolosos, hacer aseveraciones falsas, citas inexactas, incompletas o maliciosas, ni realizar acto alguno u omisión que pueda entorpecer una eficaz labor o que vaya en deterioro del buen nombre y reputación de </a:t>
            </a:r>
            <a:r>
              <a:rPr lang="es-VE" sz="2200"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endParaRPr lang="es-ES" sz="2200" dirty="0">
              <a:latin typeface="Microsoft Sans Serif" panose="020B0604020202020204" pitchFamily="34" charset="0"/>
              <a:cs typeface="Microsoft Sans Serif" panose="020B0604020202020204" pitchFamily="34" charset="0"/>
            </a:endParaRPr>
          </a:p>
        </p:txBody>
      </p:sp>
      <p:pic>
        <p:nvPicPr>
          <p:cNvPr id="12"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5921"/>
            <a:ext cx="1714480" cy="1571612"/>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5921"/>
            <a:ext cx="1714480" cy="1571612"/>
          </a:xfrm>
          <a:prstGeom prst="rect">
            <a:avLst/>
          </a:prstGeom>
        </p:spPr>
      </p:pic>
      <p:sp>
        <p:nvSpPr>
          <p:cNvPr id="2" name="Rectángulo 1"/>
          <p:cNvSpPr/>
          <p:nvPr/>
        </p:nvSpPr>
        <p:spPr>
          <a:xfrm>
            <a:off x="683568" y="2780928"/>
            <a:ext cx="7776864" cy="1713290"/>
          </a:xfrm>
          <a:prstGeom prst="rect">
            <a:avLst/>
          </a:prstGeom>
        </p:spPr>
        <p:txBody>
          <a:bodyPr wrap="square">
            <a:spAutoFit/>
          </a:bodyPr>
          <a:lstStyle/>
          <a:p>
            <a:pPr algn="ctr">
              <a:lnSpc>
                <a:spcPct val="115000"/>
              </a:lnSpc>
              <a:spcBef>
                <a:spcPts val="800"/>
              </a:spcBef>
              <a:spcAft>
                <a:spcPts val="800"/>
              </a:spcAft>
            </a:pPr>
            <a:r>
              <a:rPr lang="es-VE" sz="4000" b="1" i="1" dirty="0">
                <a:latin typeface="Microsoft Sans Serif" panose="020B0604020202020204" pitchFamily="34" charset="0"/>
                <a:ea typeface="Calibri" panose="020F0502020204030204" pitchFamily="34" charset="0"/>
                <a:cs typeface="Microsoft Sans Serif" panose="020B0604020202020204" pitchFamily="34" charset="0"/>
              </a:rPr>
              <a:t>CAPÍTULO II</a:t>
            </a:r>
            <a:endParaRPr lang="es-ES" sz="4000" dirty="0">
              <a:latin typeface="Microsoft Sans Serif" panose="020B0604020202020204" pitchFamily="34" charset="0"/>
              <a:ea typeface="Calibri" panose="020F0502020204030204" pitchFamily="34" charset="0"/>
              <a:cs typeface="Microsoft Sans Serif" panose="020B0604020202020204" pitchFamily="34" charset="0"/>
            </a:endParaRPr>
          </a:p>
          <a:p>
            <a:pPr algn="ctr">
              <a:lnSpc>
                <a:spcPct val="115000"/>
              </a:lnSpc>
              <a:spcBef>
                <a:spcPts val="800"/>
              </a:spcBef>
              <a:spcAft>
                <a:spcPts val="800"/>
              </a:spcAft>
            </a:pPr>
            <a:r>
              <a:rPr lang="es-VE" sz="4000" b="1" i="1" dirty="0">
                <a:latin typeface="Microsoft Sans Serif" panose="020B0604020202020204" pitchFamily="34" charset="0"/>
                <a:ea typeface="Calibri" panose="020F0502020204030204" pitchFamily="34" charset="0"/>
                <a:cs typeface="Microsoft Sans Serif" panose="020B0604020202020204" pitchFamily="34" charset="0"/>
              </a:rPr>
              <a:t>PRINCIPIOS FUNDAMENTALES</a:t>
            </a:r>
            <a:endParaRPr lang="es-ES" sz="4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5921"/>
            <a:ext cx="1714480" cy="1571612"/>
          </a:xfrm>
          <a:prstGeom prst="rect">
            <a:avLst/>
          </a:prstGeom>
        </p:spPr>
      </p:pic>
      <p:sp>
        <p:nvSpPr>
          <p:cNvPr id="2" name="Rectángulo 1"/>
          <p:cNvSpPr/>
          <p:nvPr/>
        </p:nvSpPr>
        <p:spPr>
          <a:xfrm>
            <a:off x="395536" y="1949364"/>
            <a:ext cx="7992888" cy="3065455"/>
          </a:xfrm>
          <a:prstGeom prst="rect">
            <a:avLst/>
          </a:prstGeom>
        </p:spPr>
        <p:txBody>
          <a:bodyPr wrap="square">
            <a:spAutoFit/>
          </a:bodyPr>
          <a:lstStyle/>
          <a:p>
            <a:pPr algn="just">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4.-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Los valores a ser observados por los directivos, gerentes, empleados y demás trabajadores de </a:t>
            </a:r>
            <a:r>
              <a:rPr lang="es-VE" sz="24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400" dirty="0">
                <a:latin typeface="Microsoft Sans Serif" panose="020B0604020202020204" pitchFamily="34" charset="0"/>
                <a:ea typeface="Calibri" panose="020F0502020204030204" pitchFamily="34" charset="0"/>
                <a:cs typeface="Microsoft Sans Serif" panose="020B0604020202020204" pitchFamily="34" charset="0"/>
              </a:rPr>
              <a:t>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serán la confianza, el compromiso, la iniciativa, el servicio y el trabajo en equipo, debiendo actuar observando diligencia en la realización de sus funciones e imparcialidad en el desempeño de sus funciones.</a:t>
            </a:r>
            <a:endParaRPr lang="es-ES" sz="24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67544" y="1637533"/>
            <a:ext cx="8136904" cy="4524315"/>
          </a:xfrm>
          <a:prstGeom prst="rect">
            <a:avLst/>
          </a:prstGeom>
        </p:spPr>
        <p:txBody>
          <a:bodyPr wrap="square">
            <a:spAutoFit/>
          </a:bodyPr>
          <a:lstStyle/>
          <a:p>
            <a:pPr algn="just"/>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5.-</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 Los directivos, gerentes, empleados y demás trabajadores de </a:t>
            </a:r>
            <a:r>
              <a:rPr lang="es-VE" sz="24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 cumplirán sus funciones teniendo en cuenta que su obligación primordial es la atención y servicio a los usuarios, a través de un trato cordial, amable, cortés y directo</a:t>
            </a:r>
            <a:r>
              <a:rPr lang="es-VE" sz="2400" i="1" dirty="0" smtClean="0">
                <a:latin typeface="Microsoft Sans Serif" panose="020B0604020202020204" pitchFamily="34" charset="0"/>
                <a:ea typeface="Calibri" panose="020F0502020204030204" pitchFamily="34" charset="0"/>
                <a:cs typeface="Microsoft Sans Serif" panose="020B0604020202020204" pitchFamily="34" charset="0"/>
              </a:rPr>
              <a:t>. </a:t>
            </a:r>
            <a:r>
              <a:rPr lang="es-VE" sz="2400" i="1" dirty="0">
                <a:latin typeface="Microsoft Sans Serif" panose="020B0604020202020204" pitchFamily="34" charset="0"/>
                <a:cs typeface="Microsoft Sans Serif" panose="020B0604020202020204" pitchFamily="34" charset="0"/>
              </a:rPr>
              <a:t>En consecuencia, el personal de la organización debe evitar recibir obsequios, atenciones o gratificaciones en el desempeño de sus funciones. Asimismo, observarán una conducta que no propicie ningún tipo de ambigüedad o confusión entre los intereses de la empresa y los intereses personales o de terceros.</a:t>
            </a:r>
            <a:endParaRPr lang="es-ES" sz="2400" dirty="0">
              <a:latin typeface="Microsoft Sans Serif" panose="020B0604020202020204" pitchFamily="34" charset="0"/>
              <a:cs typeface="Microsoft Sans Serif" panose="020B0604020202020204" pitchFamily="34" charset="0"/>
            </a:endParaRPr>
          </a:p>
          <a:p>
            <a:endParaRPr lang="es-ES" sz="2400" dirty="0"/>
          </a:p>
        </p:txBody>
      </p:sp>
      <p:pic>
        <p:nvPicPr>
          <p:cNvPr id="28"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5921"/>
            <a:ext cx="1714480" cy="1571612"/>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611560" y="2108639"/>
            <a:ext cx="7920880" cy="2640723"/>
          </a:xfrm>
          <a:prstGeom prst="rect">
            <a:avLst/>
          </a:prstGeom>
        </p:spPr>
        <p:txBody>
          <a:bodyPr wrap="square">
            <a:spAutoFit/>
          </a:bodyPr>
          <a:lstStyle/>
          <a:p>
            <a:pPr algn="just">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6.-</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empleados y demás trabajadores </a:t>
            </a:r>
            <a:r>
              <a:rPr lang="es-VE" sz="2400" i="1" dirty="0" smtClean="0">
                <a:latin typeface="Microsoft Sans Serif" panose="020B0604020202020204" pitchFamily="34" charset="0"/>
                <a:ea typeface="Calibri" panose="020F0502020204030204" pitchFamily="34" charset="0"/>
                <a:cs typeface="Microsoft Sans Serif" panose="020B0604020202020204" pitchFamily="34" charset="0"/>
              </a:rPr>
              <a:t>de</a:t>
            </a:r>
            <a:r>
              <a:rPr lang="es-VE" sz="2400" b="1" i="1" dirty="0" smtClean="0">
                <a:latin typeface="Microsoft Sans Serif" panose="020B0604020202020204" pitchFamily="34" charset="0"/>
                <a:ea typeface="Calibri" panose="020F0502020204030204" pitchFamily="34" charset="0"/>
                <a:cs typeface="Microsoft Sans Serif" panose="020B0604020202020204" pitchFamily="34" charset="0"/>
              </a:rPr>
              <a:t>. </a:t>
            </a:r>
            <a:r>
              <a:rPr lang="es-VE" sz="24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400" dirty="0" smtClean="0">
                <a:latin typeface="Microsoft Sans Serif" panose="020B0604020202020204" pitchFamily="34" charset="0"/>
                <a:ea typeface="Calibri" panose="020F0502020204030204" pitchFamily="34" charset="0"/>
                <a:cs typeface="Microsoft Sans Serif" panose="020B0604020202020204" pitchFamily="34" charset="0"/>
              </a:rPr>
              <a:t>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valoran y fomentan el trabajo en equipo, por lo que su actuación deberá ser sobre la base de la cooperación y el respeto mutuo, compartiendo toda la información requerida para el desarrollo del trabajo.</a:t>
            </a:r>
            <a:endParaRPr lang="es-ES" sz="24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pic>
        <p:nvPicPr>
          <p:cNvPr id="22"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5921"/>
            <a:ext cx="1714480" cy="157161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10"/>
          <p:cNvSpPr>
            <a:spLocks noChangeArrowheads="1"/>
          </p:cNvSpPr>
          <p:nvPr/>
        </p:nvSpPr>
        <p:spPr bwMode="auto">
          <a:xfrm>
            <a:off x="609600" y="4605338"/>
            <a:ext cx="4429125" cy="396875"/>
          </a:xfrm>
          <a:prstGeom prst="rect">
            <a:avLst/>
          </a:prstGeom>
          <a:noFill/>
          <a:ln w="9525">
            <a:noFill/>
            <a:miter lim="800000"/>
            <a:headEnd/>
            <a:tailEnd/>
          </a:ln>
        </p:spPr>
        <p:txBody>
          <a:bodyPr>
            <a:spAutoFit/>
          </a:bodyPr>
          <a:lstStyle/>
          <a:p>
            <a:pPr>
              <a:buFont typeface="Wingdings" pitchFamily="2" charset="2"/>
              <a:buChar char="ü"/>
            </a:pPr>
            <a:endParaRPr lang="es-VE" sz="2000" b="1" dirty="0">
              <a:solidFill>
                <a:srgbClr val="000000"/>
              </a:solidFill>
              <a:latin typeface="Microsoft Sans Serif" panose="020B0604020202020204" pitchFamily="34" charset="0"/>
              <a:cs typeface="Microsoft Sans Serif" panose="020B0604020202020204" pitchFamily="34" charset="0"/>
            </a:endParaRPr>
          </a:p>
        </p:txBody>
      </p:sp>
      <p:pic>
        <p:nvPicPr>
          <p:cNvPr id="40"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
            <a:ext cx="1857355" cy="1571613"/>
          </a:xfrm>
          <a:prstGeom prst="rect">
            <a:avLst/>
          </a:prstGeom>
        </p:spPr>
      </p:pic>
      <p:sp>
        <p:nvSpPr>
          <p:cNvPr id="2" name="Rectángulo 1"/>
          <p:cNvSpPr/>
          <p:nvPr/>
        </p:nvSpPr>
        <p:spPr>
          <a:xfrm>
            <a:off x="609600" y="2071455"/>
            <a:ext cx="7994848" cy="3490186"/>
          </a:xfrm>
          <a:prstGeom prst="rect">
            <a:avLst/>
          </a:prstGeom>
        </p:spPr>
        <p:txBody>
          <a:bodyPr wrap="square">
            <a:spAutoFit/>
          </a:bodyPr>
          <a:lstStyle/>
          <a:p>
            <a:pPr algn="just">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7.-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empleados y demás trabajadores de </a:t>
            </a:r>
            <a:r>
              <a:rPr lang="es-VE" sz="24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400" b="1" dirty="0" smtClean="0">
                <a:latin typeface="Microsoft Sans Serif" panose="020B0604020202020204" pitchFamily="34" charset="0"/>
                <a:ea typeface="Calibri" panose="020F0502020204030204" pitchFamily="34" charset="0"/>
                <a:cs typeface="Microsoft Sans Serif" panose="020B0604020202020204" pitchFamily="34" charset="0"/>
              </a:rPr>
              <a:t>. </a:t>
            </a:r>
            <a:r>
              <a:rPr lang="es-VE" sz="2400" i="1" dirty="0" smtClean="0">
                <a:latin typeface="Microsoft Sans Serif" panose="020B0604020202020204" pitchFamily="34" charset="0"/>
                <a:ea typeface="Calibri" panose="020F0502020204030204" pitchFamily="34" charset="0"/>
                <a:cs typeface="Microsoft Sans Serif" panose="020B0604020202020204" pitchFamily="34" charset="0"/>
              </a:rPr>
              <a:t>se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comprometen en el ejercicio de sus funciones, a apoyar actividades legítimas, en las que el origen y destino de los recursos que administra o maneja la organización están claramente demostrados y contribuyen al crecimiento del país y al bienestar de sus empleados y ciudadanos en general.</a:t>
            </a:r>
            <a:endParaRPr lang="es-ES" sz="24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956113" cy="1949623"/>
          </a:xfrm>
          <a:prstGeom prst="rect">
            <a:avLst/>
          </a:prstGeom>
        </p:spPr>
      </p:pic>
      <p:sp>
        <p:nvSpPr>
          <p:cNvPr id="13" name="Freeform 7"/>
          <p:cNvSpPr>
            <a:spLocks/>
          </p:cNvSpPr>
          <p:nvPr/>
        </p:nvSpPr>
        <p:spPr bwMode="auto">
          <a:xfrm>
            <a:off x="5943600" y="609600"/>
            <a:ext cx="3048000" cy="2057400"/>
          </a:xfrm>
          <a:custGeom>
            <a:avLst/>
            <a:gdLst>
              <a:gd name="T0" fmla="*/ 0 w 2184"/>
              <a:gd name="T1" fmla="*/ 169498091 h 2184"/>
              <a:gd name="T2" fmla="*/ 372012316 w 2184"/>
              <a:gd name="T3" fmla="*/ 1938138231 h 2184"/>
              <a:gd name="T4" fmla="*/ 2147483647 w 2184"/>
              <a:gd name="T5" fmla="*/ 1768639257 h 2184"/>
              <a:gd name="T6" fmla="*/ 2147483647 w 2184"/>
              <a:gd name="T7" fmla="*/ 0 h 2184"/>
              <a:gd name="T8" fmla="*/ 0 w 2184"/>
              <a:gd name="T9" fmla="*/ 169498091 h 2184"/>
              <a:gd name="T10" fmla="*/ 0 60000 65536"/>
              <a:gd name="T11" fmla="*/ 0 60000 65536"/>
              <a:gd name="T12" fmla="*/ 0 60000 65536"/>
              <a:gd name="T13" fmla="*/ 0 60000 65536"/>
              <a:gd name="T14" fmla="*/ 0 60000 65536"/>
              <a:gd name="T15" fmla="*/ 0 w 2184"/>
              <a:gd name="T16" fmla="*/ 0 h 2184"/>
              <a:gd name="T17" fmla="*/ 2184 w 2184"/>
              <a:gd name="T18" fmla="*/ 2184 h 2184"/>
            </a:gdLst>
            <a:ahLst/>
            <a:cxnLst>
              <a:cxn ang="T10">
                <a:pos x="T0" y="T1"/>
              </a:cxn>
              <a:cxn ang="T11">
                <a:pos x="T2" y="T3"/>
              </a:cxn>
              <a:cxn ang="T12">
                <a:pos x="T4" y="T5"/>
              </a:cxn>
              <a:cxn ang="T13">
                <a:pos x="T6" y="T7"/>
              </a:cxn>
              <a:cxn ang="T14">
                <a:pos x="T8" y="T9"/>
              </a:cxn>
            </a:cxnLst>
            <a:rect l="T15" t="T16" r="T17" b="T18"/>
            <a:pathLst>
              <a:path w="2184" h="2184">
                <a:moveTo>
                  <a:pt x="0" y="191"/>
                </a:moveTo>
                <a:lnTo>
                  <a:pt x="191" y="2184"/>
                </a:lnTo>
                <a:lnTo>
                  <a:pt x="2184" y="1993"/>
                </a:lnTo>
                <a:lnTo>
                  <a:pt x="1993" y="0"/>
                </a:lnTo>
                <a:lnTo>
                  <a:pt x="0" y="191"/>
                </a:lnTo>
                <a:close/>
              </a:path>
            </a:pathLst>
          </a:custGeom>
          <a:noFill/>
          <a:ln w="9525">
            <a:solidFill>
              <a:srgbClr val="FFFFFF"/>
            </a:solidFill>
            <a:prstDash val="solid"/>
            <a:round/>
            <a:headEnd/>
            <a:tailEnd/>
          </a:ln>
        </p:spPr>
        <p:txBody>
          <a:bodyPr/>
          <a:lstStyle/>
          <a:p>
            <a:endParaRPr lang="es-VE" dirty="0">
              <a:latin typeface="Microsoft Sans Serif" panose="020B0604020202020204" pitchFamily="34" charset="0"/>
              <a:cs typeface="Microsoft Sans Serif" panose="020B0604020202020204" pitchFamily="34" charset="0"/>
            </a:endParaRPr>
          </a:p>
        </p:txBody>
      </p:sp>
      <p:sp>
        <p:nvSpPr>
          <p:cNvPr id="2" name="Rectángulo 1"/>
          <p:cNvSpPr/>
          <p:nvPr/>
        </p:nvSpPr>
        <p:spPr>
          <a:xfrm>
            <a:off x="611560" y="1772816"/>
            <a:ext cx="7992888" cy="4302012"/>
          </a:xfrm>
          <a:prstGeom prst="rect">
            <a:avLst/>
          </a:prstGeom>
        </p:spPr>
        <p:txBody>
          <a:bodyPr wrap="square">
            <a:spAutoFit/>
          </a:bodyPr>
          <a:lstStyle/>
          <a:p>
            <a:pPr algn="just">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8.-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empleados y demás trabajadores de </a:t>
            </a:r>
            <a:r>
              <a:rPr lang="es-VE" sz="24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 serán responsable en el desempeño de sus funciones, debiendo actuar ajustados a la normativa legal y reglamentaria, acatando los procedimientos establecidos en la organización y la ley, y sujetos a la obligación de rendición de cuentas y las consecuencias de su conducta, sin que puedan excusar su comportamiento en el acatamiento de órdenes, o en actuaciones inventadas o rebuscadas.</a:t>
            </a:r>
            <a:endParaRPr lang="es-ES" sz="24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857355" cy="1571613"/>
          </a:xfrm>
          <a:prstGeom prst="rect">
            <a:avLst/>
          </a:prstGeom>
        </p:spPr>
      </p:pic>
      <p:sp>
        <p:nvSpPr>
          <p:cNvPr id="2" name="Rectángulo 1"/>
          <p:cNvSpPr/>
          <p:nvPr/>
        </p:nvSpPr>
        <p:spPr>
          <a:xfrm>
            <a:off x="683568" y="1772816"/>
            <a:ext cx="7798489" cy="4375044"/>
          </a:xfrm>
          <a:prstGeom prst="rect">
            <a:avLst/>
          </a:prstGeom>
        </p:spPr>
        <p:txBody>
          <a:bodyPr wrap="square">
            <a:spAutoFit/>
          </a:bodyPr>
          <a:lstStyle/>
          <a:p>
            <a:pPr algn="just">
              <a:lnSpc>
                <a:spcPct val="115000"/>
              </a:lnSpc>
              <a:spcBef>
                <a:spcPts val="800"/>
              </a:spcBef>
              <a:spcAft>
                <a:spcPts val="800"/>
              </a:spcAft>
            </a:pPr>
            <a:r>
              <a:rPr lang="es-VE" sz="2200" b="1" i="1" dirty="0">
                <a:latin typeface="Microsoft Sans Serif" panose="020B0604020202020204" pitchFamily="34" charset="0"/>
                <a:ea typeface="Calibri" panose="020F0502020204030204" pitchFamily="34" charset="0"/>
                <a:cs typeface="Microsoft Sans Serif" panose="020B0604020202020204" pitchFamily="34" charset="0"/>
              </a:rPr>
              <a:t>ARTÍCULO 9.-</a:t>
            </a:r>
            <a:r>
              <a:rPr lang="es-VE" sz="2200"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y trabajadores en funciones supervisoras de </a:t>
            </a:r>
            <a:r>
              <a:rPr lang="es-VE" sz="22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200" i="1" dirty="0">
                <a:latin typeface="Microsoft Sans Serif" panose="020B0604020202020204" pitchFamily="34" charset="0"/>
                <a:ea typeface="Calibri" panose="020F0502020204030204" pitchFamily="34" charset="0"/>
                <a:cs typeface="Microsoft Sans Serif" panose="020B0604020202020204" pitchFamily="34" charset="0"/>
              </a:rPr>
              <a:t> deberán considerar a sus subalternos sin discriminaciones por raza, condición social, ideología, género o religión. Asimismo, es obligación de las personas responsables de la selección y contratación de los empleados, llevar a cabo los procesos de selección y contratación sin ejercer sobre los candidatos discriminaciones de ningún tipo, o por cualquier impedimento que no guarde relación directa con la labor que vaya a realizarse y las competencias requeridas para tal fin</a:t>
            </a:r>
            <a:r>
              <a:rPr lang="es-VE" sz="2200" i="1" dirty="0">
                <a:latin typeface="Calibri Light" panose="020F0302020204030204" pitchFamily="34" charset="0"/>
                <a:ea typeface="Calibri" panose="020F0502020204030204" pitchFamily="34" charset="0"/>
                <a:cs typeface="Calibri Light" panose="020F0302020204030204" pitchFamily="34" charset="0"/>
              </a:rPr>
              <a:t>.</a:t>
            </a:r>
            <a:endParaRPr lang="es-ES" sz="2200" dirty="0">
              <a:effectLst/>
              <a:latin typeface="Tahoma" panose="020B060403050404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714480" cy="1142984"/>
          </a:xfrm>
          <a:prstGeom prst="rect">
            <a:avLst/>
          </a:prstGeom>
        </p:spPr>
      </p:pic>
      <p:sp>
        <p:nvSpPr>
          <p:cNvPr id="2" name="Rectángulo 1"/>
          <p:cNvSpPr/>
          <p:nvPr/>
        </p:nvSpPr>
        <p:spPr>
          <a:xfrm>
            <a:off x="611560" y="1700808"/>
            <a:ext cx="8134234" cy="4164602"/>
          </a:xfrm>
          <a:prstGeom prst="rect">
            <a:avLst/>
          </a:prstGeom>
        </p:spPr>
        <p:txBody>
          <a:bodyPr wrap="square">
            <a:spAutoFit/>
          </a:bodyPr>
          <a:lstStyle/>
          <a:p>
            <a:pPr algn="just">
              <a:lnSpc>
                <a:spcPct val="115000"/>
              </a:lnSpc>
              <a:spcBef>
                <a:spcPts val="800"/>
              </a:spcBef>
              <a:spcAft>
                <a:spcPts val="800"/>
              </a:spcAft>
            </a:pPr>
            <a:r>
              <a:rPr lang="es-VE" sz="2200" b="1" i="1" dirty="0">
                <a:latin typeface="Microsoft Sans Serif" panose="020B0604020202020204" pitchFamily="34" charset="0"/>
                <a:ea typeface="Calibri" panose="020F0502020204030204" pitchFamily="34" charset="0"/>
                <a:cs typeface="Microsoft Sans Serif" panose="020B0604020202020204" pitchFamily="34" charset="0"/>
              </a:rPr>
              <a:t>ARTÍCULO 10.-</a:t>
            </a:r>
            <a:r>
              <a:rPr lang="es-VE" sz="2200" i="1" dirty="0">
                <a:latin typeface="Microsoft Sans Serif" panose="020B0604020202020204" pitchFamily="34" charset="0"/>
                <a:ea typeface="Calibri" panose="020F0502020204030204" pitchFamily="34" charset="0"/>
                <a:cs typeface="Microsoft Sans Serif" panose="020B0604020202020204" pitchFamily="34" charset="0"/>
              </a:rPr>
              <a:t> Los directivos, gerentes, empleados y demás trabajadores de </a:t>
            </a:r>
            <a:r>
              <a:rPr lang="es-VE" sz="22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200" dirty="0">
                <a:latin typeface="Microsoft Sans Serif" panose="020B0604020202020204" pitchFamily="34" charset="0"/>
                <a:ea typeface="Calibri" panose="020F0502020204030204" pitchFamily="34" charset="0"/>
                <a:cs typeface="Microsoft Sans Serif" panose="020B0604020202020204" pitchFamily="34" charset="0"/>
              </a:rPr>
              <a:t> </a:t>
            </a:r>
            <a:r>
              <a:rPr lang="es-VE" sz="2200" i="1" dirty="0">
                <a:latin typeface="Microsoft Sans Serif" panose="020B0604020202020204" pitchFamily="34" charset="0"/>
                <a:ea typeface="Calibri" panose="020F0502020204030204" pitchFamily="34" charset="0"/>
                <a:cs typeface="Microsoft Sans Serif" panose="020B0604020202020204" pitchFamily="34" charset="0"/>
              </a:rPr>
              <a:t>no deben tener ningún tipo de nexo, amistad o acercamiento con personas que pudieran afectar el desempeño de sus funciones, la posición o intereses de la </a:t>
            </a:r>
            <a:r>
              <a:rPr lang="es-VE" sz="2200" i="1" dirty="0" smtClean="0">
                <a:latin typeface="Microsoft Sans Serif" panose="020B0604020202020204" pitchFamily="34" charset="0"/>
                <a:ea typeface="Calibri" panose="020F0502020204030204" pitchFamily="34" charset="0"/>
                <a:cs typeface="Microsoft Sans Serif" panose="020B0604020202020204" pitchFamily="34" charset="0"/>
              </a:rPr>
              <a:t>organización.</a:t>
            </a:r>
            <a:endParaRPr lang="es-ES" sz="2200" dirty="0">
              <a:latin typeface="Microsoft Sans Serif" panose="020B0604020202020204" pitchFamily="34" charset="0"/>
              <a:ea typeface="Calibri" panose="020F0502020204030204" pitchFamily="34" charset="0"/>
              <a:cs typeface="Microsoft Sans Serif" panose="020B0604020202020204" pitchFamily="34" charset="0"/>
            </a:endParaRPr>
          </a:p>
          <a:p>
            <a:pPr algn="just">
              <a:lnSpc>
                <a:spcPct val="115000"/>
              </a:lnSpc>
              <a:spcBef>
                <a:spcPts val="800"/>
              </a:spcBef>
              <a:spcAft>
                <a:spcPts val="800"/>
              </a:spcAft>
            </a:pPr>
            <a:r>
              <a:rPr lang="es-VE" sz="22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200" b="1" i="1" dirty="0">
                <a:latin typeface="Microsoft Sans Serif" panose="020B0604020202020204" pitchFamily="34" charset="0"/>
                <a:ea typeface="Calibri" panose="020F0502020204030204" pitchFamily="34" charset="0"/>
                <a:cs typeface="Microsoft Sans Serif" panose="020B0604020202020204" pitchFamily="34" charset="0"/>
              </a:rPr>
              <a:t>.</a:t>
            </a:r>
            <a:r>
              <a:rPr lang="es-VE" sz="2200" i="1" dirty="0">
                <a:latin typeface="Microsoft Sans Serif" panose="020B0604020202020204" pitchFamily="34" charset="0"/>
                <a:ea typeface="Calibri" panose="020F0502020204030204" pitchFamily="34" charset="0"/>
                <a:cs typeface="Microsoft Sans Serif" panose="020B0604020202020204" pitchFamily="34" charset="0"/>
              </a:rPr>
              <a:t> considerará que existirá conflicto de intereses cuando surja una contraposición entre los intereses propios y los de la organización. Se entiende que existe este conflicto de intereses cuando se produzca alguna de las siguientes circunstancias</a:t>
            </a:r>
            <a:r>
              <a:rPr lang="es-VE" sz="2200" i="1" dirty="0" smtClean="0">
                <a:latin typeface="Calibri Light" panose="020F0302020204030204" pitchFamily="34" charset="0"/>
                <a:ea typeface="Calibri" panose="020F0502020204030204" pitchFamily="34" charset="0"/>
                <a:cs typeface="Calibri Light" panose="020F0302020204030204" pitchFamily="34" charset="0"/>
              </a:rPr>
              <a:t>:</a:t>
            </a:r>
            <a:endParaRPr lang="es-ES" sz="2200" dirty="0">
              <a:latin typeface="Tahoma" panose="020B060403050404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56113" cy="1571611"/>
          </a:xfrm>
          <a:prstGeom prst="rect">
            <a:avLst/>
          </a:prstGeom>
        </p:spPr>
      </p:pic>
      <p:sp>
        <p:nvSpPr>
          <p:cNvPr id="2" name="Rectángulo 1"/>
          <p:cNvSpPr/>
          <p:nvPr/>
        </p:nvSpPr>
        <p:spPr>
          <a:xfrm>
            <a:off x="539552" y="1609390"/>
            <a:ext cx="7992888" cy="4502195"/>
          </a:xfrm>
          <a:prstGeom prst="rect">
            <a:avLst/>
          </a:prstGeom>
        </p:spPr>
        <p:txBody>
          <a:bodyPr wrap="square">
            <a:spAutoFit/>
          </a:bodyPr>
          <a:lstStyle/>
          <a:p>
            <a:pPr marL="342900" lvl="0" indent="-342900" algn="just">
              <a:lnSpc>
                <a:spcPct val="115000"/>
              </a:lnSpc>
              <a:spcBef>
                <a:spcPts val="800"/>
              </a:spcBef>
              <a:spcAft>
                <a:spcPts val="800"/>
              </a:spcAft>
              <a:buFont typeface="+mj-lt"/>
              <a:buAutoNum type="alphaLcPeriod"/>
            </a:pPr>
            <a:r>
              <a:rPr lang="es-VE" i="1" dirty="0">
                <a:latin typeface="Microsoft Sans Serif" panose="020B0604020202020204" pitchFamily="34" charset="0"/>
                <a:ea typeface="Calibri" panose="020F0502020204030204" pitchFamily="34" charset="0"/>
                <a:cs typeface="Microsoft Sans Serif" panose="020B0604020202020204" pitchFamily="34" charset="0"/>
              </a:rPr>
              <a:t>El interés económico de algún empleado de cualquier nivel o de su familia, sea personalmente o a través de una empresa en la que tengan participación, y que pretendan iniciar una relación o negocio con la empresa.</a:t>
            </a:r>
            <a:endParaRPr lang="es-ES" dirty="0">
              <a:latin typeface="Microsoft Sans Serif" panose="020B0604020202020204" pitchFamily="34" charset="0"/>
              <a:ea typeface="Calibri" panose="020F0502020204030204" pitchFamily="34" charset="0"/>
              <a:cs typeface="Microsoft Sans Serif" panose="020B0604020202020204" pitchFamily="34" charset="0"/>
            </a:endParaRPr>
          </a:p>
          <a:p>
            <a:pPr marL="342900" lvl="0" indent="-342900" algn="just">
              <a:lnSpc>
                <a:spcPct val="115000"/>
              </a:lnSpc>
              <a:spcBef>
                <a:spcPts val="800"/>
              </a:spcBef>
              <a:spcAft>
                <a:spcPts val="800"/>
              </a:spcAft>
              <a:buFont typeface="+mj-lt"/>
              <a:buAutoNum type="alphaLcPeriod"/>
            </a:pPr>
            <a:r>
              <a:rPr lang="es-VE" i="1" dirty="0">
                <a:latin typeface="Microsoft Sans Serif" panose="020B0604020202020204" pitchFamily="34" charset="0"/>
                <a:ea typeface="Calibri" panose="020F0502020204030204" pitchFamily="34" charset="0"/>
                <a:cs typeface="Microsoft Sans Serif" panose="020B0604020202020204" pitchFamily="34" charset="0"/>
              </a:rPr>
              <a:t>Desempeñarse como directivo, gerente o cualquier otra posición importante o de decisión en alguna empresa que tenga o busque tener relación de negocios con </a:t>
            </a:r>
            <a:r>
              <a:rPr lang="es-VE"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endParaRPr lang="es-ES" dirty="0">
              <a:latin typeface="Microsoft Sans Serif" panose="020B0604020202020204" pitchFamily="34" charset="0"/>
              <a:ea typeface="Calibri" panose="020F0502020204030204" pitchFamily="34" charset="0"/>
              <a:cs typeface="Microsoft Sans Serif" panose="020B0604020202020204" pitchFamily="34" charset="0"/>
            </a:endParaRPr>
          </a:p>
          <a:p>
            <a:pPr marL="342900" lvl="0" indent="-342900" algn="just">
              <a:lnSpc>
                <a:spcPct val="115000"/>
              </a:lnSpc>
              <a:spcBef>
                <a:spcPts val="800"/>
              </a:spcBef>
              <a:spcAft>
                <a:spcPts val="800"/>
              </a:spcAft>
              <a:buFont typeface="+mj-lt"/>
              <a:buAutoNum type="alphaLcPeriod"/>
            </a:pPr>
            <a:r>
              <a:rPr lang="es-VE" i="1" dirty="0">
                <a:latin typeface="Microsoft Sans Serif" panose="020B0604020202020204" pitchFamily="34" charset="0"/>
                <a:ea typeface="Calibri" panose="020F0502020204030204" pitchFamily="34" charset="0"/>
                <a:cs typeface="Microsoft Sans Serif" panose="020B0604020202020204" pitchFamily="34" charset="0"/>
              </a:rPr>
              <a:t>Actuar como apoderado o intermediario para beneficio de un tercero en transacciones con </a:t>
            </a:r>
            <a:r>
              <a:rPr lang="es-VE"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endParaRPr lang="es-ES" dirty="0">
              <a:latin typeface="Microsoft Sans Serif" panose="020B0604020202020204" pitchFamily="34" charset="0"/>
              <a:ea typeface="Calibri" panose="020F0502020204030204" pitchFamily="34" charset="0"/>
              <a:cs typeface="Microsoft Sans Serif" panose="020B0604020202020204" pitchFamily="34" charset="0"/>
            </a:endParaRPr>
          </a:p>
          <a:p>
            <a:pPr marL="342900" lvl="0" indent="-342900" algn="just">
              <a:lnSpc>
                <a:spcPct val="115000"/>
              </a:lnSpc>
              <a:spcBef>
                <a:spcPts val="800"/>
              </a:spcBef>
              <a:spcAft>
                <a:spcPts val="800"/>
              </a:spcAft>
              <a:buFont typeface="+mj-lt"/>
              <a:buAutoNum type="alphaLcPeriod"/>
            </a:pPr>
            <a:r>
              <a:rPr lang="es-VE" i="1" dirty="0">
                <a:latin typeface="Microsoft Sans Serif" panose="020B0604020202020204" pitchFamily="34" charset="0"/>
                <a:ea typeface="Calibri" panose="020F0502020204030204" pitchFamily="34" charset="0"/>
                <a:cs typeface="Microsoft Sans Serif" panose="020B0604020202020204" pitchFamily="34" charset="0"/>
              </a:rPr>
              <a:t>Cualquier otra circunstancia que pueda disuadir al trabajador de actuar en consonancia con los mejores intereses de </a:t>
            </a:r>
            <a:r>
              <a:rPr lang="es-VE"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endParaRPr lang="es-ES"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956113" cy="1676401"/>
          </a:xfrm>
          <a:prstGeom prst="rect">
            <a:avLst/>
          </a:prstGeom>
        </p:spPr>
      </p:pic>
      <p:sp>
        <p:nvSpPr>
          <p:cNvPr id="2" name="Rectángulo 1"/>
          <p:cNvSpPr/>
          <p:nvPr/>
        </p:nvSpPr>
        <p:spPr>
          <a:xfrm>
            <a:off x="611560" y="1949364"/>
            <a:ext cx="7920880" cy="3065455"/>
          </a:xfrm>
          <a:prstGeom prst="rect">
            <a:avLst/>
          </a:prstGeom>
        </p:spPr>
        <p:txBody>
          <a:bodyPr wrap="square">
            <a:spAutoFit/>
          </a:bodyPr>
          <a:lstStyle/>
          <a:p>
            <a:pPr algn="just">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11.-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empleados y trabajadores en general de </a:t>
            </a:r>
            <a:r>
              <a:rPr lang="es-VE" sz="24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 deberán participar en la capacitación y entrenamiento en los cursos en materia de administración de riesgos de legitimación de capitales, financiamiento al terrorismo y financiamiento de la proliferación de armas de destrucción masiva.</a:t>
            </a:r>
            <a:endParaRPr lang="es-ES" sz="24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956113" cy="1949623"/>
          </a:xfrm>
          <a:prstGeom prst="rect">
            <a:avLst/>
          </a:prstGeom>
        </p:spPr>
      </p:pic>
      <p:sp>
        <p:nvSpPr>
          <p:cNvPr id="2" name="Rectángulo 1"/>
          <p:cNvSpPr/>
          <p:nvPr/>
        </p:nvSpPr>
        <p:spPr>
          <a:xfrm>
            <a:off x="683568" y="1772816"/>
            <a:ext cx="7632848" cy="4302012"/>
          </a:xfrm>
          <a:prstGeom prst="rect">
            <a:avLst/>
          </a:prstGeom>
        </p:spPr>
        <p:txBody>
          <a:bodyPr wrap="square">
            <a:spAutoFit/>
          </a:bodyPr>
          <a:lstStyle/>
          <a:p>
            <a:pPr algn="just">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12.-</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 Los directivos, gerentes, empleados y trabajadores en general de </a:t>
            </a:r>
            <a:r>
              <a:rPr lang="es-VE" sz="24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400" dirty="0">
                <a:latin typeface="Microsoft Sans Serif" panose="020B0604020202020204" pitchFamily="34" charset="0"/>
                <a:ea typeface="Calibri" panose="020F0502020204030204" pitchFamily="34" charset="0"/>
                <a:cs typeface="Microsoft Sans Serif" panose="020B0604020202020204" pitchFamily="34" charset="0"/>
              </a:rPr>
              <a:t>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son responsables del uso adecuado y racional de los bienes propiedad de la organización que le han sido asignados para el ejercicio de sus funciones, debiendo protegerlos, conservarlos, evitando su abuso, derroche o desaprovechamiento, evitando su empleo indebido para fines particulares o propósitos que no sean acordes con la finalidad para la cual fueron destinados.</a:t>
            </a:r>
            <a:endParaRPr lang="es-ES" sz="24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n 38">
            <a:extLst>
              <a:ext uri="{FF2B5EF4-FFF2-40B4-BE49-F238E27FC236}">
                <a16:creationId xmlns:a16="http://schemas.microsoft.com/office/drawing/2014/main" id="{550F80E7-BE42-CF0B-4F68-37EF0052C6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16" y="-919"/>
            <a:ext cx="1956113" cy="1340769"/>
          </a:xfrm>
          <a:prstGeom prst="rect">
            <a:avLst/>
          </a:prstGeom>
        </p:spPr>
      </p:pic>
      <p:sp>
        <p:nvSpPr>
          <p:cNvPr id="3" name="Rectángulo 2"/>
          <p:cNvSpPr/>
          <p:nvPr/>
        </p:nvSpPr>
        <p:spPr>
          <a:xfrm>
            <a:off x="611560" y="1772816"/>
            <a:ext cx="7920880" cy="3954288"/>
          </a:xfrm>
          <a:prstGeom prst="rect">
            <a:avLst/>
          </a:prstGeom>
        </p:spPr>
        <p:txBody>
          <a:bodyPr wrap="square">
            <a:spAutoFit/>
          </a:bodyPr>
          <a:lstStyle/>
          <a:p>
            <a:pPr algn="just">
              <a:lnSpc>
                <a:spcPct val="115000"/>
              </a:lnSpc>
              <a:spcBef>
                <a:spcPts val="800"/>
              </a:spcBef>
              <a:spcAft>
                <a:spcPts val="800"/>
              </a:spcAft>
            </a:pP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ARTÍCULO 13.-</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Los directivos, gerentes, empleados y demás trabajadores de </a:t>
            </a:r>
            <a:r>
              <a:rPr lang="es-VE" sz="20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000" dirty="0">
                <a:latin typeface="Microsoft Sans Serif" panose="020B0604020202020204" pitchFamily="34" charset="0"/>
                <a:ea typeface="Calibri" panose="020F0502020204030204" pitchFamily="34" charset="0"/>
                <a:cs typeface="Microsoft Sans Serif" panose="020B0604020202020204" pitchFamily="34" charset="0"/>
              </a:rPr>
              <a:t> </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deberán utilizar las herramientas tecnológicas y de informática de la organización únicamente para el ejercicio de sus funciones, y no deberá desvirtuarse su uso exponiéndolas a debilidades informáticas que pudieran poner el riesgo datos, información, registros y sistemas digitales</a:t>
            </a:r>
            <a:r>
              <a:rPr lang="es-VE" sz="2000" i="1" dirty="0" smtClean="0">
                <a:latin typeface="Microsoft Sans Serif" panose="020B0604020202020204" pitchFamily="34" charset="0"/>
                <a:ea typeface="Calibri" panose="020F0502020204030204" pitchFamily="34" charset="0"/>
                <a:cs typeface="Microsoft Sans Serif" panose="020B0604020202020204" pitchFamily="34" charset="0"/>
              </a:rPr>
              <a:t>. </a:t>
            </a:r>
            <a:r>
              <a:rPr lang="es-VE" sz="2000" b="1" dirty="0" smtClean="0">
                <a:latin typeface="Microsoft Sans Serif" panose="020B0604020202020204" pitchFamily="34" charset="0"/>
                <a:ea typeface="Calibri" panose="020F0502020204030204" pitchFamily="34" charset="0"/>
                <a:cs typeface="Microsoft Sans Serif" panose="020B0604020202020204" pitchFamily="34" charset="0"/>
              </a:rPr>
              <a:t>CLINISALUD </a:t>
            </a:r>
            <a:r>
              <a:rPr lang="es-VE" sz="2000" b="1" dirty="0">
                <a:latin typeface="Microsoft Sans Serif" panose="020B0604020202020204" pitchFamily="34" charset="0"/>
                <a:ea typeface="Calibri" panose="020F0502020204030204" pitchFamily="34" charset="0"/>
                <a:cs typeface="Microsoft Sans Serif" panose="020B0604020202020204" pitchFamily="34" charset="0"/>
              </a:rPr>
              <a:t>MEDICINA PREPAGADA, S.A.</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dictará los lineamientos internos para la seguridad de la información, los cuales serán del conocimiento de todo el personal y deberán ser respetados por todo el personal de la organización.</a:t>
            </a:r>
            <a:endParaRPr lang="es-ES" sz="2000" i="1"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extLst>
      <p:ext uri="{BB962C8B-B14F-4D97-AF65-F5344CB8AC3E}">
        <p14:creationId xmlns:p14="http://schemas.microsoft.com/office/powerpoint/2010/main" val="24330856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5"/>
          <p:cNvSpPr>
            <a:spLocks noChangeArrowheads="1"/>
          </p:cNvSpPr>
          <p:nvPr/>
        </p:nvSpPr>
        <p:spPr bwMode="auto">
          <a:xfrm>
            <a:off x="457200" y="16768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spcBef>
                <a:spcPct val="20000"/>
              </a:spcBef>
            </a:pPr>
            <a:r>
              <a:rPr lang="es-ES_tradnl" altLang="es-ES" sz="3200" dirty="0">
                <a:latin typeface="Microsoft Sans Serif" panose="020B0604020202020204" pitchFamily="34" charset="0"/>
                <a:cs typeface="Microsoft Sans Serif" panose="020B0604020202020204" pitchFamily="34" charset="0"/>
              </a:rPr>
              <a:t>	</a:t>
            </a:r>
            <a:endParaRPr lang="es-ES" altLang="es-ES" sz="3200" dirty="0">
              <a:latin typeface="Microsoft Sans Serif" panose="020B0604020202020204" pitchFamily="34" charset="0"/>
              <a:cs typeface="Microsoft Sans Serif" panose="020B0604020202020204" pitchFamily="34" charset="0"/>
            </a:endParaRPr>
          </a:p>
        </p:txBody>
      </p:sp>
      <p:pic>
        <p:nvPicPr>
          <p:cNvPr id="31" name="Imagen 30">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115" y="-920"/>
            <a:ext cx="1853812" cy="1413695"/>
          </a:xfrm>
          <a:prstGeom prst="rect">
            <a:avLst/>
          </a:prstGeom>
        </p:spPr>
      </p:pic>
      <p:sp>
        <p:nvSpPr>
          <p:cNvPr id="3" name="Rectángulo 2"/>
          <p:cNvSpPr/>
          <p:nvPr/>
        </p:nvSpPr>
        <p:spPr>
          <a:xfrm>
            <a:off x="611560" y="2586462"/>
            <a:ext cx="7920880" cy="2178353"/>
          </a:xfrm>
          <a:prstGeom prst="rect">
            <a:avLst/>
          </a:prstGeom>
        </p:spPr>
        <p:txBody>
          <a:bodyPr wrap="square">
            <a:spAutoFit/>
          </a:bodyPr>
          <a:lstStyle/>
          <a:p>
            <a:pPr algn="just">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14.- </a:t>
            </a:r>
            <a:r>
              <a:rPr lang="es-VE" sz="2400" dirty="0">
                <a:latin typeface="Microsoft Sans Serif" panose="020B0604020202020204" pitchFamily="34" charset="0"/>
                <a:ea typeface="Calibri" panose="020F0502020204030204" pitchFamily="34" charset="0"/>
                <a:cs typeface="Microsoft Sans Serif" panose="020B0604020202020204" pitchFamily="34" charset="0"/>
              </a:rPr>
              <a:t>Los directivos, vicepresidentes y gerentes de </a:t>
            </a: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400" dirty="0">
                <a:latin typeface="Microsoft Sans Serif" panose="020B0604020202020204" pitchFamily="34" charset="0"/>
                <a:ea typeface="Calibri" panose="020F0502020204030204" pitchFamily="34" charset="0"/>
                <a:cs typeface="Microsoft Sans Serif" panose="020B0604020202020204" pitchFamily="34" charset="0"/>
              </a:rPr>
              <a:t>, deben dar ejemplo con su actuación, ser siempre los guías y supervisores regulares del personal a su cargo.</a:t>
            </a:r>
            <a:endParaRPr lang="es-ES" sz="24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extLst>
      <p:ext uri="{BB962C8B-B14F-4D97-AF65-F5344CB8AC3E}">
        <p14:creationId xmlns:p14="http://schemas.microsoft.com/office/powerpoint/2010/main" val="28630846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956113" cy="1949623"/>
          </a:xfrm>
          <a:prstGeom prst="rect">
            <a:avLst/>
          </a:prstGeom>
        </p:spPr>
      </p:pic>
      <p:sp>
        <p:nvSpPr>
          <p:cNvPr id="2" name="Rectángulo 1"/>
          <p:cNvSpPr/>
          <p:nvPr/>
        </p:nvSpPr>
        <p:spPr>
          <a:xfrm>
            <a:off x="539552" y="2060848"/>
            <a:ext cx="8064896" cy="3877280"/>
          </a:xfrm>
          <a:prstGeom prst="rect">
            <a:avLst/>
          </a:prstGeom>
        </p:spPr>
        <p:txBody>
          <a:bodyPr wrap="square">
            <a:spAutoFit/>
          </a:bodyPr>
          <a:lstStyle/>
          <a:p>
            <a:pPr algn="just">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ARTÍCULO 15.- </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empleados y demás trabajadores de </a:t>
            </a:r>
            <a:r>
              <a:rPr lang="es-VE" sz="2400" b="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400" i="1" dirty="0">
                <a:latin typeface="Microsoft Sans Serif" panose="020B0604020202020204" pitchFamily="34" charset="0"/>
                <a:ea typeface="Calibri" panose="020F0502020204030204" pitchFamily="34" charset="0"/>
                <a:cs typeface="Microsoft Sans Serif" panose="020B0604020202020204" pitchFamily="34" charset="0"/>
              </a:rPr>
              <a:t> tienen la obligación de conocer y hacer cumplir las políticas, normas y procedimientos propuestos por el Oficial de Cumplimiento, previa aprobación de la Junta Directiva de la organización, en materia de administración de riesgos de legitimación de capitales, financiamiento al terrorismo y financiamiento de la proliferación de armas de destrucción masiva.</a:t>
            </a:r>
            <a:endParaRPr lang="es-ES" sz="24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56113" cy="1949623"/>
          </a:xfrm>
          <a:prstGeom prst="rect">
            <a:avLst/>
          </a:prstGeom>
        </p:spPr>
      </p:pic>
      <p:sp>
        <p:nvSpPr>
          <p:cNvPr id="2" name="Rectángulo 1"/>
          <p:cNvSpPr/>
          <p:nvPr/>
        </p:nvSpPr>
        <p:spPr>
          <a:xfrm>
            <a:off x="611560" y="2324595"/>
            <a:ext cx="7920880" cy="2383538"/>
          </a:xfrm>
          <a:prstGeom prst="rect">
            <a:avLst/>
          </a:prstGeom>
        </p:spPr>
        <p:txBody>
          <a:bodyPr wrap="square">
            <a:spAutoFit/>
          </a:bodyPr>
          <a:lstStyle/>
          <a:p>
            <a:pPr algn="ctr">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CAPÍTULO III</a:t>
            </a:r>
            <a:endParaRPr lang="es-ES" sz="2400" dirty="0">
              <a:latin typeface="Microsoft Sans Serif" panose="020B0604020202020204" pitchFamily="34" charset="0"/>
              <a:ea typeface="Calibri" panose="020F0502020204030204" pitchFamily="34" charset="0"/>
              <a:cs typeface="Microsoft Sans Serif" panose="020B0604020202020204" pitchFamily="34" charset="0"/>
            </a:endParaRPr>
          </a:p>
          <a:p>
            <a:pPr algn="ctr">
              <a:lnSpc>
                <a:spcPct val="115000"/>
              </a:lnSpc>
              <a:spcBef>
                <a:spcPts val="800"/>
              </a:spcBef>
              <a:spcAft>
                <a:spcPts val="800"/>
              </a:spcAft>
            </a:pPr>
            <a:r>
              <a:rPr lang="es-VE" sz="2400" b="1" i="1" dirty="0">
                <a:latin typeface="Microsoft Sans Serif" panose="020B0604020202020204" pitchFamily="34" charset="0"/>
                <a:ea typeface="Calibri" panose="020F0502020204030204" pitchFamily="34" charset="0"/>
                <a:cs typeface="Microsoft Sans Serif" panose="020B0604020202020204" pitchFamily="34" charset="0"/>
              </a:rPr>
              <a:t>ADMINISTRACIÓN DE RIESGOS DE LEGITIMACIÓN DE CAPITALES, FINANCIAMIENTO AL TERRORISMO Y FINANCIAMIENTO DE LA PROLIFERACIÓN DE ARMAS DE DESTRUCCIÓN MASIVA</a:t>
            </a:r>
            <a:endParaRPr lang="es-ES" sz="24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56113" cy="1949623"/>
          </a:xfrm>
          <a:prstGeom prst="rect">
            <a:avLst/>
          </a:prstGeom>
        </p:spPr>
      </p:pic>
      <p:sp>
        <p:nvSpPr>
          <p:cNvPr id="4" name="Rectángulo 3"/>
          <p:cNvSpPr/>
          <p:nvPr/>
        </p:nvSpPr>
        <p:spPr>
          <a:xfrm>
            <a:off x="611560" y="1949623"/>
            <a:ext cx="7920880" cy="3954288"/>
          </a:xfrm>
          <a:prstGeom prst="rect">
            <a:avLst/>
          </a:prstGeom>
        </p:spPr>
        <p:txBody>
          <a:bodyPr wrap="square">
            <a:spAutoFit/>
          </a:bodyPr>
          <a:lstStyle/>
          <a:p>
            <a:pPr algn="just">
              <a:lnSpc>
                <a:spcPct val="115000"/>
              </a:lnSpc>
              <a:spcBef>
                <a:spcPts val="800"/>
              </a:spcBef>
              <a:spcAft>
                <a:spcPts val="800"/>
              </a:spcAft>
            </a:pP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ARTÍCULO 16.- </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empleados y demás trabajadores de </a:t>
            </a: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deberán ser vigilantes durante el cumplimiento de sus funciones, para detectar y mitigar la probabilidad de que la delincuencia organizada utilice los contratos de medicina prepagada y a la organización como plataforma para legitimar capitales y financiar actividades terroristas o la proliferación de armas de destrucción masiva; y en caso de detectar alguna operación inusual o sospechosa deberá informarlo de forma inmediata al Oficial de Cumplimiento, sin suspender en ningún momento el servicio al cliente ni alertarlo de la situación detectada.</a:t>
            </a:r>
            <a:endParaRPr lang="es-ES" sz="2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714480" cy="1480689"/>
          </a:xfrm>
          <a:prstGeom prst="rect">
            <a:avLst/>
          </a:prstGeom>
        </p:spPr>
      </p:pic>
      <p:sp>
        <p:nvSpPr>
          <p:cNvPr id="2" name="Rectángulo 1"/>
          <p:cNvSpPr/>
          <p:nvPr/>
        </p:nvSpPr>
        <p:spPr>
          <a:xfrm>
            <a:off x="467544" y="1268760"/>
            <a:ext cx="8136904" cy="5189113"/>
          </a:xfrm>
          <a:prstGeom prst="rect">
            <a:avLst/>
          </a:prstGeom>
        </p:spPr>
        <p:txBody>
          <a:bodyPr wrap="square">
            <a:spAutoFit/>
          </a:bodyPr>
          <a:lstStyle/>
          <a:p>
            <a:pPr algn="just">
              <a:lnSpc>
                <a:spcPct val="115000"/>
              </a:lnSpc>
              <a:spcBef>
                <a:spcPts val="800"/>
              </a:spcBef>
              <a:spcAft>
                <a:spcPts val="800"/>
              </a:spcAft>
            </a:pPr>
            <a:r>
              <a:rPr lang="es-VE" b="1" i="1" dirty="0">
                <a:latin typeface="Microsoft Sans Serif" panose="020B0604020202020204" pitchFamily="34" charset="0"/>
                <a:ea typeface="Calibri" panose="020F0502020204030204" pitchFamily="34" charset="0"/>
                <a:cs typeface="Microsoft Sans Serif" panose="020B0604020202020204" pitchFamily="34" charset="0"/>
              </a:rPr>
              <a:t>ARTÍCULO 17- </a:t>
            </a:r>
            <a:r>
              <a:rPr lang="es-VE"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empleados y demás trabajadores de </a:t>
            </a:r>
            <a:r>
              <a:rPr lang="es-VE"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i="1" dirty="0">
                <a:latin typeface="Microsoft Sans Serif" panose="020B0604020202020204" pitchFamily="34" charset="0"/>
                <a:ea typeface="Calibri" panose="020F0502020204030204" pitchFamily="34" charset="0"/>
                <a:cs typeface="Microsoft Sans Serif" panose="020B0604020202020204" pitchFamily="34" charset="0"/>
              </a:rPr>
              <a:t> están en el deber de conocer que existe la posibilidad de que organizaciones delictivas, la delincuencia común u organizada, realicen esfuerzos dirigidos a </a:t>
            </a:r>
            <a:r>
              <a:rPr lang="es-VE" i="1" dirty="0" smtClean="0">
                <a:latin typeface="Microsoft Sans Serif" panose="020B0604020202020204" pitchFamily="34" charset="0"/>
                <a:ea typeface="Calibri" panose="020F0502020204030204" pitchFamily="34" charset="0"/>
                <a:cs typeface="Microsoft Sans Serif" panose="020B0604020202020204" pitchFamily="34" charset="0"/>
              </a:rPr>
              <a:t>intentar debilitar </a:t>
            </a:r>
            <a:r>
              <a:rPr lang="es-VE" i="1" dirty="0">
                <a:latin typeface="Microsoft Sans Serif" panose="020B0604020202020204" pitchFamily="34" charset="0"/>
                <a:ea typeface="Calibri" panose="020F0502020204030204" pitchFamily="34" charset="0"/>
                <a:cs typeface="Microsoft Sans Serif" panose="020B0604020202020204" pitchFamily="34" charset="0"/>
              </a:rPr>
              <a:t>sus bases morales y encontrar debilidades en los procesos y sistemas internos, con la finalidad de atentar contra los intereses y patrimonio de </a:t>
            </a:r>
            <a:r>
              <a:rPr lang="es-VE"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i="1" dirty="0">
                <a:latin typeface="Microsoft Sans Serif" panose="020B0604020202020204" pitchFamily="34" charset="0"/>
                <a:ea typeface="Calibri" panose="020F0502020204030204" pitchFamily="34" charset="0"/>
                <a:cs typeface="Microsoft Sans Serif" panose="020B0604020202020204" pitchFamily="34" charset="0"/>
              </a:rPr>
              <a:t> Por tanto, tienen el deber de ajustar su acción a la legalidad y a las directrices de los manuales de normas y procedimientos, en especial las contempladas en el </a:t>
            </a:r>
            <a:r>
              <a:rPr lang="es-VE" i="1" dirty="0" smtClean="0">
                <a:latin typeface="Microsoft Sans Serif" panose="020B0604020202020204" pitchFamily="34" charset="0"/>
                <a:ea typeface="Calibri" panose="020F0502020204030204" pitchFamily="34" charset="0"/>
                <a:cs typeface="Microsoft Sans Serif" panose="020B0604020202020204" pitchFamily="34" charset="0"/>
              </a:rPr>
              <a:t> </a:t>
            </a:r>
            <a:r>
              <a:rPr lang="es-VE" i="1" dirty="0">
                <a:latin typeface="Microsoft Sans Serif" panose="020B0604020202020204" pitchFamily="34" charset="0"/>
                <a:ea typeface="Calibri" panose="020F0502020204030204" pitchFamily="34" charset="0"/>
                <a:cs typeface="Microsoft Sans Serif" panose="020B0604020202020204" pitchFamily="34" charset="0"/>
              </a:rPr>
              <a:t>Manual de Políticas, Normas y Procedimientos de Administración de Riesgos de Legitimación de Capitales, Financiamiento al Terrorismo y Financiamiento de la Proliferación de Armas de Destrucción Masiva, con la finalidad de prevenir, controlar y mitigar los posibles impactos de estos delitos, adoptando las medidas necesarias para disuadir a los delincuentes de utilizar la organización como mecanismo para lograrlo y minimizar las consecuencias negativas o adversas que puedan materializarse.</a:t>
            </a:r>
            <a:endParaRPr lang="es-ES" sz="2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714480" cy="1480689"/>
          </a:xfrm>
          <a:prstGeom prst="rect">
            <a:avLst/>
          </a:prstGeom>
        </p:spPr>
      </p:pic>
      <p:sp>
        <p:nvSpPr>
          <p:cNvPr id="5" name="Rectángulo 4"/>
          <p:cNvSpPr/>
          <p:nvPr/>
        </p:nvSpPr>
        <p:spPr>
          <a:xfrm>
            <a:off x="539552" y="1340768"/>
            <a:ext cx="7848872" cy="4693593"/>
          </a:xfrm>
          <a:prstGeom prst="rect">
            <a:avLst/>
          </a:prstGeom>
        </p:spPr>
        <p:txBody>
          <a:bodyPr wrap="square">
            <a:spAutoFit/>
          </a:bodyPr>
          <a:lstStyle/>
          <a:p>
            <a:pPr algn="just">
              <a:lnSpc>
                <a:spcPct val="115000"/>
              </a:lnSpc>
              <a:spcBef>
                <a:spcPts val="800"/>
              </a:spcBef>
              <a:spcAft>
                <a:spcPts val="800"/>
              </a:spcAft>
            </a:pP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ARTÍCULO 18.-  </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empleados y demás trabajadores de </a:t>
            </a: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deberán prestar especial atención a las operaciones tomando en consideración su cuantía, naturaleza, frecuencia o por las características de las personas que las realizan, que puedan suponer que se trata de delitos de legitimación de capitales, financiamiento al terrorismo, financiamiento para la proliferación de armas de destrucción masiva o cualquier otro relacionado, así como cualquier operación compleja, no usual o no convencional, que amerite ser informada a la Unidad de Administración de Riesgos de Legitimación de Capitales, Financiamiento al Terrorismo y Financiamiento de la Proliferación de Armas de Destrucción Masiva, para que den curso al procedimiento que corresponda.</a:t>
            </a:r>
            <a:endParaRPr lang="es-ES" sz="2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extLst>
      <p:ext uri="{BB962C8B-B14F-4D97-AF65-F5344CB8AC3E}">
        <p14:creationId xmlns:p14="http://schemas.microsoft.com/office/powerpoint/2010/main" val="27023384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76" y="-8256"/>
            <a:ext cx="1619672" cy="1643050"/>
          </a:xfrm>
          <a:prstGeom prst="rect">
            <a:avLst/>
          </a:prstGeom>
        </p:spPr>
      </p:pic>
      <p:sp>
        <p:nvSpPr>
          <p:cNvPr id="2" name="Rectángulo 1"/>
          <p:cNvSpPr/>
          <p:nvPr/>
        </p:nvSpPr>
        <p:spPr>
          <a:xfrm>
            <a:off x="683568" y="1614385"/>
            <a:ext cx="7632848" cy="4662174"/>
          </a:xfrm>
          <a:prstGeom prst="rect">
            <a:avLst/>
          </a:prstGeom>
        </p:spPr>
        <p:txBody>
          <a:bodyPr wrap="square">
            <a:spAutoFit/>
          </a:bodyPr>
          <a:lstStyle/>
          <a:p>
            <a:pPr algn="just">
              <a:lnSpc>
                <a:spcPct val="115000"/>
              </a:lnSpc>
              <a:spcBef>
                <a:spcPts val="800"/>
              </a:spcBef>
              <a:spcAft>
                <a:spcPts val="800"/>
              </a:spcAft>
            </a:pP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ARTÍCULO 19.- </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Los directivos, gerentes, empleados y demás trabajadores de </a:t>
            </a: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que tuviesen conocimiento de algún proceso de evaluación, observación, seguimiento o investigación de algún cliente o que se encuentre involucrado con la detección, información o seguimiento de operaciones o actividades que puedan suponer un riesgo de legitimación de capitales, financiamiento al terrorismo y financiamiento de la proliferación de armas de destrucción masiva, deberán mantener absoluta confidencialidad, no pudiendo advertir o informar a los clientes que están siendo o han sido parte de alguna revisión o investigación llevada a cabo de manera interna o por los autoridades o entes del estado en ejercicio de sus funciones.</a:t>
            </a:r>
            <a:endParaRPr lang="es-ES" sz="2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952"/>
            <a:ext cx="1772360" cy="1566862"/>
          </a:xfrm>
          <a:prstGeom prst="rect">
            <a:avLst/>
          </a:prstGeom>
        </p:spPr>
      </p:pic>
      <p:sp>
        <p:nvSpPr>
          <p:cNvPr id="2" name="Rectángulo 1"/>
          <p:cNvSpPr/>
          <p:nvPr/>
        </p:nvSpPr>
        <p:spPr>
          <a:xfrm>
            <a:off x="611560" y="2108639"/>
            <a:ext cx="7704856" cy="2215991"/>
          </a:xfrm>
          <a:prstGeom prst="rect">
            <a:avLst/>
          </a:prstGeom>
        </p:spPr>
        <p:txBody>
          <a:bodyPr wrap="square">
            <a:spAutoFit/>
          </a:bodyPr>
          <a:lstStyle/>
          <a:p>
            <a:pPr algn="just">
              <a:lnSpc>
                <a:spcPct val="115000"/>
              </a:lnSpc>
              <a:spcBef>
                <a:spcPts val="800"/>
              </a:spcBef>
              <a:spcAft>
                <a:spcPts val="800"/>
              </a:spcAft>
            </a:pP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ARTÍCULO 20.- </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empleados y demás trabajadores de </a:t>
            </a: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deberán colaborar activamente y prestar su apoyo al Oficial de Cumplimiento, a los fines de dar respuesta oportuna a los requerimientos solicitados por las autoridades competentes, evidenciando una actitud proactiva y diligente.</a:t>
            </a:r>
            <a:endParaRPr lang="es-ES" sz="2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
            <a:ext cx="1619672" cy="1643050"/>
          </a:xfrm>
          <a:prstGeom prst="rect">
            <a:avLst/>
          </a:prstGeom>
        </p:spPr>
      </p:pic>
      <p:sp>
        <p:nvSpPr>
          <p:cNvPr id="2" name="Rectángulo 1"/>
          <p:cNvSpPr/>
          <p:nvPr/>
        </p:nvSpPr>
        <p:spPr>
          <a:xfrm>
            <a:off x="611560" y="1643051"/>
            <a:ext cx="7776864" cy="4769960"/>
          </a:xfrm>
          <a:prstGeom prst="rect">
            <a:avLst/>
          </a:prstGeom>
        </p:spPr>
        <p:txBody>
          <a:bodyPr wrap="square">
            <a:spAutoFit/>
          </a:bodyPr>
          <a:lstStyle/>
          <a:p>
            <a:pPr algn="just">
              <a:lnSpc>
                <a:spcPct val="115000"/>
              </a:lnSpc>
              <a:spcBef>
                <a:spcPts val="800"/>
              </a:spcBef>
              <a:spcAft>
                <a:spcPts val="800"/>
              </a:spcAft>
            </a:pPr>
            <a:r>
              <a:rPr lang="es-VE" sz="1900" b="1" i="1" dirty="0">
                <a:latin typeface="Microsoft Sans Serif" panose="020B0604020202020204" pitchFamily="34" charset="0"/>
                <a:ea typeface="Calibri" panose="020F0502020204030204" pitchFamily="34" charset="0"/>
                <a:cs typeface="Microsoft Sans Serif" panose="020B0604020202020204" pitchFamily="34" charset="0"/>
              </a:rPr>
              <a:t>ARTÍCULO 21.-</a:t>
            </a:r>
            <a:r>
              <a:rPr lang="es-VE" sz="1900" i="1" dirty="0">
                <a:latin typeface="Microsoft Sans Serif" panose="020B0604020202020204" pitchFamily="34" charset="0"/>
                <a:ea typeface="Calibri" panose="020F0502020204030204" pitchFamily="34" charset="0"/>
                <a:cs typeface="Microsoft Sans Serif" panose="020B0604020202020204" pitchFamily="34" charset="0"/>
              </a:rPr>
              <a:t> Los directivos, gerentes, empleados y demás trabajadores de </a:t>
            </a:r>
            <a:r>
              <a:rPr lang="es-VE" sz="1900"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1900" i="1" dirty="0">
                <a:latin typeface="Microsoft Sans Serif" panose="020B0604020202020204" pitchFamily="34" charset="0"/>
                <a:ea typeface="Calibri" panose="020F0502020204030204" pitchFamily="34" charset="0"/>
                <a:cs typeface="Microsoft Sans Serif" panose="020B0604020202020204" pitchFamily="34" charset="0"/>
              </a:rPr>
              <a:t> deberán mantenerse informados, capacitados y actualizados en materia de administración de riesgos de legitimación de capitales, financiamiento al terrorismo y financiamiento de la proliferación de armas de destrucción masiva, por lo que harán sus mayores esfuerzos para asistir a las capacitaciones que se impartan en la organización. Igualmente es obligación del personal supervisorio promover y velar porque sus equipos de trabajo estén debidamente informados, capacitados y procurar gestionar con la mejor diligencia que estén actualizados en los temas de administración de riesgos de legitimación de capitales, financiamiento al terrorismo y financiamiento de la proliferación de armas de destrucción masiva, para lo cual contarán con el apoyo del Oficial de cumplimiento y de la Unidad.</a:t>
            </a:r>
            <a:endParaRPr lang="es-ES" sz="19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extLst>
      <p:ext uri="{BB962C8B-B14F-4D97-AF65-F5344CB8AC3E}">
        <p14:creationId xmlns:p14="http://schemas.microsoft.com/office/powerpoint/2010/main" val="347997324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714480" cy="1480689"/>
          </a:xfrm>
          <a:prstGeom prst="rect">
            <a:avLst/>
          </a:prstGeom>
        </p:spPr>
      </p:pic>
      <p:sp>
        <p:nvSpPr>
          <p:cNvPr id="11" name="Rectángulo 10"/>
          <p:cNvSpPr/>
          <p:nvPr/>
        </p:nvSpPr>
        <p:spPr>
          <a:xfrm>
            <a:off x="539552" y="2060848"/>
            <a:ext cx="8064896" cy="2923877"/>
          </a:xfrm>
          <a:prstGeom prst="rect">
            <a:avLst/>
          </a:prstGeom>
        </p:spPr>
        <p:txBody>
          <a:bodyPr wrap="square">
            <a:spAutoFit/>
          </a:bodyPr>
          <a:lstStyle/>
          <a:p>
            <a:pPr algn="just">
              <a:lnSpc>
                <a:spcPct val="115000"/>
              </a:lnSpc>
              <a:spcBef>
                <a:spcPts val="800"/>
              </a:spcBef>
              <a:spcAft>
                <a:spcPts val="800"/>
              </a:spcAft>
            </a:pP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ARTÍCULO 22.- </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Los gerentes, empleados y demás trabajadores de </a:t>
            </a: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000" b="1" i="1" dirty="0" smtClean="0">
                <a:latin typeface="Microsoft Sans Serif" panose="020B0604020202020204" pitchFamily="34" charset="0"/>
                <a:ea typeface="Calibri" panose="020F0502020204030204" pitchFamily="34" charset="0"/>
                <a:cs typeface="Microsoft Sans Serif" panose="020B0604020202020204" pitchFamily="34" charset="0"/>
              </a:rPr>
              <a:t>. </a:t>
            </a:r>
            <a:r>
              <a:rPr lang="es-VE" sz="2000" i="1" dirty="0" smtClean="0">
                <a:latin typeface="Microsoft Sans Serif" panose="020B0604020202020204" pitchFamily="34" charset="0"/>
                <a:ea typeface="Calibri" panose="020F0502020204030204" pitchFamily="34" charset="0"/>
                <a:cs typeface="Microsoft Sans Serif" panose="020B0604020202020204" pitchFamily="34" charset="0"/>
              </a:rPr>
              <a:t>que </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han sido designados como Responsables de Cumplimiento para cada área sensible, deberán servir de enlace con el Oficial de Cumplimiento, y prestarle apoyo en sus labores de mitigar el riesgo de la legitimación de capitales, financiamiento al terrorismo y financiamiento de la proliferación de armas de destrucción masiva que consideren necesarias.</a:t>
            </a:r>
            <a:endParaRPr lang="es-ES" sz="2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extLst>
      <p:ext uri="{BB962C8B-B14F-4D97-AF65-F5344CB8AC3E}">
        <p14:creationId xmlns:p14="http://schemas.microsoft.com/office/powerpoint/2010/main" val="27479125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2071669" cy="1571612"/>
          </a:xfrm>
          <a:prstGeom prst="rect">
            <a:avLst/>
          </a:prstGeom>
        </p:spPr>
      </p:pic>
      <p:sp>
        <p:nvSpPr>
          <p:cNvPr id="2" name="Rectángulo 1"/>
          <p:cNvSpPr/>
          <p:nvPr/>
        </p:nvSpPr>
        <p:spPr>
          <a:xfrm>
            <a:off x="2071669" y="2204864"/>
            <a:ext cx="4572000" cy="1921103"/>
          </a:xfrm>
          <a:prstGeom prst="rect">
            <a:avLst/>
          </a:prstGeom>
        </p:spPr>
        <p:txBody>
          <a:bodyPr>
            <a:spAutoFit/>
          </a:bodyPr>
          <a:lstStyle/>
          <a:p>
            <a:pPr algn="ctr">
              <a:lnSpc>
                <a:spcPct val="115000"/>
              </a:lnSpc>
              <a:spcBef>
                <a:spcPts val="800"/>
              </a:spcBef>
              <a:spcAft>
                <a:spcPts val="800"/>
              </a:spcAft>
            </a:pPr>
            <a:r>
              <a:rPr lang="es-VE" sz="4800" b="1" i="1" dirty="0">
                <a:latin typeface="Microsoft Sans Serif" panose="020B0604020202020204" pitchFamily="34" charset="0"/>
                <a:ea typeface="Calibri" panose="020F0502020204030204" pitchFamily="34" charset="0"/>
                <a:cs typeface="Microsoft Sans Serif" panose="020B0604020202020204" pitchFamily="34" charset="0"/>
              </a:rPr>
              <a:t>CAPÍTULO IV</a:t>
            </a:r>
            <a:endParaRPr lang="es-ES" sz="4800" dirty="0">
              <a:latin typeface="Microsoft Sans Serif" panose="020B0604020202020204" pitchFamily="34" charset="0"/>
              <a:ea typeface="Calibri" panose="020F0502020204030204" pitchFamily="34" charset="0"/>
              <a:cs typeface="Microsoft Sans Serif" panose="020B0604020202020204" pitchFamily="34" charset="0"/>
            </a:endParaRPr>
          </a:p>
          <a:p>
            <a:pPr algn="ctr">
              <a:lnSpc>
                <a:spcPct val="115000"/>
              </a:lnSpc>
              <a:spcBef>
                <a:spcPts val="800"/>
              </a:spcBef>
              <a:spcAft>
                <a:spcPts val="800"/>
              </a:spcAft>
            </a:pPr>
            <a:r>
              <a:rPr lang="es-VE" sz="4800" b="1" i="1" dirty="0">
                <a:latin typeface="Microsoft Sans Serif" panose="020B0604020202020204" pitchFamily="34" charset="0"/>
                <a:ea typeface="Calibri" panose="020F0502020204030204" pitchFamily="34" charset="0"/>
                <a:cs typeface="Microsoft Sans Serif" panose="020B0604020202020204" pitchFamily="34" charset="0"/>
              </a:rPr>
              <a:t>SANCIONES</a:t>
            </a:r>
            <a:endParaRPr lang="es-ES" sz="48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2071669" cy="1571612"/>
          </a:xfrm>
          <a:prstGeom prst="rect">
            <a:avLst/>
          </a:prstGeom>
        </p:spPr>
      </p:pic>
      <p:sp>
        <p:nvSpPr>
          <p:cNvPr id="2" name="Rectángulo 1"/>
          <p:cNvSpPr/>
          <p:nvPr/>
        </p:nvSpPr>
        <p:spPr>
          <a:xfrm>
            <a:off x="611560" y="2204864"/>
            <a:ext cx="7848872" cy="3170099"/>
          </a:xfrm>
          <a:prstGeom prst="rect">
            <a:avLst/>
          </a:prstGeom>
        </p:spPr>
        <p:txBody>
          <a:bodyPr wrap="square">
            <a:spAutoFit/>
          </a:bodyPr>
          <a:lstStyle/>
          <a:p>
            <a:pPr algn="just"/>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ARTÍCULO 23.-</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El presente Código de Ética es de obligatorio cumplimiento para los directivos, gerentes, empleados y demás trabajadores de </a:t>
            </a: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Es responsabilidad de la Junta Directiva, del Oficial de Cumplimiento, de la Gerencia de Recursos Humanos o el área que ejerza funciones equivalentes, así como también los supervisores de todos los niveles, ser garantes de la difusión y cumplimiento del contenido del Manual, de manera que todo el personal de la organización actúe bajo sus postulados y darles a conocer la posibilidad de sufrir medidas disciplinarias por su incumplimiento</a:t>
            </a:r>
            <a:endParaRPr lang="es-ES" sz="2000" dirty="0">
              <a:latin typeface="Microsoft Sans Serif" panose="020B060402020202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956113" cy="1949623"/>
          </a:xfrm>
          <a:prstGeom prst="rect">
            <a:avLst/>
          </a:prstGeom>
        </p:spPr>
      </p:pic>
      <p:sp>
        <p:nvSpPr>
          <p:cNvPr id="2" name="Rectángulo 1"/>
          <p:cNvSpPr/>
          <p:nvPr/>
        </p:nvSpPr>
        <p:spPr>
          <a:xfrm>
            <a:off x="611560" y="1969155"/>
            <a:ext cx="7920880" cy="3246402"/>
          </a:xfrm>
          <a:prstGeom prst="rect">
            <a:avLst/>
          </a:prstGeom>
        </p:spPr>
        <p:txBody>
          <a:bodyPr wrap="square">
            <a:spAutoFit/>
          </a:bodyPr>
          <a:lstStyle/>
          <a:p>
            <a:pPr algn="just">
              <a:lnSpc>
                <a:spcPct val="115000"/>
              </a:lnSpc>
              <a:spcBef>
                <a:spcPts val="800"/>
              </a:spcBef>
              <a:spcAft>
                <a:spcPts val="800"/>
              </a:spcAft>
            </a:pP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ARTÍCULO 24.- </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El incumplimiento de los principios y normas establecidos en el presente Código de Ética dará lugar al inicio del procedimiento correspondiente, y a la aplicación de sanciones según su gravedad, las cuales incluirán desde amonestaciones verbales hasta el despido justificado de conformidad con la Ley que rige las relaciones laborales, sin perjuicio de las responsabilidades a que hubiere lugar a consecuencia de la denuncia correspondiente ante los organismos competentes, en caso de que la infracción pueda considerarse delito.</a:t>
            </a:r>
            <a:endParaRPr lang="es-ES" sz="2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956113" cy="1949623"/>
          </a:xfrm>
          <a:prstGeom prst="rect">
            <a:avLst/>
          </a:prstGeom>
        </p:spPr>
      </p:pic>
      <p:sp>
        <p:nvSpPr>
          <p:cNvPr id="5" name="Rectángulo 4"/>
          <p:cNvSpPr/>
          <p:nvPr/>
        </p:nvSpPr>
        <p:spPr>
          <a:xfrm>
            <a:off x="611560" y="1772816"/>
            <a:ext cx="7920880" cy="4308231"/>
          </a:xfrm>
          <a:prstGeom prst="rect">
            <a:avLst/>
          </a:prstGeom>
        </p:spPr>
        <p:txBody>
          <a:bodyPr wrap="square">
            <a:spAutoFit/>
          </a:bodyPr>
          <a:lstStyle/>
          <a:p>
            <a:pPr algn="just">
              <a:lnSpc>
                <a:spcPct val="115000"/>
              </a:lnSpc>
              <a:spcBef>
                <a:spcPts val="800"/>
              </a:spcBef>
              <a:spcAft>
                <a:spcPts val="800"/>
              </a:spcAft>
            </a:pP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ARTÍCULO 25.- </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Los directivos, gerentes, empleados  y demás trabajadores de CLINISALUD MEDICINA PREPAGADA, C.A, que directa o indirectamente, a través de acción u omisión, participe, preste asistencia, propicie o sea negligente en la observancia de sus deberes de prevención y control de algún delito como fraude, legitimación de capitales, financiamiento al terrorismo, financiamiento de la proliferación de armas de destrucción masiva u otros vinculados, o la acción frustrada de los mismos, será despedido y </a:t>
            </a: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se reserva el derecho de ejercer las acciones legales, civiles, administrativas y penales que apliquen ante las autoridades competentes.</a:t>
            </a:r>
            <a:endParaRPr lang="es-ES" sz="2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956113" cy="1949623"/>
          </a:xfrm>
          <a:prstGeom prst="rect">
            <a:avLst/>
          </a:prstGeom>
        </p:spPr>
      </p:pic>
      <p:sp>
        <p:nvSpPr>
          <p:cNvPr id="2" name="Rectángulo 1"/>
          <p:cNvSpPr/>
          <p:nvPr/>
        </p:nvSpPr>
        <p:spPr>
          <a:xfrm>
            <a:off x="611560" y="2108639"/>
            <a:ext cx="7920880" cy="2215991"/>
          </a:xfrm>
          <a:prstGeom prst="rect">
            <a:avLst/>
          </a:prstGeom>
        </p:spPr>
        <p:txBody>
          <a:bodyPr wrap="square">
            <a:spAutoFit/>
          </a:bodyPr>
          <a:lstStyle/>
          <a:p>
            <a:pPr algn="just">
              <a:lnSpc>
                <a:spcPct val="115000"/>
              </a:lnSpc>
              <a:spcBef>
                <a:spcPts val="800"/>
              </a:spcBef>
              <a:spcAft>
                <a:spcPts val="800"/>
              </a:spcAft>
            </a:pP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ARTÍCULO 26.-</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El desconocimiento de las disposiciones contenidas en el presente Código de Ética no será excusa ni exonerará al implicad del obligatorio cumplimiento, y en caso de incumplimiento, </a:t>
            </a:r>
            <a:r>
              <a:rPr lang="es-VE" sz="2000" b="1" i="1" dirty="0">
                <a:latin typeface="Microsoft Sans Serif" panose="020B0604020202020204" pitchFamily="34" charset="0"/>
                <a:ea typeface="Calibri" panose="020F0502020204030204" pitchFamily="34" charset="0"/>
                <a:cs typeface="Microsoft Sans Serif" panose="020B0604020202020204" pitchFamily="34" charset="0"/>
              </a:rPr>
              <a:t>CLINISALUD MEDICINA PREPAGADA, S.A.</a:t>
            </a:r>
            <a:r>
              <a:rPr lang="es-VE" sz="2000" i="1" dirty="0">
                <a:latin typeface="Microsoft Sans Serif" panose="020B0604020202020204" pitchFamily="34" charset="0"/>
                <a:ea typeface="Calibri" panose="020F0502020204030204" pitchFamily="34" charset="0"/>
                <a:cs typeface="Microsoft Sans Serif" panose="020B0604020202020204" pitchFamily="34" charset="0"/>
              </a:rPr>
              <a:t> se encuentra facultada para proceder de la manera que corresponda según la gravedad del caso.</a:t>
            </a:r>
            <a:endParaRPr lang="es-ES" sz="2000" dirty="0">
              <a:effectLst/>
              <a:latin typeface="Microsoft Sans Serif" panose="020B0604020202020204" pitchFamily="34" charset="0"/>
              <a:ea typeface="Calibri" panose="020F0502020204030204" pitchFamily="34" charset="0"/>
              <a:cs typeface="Microsoft Sans Serif" panose="020B0604020202020204"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956113" cy="1949623"/>
          </a:xfrm>
          <a:prstGeom prst="rect">
            <a:avLst/>
          </a:prstGeom>
        </p:spPr>
      </p:pic>
      <p:sp>
        <p:nvSpPr>
          <p:cNvPr id="4" name="Text Box 4"/>
          <p:cNvSpPr txBox="1">
            <a:spLocks noChangeArrowheads="1"/>
          </p:cNvSpPr>
          <p:nvPr/>
        </p:nvSpPr>
        <p:spPr bwMode="auto">
          <a:xfrm>
            <a:off x="3255963" y="4241800"/>
            <a:ext cx="184731" cy="369332"/>
          </a:xfrm>
          <a:prstGeom prst="rect">
            <a:avLst/>
          </a:prstGeom>
          <a:noFill/>
          <a:ln w="9525">
            <a:noFill/>
            <a:miter lim="800000"/>
            <a:headEnd/>
            <a:tailEnd/>
          </a:ln>
        </p:spPr>
        <p:txBody>
          <a:bodyPr wrap="none">
            <a:spAutoFit/>
          </a:bodyPr>
          <a:lstStyle/>
          <a:p>
            <a:endParaRPr lang="es-VE" dirty="0">
              <a:latin typeface="Microsoft Sans Serif" panose="020B0604020202020204" pitchFamily="34" charset="0"/>
              <a:cs typeface="Microsoft Sans Serif" panose="020B0604020202020204" pitchFamily="34" charset="0"/>
            </a:endParaRPr>
          </a:p>
        </p:txBody>
      </p:sp>
      <p:sp>
        <p:nvSpPr>
          <p:cNvPr id="11" name="Rectángulo 10"/>
          <p:cNvSpPr/>
          <p:nvPr/>
        </p:nvSpPr>
        <p:spPr>
          <a:xfrm>
            <a:off x="2195736" y="2181225"/>
            <a:ext cx="4572000" cy="1006429"/>
          </a:xfrm>
          <a:prstGeom prst="rect">
            <a:avLst/>
          </a:prstGeom>
        </p:spPr>
        <p:txBody>
          <a:bodyPr>
            <a:spAutoFit/>
          </a:bodyPr>
          <a:lstStyle/>
          <a:p>
            <a:pPr algn="ctr">
              <a:lnSpc>
                <a:spcPct val="115000"/>
              </a:lnSpc>
              <a:spcAft>
                <a:spcPts val="0"/>
              </a:spcAft>
            </a:pPr>
            <a:r>
              <a:rPr lang="es-VE" dirty="0">
                <a:latin typeface="Calibri Light" panose="020F0302020204030204" pitchFamily="34" charset="0"/>
                <a:ea typeface="Calibri" panose="020F0502020204030204" pitchFamily="34" charset="0"/>
                <a:cs typeface="Calibri Light" panose="020F0302020204030204" pitchFamily="34" charset="0"/>
              </a:rPr>
              <a:t> </a:t>
            </a:r>
            <a:endParaRPr lang="es-ES" sz="2000" dirty="0">
              <a:latin typeface="Tahoma" panose="020B060403050404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s-VE" b="1" dirty="0">
                <a:latin typeface="Calibri Light" panose="020F0302020204030204" pitchFamily="34" charset="0"/>
                <a:ea typeface="Calibri" panose="020F0502020204030204" pitchFamily="34" charset="0"/>
                <a:cs typeface="Calibri Light" panose="020F0302020204030204" pitchFamily="34" charset="0"/>
              </a:rPr>
              <a:t>GUILLERMO E. GERRERO TUA</a:t>
            </a:r>
            <a:endParaRPr lang="es-ES" sz="2000" b="1" dirty="0">
              <a:latin typeface="Tahoma" panose="020B0604030504040204" pitchFamily="34" charset="0"/>
              <a:ea typeface="Calibri" panose="020F0502020204030204" pitchFamily="34" charset="0"/>
              <a:cs typeface="Times New Roman" panose="02020603050405020304" pitchFamily="18" charset="0"/>
            </a:endParaRPr>
          </a:p>
          <a:p>
            <a:pPr algn="ctr"/>
            <a:r>
              <a:rPr lang="es-VE" b="1" dirty="0">
                <a:latin typeface="Calibri Light" panose="020F0302020204030204" pitchFamily="34" charset="0"/>
                <a:ea typeface="Calibri" panose="020F0502020204030204" pitchFamily="34" charset="0"/>
                <a:cs typeface="Calibri Light" panose="020F0302020204030204" pitchFamily="34" charset="0"/>
              </a:rPr>
              <a:t>PRESIDENTE</a:t>
            </a:r>
            <a:endParaRPr lang="es-ES" b="1" dirty="0"/>
          </a:p>
        </p:txBody>
      </p:sp>
      <p:sp>
        <p:nvSpPr>
          <p:cNvPr id="12" name="Rectángulo 11"/>
          <p:cNvSpPr/>
          <p:nvPr/>
        </p:nvSpPr>
        <p:spPr>
          <a:xfrm>
            <a:off x="65907" y="3399663"/>
            <a:ext cx="4572000" cy="1006429"/>
          </a:xfrm>
          <a:prstGeom prst="rect">
            <a:avLst/>
          </a:prstGeom>
        </p:spPr>
        <p:txBody>
          <a:bodyPr>
            <a:spAutoFit/>
          </a:bodyPr>
          <a:lstStyle/>
          <a:p>
            <a:pPr algn="ctr">
              <a:lnSpc>
                <a:spcPct val="115000"/>
              </a:lnSpc>
              <a:spcAft>
                <a:spcPts val="0"/>
              </a:spcAft>
            </a:pPr>
            <a:r>
              <a:rPr lang="es-VE" dirty="0">
                <a:latin typeface="Calibri Light" panose="020F0302020204030204" pitchFamily="34" charset="0"/>
                <a:ea typeface="Calibri" panose="020F0502020204030204" pitchFamily="34" charset="0"/>
                <a:cs typeface="Calibri Light" panose="020F0302020204030204" pitchFamily="34" charset="0"/>
              </a:rPr>
              <a:t> </a:t>
            </a:r>
            <a:endParaRPr lang="es-ES" sz="2000" dirty="0">
              <a:latin typeface="Tahoma" panose="020B060403050404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s-VE" b="1" dirty="0">
                <a:latin typeface="Calibri Light" panose="020F0302020204030204" pitchFamily="34" charset="0"/>
                <a:ea typeface="Calibri" panose="020F0502020204030204" pitchFamily="34" charset="0"/>
                <a:cs typeface="Calibri Light" panose="020F0302020204030204" pitchFamily="34" charset="0"/>
              </a:rPr>
              <a:t>ZULAY COROMOTO AGELVIS MORALES</a:t>
            </a:r>
            <a:endParaRPr lang="es-ES" sz="2000" b="1" dirty="0">
              <a:latin typeface="Tahoma" panose="020B0604030504040204" pitchFamily="34" charset="0"/>
              <a:ea typeface="Calibri" panose="020F0502020204030204" pitchFamily="34" charset="0"/>
              <a:cs typeface="Times New Roman" panose="02020603050405020304" pitchFamily="18" charset="0"/>
            </a:endParaRPr>
          </a:p>
          <a:p>
            <a:pPr algn="ctr"/>
            <a:r>
              <a:rPr lang="es-VE" b="1" dirty="0">
                <a:latin typeface="Calibri Light" panose="020F0302020204030204" pitchFamily="34" charset="0"/>
                <a:ea typeface="Calibri" panose="020F0502020204030204" pitchFamily="34" charset="0"/>
                <a:cs typeface="Calibri Light" panose="020F0302020204030204" pitchFamily="34" charset="0"/>
              </a:rPr>
              <a:t>VIDEPRESIDENTE</a:t>
            </a:r>
            <a:endParaRPr lang="es-ES" b="1" dirty="0"/>
          </a:p>
        </p:txBody>
      </p:sp>
      <p:sp>
        <p:nvSpPr>
          <p:cNvPr id="13" name="Rectángulo 12"/>
          <p:cNvSpPr/>
          <p:nvPr/>
        </p:nvSpPr>
        <p:spPr>
          <a:xfrm>
            <a:off x="4344750" y="3392694"/>
            <a:ext cx="4572000" cy="1006429"/>
          </a:xfrm>
          <a:prstGeom prst="rect">
            <a:avLst/>
          </a:prstGeom>
        </p:spPr>
        <p:txBody>
          <a:bodyPr>
            <a:spAutoFit/>
          </a:bodyPr>
          <a:lstStyle/>
          <a:p>
            <a:pPr>
              <a:lnSpc>
                <a:spcPct val="115000"/>
              </a:lnSpc>
              <a:spcAft>
                <a:spcPts val="0"/>
              </a:spcAft>
            </a:pPr>
            <a:r>
              <a:rPr lang="es-VE" dirty="0">
                <a:latin typeface="Calibri Light" panose="020F0302020204030204" pitchFamily="34" charset="0"/>
                <a:ea typeface="Calibri" panose="020F0502020204030204" pitchFamily="34" charset="0"/>
                <a:cs typeface="Calibri Light" panose="020F0302020204030204" pitchFamily="34" charset="0"/>
              </a:rPr>
              <a:t> </a:t>
            </a:r>
            <a:endParaRPr lang="es-ES" sz="2000" dirty="0">
              <a:latin typeface="Tahoma" panose="020B060403050404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s-VE" b="1" dirty="0">
                <a:latin typeface="Calibri Light" panose="020F0302020204030204" pitchFamily="34" charset="0"/>
                <a:ea typeface="Calibri" panose="020F0502020204030204" pitchFamily="34" charset="0"/>
                <a:cs typeface="Calibri Light" panose="020F0302020204030204" pitchFamily="34" charset="0"/>
              </a:rPr>
              <a:t>ZULIMAR DEL CARMEN MATHEUS ALBORNOZ</a:t>
            </a:r>
            <a:endParaRPr lang="es-ES" sz="2000" b="1" dirty="0">
              <a:latin typeface="Tahoma" panose="020B0604030504040204" pitchFamily="34" charset="0"/>
              <a:ea typeface="Calibri" panose="020F0502020204030204" pitchFamily="34" charset="0"/>
              <a:cs typeface="Times New Roman" panose="02020603050405020304" pitchFamily="18" charset="0"/>
            </a:endParaRPr>
          </a:p>
          <a:p>
            <a:pPr algn="ctr"/>
            <a:r>
              <a:rPr lang="es-VE" b="1" dirty="0">
                <a:latin typeface="Calibri Light" panose="020F0302020204030204" pitchFamily="34" charset="0"/>
                <a:ea typeface="Calibri" panose="020F0502020204030204" pitchFamily="34" charset="0"/>
                <a:cs typeface="Calibri Light" panose="020F0302020204030204" pitchFamily="34" charset="0"/>
              </a:rPr>
              <a:t>DIRECTORA MÉDICO</a:t>
            </a:r>
            <a:endParaRPr lang="es-ES" b="1" dirty="0"/>
          </a:p>
        </p:txBody>
      </p:sp>
      <p:sp>
        <p:nvSpPr>
          <p:cNvPr id="14" name="Rectángulo 13"/>
          <p:cNvSpPr/>
          <p:nvPr/>
        </p:nvSpPr>
        <p:spPr>
          <a:xfrm>
            <a:off x="-90264" y="5107062"/>
            <a:ext cx="4572000" cy="687881"/>
          </a:xfrm>
          <a:prstGeom prst="rect">
            <a:avLst/>
          </a:prstGeom>
        </p:spPr>
        <p:txBody>
          <a:bodyPr>
            <a:spAutoFit/>
          </a:bodyPr>
          <a:lstStyle/>
          <a:p>
            <a:pPr algn="ctr">
              <a:lnSpc>
                <a:spcPct val="115000"/>
              </a:lnSpc>
              <a:spcAft>
                <a:spcPts val="0"/>
              </a:spcAft>
            </a:pPr>
            <a:r>
              <a:rPr lang="es-VE" b="1" dirty="0">
                <a:latin typeface="Calibri Light" panose="020F0302020204030204" pitchFamily="34" charset="0"/>
                <a:ea typeface="Calibri" panose="020F0502020204030204" pitchFamily="34" charset="0"/>
                <a:cs typeface="Calibri Light" panose="020F0302020204030204" pitchFamily="34" charset="0"/>
              </a:rPr>
              <a:t>MARIA FELICIA ALBORNOZ LOBO</a:t>
            </a:r>
            <a:endParaRPr lang="es-ES" sz="2000" b="1" dirty="0">
              <a:latin typeface="Tahoma" panose="020B0604030504040204" pitchFamily="34" charset="0"/>
              <a:ea typeface="Calibri" panose="020F0502020204030204" pitchFamily="34" charset="0"/>
              <a:cs typeface="Times New Roman" panose="02020603050405020304" pitchFamily="18" charset="0"/>
            </a:endParaRPr>
          </a:p>
          <a:p>
            <a:pPr algn="ctr"/>
            <a:r>
              <a:rPr lang="es-VE" b="1" dirty="0">
                <a:latin typeface="Calibri Light" panose="020F0302020204030204" pitchFamily="34" charset="0"/>
                <a:ea typeface="Calibri" panose="020F0502020204030204" pitchFamily="34" charset="0"/>
                <a:cs typeface="Calibri Light" panose="020F0302020204030204" pitchFamily="34" charset="0"/>
              </a:rPr>
              <a:t>DIRECTORA ADMINISTRATIVA</a:t>
            </a:r>
            <a:endParaRPr lang="es-ES" b="1" dirty="0"/>
          </a:p>
        </p:txBody>
      </p:sp>
      <p:sp>
        <p:nvSpPr>
          <p:cNvPr id="15" name="Rectángulo 14"/>
          <p:cNvSpPr/>
          <p:nvPr/>
        </p:nvSpPr>
        <p:spPr>
          <a:xfrm>
            <a:off x="4489549" y="5107062"/>
            <a:ext cx="4572000" cy="646331"/>
          </a:xfrm>
          <a:prstGeom prst="rect">
            <a:avLst/>
          </a:prstGeom>
        </p:spPr>
        <p:txBody>
          <a:bodyPr>
            <a:spAutoFit/>
          </a:bodyPr>
          <a:lstStyle/>
          <a:p>
            <a:pPr algn="ctr"/>
            <a:r>
              <a:rPr lang="es-VE" b="1" dirty="0" smtClean="0">
                <a:latin typeface="Calibri Light" panose="020F0302020204030204" pitchFamily="34" charset="0"/>
                <a:ea typeface="Calibri" panose="020F0502020204030204" pitchFamily="34" charset="0"/>
                <a:cs typeface="Calibri Light" panose="020F0302020204030204" pitchFamily="34" charset="0"/>
              </a:rPr>
              <a:t>ARMANDO VILLASMIL</a:t>
            </a:r>
          </a:p>
          <a:p>
            <a:pPr algn="ctr"/>
            <a:r>
              <a:rPr lang="es-VE" b="1" dirty="0" smtClean="0">
                <a:latin typeface="Calibri Light" panose="020F0302020204030204" pitchFamily="34" charset="0"/>
                <a:ea typeface="Calibri" panose="020F0502020204030204" pitchFamily="34" charset="0"/>
                <a:cs typeface="Calibri Light" panose="020F0302020204030204" pitchFamily="34" charset="0"/>
              </a:rPr>
              <a:t>DIRECTOR </a:t>
            </a:r>
            <a:r>
              <a:rPr lang="es-VE" b="1" dirty="0" smtClean="0">
                <a:latin typeface="Calibri Light" panose="020F0302020204030204" pitchFamily="34" charset="0"/>
                <a:ea typeface="Calibri" panose="020F0502020204030204" pitchFamily="34" charset="0"/>
                <a:cs typeface="Calibri Light" panose="020F0302020204030204" pitchFamily="34" charset="0"/>
              </a:rPr>
              <a:t>OPERATIVO</a:t>
            </a:r>
            <a:endParaRPr lang="es-ES" b="1" dirty="0"/>
          </a:p>
        </p:txBody>
      </p:sp>
      <p:sp>
        <p:nvSpPr>
          <p:cNvPr id="16" name="Rectángulo 15"/>
          <p:cNvSpPr/>
          <p:nvPr/>
        </p:nvSpPr>
        <p:spPr>
          <a:xfrm>
            <a:off x="978056" y="1766859"/>
            <a:ext cx="7554384" cy="389337"/>
          </a:xfrm>
          <a:prstGeom prst="rect">
            <a:avLst/>
          </a:prstGeom>
        </p:spPr>
        <p:txBody>
          <a:bodyPr wrap="square">
            <a:spAutoFit/>
          </a:bodyPr>
          <a:lstStyle/>
          <a:p>
            <a:pPr algn="ctr">
              <a:lnSpc>
                <a:spcPct val="115000"/>
              </a:lnSpc>
              <a:spcBef>
                <a:spcPts val="800"/>
              </a:spcBef>
              <a:spcAft>
                <a:spcPts val="800"/>
              </a:spcAft>
            </a:pPr>
            <a:r>
              <a:rPr lang="es-VE" b="1" dirty="0">
                <a:latin typeface="Calibri Light" panose="020F0302020204030204" pitchFamily="34" charset="0"/>
                <a:ea typeface="Calibri" panose="020F0502020204030204" pitchFamily="34" charset="0"/>
                <a:cs typeface="Calibri Light" panose="020F0302020204030204" pitchFamily="34" charset="0"/>
              </a:rPr>
              <a:t>Caracas, a los tres (3) días del mes de octubre de dos mil veintidós (2022). </a:t>
            </a:r>
            <a:endParaRPr lang="es-ES" sz="2000" b="1" dirty="0">
              <a:effectLst/>
              <a:latin typeface="Tahoma" panose="020B060403050404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1956113" cy="1949623"/>
          </a:xfrm>
          <a:prstGeom prst="rect">
            <a:avLst/>
          </a:prstGeom>
        </p:spPr>
      </p:pic>
      <p:graphicFrame>
        <p:nvGraphicFramePr>
          <p:cNvPr id="3" name="Object 2"/>
          <p:cNvGraphicFramePr>
            <a:graphicFrameLocks noChangeAspect="1"/>
          </p:cNvGraphicFramePr>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1484" name="Diapositiva" r:id="rId4" imgW="4572000" imgH="3429000" progId="PowerPoint.Slide.8">
                  <p:embed/>
                </p:oleObj>
              </mc:Choice>
              <mc:Fallback>
                <p:oleObj name="Diapositiva" r:id="rId4" imgW="4572000" imgH="3429000" progId="PowerPoint.Slide.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3"/>
          <p:cNvSpPr txBox="1">
            <a:spLocks noChangeArrowheads="1"/>
          </p:cNvSpPr>
          <p:nvPr/>
        </p:nvSpPr>
        <p:spPr bwMode="auto">
          <a:xfrm>
            <a:off x="381000" y="2133600"/>
            <a:ext cx="8229600" cy="1920875"/>
          </a:xfrm>
          <a:prstGeom prst="rect">
            <a:avLst/>
          </a:prstGeom>
          <a:noFill/>
          <a:ln w="9525" algn="ctr">
            <a:noFill/>
            <a:miter lim="800000"/>
            <a:headEnd/>
            <a:tailEnd/>
          </a:ln>
          <a:effectLst/>
        </p:spPr>
        <p:txBody>
          <a:bodyPr>
            <a:spAutoFit/>
          </a:bodyPr>
          <a:lstStyle/>
          <a:p>
            <a:pPr algn="ctr">
              <a:spcBef>
                <a:spcPct val="50000"/>
              </a:spcBef>
              <a:defRPr/>
            </a:pPr>
            <a:r>
              <a:rPr lang="es-VE" sz="4000" b="1" i="1" dirty="0">
                <a:solidFill>
                  <a:srgbClr val="FFFFFF"/>
                </a:solidFill>
                <a:effectLst>
                  <a:outerShdw blurRad="38100" dist="38100" dir="2700000" algn="tl">
                    <a:srgbClr val="C0C0C0"/>
                  </a:outerShdw>
                </a:effectLst>
                <a:latin typeface="Arial" pitchFamily="34" charset="0"/>
              </a:rPr>
              <a:t>“Aquellos que estando preparados enfrentan lo desconocido serán victoriosos”</a:t>
            </a:r>
            <a:endParaRPr lang="es-ES" sz="4000" b="1" i="1" dirty="0">
              <a:solidFill>
                <a:srgbClr val="FFFFFF"/>
              </a:solidFill>
              <a:effectLst>
                <a:outerShdw blurRad="38100" dist="38100" dir="2700000" algn="tl">
                  <a:srgbClr val="C0C0C0"/>
                </a:outerShdw>
              </a:effectLst>
              <a:latin typeface="Arial" pitchFamily="34" charset="0"/>
            </a:endParaRPr>
          </a:p>
        </p:txBody>
      </p:sp>
      <p:sp>
        <p:nvSpPr>
          <p:cNvPr id="5" name="Text Box 4"/>
          <p:cNvSpPr txBox="1">
            <a:spLocks noChangeArrowheads="1"/>
          </p:cNvSpPr>
          <p:nvPr/>
        </p:nvSpPr>
        <p:spPr bwMode="auto">
          <a:xfrm>
            <a:off x="5638800" y="5029200"/>
            <a:ext cx="2667000" cy="779463"/>
          </a:xfrm>
          <a:prstGeom prst="rect">
            <a:avLst/>
          </a:prstGeom>
          <a:noFill/>
          <a:ln w="9525" algn="ctr">
            <a:noFill/>
            <a:miter lim="800000"/>
            <a:headEnd/>
            <a:tailEnd/>
          </a:ln>
          <a:effectLst/>
        </p:spPr>
        <p:txBody>
          <a:bodyPr>
            <a:spAutoFit/>
          </a:bodyPr>
          <a:lstStyle/>
          <a:p>
            <a:pPr>
              <a:spcBef>
                <a:spcPct val="50000"/>
              </a:spcBef>
              <a:defRPr/>
            </a:pPr>
            <a:r>
              <a:rPr lang="es-VE" sz="1800" b="1" i="1" dirty="0">
                <a:solidFill>
                  <a:srgbClr val="CCECFF"/>
                </a:solidFill>
                <a:effectLst>
                  <a:outerShdw blurRad="38100" dist="38100" dir="2700000" algn="tl">
                    <a:srgbClr val="C0C0C0"/>
                  </a:outerShdw>
                </a:effectLst>
                <a:latin typeface="Arial" pitchFamily="34" charset="0"/>
              </a:rPr>
              <a:t>Sun Tzu</a:t>
            </a:r>
          </a:p>
          <a:p>
            <a:pPr>
              <a:spcBef>
                <a:spcPct val="50000"/>
              </a:spcBef>
              <a:defRPr/>
            </a:pPr>
            <a:r>
              <a:rPr lang="es-VE" sz="1800" b="1" i="1" dirty="0">
                <a:solidFill>
                  <a:srgbClr val="CCECFF"/>
                </a:solidFill>
                <a:effectLst>
                  <a:outerShdw blurRad="38100" dist="38100" dir="2700000" algn="tl">
                    <a:srgbClr val="C0C0C0"/>
                  </a:outerShdw>
                </a:effectLst>
                <a:latin typeface="Arial" pitchFamily="34" charset="0"/>
              </a:rPr>
              <a:t>(El Arte de la Guerra)</a:t>
            </a:r>
            <a:endParaRPr lang="es-ES" sz="1800" b="1" i="1" dirty="0">
              <a:solidFill>
                <a:srgbClr val="CCECFF"/>
              </a:solidFill>
              <a:effectLst>
                <a:outerShdw blurRad="38100" dist="38100" dir="2700000" algn="tl">
                  <a:srgbClr val="C0C0C0"/>
                </a:outerShdw>
              </a:effectLst>
              <a:latin typeface="Arial"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3">
            <a:extLst>
              <a:ext uri="{FF2B5EF4-FFF2-40B4-BE49-F238E27FC236}">
                <a16:creationId xmlns:a16="http://schemas.microsoft.com/office/drawing/2014/main" id="{550F80E7-BE42-CF0B-4F68-37EF0052C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956113" cy="1949623"/>
          </a:xfrm>
          <a:prstGeom prst="rect">
            <a:avLst/>
          </a:prstGeom>
        </p:spPr>
      </p:pic>
      <p:sp>
        <p:nvSpPr>
          <p:cNvPr id="3" name="AutoShape 6" descr="Superintendencia de la Actividad Aseguradora | Caracas">
            <a:extLst>
              <a:ext uri="{FF2B5EF4-FFF2-40B4-BE49-F238E27FC236}">
                <a16:creationId xmlns:a16="http://schemas.microsoft.com/office/drawing/2014/main" id="{81F9DB46-99E0-F7D8-A5FF-71420AEBDA06}"/>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VE" altLang="es-VE" dirty="0">
              <a:latin typeface="Lucida Sans Unicode" panose="020B0602030504020204" pitchFamily="34" charset="0"/>
            </a:endParaRPr>
          </a:p>
        </p:txBody>
      </p:sp>
      <p:sp>
        <p:nvSpPr>
          <p:cNvPr id="4" name="7 Rectángulo">
            <a:extLst>
              <a:ext uri="{FF2B5EF4-FFF2-40B4-BE49-F238E27FC236}">
                <a16:creationId xmlns:a16="http://schemas.microsoft.com/office/drawing/2014/main" id="{4E668D82-2BBB-557D-72E1-16DD0179387C}"/>
              </a:ext>
            </a:extLst>
          </p:cNvPr>
          <p:cNvSpPr>
            <a:spLocks noChangeArrowheads="1"/>
          </p:cNvSpPr>
          <p:nvPr/>
        </p:nvSpPr>
        <p:spPr bwMode="auto">
          <a:xfrm>
            <a:off x="4572000" y="6072188"/>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s-VE" altLang="es-VE" b="1" dirty="0">
                <a:latin typeface="Agency FB" panose="020B0503020202020204" pitchFamily="34" charset="77"/>
              </a:rPr>
              <a:t>18 años ofreciendo bienestar y servicios </a:t>
            </a:r>
          </a:p>
          <a:p>
            <a:pPr algn="r" eaLnBrk="1" hangingPunct="1"/>
            <a:r>
              <a:rPr lang="es-VE" altLang="es-VE" b="1" dirty="0">
                <a:latin typeface="Agency FB" panose="020B0503020202020204" pitchFamily="34" charset="77"/>
              </a:rPr>
              <a:t>Porque su salud no es un gasto, es una sana inversión </a:t>
            </a:r>
          </a:p>
        </p:txBody>
      </p:sp>
      <p:sp>
        <p:nvSpPr>
          <p:cNvPr id="5" name="8 Título">
            <a:extLst>
              <a:ext uri="{FF2B5EF4-FFF2-40B4-BE49-F238E27FC236}">
                <a16:creationId xmlns:a16="http://schemas.microsoft.com/office/drawing/2014/main" id="{94C833C0-1136-51E0-BD0C-0A1FD065CD6C}"/>
              </a:ext>
            </a:extLst>
          </p:cNvPr>
          <p:cNvSpPr txBox="1">
            <a:spLocks/>
          </p:cNvSpPr>
          <p:nvPr/>
        </p:nvSpPr>
        <p:spPr>
          <a:xfrm>
            <a:off x="785786" y="1214422"/>
            <a:ext cx="7629524" cy="642942"/>
          </a:xfrm>
          <a:prstGeom prst="rect">
            <a:avLst/>
          </a:prstGeom>
        </p:spPr>
        <p:txBody>
          <a:bodyPr>
            <a:noAutofit/>
          </a:body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es-VE" sz="2400" b="0" i="0" u="none" strike="noStrike" kern="1200" cap="none" spc="0" normalizeH="0" baseline="0" noProof="0" dirty="0" smtClean="0">
                <a:ln>
                  <a:noFill/>
                </a:ln>
                <a:solidFill>
                  <a:schemeClr val="tx1"/>
                </a:solidFill>
                <a:effectLst/>
                <a:uLnTx/>
                <a:uFillTx/>
                <a:latin typeface="+mj-lt"/>
                <a:ea typeface="+mj-ea"/>
                <a:cs typeface="+mj-cs"/>
              </a:rPr>
              <a:t/>
            </a:r>
            <a:br>
              <a:rPr kumimoji="0" lang="es-VE" sz="2400" b="0" i="0" u="none" strike="noStrike" kern="1200" cap="none" spc="0" normalizeH="0" baseline="0" noProof="0" dirty="0" smtClean="0">
                <a:ln>
                  <a:noFill/>
                </a:ln>
                <a:solidFill>
                  <a:schemeClr val="tx1"/>
                </a:solidFill>
                <a:effectLst/>
                <a:uLnTx/>
                <a:uFillTx/>
                <a:latin typeface="+mj-lt"/>
                <a:ea typeface="+mj-ea"/>
                <a:cs typeface="+mj-cs"/>
              </a:rPr>
            </a:br>
            <a:endParaRPr kumimoji="0" lang="es-VE" sz="2400" b="0" i="0" u="none" strike="noStrike" kern="1200" cap="none" spc="0" normalizeH="0" baseline="0" noProof="0" dirty="0">
              <a:ln>
                <a:noFill/>
              </a:ln>
              <a:solidFill>
                <a:schemeClr val="tx1"/>
              </a:solidFill>
              <a:effectLst/>
              <a:uLnTx/>
              <a:uFillTx/>
              <a:latin typeface="+mj-lt"/>
              <a:ea typeface="+mj-ea"/>
              <a:cs typeface="+mj-cs"/>
            </a:endParaRPr>
          </a:p>
        </p:txBody>
      </p:sp>
      <p:sp>
        <p:nvSpPr>
          <p:cNvPr id="6" name="AutoShape 2" descr="gracias por su atencion">
            <a:extLst>
              <a:ext uri="{FF2B5EF4-FFF2-40B4-BE49-F238E27FC236}">
                <a16:creationId xmlns:a16="http://schemas.microsoft.com/office/drawing/2014/main" id="{00C7892D-D178-9FD6-4A6E-BCFD72FFC3B0}"/>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VE" altLang="es-VE" dirty="0">
              <a:latin typeface="Lucida Sans Unicode" panose="020B0602030504020204" pitchFamily="34" charset="0"/>
            </a:endParaRPr>
          </a:p>
        </p:txBody>
      </p:sp>
      <p:pic>
        <p:nvPicPr>
          <p:cNvPr id="8" name="Imagen 1">
            <a:extLst>
              <a:ext uri="{FF2B5EF4-FFF2-40B4-BE49-F238E27FC236}">
                <a16:creationId xmlns:a16="http://schemas.microsoft.com/office/drawing/2014/main" id="{E76B4A2C-6B26-A018-F6E6-E64E0EA890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2249"/>
            <a:ext cx="1956113" cy="2041872"/>
          </a:xfrm>
          <a:prstGeom prst="rect">
            <a:avLst/>
          </a:prstGeom>
        </p:spPr>
      </p:pic>
      <p:sp>
        <p:nvSpPr>
          <p:cNvPr id="10" name="10 Rectángulo redondeado">
            <a:extLst>
              <a:ext uri="{FF2B5EF4-FFF2-40B4-BE49-F238E27FC236}">
                <a16:creationId xmlns:a16="http://schemas.microsoft.com/office/drawing/2014/main" id="{31A6A9AB-E304-B7C2-8AA6-BA563791FB7D}"/>
              </a:ext>
            </a:extLst>
          </p:cNvPr>
          <p:cNvSpPr/>
          <p:nvPr/>
        </p:nvSpPr>
        <p:spPr>
          <a:xfrm>
            <a:off x="1214437" y="2159104"/>
            <a:ext cx="6715125" cy="2724323"/>
          </a:xfrm>
          <a:prstGeom prst="roundRect">
            <a:avLst/>
          </a:prstGeom>
          <a:noFill/>
          <a:ln w="38100">
            <a:solidFill>
              <a:srgbClr val="FF8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VE" sz="6000" b="1" dirty="0">
                <a:solidFill>
                  <a:srgbClr val="005B9D"/>
                </a:solidFill>
              </a:rPr>
              <a:t>GRACIAS POR SU ATENCIÓN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LANTILLA PRESENTAC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PLANTILLA PRESENTACION</Template>
  <TotalTime>3725</TotalTime>
  <Words>2973</Words>
  <Application>Microsoft Office PowerPoint</Application>
  <PresentationFormat>Presentación en pantalla (4:3)</PresentationFormat>
  <Paragraphs>86</Paragraphs>
  <Slides>39</Slides>
  <Notes>2</Notes>
  <HiddenSlides>0</HiddenSlides>
  <MMClips>0</MMClips>
  <ScaleCrop>false</ScaleCrop>
  <HeadingPairs>
    <vt:vector size="8" baseType="variant">
      <vt:variant>
        <vt:lpstr>Fuentes usadas</vt:lpstr>
      </vt:variant>
      <vt:variant>
        <vt:i4>9</vt:i4>
      </vt:variant>
      <vt:variant>
        <vt:lpstr>Tema</vt:lpstr>
      </vt:variant>
      <vt:variant>
        <vt:i4>1</vt:i4>
      </vt:variant>
      <vt:variant>
        <vt:lpstr>Servidores OLE incrustados</vt:lpstr>
      </vt:variant>
      <vt:variant>
        <vt:i4>1</vt:i4>
      </vt:variant>
      <vt:variant>
        <vt:lpstr>Títulos de diapositiva</vt:lpstr>
      </vt:variant>
      <vt:variant>
        <vt:i4>39</vt:i4>
      </vt:variant>
    </vt:vector>
  </HeadingPairs>
  <TitlesOfParts>
    <vt:vector size="50" baseType="lpstr">
      <vt:lpstr>Agency FB</vt:lpstr>
      <vt:lpstr>Arial</vt:lpstr>
      <vt:lpstr>Calibri</vt:lpstr>
      <vt:lpstr>Calibri Light</vt:lpstr>
      <vt:lpstr>Lucida Sans Unicode</vt:lpstr>
      <vt:lpstr>Microsoft Sans Serif</vt:lpstr>
      <vt:lpstr>Tahoma</vt:lpstr>
      <vt:lpstr>Times New Roman</vt:lpstr>
      <vt:lpstr>Wingdings</vt:lpstr>
      <vt:lpstr>PLANTILLA PRESENTACION</vt:lpstr>
      <vt:lpstr>Diapositiva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contablidad</dc:creator>
  <cp:lastModifiedBy>operador</cp:lastModifiedBy>
  <cp:revision>622</cp:revision>
  <dcterms:created xsi:type="dcterms:W3CDTF">2023-03-08T17:57:09Z</dcterms:created>
  <dcterms:modified xsi:type="dcterms:W3CDTF">2023-12-21T16:21:39Z</dcterms:modified>
</cp:coreProperties>
</file>