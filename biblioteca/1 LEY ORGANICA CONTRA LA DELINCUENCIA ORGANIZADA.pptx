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omments/comment1.xml" ContentType="application/vnd.openxmlformats-officedocument.presentationml.comments+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8" r:id="rId2"/>
    <p:sldId id="259" r:id="rId3"/>
    <p:sldId id="257" r:id="rId4"/>
    <p:sldId id="262" r:id="rId5"/>
    <p:sldId id="276" r:id="rId6"/>
    <p:sldId id="281" r:id="rId7"/>
    <p:sldId id="261" r:id="rId8"/>
    <p:sldId id="277" r:id="rId9"/>
    <p:sldId id="283" r:id="rId10"/>
    <p:sldId id="279" r:id="rId11"/>
    <p:sldId id="280" r:id="rId12"/>
    <p:sldId id="263" r:id="rId13"/>
    <p:sldId id="256" r:id="rId14"/>
    <p:sldId id="266" r:id="rId15"/>
    <p:sldId id="264" r:id="rId16"/>
    <p:sldId id="265" r:id="rId17"/>
    <p:sldId id="269" r:id="rId18"/>
    <p:sldId id="260" r:id="rId19"/>
    <p:sldId id="268" r:id="rId20"/>
    <p:sldId id="271" r:id="rId21"/>
    <p:sldId id="273" r:id="rId22"/>
    <p:sldId id="270" r:id="rId23"/>
    <p:sldId id="272" r:id="rId24"/>
    <p:sldId id="275" r:id="rId25"/>
    <p:sldId id="267" r:id="rId26"/>
    <p:sldId id="285" r:id="rId27"/>
    <p:sldId id="282" r:id="rId28"/>
    <p:sldId id="274" r:id="rId29"/>
    <p:sldId id="286" r:id="rId30"/>
  </p:sldIdLst>
  <p:sldSz cx="9144000" cy="6858000" type="screen4x3"/>
  <p:notesSz cx="6858000" cy="9144000"/>
  <p:defaultTextStyle>
    <a:defPPr>
      <a:defRPr lang="es-V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operador" initials="o" lastIdx="1" clrIdx="0">
    <p:extLst>
      <p:ext uri="{19B8F6BF-5375-455C-9EA6-DF929625EA0E}">
        <p15:presenceInfo xmlns:p15="http://schemas.microsoft.com/office/powerpoint/2012/main" userId="operador"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1" d="100"/>
          <a:sy n="71" d="100"/>
        </p:scale>
        <p:origin x="1338" y="-264"/>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3-07-13T16:51:27.206" idx="1">
    <p:pos x="10" y="10"/>
    <p:text/>
    <p:extLst>
      <p:ext uri="{C676402C-5697-4E1C-873F-D02D1690AC5C}">
        <p15:threadingInfo xmlns:p15="http://schemas.microsoft.com/office/powerpoint/2012/main" timeZoneBias="240"/>
      </p:ext>
    </p:extLst>
  </p:cm>
</p:cmLst>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EBA157A-D133-4328-B261-A3D3F3F06921}" type="doc">
      <dgm:prSet loTypeId="urn:microsoft.com/office/officeart/2005/8/layout/hList6" loCatId="list" qsTypeId="urn:microsoft.com/office/officeart/2005/8/quickstyle/simple1" qsCatId="simple" csTypeId="urn:microsoft.com/office/officeart/2005/8/colors/accent1_2" csCatId="accent1" phldr="1"/>
      <dgm:spPr/>
      <dgm:t>
        <a:bodyPr/>
        <a:lstStyle/>
        <a:p>
          <a:endParaRPr lang="es-VE"/>
        </a:p>
      </dgm:t>
    </dgm:pt>
    <dgm:pt modelId="{6BF63810-EE62-4427-924F-5762B9AC20C1}">
      <dgm:prSet phldrT="[Texto]" custT="1">
        <dgm:style>
          <a:lnRef idx="1">
            <a:schemeClr val="accent3"/>
          </a:lnRef>
          <a:fillRef idx="2">
            <a:schemeClr val="accent3"/>
          </a:fillRef>
          <a:effectRef idx="1">
            <a:schemeClr val="accent3"/>
          </a:effectRef>
          <a:fontRef idx="minor">
            <a:schemeClr val="dk1"/>
          </a:fontRef>
        </dgm:style>
      </dgm:prSet>
      <dgm:spPr>
        <a:xfrm rot="16200000">
          <a:off x="-1390262" y="1390806"/>
          <a:ext cx="5572140" cy="2790527"/>
        </a:xfrm>
        <a:prstGeom prst="flowChartManualOperation">
          <a:avLst/>
        </a:prstGeom>
        <a:solidFill>
          <a:schemeClr val="accent5">
            <a:lumMod val="40000"/>
            <a:lumOff val="60000"/>
          </a:schemeClr>
        </a:solidFill>
        <a:ln w="9525" cap="flat" cmpd="sng" algn="ctr">
          <a:solidFill>
            <a:schemeClr val="bg1"/>
          </a:solidFill>
          <a:prstDash val="solid"/>
        </a:ln>
        <a:effectLst>
          <a:outerShdw blurRad="57150" dist="38100" dir="5400000" algn="ctr" rotWithShape="0">
            <a:srgbClr val="9BBB59">
              <a:shade val="9000"/>
              <a:satMod val="105000"/>
              <a:alpha val="48000"/>
            </a:srgbClr>
          </a:outerShdw>
        </a:effectLst>
      </dgm:spPr>
      <dgm:t>
        <a:bodyPr/>
        <a:lstStyle/>
        <a:p>
          <a:pPr>
            <a:lnSpc>
              <a:spcPct val="100000"/>
            </a:lnSpc>
          </a:pPr>
          <a:r>
            <a:rPr lang="es-VE" sz="2000" b="1" dirty="0" smtClean="0">
              <a:solidFill>
                <a:sysClr val="windowText" lastClr="000000"/>
              </a:solidFill>
              <a:latin typeface="Constantia"/>
              <a:ea typeface="+mn-ea"/>
              <a:cs typeface="+mn-cs"/>
            </a:rPr>
            <a:t>Oficina Nacional Contra la Delincuencia Organizada </a:t>
          </a:r>
        </a:p>
        <a:p>
          <a:pPr>
            <a:lnSpc>
              <a:spcPct val="100000"/>
            </a:lnSpc>
          </a:pPr>
          <a:r>
            <a:rPr lang="es-VE" sz="2000" b="1" dirty="0" smtClean="0">
              <a:solidFill>
                <a:sysClr val="windowText" lastClr="000000"/>
              </a:solidFill>
              <a:latin typeface="Constantia"/>
              <a:ea typeface="+mn-ea"/>
              <a:cs typeface="+mn-cs"/>
            </a:rPr>
            <a:t>y Financiamiento al Terrorismo. </a:t>
          </a:r>
        </a:p>
        <a:p>
          <a:pPr>
            <a:lnSpc>
              <a:spcPct val="100000"/>
            </a:lnSpc>
          </a:pPr>
          <a:r>
            <a:rPr lang="es-VE" sz="2000" b="1" dirty="0" smtClean="0">
              <a:solidFill>
                <a:sysClr val="windowText" lastClr="000000"/>
              </a:solidFill>
              <a:latin typeface="Constantia"/>
              <a:ea typeface="+mn-ea"/>
              <a:cs typeface="+mn-cs"/>
            </a:rPr>
            <a:t>Articulo 5</a:t>
          </a:r>
          <a:endParaRPr lang="es-VE" sz="2000" b="1" dirty="0">
            <a:solidFill>
              <a:sysClr val="windowText" lastClr="000000"/>
            </a:solidFill>
            <a:latin typeface="Constantia"/>
            <a:ea typeface="+mn-ea"/>
            <a:cs typeface="+mn-cs"/>
          </a:endParaRPr>
        </a:p>
      </dgm:t>
    </dgm:pt>
    <dgm:pt modelId="{44F69053-E99F-45FF-A36E-77C61ACBF89F}" type="parTrans" cxnId="{45581AD5-D216-421B-A541-4EA54291E576}">
      <dgm:prSet/>
      <dgm:spPr/>
      <dgm:t>
        <a:bodyPr/>
        <a:lstStyle/>
        <a:p>
          <a:endParaRPr lang="es-VE"/>
        </a:p>
      </dgm:t>
    </dgm:pt>
    <dgm:pt modelId="{7D4DDE1B-2256-4A70-B823-95660B0E421E}" type="sibTrans" cxnId="{45581AD5-D216-421B-A541-4EA54291E576}">
      <dgm:prSet/>
      <dgm:spPr/>
      <dgm:t>
        <a:bodyPr/>
        <a:lstStyle/>
        <a:p>
          <a:endParaRPr lang="es-VE"/>
        </a:p>
      </dgm:t>
    </dgm:pt>
    <dgm:pt modelId="{1B0E253F-660B-4C7D-B090-ABA26E20725F}">
      <dgm:prSet phldrT="[Texto]" custT="1">
        <dgm:style>
          <a:lnRef idx="1">
            <a:schemeClr val="accent2"/>
          </a:lnRef>
          <a:fillRef idx="3">
            <a:schemeClr val="accent2"/>
          </a:fillRef>
          <a:effectRef idx="2">
            <a:schemeClr val="accent2"/>
          </a:effectRef>
          <a:fontRef idx="minor">
            <a:schemeClr val="lt1"/>
          </a:fontRef>
        </dgm:style>
      </dgm:prSet>
      <dgm:spPr>
        <a:xfrm rot="16200000">
          <a:off x="1785930" y="1214431"/>
          <a:ext cx="5572140" cy="3143277"/>
        </a:xfrm>
        <a:prstGeom prst="flowChartManualOperation">
          <a:avLst/>
        </a:prstGeom>
        <a:solidFill>
          <a:schemeClr val="bg1"/>
        </a:solidFill>
        <a:ln w="9525" cap="flat" cmpd="sng" algn="ctr">
          <a:solidFill>
            <a:schemeClr val="bg1"/>
          </a:solidFill>
          <a:prstDash val="solid"/>
        </a:ln>
        <a:effectLst>
          <a:outerShdw blurRad="57150" dist="38100" dir="5400000" algn="ctr" rotWithShape="0">
            <a:srgbClr val="C0504D">
              <a:shade val="9000"/>
              <a:satMod val="105000"/>
              <a:alpha val="48000"/>
            </a:srgbClr>
          </a:outerShdw>
        </a:effectLst>
      </dgm:spPr>
      <dgm:t>
        <a:bodyPr/>
        <a:lstStyle/>
        <a:p>
          <a:pPr algn="ctr"/>
          <a:r>
            <a:rPr lang="es-VE" sz="1800" b="1" dirty="0" smtClean="0">
              <a:solidFill>
                <a:sysClr val="windowText" lastClr="000000"/>
              </a:solidFill>
              <a:latin typeface="Constantia"/>
              <a:ea typeface="+mn-ea"/>
              <a:cs typeface="+mn-cs"/>
            </a:rPr>
            <a:t>Órgano rector encargado de:  </a:t>
          </a:r>
        </a:p>
        <a:p>
          <a:pPr algn="ctr"/>
          <a:r>
            <a:rPr lang="es-VE" sz="1800" b="1" dirty="0" smtClean="0">
              <a:solidFill>
                <a:sysClr val="windowText" lastClr="000000"/>
              </a:solidFill>
              <a:latin typeface="Constantia"/>
              <a:ea typeface="+mn-ea"/>
              <a:cs typeface="+mn-cs"/>
            </a:rPr>
            <a:t>-Diseñar </a:t>
          </a:r>
        </a:p>
        <a:p>
          <a:pPr marL="0" indent="0" algn="ctr"/>
          <a:r>
            <a:rPr lang="es-VE" sz="1800" b="1" dirty="0" smtClean="0">
              <a:solidFill>
                <a:sysClr val="windowText" lastClr="000000"/>
              </a:solidFill>
              <a:latin typeface="Constantia"/>
              <a:ea typeface="+mn-ea"/>
              <a:cs typeface="+mn-cs"/>
            </a:rPr>
            <a:t>      -Planificar                           - Estructurar</a:t>
          </a:r>
        </a:p>
        <a:p>
          <a:pPr algn="ctr"/>
          <a:r>
            <a:rPr lang="es-VE" sz="1800" b="1" dirty="0" smtClean="0">
              <a:solidFill>
                <a:sysClr val="windowText" lastClr="000000"/>
              </a:solidFill>
              <a:latin typeface="Constantia"/>
              <a:ea typeface="+mn-ea"/>
              <a:cs typeface="+mn-cs"/>
            </a:rPr>
            <a:t> -Formular </a:t>
          </a:r>
        </a:p>
        <a:p>
          <a:pPr algn="ctr"/>
          <a:r>
            <a:rPr lang="es-VE" sz="1800" b="1" dirty="0" smtClean="0">
              <a:solidFill>
                <a:sysClr val="windowText" lastClr="000000"/>
              </a:solidFill>
              <a:latin typeface="Constantia"/>
              <a:ea typeface="+mn-ea"/>
              <a:cs typeface="+mn-cs"/>
            </a:rPr>
            <a:t>-Ejecutar </a:t>
          </a:r>
        </a:p>
        <a:p>
          <a:pPr algn="ctr"/>
          <a:r>
            <a:rPr lang="es-VE" sz="1800" b="1" dirty="0" smtClean="0">
              <a:solidFill>
                <a:sysClr val="windowText" lastClr="000000"/>
              </a:solidFill>
              <a:latin typeface="Constantia"/>
              <a:ea typeface="+mn-ea"/>
              <a:cs typeface="+mn-cs"/>
            </a:rPr>
            <a:t>las políticas públicas y estrategias del Estado contra la delincuencia</a:t>
          </a:r>
        </a:p>
        <a:p>
          <a:pPr algn="ctr"/>
          <a:r>
            <a:rPr lang="es-VE" sz="1800" b="1" dirty="0" smtClean="0">
              <a:solidFill>
                <a:sysClr val="windowText" lastClr="000000"/>
              </a:solidFill>
              <a:latin typeface="Constantia"/>
              <a:ea typeface="+mn-ea"/>
              <a:cs typeface="+mn-cs"/>
            </a:rPr>
            <a:t>organizada y financiamiento al terrorismo </a:t>
          </a:r>
          <a:endParaRPr lang="es-VE" sz="1800" b="1" dirty="0">
            <a:solidFill>
              <a:sysClr val="windowText" lastClr="000000"/>
            </a:solidFill>
            <a:latin typeface="Constantia"/>
            <a:ea typeface="+mn-ea"/>
            <a:cs typeface="+mn-cs"/>
          </a:endParaRPr>
        </a:p>
      </dgm:t>
    </dgm:pt>
    <dgm:pt modelId="{2325E9AA-0B81-43BD-A0CE-E0B5DF1C32F6}" type="parTrans" cxnId="{46F2806C-9813-4A50-85BD-593F441A2B7F}">
      <dgm:prSet/>
      <dgm:spPr/>
      <dgm:t>
        <a:bodyPr/>
        <a:lstStyle/>
        <a:p>
          <a:endParaRPr lang="es-VE"/>
        </a:p>
      </dgm:t>
    </dgm:pt>
    <dgm:pt modelId="{AE019809-6CEB-4B8E-8B06-69A34AA3C8DF}" type="sibTrans" cxnId="{46F2806C-9813-4A50-85BD-593F441A2B7F}">
      <dgm:prSet/>
      <dgm:spPr/>
      <dgm:t>
        <a:bodyPr/>
        <a:lstStyle/>
        <a:p>
          <a:endParaRPr lang="es-VE"/>
        </a:p>
      </dgm:t>
    </dgm:pt>
    <dgm:pt modelId="{2BFB8E3B-7689-4469-885B-8FEAB146C2C2}">
      <dgm:prSet phldrT="[Texto]" custT="1">
        <dgm:style>
          <a:lnRef idx="1">
            <a:schemeClr val="accent2"/>
          </a:lnRef>
          <a:fillRef idx="3">
            <a:schemeClr val="accent2"/>
          </a:fillRef>
          <a:effectRef idx="2">
            <a:schemeClr val="accent2"/>
          </a:effectRef>
          <a:fontRef idx="minor">
            <a:schemeClr val="lt1"/>
          </a:fontRef>
        </dgm:style>
      </dgm:prSet>
      <dgm:spPr>
        <a:xfrm rot="16200000">
          <a:off x="4962122" y="1390806"/>
          <a:ext cx="5572140" cy="2790527"/>
        </a:xfrm>
        <a:prstGeom prst="flowChartManualOperation">
          <a:avLst/>
        </a:prstGeom>
        <a:solidFill>
          <a:schemeClr val="bg1"/>
        </a:solidFill>
        <a:ln w="9525" cap="flat" cmpd="sng" algn="ctr">
          <a:solidFill>
            <a:schemeClr val="bg1"/>
          </a:solidFill>
          <a:prstDash val="solid"/>
        </a:ln>
        <a:effectLst>
          <a:outerShdw blurRad="57150" dist="38100" dir="5400000" algn="ctr" rotWithShape="0">
            <a:srgbClr val="C0504D">
              <a:shade val="9000"/>
              <a:satMod val="105000"/>
              <a:alpha val="48000"/>
            </a:srgbClr>
          </a:outerShdw>
        </a:effectLst>
      </dgm:spPr>
      <dgm:t>
        <a:bodyPr/>
        <a:lstStyle/>
        <a:p>
          <a:r>
            <a:rPr lang="es-VE" sz="1800" b="1" dirty="0" smtClean="0">
              <a:solidFill>
                <a:sysClr val="windowText" lastClr="000000"/>
              </a:solidFill>
              <a:latin typeface="Constantia"/>
              <a:ea typeface="+mn-ea"/>
              <a:cs typeface="+mn-cs"/>
            </a:rPr>
            <a:t>Organización, control y supervisión en el ámbito nacional de todo lo relacionado con la prevención y represión de dichos delitos, y también la cooperación internacional en esta materia.</a:t>
          </a:r>
          <a:endParaRPr lang="es-VE" sz="1800" b="1" dirty="0">
            <a:solidFill>
              <a:sysClr val="windowText" lastClr="000000"/>
            </a:solidFill>
            <a:latin typeface="Constantia"/>
            <a:ea typeface="+mn-ea"/>
            <a:cs typeface="+mn-cs"/>
          </a:endParaRPr>
        </a:p>
      </dgm:t>
    </dgm:pt>
    <dgm:pt modelId="{4EA87A8E-0D54-4C82-A493-383BE6493239}" type="parTrans" cxnId="{4E3C9560-61E6-40E5-9086-B913BBB59D8B}">
      <dgm:prSet/>
      <dgm:spPr/>
      <dgm:t>
        <a:bodyPr/>
        <a:lstStyle/>
        <a:p>
          <a:endParaRPr lang="es-VE"/>
        </a:p>
      </dgm:t>
    </dgm:pt>
    <dgm:pt modelId="{5C720871-3FD1-400C-8765-7893DAE5B084}" type="sibTrans" cxnId="{4E3C9560-61E6-40E5-9086-B913BBB59D8B}">
      <dgm:prSet/>
      <dgm:spPr/>
      <dgm:t>
        <a:bodyPr/>
        <a:lstStyle/>
        <a:p>
          <a:endParaRPr lang="es-VE"/>
        </a:p>
      </dgm:t>
    </dgm:pt>
    <dgm:pt modelId="{4B55D540-B1E0-40D9-8F36-6B7DB1B309AE}" type="pres">
      <dgm:prSet presAssocID="{5EBA157A-D133-4328-B261-A3D3F3F06921}" presName="Name0" presStyleCnt="0">
        <dgm:presLayoutVars>
          <dgm:dir/>
          <dgm:resizeHandles val="exact"/>
        </dgm:presLayoutVars>
      </dgm:prSet>
      <dgm:spPr/>
      <dgm:t>
        <a:bodyPr/>
        <a:lstStyle/>
        <a:p>
          <a:endParaRPr lang="es-VE"/>
        </a:p>
      </dgm:t>
    </dgm:pt>
    <dgm:pt modelId="{8A784131-9C9B-4AAD-BD7A-B2E6A80EF49C}" type="pres">
      <dgm:prSet presAssocID="{6BF63810-EE62-4427-924F-5762B9AC20C1}" presName="node" presStyleLbl="node1" presStyleIdx="0" presStyleCnt="3" custLinFactNeighborY="0">
        <dgm:presLayoutVars>
          <dgm:bulletEnabled val="1"/>
        </dgm:presLayoutVars>
      </dgm:prSet>
      <dgm:spPr/>
      <dgm:t>
        <a:bodyPr/>
        <a:lstStyle/>
        <a:p>
          <a:endParaRPr lang="es-VE"/>
        </a:p>
      </dgm:t>
    </dgm:pt>
    <dgm:pt modelId="{2D2E9486-CE23-4C8F-BCEE-D662525A8760}" type="pres">
      <dgm:prSet presAssocID="{7D4DDE1B-2256-4A70-B823-95660B0E421E}" presName="sibTrans" presStyleCnt="0"/>
      <dgm:spPr/>
    </dgm:pt>
    <dgm:pt modelId="{2AACC2C2-BBEF-4A9D-AEEE-567BE6FFB8F6}" type="pres">
      <dgm:prSet presAssocID="{1B0E253F-660B-4C7D-B090-ABA26E20725F}" presName="node" presStyleLbl="node1" presStyleIdx="1" presStyleCnt="3" custScaleX="112641">
        <dgm:presLayoutVars>
          <dgm:bulletEnabled val="1"/>
        </dgm:presLayoutVars>
      </dgm:prSet>
      <dgm:spPr/>
      <dgm:t>
        <a:bodyPr/>
        <a:lstStyle/>
        <a:p>
          <a:endParaRPr lang="es-VE"/>
        </a:p>
      </dgm:t>
    </dgm:pt>
    <dgm:pt modelId="{C476FEEE-7FE9-4F8D-8464-1916993DBD05}" type="pres">
      <dgm:prSet presAssocID="{AE019809-6CEB-4B8E-8B06-69A34AA3C8DF}" presName="sibTrans" presStyleCnt="0"/>
      <dgm:spPr/>
    </dgm:pt>
    <dgm:pt modelId="{37EA840B-5E68-4A9A-8F51-42A52527BFD2}" type="pres">
      <dgm:prSet presAssocID="{2BFB8E3B-7689-4469-885B-8FEAB146C2C2}" presName="node" presStyleLbl="node1" presStyleIdx="2" presStyleCnt="3">
        <dgm:presLayoutVars>
          <dgm:bulletEnabled val="1"/>
        </dgm:presLayoutVars>
      </dgm:prSet>
      <dgm:spPr/>
      <dgm:t>
        <a:bodyPr/>
        <a:lstStyle/>
        <a:p>
          <a:endParaRPr lang="es-VE"/>
        </a:p>
      </dgm:t>
    </dgm:pt>
  </dgm:ptLst>
  <dgm:cxnLst>
    <dgm:cxn modelId="{4E3C9560-61E6-40E5-9086-B913BBB59D8B}" srcId="{5EBA157A-D133-4328-B261-A3D3F3F06921}" destId="{2BFB8E3B-7689-4469-885B-8FEAB146C2C2}" srcOrd="2" destOrd="0" parTransId="{4EA87A8E-0D54-4C82-A493-383BE6493239}" sibTransId="{5C720871-3FD1-400C-8765-7893DAE5B084}"/>
    <dgm:cxn modelId="{45581AD5-D216-421B-A541-4EA54291E576}" srcId="{5EBA157A-D133-4328-B261-A3D3F3F06921}" destId="{6BF63810-EE62-4427-924F-5762B9AC20C1}" srcOrd="0" destOrd="0" parTransId="{44F69053-E99F-45FF-A36E-77C61ACBF89F}" sibTransId="{7D4DDE1B-2256-4A70-B823-95660B0E421E}"/>
    <dgm:cxn modelId="{61494DC4-8664-47C4-B342-0DD2BABE94D7}" type="presOf" srcId="{5EBA157A-D133-4328-B261-A3D3F3F06921}" destId="{4B55D540-B1E0-40D9-8F36-6B7DB1B309AE}" srcOrd="0" destOrd="0" presId="urn:microsoft.com/office/officeart/2005/8/layout/hList6"/>
    <dgm:cxn modelId="{46F2806C-9813-4A50-85BD-593F441A2B7F}" srcId="{5EBA157A-D133-4328-B261-A3D3F3F06921}" destId="{1B0E253F-660B-4C7D-B090-ABA26E20725F}" srcOrd="1" destOrd="0" parTransId="{2325E9AA-0B81-43BD-A0CE-E0B5DF1C32F6}" sibTransId="{AE019809-6CEB-4B8E-8B06-69A34AA3C8DF}"/>
    <dgm:cxn modelId="{C3BAE717-B82E-429B-BDA4-429E60A7D2DA}" type="presOf" srcId="{2BFB8E3B-7689-4469-885B-8FEAB146C2C2}" destId="{37EA840B-5E68-4A9A-8F51-42A52527BFD2}" srcOrd="0" destOrd="0" presId="urn:microsoft.com/office/officeart/2005/8/layout/hList6"/>
    <dgm:cxn modelId="{B0B60BD8-8E13-473F-927A-79DA34B9D4F2}" type="presOf" srcId="{6BF63810-EE62-4427-924F-5762B9AC20C1}" destId="{8A784131-9C9B-4AAD-BD7A-B2E6A80EF49C}" srcOrd="0" destOrd="0" presId="urn:microsoft.com/office/officeart/2005/8/layout/hList6"/>
    <dgm:cxn modelId="{97A969EB-2020-4292-B183-F93787F1A610}" type="presOf" srcId="{1B0E253F-660B-4C7D-B090-ABA26E20725F}" destId="{2AACC2C2-BBEF-4A9D-AEEE-567BE6FFB8F6}" srcOrd="0" destOrd="0" presId="urn:microsoft.com/office/officeart/2005/8/layout/hList6"/>
    <dgm:cxn modelId="{3972C189-FCD3-4972-A891-262CC8FA2104}" type="presParOf" srcId="{4B55D540-B1E0-40D9-8F36-6B7DB1B309AE}" destId="{8A784131-9C9B-4AAD-BD7A-B2E6A80EF49C}" srcOrd="0" destOrd="0" presId="urn:microsoft.com/office/officeart/2005/8/layout/hList6"/>
    <dgm:cxn modelId="{953BC185-B811-49B7-B4CC-8DF4DABBCCF7}" type="presParOf" srcId="{4B55D540-B1E0-40D9-8F36-6B7DB1B309AE}" destId="{2D2E9486-CE23-4C8F-BCEE-D662525A8760}" srcOrd="1" destOrd="0" presId="urn:microsoft.com/office/officeart/2005/8/layout/hList6"/>
    <dgm:cxn modelId="{9442139E-8803-437C-A08D-A2CFB9F73BC3}" type="presParOf" srcId="{4B55D540-B1E0-40D9-8F36-6B7DB1B309AE}" destId="{2AACC2C2-BBEF-4A9D-AEEE-567BE6FFB8F6}" srcOrd="2" destOrd="0" presId="urn:microsoft.com/office/officeart/2005/8/layout/hList6"/>
    <dgm:cxn modelId="{21C86411-7937-45F9-ACE5-02DC701ADF94}" type="presParOf" srcId="{4B55D540-B1E0-40D9-8F36-6B7DB1B309AE}" destId="{C476FEEE-7FE9-4F8D-8464-1916993DBD05}" srcOrd="3" destOrd="0" presId="urn:microsoft.com/office/officeart/2005/8/layout/hList6"/>
    <dgm:cxn modelId="{70978821-867B-494C-BC2E-3E20364714BA}" type="presParOf" srcId="{4B55D540-B1E0-40D9-8F36-6B7DB1B309AE}" destId="{37EA840B-5E68-4A9A-8F51-42A52527BFD2}" srcOrd="4" destOrd="0" presId="urn:microsoft.com/office/officeart/2005/8/layout/hList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EBA157A-D133-4328-B261-A3D3F3F06921}" type="doc">
      <dgm:prSet loTypeId="urn:microsoft.com/office/officeart/2005/8/layout/hList6" loCatId="list" qsTypeId="urn:microsoft.com/office/officeart/2005/8/quickstyle/simple1" qsCatId="simple" csTypeId="urn:microsoft.com/office/officeart/2005/8/colors/accent1_2" csCatId="accent1" phldr="1"/>
      <dgm:spPr/>
      <dgm:t>
        <a:bodyPr/>
        <a:lstStyle/>
        <a:p>
          <a:endParaRPr lang="es-VE"/>
        </a:p>
      </dgm:t>
    </dgm:pt>
    <dgm:pt modelId="{6BF63810-EE62-4427-924F-5762B9AC20C1}">
      <dgm:prSet phldrT="[Texto]" custT="1">
        <dgm:style>
          <a:lnRef idx="2">
            <a:schemeClr val="accent1"/>
          </a:lnRef>
          <a:fillRef idx="1">
            <a:schemeClr val="lt1"/>
          </a:fillRef>
          <a:effectRef idx="0">
            <a:schemeClr val="accent1"/>
          </a:effectRef>
          <a:fontRef idx="minor">
            <a:schemeClr val="dk1"/>
          </a:fontRef>
        </dgm:style>
      </dgm:prSet>
      <dgm:spPr>
        <a:xfrm rot="16200000">
          <a:off x="-1234172" y="1235649"/>
          <a:ext cx="4572008" cy="2100708"/>
        </a:xfrm>
        <a:prstGeom prst="flowChartManualOperation">
          <a:avLst/>
        </a:prstGeom>
        <a:solidFill>
          <a:schemeClr val="accent5">
            <a:lumMod val="40000"/>
            <a:lumOff val="60000"/>
          </a:schemeClr>
        </a:solidFill>
        <a:ln w="25400" cap="flat" cmpd="sng" algn="ctr">
          <a:solidFill>
            <a:schemeClr val="accent5"/>
          </a:solidFill>
          <a:prstDash val="solid"/>
        </a:ln>
        <a:effectLst/>
      </dgm:spPr>
      <dgm:t>
        <a:bodyPr/>
        <a:lstStyle/>
        <a:p>
          <a:r>
            <a:rPr lang="es-VE" sz="2000" b="1" dirty="0" smtClean="0">
              <a:solidFill>
                <a:sysClr val="windowText" lastClr="000000"/>
              </a:solidFill>
              <a:latin typeface="Constantia"/>
              <a:ea typeface="+mn-ea"/>
              <a:cs typeface="+mn-cs"/>
            </a:rPr>
            <a:t>Órganos y entes de prevención, control, supervisión, fiscalización y</a:t>
          </a:r>
        </a:p>
        <a:p>
          <a:r>
            <a:rPr lang="es-VE" sz="2000" b="1" dirty="0" smtClean="0">
              <a:solidFill>
                <a:sysClr val="windowText" lastClr="000000"/>
              </a:solidFill>
              <a:latin typeface="Constantia"/>
              <a:ea typeface="+mn-ea"/>
              <a:cs typeface="+mn-cs"/>
            </a:rPr>
            <a:t>vigilancia, de conformidad con esta Ley</a:t>
          </a:r>
          <a:endParaRPr lang="es-VE" sz="2000" b="1" dirty="0">
            <a:solidFill>
              <a:sysClr val="windowText" lastClr="000000"/>
            </a:solidFill>
            <a:latin typeface="Constantia"/>
            <a:ea typeface="+mn-ea"/>
            <a:cs typeface="+mn-cs"/>
          </a:endParaRPr>
        </a:p>
      </dgm:t>
    </dgm:pt>
    <dgm:pt modelId="{44F69053-E99F-45FF-A36E-77C61ACBF89F}" type="parTrans" cxnId="{45581AD5-D216-421B-A541-4EA54291E576}">
      <dgm:prSet/>
      <dgm:spPr/>
      <dgm:t>
        <a:bodyPr/>
        <a:lstStyle/>
        <a:p>
          <a:endParaRPr lang="es-VE"/>
        </a:p>
      </dgm:t>
    </dgm:pt>
    <dgm:pt modelId="{7D4DDE1B-2256-4A70-B823-95660B0E421E}" type="sibTrans" cxnId="{45581AD5-D216-421B-A541-4EA54291E576}">
      <dgm:prSet/>
      <dgm:spPr/>
      <dgm:t>
        <a:bodyPr/>
        <a:lstStyle/>
        <a:p>
          <a:endParaRPr lang="es-VE"/>
        </a:p>
      </dgm:t>
    </dgm:pt>
    <dgm:pt modelId="{4B55D540-B1E0-40D9-8F36-6B7DB1B309AE}" type="pres">
      <dgm:prSet presAssocID="{5EBA157A-D133-4328-B261-A3D3F3F06921}" presName="Name0" presStyleCnt="0">
        <dgm:presLayoutVars>
          <dgm:dir/>
          <dgm:resizeHandles val="exact"/>
        </dgm:presLayoutVars>
      </dgm:prSet>
      <dgm:spPr/>
      <dgm:t>
        <a:bodyPr/>
        <a:lstStyle/>
        <a:p>
          <a:endParaRPr lang="es-VE"/>
        </a:p>
      </dgm:t>
    </dgm:pt>
    <dgm:pt modelId="{8A784131-9C9B-4AAD-BD7A-B2E6A80EF49C}" type="pres">
      <dgm:prSet presAssocID="{6BF63810-EE62-4427-924F-5762B9AC20C1}" presName="node" presStyleLbl="node1" presStyleIdx="0" presStyleCnt="1" custLinFactNeighborX="49" custLinFactNeighborY="1792">
        <dgm:presLayoutVars>
          <dgm:bulletEnabled val="1"/>
        </dgm:presLayoutVars>
      </dgm:prSet>
      <dgm:spPr/>
      <dgm:t>
        <a:bodyPr/>
        <a:lstStyle/>
        <a:p>
          <a:endParaRPr lang="es-VE"/>
        </a:p>
      </dgm:t>
    </dgm:pt>
  </dgm:ptLst>
  <dgm:cxnLst>
    <dgm:cxn modelId="{45581AD5-D216-421B-A541-4EA54291E576}" srcId="{5EBA157A-D133-4328-B261-A3D3F3F06921}" destId="{6BF63810-EE62-4427-924F-5762B9AC20C1}" srcOrd="0" destOrd="0" parTransId="{44F69053-E99F-45FF-A36E-77C61ACBF89F}" sibTransId="{7D4DDE1B-2256-4A70-B823-95660B0E421E}"/>
    <dgm:cxn modelId="{CBBA76B6-B5A2-4584-8393-483C615328EE}" type="presOf" srcId="{6BF63810-EE62-4427-924F-5762B9AC20C1}" destId="{8A784131-9C9B-4AAD-BD7A-B2E6A80EF49C}" srcOrd="0" destOrd="0" presId="urn:microsoft.com/office/officeart/2005/8/layout/hList6"/>
    <dgm:cxn modelId="{A2911888-9805-4210-8CDF-C1A7CB71F4C9}" type="presOf" srcId="{5EBA157A-D133-4328-B261-A3D3F3F06921}" destId="{4B55D540-B1E0-40D9-8F36-6B7DB1B309AE}" srcOrd="0" destOrd="0" presId="urn:microsoft.com/office/officeart/2005/8/layout/hList6"/>
    <dgm:cxn modelId="{8CB81239-F389-4C06-B572-13C592017F5C}" type="presParOf" srcId="{4B55D540-B1E0-40D9-8F36-6B7DB1B309AE}" destId="{8A784131-9C9B-4AAD-BD7A-B2E6A80EF49C}" srcOrd="0" destOrd="0" presId="urn:microsoft.com/office/officeart/2005/8/layout/hList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A784131-9C9B-4AAD-BD7A-B2E6A80EF49C}">
      <dsp:nvSpPr>
        <dsp:cNvPr id="0" name=""/>
        <dsp:cNvSpPr/>
      </dsp:nvSpPr>
      <dsp:spPr>
        <a:xfrm rot="16200000">
          <a:off x="-1390262" y="1390806"/>
          <a:ext cx="5572140" cy="2790527"/>
        </a:xfrm>
        <a:prstGeom prst="flowChartManualOperation">
          <a:avLst/>
        </a:prstGeom>
        <a:solidFill>
          <a:schemeClr val="accent5">
            <a:lumMod val="40000"/>
            <a:lumOff val="60000"/>
          </a:schemeClr>
        </a:solidFill>
        <a:ln w="9525" cap="flat" cmpd="sng" algn="ctr">
          <a:solidFill>
            <a:schemeClr val="bg1"/>
          </a:solidFill>
          <a:prstDash val="solid"/>
          <a:miter lim="800000"/>
        </a:ln>
        <a:effectLst>
          <a:outerShdw blurRad="57150" dist="38100" dir="5400000" algn="ctr" rotWithShape="0">
            <a:srgbClr val="9BBB59">
              <a:shade val="9000"/>
              <a:satMod val="105000"/>
              <a:alpha val="48000"/>
            </a:srgbClr>
          </a:outerShdw>
        </a:effectLst>
      </dsp:spPr>
      <dsp:style>
        <a:lnRef idx="1">
          <a:schemeClr val="accent3"/>
        </a:lnRef>
        <a:fillRef idx="2">
          <a:schemeClr val="accent3"/>
        </a:fillRef>
        <a:effectRef idx="1">
          <a:schemeClr val="accent3"/>
        </a:effectRef>
        <a:fontRef idx="minor">
          <a:schemeClr val="dk1"/>
        </a:fontRef>
      </dsp:style>
      <dsp:txBody>
        <a:bodyPr spcFirstLastPara="0" vert="horz" wrap="square" lIns="127000" tIns="0" rIns="127000" bIns="0" numCol="1" spcCol="1270" anchor="ctr" anchorCtr="0">
          <a:noAutofit/>
        </a:bodyPr>
        <a:lstStyle/>
        <a:p>
          <a:pPr lvl="0" algn="ctr" defTabSz="889000">
            <a:lnSpc>
              <a:spcPct val="100000"/>
            </a:lnSpc>
            <a:spcBef>
              <a:spcPct val="0"/>
            </a:spcBef>
            <a:spcAft>
              <a:spcPct val="35000"/>
            </a:spcAft>
          </a:pPr>
          <a:r>
            <a:rPr lang="es-VE" sz="2000" b="1" kern="1200" dirty="0" smtClean="0">
              <a:solidFill>
                <a:sysClr val="windowText" lastClr="000000"/>
              </a:solidFill>
              <a:latin typeface="Constantia"/>
              <a:ea typeface="+mn-ea"/>
              <a:cs typeface="+mn-cs"/>
            </a:rPr>
            <a:t>Oficina Nacional Contra la Delincuencia Organizada </a:t>
          </a:r>
        </a:p>
        <a:p>
          <a:pPr lvl="0" algn="ctr" defTabSz="889000">
            <a:lnSpc>
              <a:spcPct val="100000"/>
            </a:lnSpc>
            <a:spcBef>
              <a:spcPct val="0"/>
            </a:spcBef>
            <a:spcAft>
              <a:spcPct val="35000"/>
            </a:spcAft>
          </a:pPr>
          <a:r>
            <a:rPr lang="es-VE" sz="2000" b="1" kern="1200" dirty="0" smtClean="0">
              <a:solidFill>
                <a:sysClr val="windowText" lastClr="000000"/>
              </a:solidFill>
              <a:latin typeface="Constantia"/>
              <a:ea typeface="+mn-ea"/>
              <a:cs typeface="+mn-cs"/>
            </a:rPr>
            <a:t>y Financiamiento al Terrorismo. </a:t>
          </a:r>
        </a:p>
        <a:p>
          <a:pPr lvl="0" algn="ctr" defTabSz="889000">
            <a:lnSpc>
              <a:spcPct val="100000"/>
            </a:lnSpc>
            <a:spcBef>
              <a:spcPct val="0"/>
            </a:spcBef>
            <a:spcAft>
              <a:spcPct val="35000"/>
            </a:spcAft>
          </a:pPr>
          <a:r>
            <a:rPr lang="es-VE" sz="2000" b="1" kern="1200" dirty="0" smtClean="0">
              <a:solidFill>
                <a:sysClr val="windowText" lastClr="000000"/>
              </a:solidFill>
              <a:latin typeface="Constantia"/>
              <a:ea typeface="+mn-ea"/>
              <a:cs typeface="+mn-cs"/>
            </a:rPr>
            <a:t>Articulo 5</a:t>
          </a:r>
          <a:endParaRPr lang="es-VE" sz="2000" b="1" kern="1200" dirty="0">
            <a:solidFill>
              <a:sysClr val="windowText" lastClr="000000"/>
            </a:solidFill>
            <a:latin typeface="Constantia"/>
            <a:ea typeface="+mn-ea"/>
            <a:cs typeface="+mn-cs"/>
          </a:endParaRPr>
        </a:p>
      </dsp:txBody>
      <dsp:txXfrm rot="5400000">
        <a:off x="544" y="1114428"/>
        <a:ext cx="2790527" cy="3343284"/>
      </dsp:txXfrm>
    </dsp:sp>
    <dsp:sp modelId="{2AACC2C2-BBEF-4A9D-AEEE-567BE6FFB8F6}">
      <dsp:nvSpPr>
        <dsp:cNvPr id="0" name=""/>
        <dsp:cNvSpPr/>
      </dsp:nvSpPr>
      <dsp:spPr>
        <a:xfrm rot="16200000">
          <a:off x="1785930" y="1214431"/>
          <a:ext cx="5572140" cy="3143277"/>
        </a:xfrm>
        <a:prstGeom prst="flowChartManualOperation">
          <a:avLst/>
        </a:prstGeom>
        <a:solidFill>
          <a:schemeClr val="bg1"/>
        </a:solidFill>
        <a:ln w="9525" cap="flat" cmpd="sng" algn="ctr">
          <a:solidFill>
            <a:schemeClr val="bg1"/>
          </a:solidFill>
          <a:prstDash val="solid"/>
          <a:miter lim="800000"/>
        </a:ln>
        <a:effectLst>
          <a:outerShdw blurRad="57150" dist="38100" dir="5400000" algn="ctr" rotWithShape="0">
            <a:srgbClr val="C0504D">
              <a:shade val="9000"/>
              <a:satMod val="105000"/>
              <a:alpha val="48000"/>
            </a:srgbClr>
          </a:outerShdw>
        </a:effectLst>
      </dsp:spPr>
      <dsp:style>
        <a:lnRef idx="1">
          <a:schemeClr val="accent2"/>
        </a:lnRef>
        <a:fillRef idx="3">
          <a:schemeClr val="accent2"/>
        </a:fillRef>
        <a:effectRef idx="2">
          <a:schemeClr val="accent2"/>
        </a:effectRef>
        <a:fontRef idx="minor">
          <a:schemeClr val="lt1"/>
        </a:fontRef>
      </dsp:style>
      <dsp:txBody>
        <a:bodyPr spcFirstLastPara="0" vert="horz" wrap="square" lIns="114300" tIns="0" rIns="114300" bIns="0" numCol="1" spcCol="1270" anchor="ctr" anchorCtr="0">
          <a:noAutofit/>
        </a:bodyPr>
        <a:lstStyle/>
        <a:p>
          <a:pPr lvl="0" algn="ctr" defTabSz="800100">
            <a:lnSpc>
              <a:spcPct val="90000"/>
            </a:lnSpc>
            <a:spcBef>
              <a:spcPct val="0"/>
            </a:spcBef>
            <a:spcAft>
              <a:spcPct val="35000"/>
            </a:spcAft>
          </a:pPr>
          <a:r>
            <a:rPr lang="es-VE" sz="1800" b="1" kern="1200" dirty="0" smtClean="0">
              <a:solidFill>
                <a:sysClr val="windowText" lastClr="000000"/>
              </a:solidFill>
              <a:latin typeface="Constantia"/>
              <a:ea typeface="+mn-ea"/>
              <a:cs typeface="+mn-cs"/>
            </a:rPr>
            <a:t>Órgano rector encargado de:  </a:t>
          </a:r>
        </a:p>
        <a:p>
          <a:pPr lvl="0" algn="ctr" defTabSz="800100">
            <a:lnSpc>
              <a:spcPct val="90000"/>
            </a:lnSpc>
            <a:spcBef>
              <a:spcPct val="0"/>
            </a:spcBef>
            <a:spcAft>
              <a:spcPct val="35000"/>
            </a:spcAft>
          </a:pPr>
          <a:r>
            <a:rPr lang="es-VE" sz="1800" b="1" kern="1200" dirty="0" smtClean="0">
              <a:solidFill>
                <a:sysClr val="windowText" lastClr="000000"/>
              </a:solidFill>
              <a:latin typeface="Constantia"/>
              <a:ea typeface="+mn-ea"/>
              <a:cs typeface="+mn-cs"/>
            </a:rPr>
            <a:t>-Diseñar </a:t>
          </a:r>
        </a:p>
        <a:p>
          <a:pPr marL="0" lvl="0" indent="0" algn="ctr" defTabSz="800100">
            <a:lnSpc>
              <a:spcPct val="90000"/>
            </a:lnSpc>
            <a:spcBef>
              <a:spcPct val="0"/>
            </a:spcBef>
            <a:spcAft>
              <a:spcPct val="35000"/>
            </a:spcAft>
          </a:pPr>
          <a:r>
            <a:rPr lang="es-VE" sz="1800" b="1" kern="1200" dirty="0" smtClean="0">
              <a:solidFill>
                <a:sysClr val="windowText" lastClr="000000"/>
              </a:solidFill>
              <a:latin typeface="Constantia"/>
              <a:ea typeface="+mn-ea"/>
              <a:cs typeface="+mn-cs"/>
            </a:rPr>
            <a:t>      -Planificar                           - Estructurar</a:t>
          </a:r>
        </a:p>
        <a:p>
          <a:pPr lvl="0" algn="ctr" defTabSz="800100">
            <a:lnSpc>
              <a:spcPct val="90000"/>
            </a:lnSpc>
            <a:spcBef>
              <a:spcPct val="0"/>
            </a:spcBef>
            <a:spcAft>
              <a:spcPct val="35000"/>
            </a:spcAft>
          </a:pPr>
          <a:r>
            <a:rPr lang="es-VE" sz="1800" b="1" kern="1200" dirty="0" smtClean="0">
              <a:solidFill>
                <a:sysClr val="windowText" lastClr="000000"/>
              </a:solidFill>
              <a:latin typeface="Constantia"/>
              <a:ea typeface="+mn-ea"/>
              <a:cs typeface="+mn-cs"/>
            </a:rPr>
            <a:t> -Formular </a:t>
          </a:r>
        </a:p>
        <a:p>
          <a:pPr lvl="0" algn="ctr" defTabSz="800100">
            <a:lnSpc>
              <a:spcPct val="90000"/>
            </a:lnSpc>
            <a:spcBef>
              <a:spcPct val="0"/>
            </a:spcBef>
            <a:spcAft>
              <a:spcPct val="35000"/>
            </a:spcAft>
          </a:pPr>
          <a:r>
            <a:rPr lang="es-VE" sz="1800" b="1" kern="1200" dirty="0" smtClean="0">
              <a:solidFill>
                <a:sysClr val="windowText" lastClr="000000"/>
              </a:solidFill>
              <a:latin typeface="Constantia"/>
              <a:ea typeface="+mn-ea"/>
              <a:cs typeface="+mn-cs"/>
            </a:rPr>
            <a:t>-Ejecutar </a:t>
          </a:r>
        </a:p>
        <a:p>
          <a:pPr lvl="0" algn="ctr" defTabSz="800100">
            <a:lnSpc>
              <a:spcPct val="90000"/>
            </a:lnSpc>
            <a:spcBef>
              <a:spcPct val="0"/>
            </a:spcBef>
            <a:spcAft>
              <a:spcPct val="35000"/>
            </a:spcAft>
          </a:pPr>
          <a:r>
            <a:rPr lang="es-VE" sz="1800" b="1" kern="1200" dirty="0" smtClean="0">
              <a:solidFill>
                <a:sysClr val="windowText" lastClr="000000"/>
              </a:solidFill>
              <a:latin typeface="Constantia"/>
              <a:ea typeface="+mn-ea"/>
              <a:cs typeface="+mn-cs"/>
            </a:rPr>
            <a:t>las políticas públicas y estrategias del Estado contra la delincuencia</a:t>
          </a:r>
        </a:p>
        <a:p>
          <a:pPr lvl="0" algn="ctr" defTabSz="800100">
            <a:lnSpc>
              <a:spcPct val="90000"/>
            </a:lnSpc>
            <a:spcBef>
              <a:spcPct val="0"/>
            </a:spcBef>
            <a:spcAft>
              <a:spcPct val="35000"/>
            </a:spcAft>
          </a:pPr>
          <a:r>
            <a:rPr lang="es-VE" sz="1800" b="1" kern="1200" dirty="0" smtClean="0">
              <a:solidFill>
                <a:sysClr val="windowText" lastClr="000000"/>
              </a:solidFill>
              <a:latin typeface="Constantia"/>
              <a:ea typeface="+mn-ea"/>
              <a:cs typeface="+mn-cs"/>
            </a:rPr>
            <a:t>organizada y financiamiento al terrorismo </a:t>
          </a:r>
          <a:endParaRPr lang="es-VE" sz="1800" b="1" kern="1200" dirty="0">
            <a:solidFill>
              <a:sysClr val="windowText" lastClr="000000"/>
            </a:solidFill>
            <a:latin typeface="Constantia"/>
            <a:ea typeface="+mn-ea"/>
            <a:cs typeface="+mn-cs"/>
          </a:endParaRPr>
        </a:p>
      </dsp:txBody>
      <dsp:txXfrm rot="5400000">
        <a:off x="3000361" y="1114428"/>
        <a:ext cx="3143277" cy="3343284"/>
      </dsp:txXfrm>
    </dsp:sp>
    <dsp:sp modelId="{37EA840B-5E68-4A9A-8F51-42A52527BFD2}">
      <dsp:nvSpPr>
        <dsp:cNvPr id="0" name=""/>
        <dsp:cNvSpPr/>
      </dsp:nvSpPr>
      <dsp:spPr>
        <a:xfrm rot="16200000">
          <a:off x="4962122" y="1390806"/>
          <a:ext cx="5572140" cy="2790527"/>
        </a:xfrm>
        <a:prstGeom prst="flowChartManualOperation">
          <a:avLst/>
        </a:prstGeom>
        <a:solidFill>
          <a:schemeClr val="bg1"/>
        </a:solidFill>
        <a:ln w="9525" cap="flat" cmpd="sng" algn="ctr">
          <a:solidFill>
            <a:schemeClr val="bg1"/>
          </a:solidFill>
          <a:prstDash val="solid"/>
          <a:miter lim="800000"/>
        </a:ln>
        <a:effectLst>
          <a:outerShdw blurRad="57150" dist="38100" dir="5400000" algn="ctr" rotWithShape="0">
            <a:srgbClr val="C0504D">
              <a:shade val="9000"/>
              <a:satMod val="105000"/>
              <a:alpha val="48000"/>
            </a:srgbClr>
          </a:outerShdw>
        </a:effectLst>
      </dsp:spPr>
      <dsp:style>
        <a:lnRef idx="1">
          <a:schemeClr val="accent2"/>
        </a:lnRef>
        <a:fillRef idx="3">
          <a:schemeClr val="accent2"/>
        </a:fillRef>
        <a:effectRef idx="2">
          <a:schemeClr val="accent2"/>
        </a:effectRef>
        <a:fontRef idx="minor">
          <a:schemeClr val="lt1"/>
        </a:fontRef>
      </dsp:style>
      <dsp:txBody>
        <a:bodyPr spcFirstLastPara="0" vert="horz" wrap="square" lIns="114300" tIns="0" rIns="114300" bIns="0" numCol="1" spcCol="1270" anchor="ctr" anchorCtr="0">
          <a:noAutofit/>
        </a:bodyPr>
        <a:lstStyle/>
        <a:p>
          <a:pPr lvl="0" algn="ctr" defTabSz="800100">
            <a:lnSpc>
              <a:spcPct val="90000"/>
            </a:lnSpc>
            <a:spcBef>
              <a:spcPct val="0"/>
            </a:spcBef>
            <a:spcAft>
              <a:spcPct val="35000"/>
            </a:spcAft>
          </a:pPr>
          <a:r>
            <a:rPr lang="es-VE" sz="1800" b="1" kern="1200" dirty="0" smtClean="0">
              <a:solidFill>
                <a:sysClr val="windowText" lastClr="000000"/>
              </a:solidFill>
              <a:latin typeface="Constantia"/>
              <a:ea typeface="+mn-ea"/>
              <a:cs typeface="+mn-cs"/>
            </a:rPr>
            <a:t>Organización, control y supervisión en el ámbito nacional de todo lo relacionado con la prevención y represión de dichos delitos, y también la cooperación internacional en esta materia.</a:t>
          </a:r>
          <a:endParaRPr lang="es-VE" sz="1800" b="1" kern="1200" dirty="0">
            <a:solidFill>
              <a:sysClr val="windowText" lastClr="000000"/>
            </a:solidFill>
            <a:latin typeface="Constantia"/>
            <a:ea typeface="+mn-ea"/>
            <a:cs typeface="+mn-cs"/>
          </a:endParaRPr>
        </a:p>
      </dsp:txBody>
      <dsp:txXfrm rot="5400000">
        <a:off x="6352928" y="1114428"/>
        <a:ext cx="2790527" cy="334328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A784131-9C9B-4AAD-BD7A-B2E6A80EF49C}">
      <dsp:nvSpPr>
        <dsp:cNvPr id="0" name=""/>
        <dsp:cNvSpPr/>
      </dsp:nvSpPr>
      <dsp:spPr>
        <a:xfrm rot="16200000">
          <a:off x="-999718" y="1001686"/>
          <a:ext cx="4017629" cy="2014255"/>
        </a:xfrm>
        <a:prstGeom prst="flowChartManualOperation">
          <a:avLst/>
        </a:prstGeom>
        <a:solidFill>
          <a:schemeClr val="accent5">
            <a:lumMod val="40000"/>
            <a:lumOff val="60000"/>
          </a:schemeClr>
        </a:solidFill>
        <a:ln w="25400" cap="flat" cmpd="sng" algn="ctr">
          <a:solidFill>
            <a:schemeClr val="accent5"/>
          </a:solidFill>
          <a:prstDash val="solid"/>
          <a:miter lim="800000"/>
        </a:ln>
        <a:effectLst/>
      </dsp:spPr>
      <dsp:style>
        <a:lnRef idx="2">
          <a:schemeClr val="accent1"/>
        </a:lnRef>
        <a:fillRef idx="1">
          <a:schemeClr val="lt1"/>
        </a:fillRef>
        <a:effectRef idx="0">
          <a:schemeClr val="accent1"/>
        </a:effectRef>
        <a:fontRef idx="minor">
          <a:schemeClr val="dk1"/>
        </a:fontRef>
      </dsp:style>
      <dsp:txBody>
        <a:bodyPr spcFirstLastPara="0" vert="horz" wrap="square" lIns="127000" tIns="0" rIns="127000" bIns="0" numCol="1" spcCol="1270" anchor="ctr" anchorCtr="0">
          <a:noAutofit/>
        </a:bodyPr>
        <a:lstStyle/>
        <a:p>
          <a:pPr lvl="0" algn="ctr" defTabSz="889000">
            <a:lnSpc>
              <a:spcPct val="90000"/>
            </a:lnSpc>
            <a:spcBef>
              <a:spcPct val="0"/>
            </a:spcBef>
            <a:spcAft>
              <a:spcPct val="35000"/>
            </a:spcAft>
          </a:pPr>
          <a:r>
            <a:rPr lang="es-VE" sz="2000" b="1" kern="1200" dirty="0" smtClean="0">
              <a:solidFill>
                <a:sysClr val="windowText" lastClr="000000"/>
              </a:solidFill>
              <a:latin typeface="Constantia"/>
              <a:ea typeface="+mn-ea"/>
              <a:cs typeface="+mn-cs"/>
            </a:rPr>
            <a:t>Órganos y entes de prevención, control, supervisión, fiscalización y</a:t>
          </a:r>
        </a:p>
        <a:p>
          <a:pPr lvl="0" algn="ctr" defTabSz="889000">
            <a:lnSpc>
              <a:spcPct val="90000"/>
            </a:lnSpc>
            <a:spcBef>
              <a:spcPct val="0"/>
            </a:spcBef>
            <a:spcAft>
              <a:spcPct val="35000"/>
            </a:spcAft>
          </a:pPr>
          <a:r>
            <a:rPr lang="es-VE" sz="2000" b="1" kern="1200" dirty="0" smtClean="0">
              <a:solidFill>
                <a:sysClr val="windowText" lastClr="000000"/>
              </a:solidFill>
              <a:latin typeface="Constantia"/>
              <a:ea typeface="+mn-ea"/>
              <a:cs typeface="+mn-cs"/>
            </a:rPr>
            <a:t>vigilancia, de conformidad con esta Ley</a:t>
          </a:r>
          <a:endParaRPr lang="es-VE" sz="2000" b="1" kern="1200" dirty="0">
            <a:solidFill>
              <a:sysClr val="windowText" lastClr="000000"/>
            </a:solidFill>
            <a:latin typeface="Constantia"/>
            <a:ea typeface="+mn-ea"/>
            <a:cs typeface="+mn-cs"/>
          </a:endParaRPr>
        </a:p>
      </dsp:txBody>
      <dsp:txXfrm rot="5400000">
        <a:off x="1969" y="803525"/>
        <a:ext cx="2014255" cy="2410577"/>
      </dsp:txXfrm>
    </dsp:sp>
  </dsp:spTree>
</dsp:drawing>
</file>

<file path=ppt/diagrams/layout1.xml><?xml version="1.0" encoding="utf-8"?>
<dgm:layoutDef xmlns:dgm="http://schemas.openxmlformats.org/drawingml/2006/diagram" xmlns:a="http://schemas.openxmlformats.org/drawingml/2006/main" uniqueId="urn:microsoft.com/office/officeart/2005/8/layout/hList6">
  <dgm:title val=""/>
  <dgm:desc val=""/>
  <dgm:catLst>
    <dgm:cat type="list" pri="1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ptType="node" refType="h"/>
      <dgm:constr type="w" for="ch" ptType="node" refType="w"/>
      <dgm:constr type="primFontSz" for="ch" ptType="node" op="equ"/>
      <dgm:constr type="w" for="ch" forName="sibTrans" refType="w" fact="0.075"/>
    </dgm:constrLst>
    <dgm:ruleLst/>
    <dgm:forEach name="nodesForEach" axis="ch" ptType="node">
      <dgm:layoutNode name="node">
        <dgm:varLst>
          <dgm:bulletEnabled val="1"/>
        </dgm:varLst>
        <dgm:alg type="tx"/>
        <dgm:choose name="Name4">
          <dgm:if name="Name5" func="var" arg="dir" op="equ" val="norm">
            <dgm:shape xmlns:r="http://schemas.openxmlformats.org/officeDocument/2006/relationships" rot="-90" type="flowChartManualOperation" r:blip="">
              <dgm:adjLst/>
            </dgm:shape>
          </dgm:if>
          <dgm:else name="Name6">
            <dgm:shape xmlns:r="http://schemas.openxmlformats.org/officeDocument/2006/relationships" rot="90" type="flowChartManualOperation" r:blip="">
              <dgm:adjLst/>
            </dgm:shape>
          </dgm:else>
        </dgm:choose>
        <dgm:presOf axis="desOrSelf" ptType="node"/>
        <dgm:constrLst>
          <dgm:constr type="primFontSz" val="65"/>
          <dgm:constr type="tMarg"/>
          <dgm:constr type="bMarg"/>
          <dgm:constr type="lMarg" refType="primFontSz" fact="0.5"/>
          <dgm:constr type="rMarg" refType="lMarg"/>
        </dgm:constrLst>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List6">
  <dgm:title val=""/>
  <dgm:desc val=""/>
  <dgm:catLst>
    <dgm:cat type="list" pri="1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ptType="node" refType="h"/>
      <dgm:constr type="w" for="ch" ptType="node" refType="w"/>
      <dgm:constr type="primFontSz" for="ch" ptType="node" op="equ"/>
      <dgm:constr type="w" for="ch" forName="sibTrans" refType="w" fact="0.075"/>
    </dgm:constrLst>
    <dgm:ruleLst/>
    <dgm:forEach name="nodesForEach" axis="ch" ptType="node">
      <dgm:layoutNode name="node">
        <dgm:varLst>
          <dgm:bulletEnabled val="1"/>
        </dgm:varLst>
        <dgm:alg type="tx"/>
        <dgm:choose name="Name4">
          <dgm:if name="Name5" func="var" arg="dir" op="equ" val="norm">
            <dgm:shape xmlns:r="http://schemas.openxmlformats.org/officeDocument/2006/relationships" rot="-90" type="flowChartManualOperation" r:blip="">
              <dgm:adjLst/>
            </dgm:shape>
          </dgm:if>
          <dgm:else name="Name6">
            <dgm:shape xmlns:r="http://schemas.openxmlformats.org/officeDocument/2006/relationships" rot="90" type="flowChartManualOperation" r:blip="">
              <dgm:adjLst/>
            </dgm:shape>
          </dgm:else>
        </dgm:choose>
        <dgm:presOf axis="desOrSelf" ptType="node"/>
        <dgm:constrLst>
          <dgm:constr type="primFontSz" val="65"/>
          <dgm:constr type="tMarg"/>
          <dgm:constr type="bMarg"/>
          <dgm:constr type="lMarg" refType="primFontSz" fact="0.5"/>
          <dgm:constr type="rMarg" refType="lMarg"/>
        </dgm:constrLst>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EE12104-20DA-05B8-407B-1BD346167635}"/>
              </a:ext>
            </a:extLst>
          </p:cNvPr>
          <p:cNvSpPr>
            <a:spLocks noGrp="1"/>
          </p:cNvSpPr>
          <p:nvPr>
            <p:ph type="ctrTitle"/>
          </p:nvPr>
        </p:nvSpPr>
        <p:spPr>
          <a:xfrm>
            <a:off x="1143000" y="1122363"/>
            <a:ext cx="6858000" cy="2387600"/>
          </a:xfrm>
        </p:spPr>
        <p:txBody>
          <a:bodyPr anchor="b"/>
          <a:lstStyle>
            <a:lvl1pPr algn="ctr">
              <a:defRPr sz="4500"/>
            </a:lvl1pPr>
          </a:lstStyle>
          <a:p>
            <a:r>
              <a:rPr lang="es-ES" smtClean="0"/>
              <a:t>Haga clic para modificar el estilo de título del patrón</a:t>
            </a:r>
            <a:endParaRPr lang="es-VE"/>
          </a:p>
        </p:txBody>
      </p:sp>
      <p:sp>
        <p:nvSpPr>
          <p:cNvPr id="3" name="Subtítulo 2">
            <a:extLst>
              <a:ext uri="{FF2B5EF4-FFF2-40B4-BE49-F238E27FC236}">
                <a16:creationId xmlns:a16="http://schemas.microsoft.com/office/drawing/2014/main" id="{DF163B45-B681-3F6F-67F7-7BDCB3887888}"/>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s-ES" smtClean="0"/>
              <a:t>Haga clic para modificar el estilo de subtítulo del patrón</a:t>
            </a:r>
            <a:endParaRPr lang="es-VE"/>
          </a:p>
        </p:txBody>
      </p:sp>
      <p:sp>
        <p:nvSpPr>
          <p:cNvPr id="4" name="Marcador de fecha 3">
            <a:extLst>
              <a:ext uri="{FF2B5EF4-FFF2-40B4-BE49-F238E27FC236}">
                <a16:creationId xmlns:a16="http://schemas.microsoft.com/office/drawing/2014/main" id="{B9B42077-E71F-EECC-0F1A-D0B94E8336E0}"/>
              </a:ext>
            </a:extLst>
          </p:cNvPr>
          <p:cNvSpPr>
            <a:spLocks noGrp="1"/>
          </p:cNvSpPr>
          <p:nvPr>
            <p:ph type="dt" sz="half" idx="10"/>
          </p:nvPr>
        </p:nvSpPr>
        <p:spPr/>
        <p:txBody>
          <a:bodyPr/>
          <a:lstStyle/>
          <a:p>
            <a:fld id="{4B8C9073-CDC2-4129-B764-39E2D6231931}" type="datetimeFigureOut">
              <a:rPr lang="es-VE" smtClean="0"/>
              <a:pPr/>
              <a:t>03/08/2023</a:t>
            </a:fld>
            <a:endParaRPr lang="es-VE"/>
          </a:p>
        </p:txBody>
      </p:sp>
      <p:sp>
        <p:nvSpPr>
          <p:cNvPr id="5" name="Marcador de pie de página 4">
            <a:extLst>
              <a:ext uri="{FF2B5EF4-FFF2-40B4-BE49-F238E27FC236}">
                <a16:creationId xmlns:a16="http://schemas.microsoft.com/office/drawing/2014/main" id="{0F52EDE8-63CC-E276-1A31-1EF945EB8B2C}"/>
              </a:ext>
            </a:extLst>
          </p:cNvPr>
          <p:cNvSpPr>
            <a:spLocks noGrp="1"/>
          </p:cNvSpPr>
          <p:nvPr>
            <p:ph type="ftr" sz="quarter" idx="11"/>
          </p:nvPr>
        </p:nvSpPr>
        <p:spPr/>
        <p:txBody>
          <a:bodyPr/>
          <a:lstStyle/>
          <a:p>
            <a:endParaRPr lang="es-VE"/>
          </a:p>
        </p:txBody>
      </p:sp>
      <p:sp>
        <p:nvSpPr>
          <p:cNvPr id="6" name="Marcador de número de diapositiva 5">
            <a:extLst>
              <a:ext uri="{FF2B5EF4-FFF2-40B4-BE49-F238E27FC236}">
                <a16:creationId xmlns:a16="http://schemas.microsoft.com/office/drawing/2014/main" id="{CC1E6C6B-8506-2554-E400-BF3F29F21E98}"/>
              </a:ext>
            </a:extLst>
          </p:cNvPr>
          <p:cNvSpPr>
            <a:spLocks noGrp="1"/>
          </p:cNvSpPr>
          <p:nvPr>
            <p:ph type="sldNum" sz="quarter" idx="12"/>
          </p:nvPr>
        </p:nvSpPr>
        <p:spPr/>
        <p:txBody>
          <a:bodyPr/>
          <a:lstStyle/>
          <a:p>
            <a:fld id="{B994240D-30AA-440B-A6FF-CFB799252856}" type="slidenum">
              <a:rPr lang="es-VE" smtClean="0"/>
              <a:pPr/>
              <a:t>‹Nº›</a:t>
            </a:fld>
            <a:endParaRPr lang="es-VE"/>
          </a:p>
        </p:txBody>
      </p:sp>
    </p:spTree>
    <p:extLst>
      <p:ext uri="{BB962C8B-B14F-4D97-AF65-F5344CB8AC3E}">
        <p14:creationId xmlns:p14="http://schemas.microsoft.com/office/powerpoint/2010/main" val="24318259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049858E-3DA8-19FE-CA15-B9ABFB54461A}"/>
              </a:ext>
            </a:extLst>
          </p:cNvPr>
          <p:cNvSpPr>
            <a:spLocks noGrp="1"/>
          </p:cNvSpPr>
          <p:nvPr>
            <p:ph type="title"/>
          </p:nvPr>
        </p:nvSpPr>
        <p:spPr/>
        <p:txBody>
          <a:bodyPr/>
          <a:lstStyle/>
          <a:p>
            <a:r>
              <a:rPr lang="es-ES" smtClean="0"/>
              <a:t>Haga clic para modificar el estilo de título del patrón</a:t>
            </a:r>
            <a:endParaRPr lang="es-VE"/>
          </a:p>
        </p:txBody>
      </p:sp>
      <p:sp>
        <p:nvSpPr>
          <p:cNvPr id="3" name="Marcador de contenido 2">
            <a:extLst>
              <a:ext uri="{FF2B5EF4-FFF2-40B4-BE49-F238E27FC236}">
                <a16:creationId xmlns:a16="http://schemas.microsoft.com/office/drawing/2014/main" id="{8757B9BA-D8A4-8D4B-49D4-FA8B5F39A4D8}"/>
              </a:ext>
            </a:extLst>
          </p:cNvPr>
          <p:cNvSpPr>
            <a:spLocks noGrp="1"/>
          </p:cNvSpPr>
          <p:nvPr>
            <p:ph idx="1"/>
          </p:nvPr>
        </p:nvSpPr>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VE"/>
          </a:p>
        </p:txBody>
      </p:sp>
      <p:sp>
        <p:nvSpPr>
          <p:cNvPr id="4" name="Marcador de fecha 3">
            <a:extLst>
              <a:ext uri="{FF2B5EF4-FFF2-40B4-BE49-F238E27FC236}">
                <a16:creationId xmlns:a16="http://schemas.microsoft.com/office/drawing/2014/main" id="{77903F39-DB43-EB3F-AB52-A7A796AAD315}"/>
              </a:ext>
            </a:extLst>
          </p:cNvPr>
          <p:cNvSpPr>
            <a:spLocks noGrp="1"/>
          </p:cNvSpPr>
          <p:nvPr>
            <p:ph type="dt" sz="half" idx="10"/>
          </p:nvPr>
        </p:nvSpPr>
        <p:spPr/>
        <p:txBody>
          <a:bodyPr/>
          <a:lstStyle/>
          <a:p>
            <a:fld id="{4B8C9073-CDC2-4129-B764-39E2D6231931}" type="datetimeFigureOut">
              <a:rPr lang="es-VE" smtClean="0"/>
              <a:pPr/>
              <a:t>03/08/2023</a:t>
            </a:fld>
            <a:endParaRPr lang="es-VE"/>
          </a:p>
        </p:txBody>
      </p:sp>
      <p:sp>
        <p:nvSpPr>
          <p:cNvPr id="5" name="Marcador de pie de página 4">
            <a:extLst>
              <a:ext uri="{FF2B5EF4-FFF2-40B4-BE49-F238E27FC236}">
                <a16:creationId xmlns:a16="http://schemas.microsoft.com/office/drawing/2014/main" id="{56BBC387-1A06-3DCB-62CB-31A09F2FF87B}"/>
              </a:ext>
            </a:extLst>
          </p:cNvPr>
          <p:cNvSpPr>
            <a:spLocks noGrp="1"/>
          </p:cNvSpPr>
          <p:nvPr>
            <p:ph type="ftr" sz="quarter" idx="11"/>
          </p:nvPr>
        </p:nvSpPr>
        <p:spPr/>
        <p:txBody>
          <a:bodyPr/>
          <a:lstStyle/>
          <a:p>
            <a:endParaRPr lang="es-VE"/>
          </a:p>
        </p:txBody>
      </p:sp>
      <p:sp>
        <p:nvSpPr>
          <p:cNvPr id="6" name="Marcador de número de diapositiva 5">
            <a:extLst>
              <a:ext uri="{FF2B5EF4-FFF2-40B4-BE49-F238E27FC236}">
                <a16:creationId xmlns:a16="http://schemas.microsoft.com/office/drawing/2014/main" id="{4254708C-4E85-0DDE-7C3C-E8DC931F155A}"/>
              </a:ext>
            </a:extLst>
          </p:cNvPr>
          <p:cNvSpPr>
            <a:spLocks noGrp="1"/>
          </p:cNvSpPr>
          <p:nvPr>
            <p:ph type="sldNum" sz="quarter" idx="12"/>
          </p:nvPr>
        </p:nvSpPr>
        <p:spPr/>
        <p:txBody>
          <a:bodyPr/>
          <a:lstStyle/>
          <a:p>
            <a:fld id="{B994240D-30AA-440B-A6FF-CFB799252856}" type="slidenum">
              <a:rPr lang="es-VE" smtClean="0"/>
              <a:pPr/>
              <a:t>‹Nº›</a:t>
            </a:fld>
            <a:endParaRPr lang="es-VE"/>
          </a:p>
        </p:txBody>
      </p:sp>
    </p:spTree>
    <p:extLst>
      <p:ext uri="{BB962C8B-B14F-4D97-AF65-F5344CB8AC3E}">
        <p14:creationId xmlns:p14="http://schemas.microsoft.com/office/powerpoint/2010/main" val="35609647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144C126-BA27-B2A1-18B1-D78553FBE333}"/>
              </a:ext>
            </a:extLst>
          </p:cNvPr>
          <p:cNvSpPr>
            <a:spLocks noGrp="1"/>
          </p:cNvSpPr>
          <p:nvPr>
            <p:ph type="title"/>
          </p:nvPr>
        </p:nvSpPr>
        <p:spPr>
          <a:xfrm>
            <a:off x="623888" y="1709739"/>
            <a:ext cx="7886700" cy="2852737"/>
          </a:xfrm>
        </p:spPr>
        <p:txBody>
          <a:bodyPr anchor="b"/>
          <a:lstStyle>
            <a:lvl1pPr>
              <a:defRPr sz="4500"/>
            </a:lvl1pPr>
          </a:lstStyle>
          <a:p>
            <a:r>
              <a:rPr lang="es-ES" smtClean="0"/>
              <a:t>Haga clic para modificar el estilo de título del patrón</a:t>
            </a:r>
            <a:endParaRPr lang="es-VE"/>
          </a:p>
        </p:txBody>
      </p:sp>
      <p:sp>
        <p:nvSpPr>
          <p:cNvPr id="3" name="Marcador de texto 2">
            <a:extLst>
              <a:ext uri="{FF2B5EF4-FFF2-40B4-BE49-F238E27FC236}">
                <a16:creationId xmlns:a16="http://schemas.microsoft.com/office/drawing/2014/main" id="{2B99081D-B15B-27AD-1147-849085533395}"/>
              </a:ext>
            </a:extLst>
          </p:cNvPr>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s-ES" smtClean="0"/>
              <a:t>Haga clic para modificar el estilo de texto del patrón</a:t>
            </a:r>
          </a:p>
        </p:txBody>
      </p:sp>
      <p:sp>
        <p:nvSpPr>
          <p:cNvPr id="4" name="Marcador de fecha 3">
            <a:extLst>
              <a:ext uri="{FF2B5EF4-FFF2-40B4-BE49-F238E27FC236}">
                <a16:creationId xmlns:a16="http://schemas.microsoft.com/office/drawing/2014/main" id="{1B18E64A-8611-7576-EEFA-F819695B7221}"/>
              </a:ext>
            </a:extLst>
          </p:cNvPr>
          <p:cNvSpPr>
            <a:spLocks noGrp="1"/>
          </p:cNvSpPr>
          <p:nvPr>
            <p:ph type="dt" sz="half" idx="10"/>
          </p:nvPr>
        </p:nvSpPr>
        <p:spPr/>
        <p:txBody>
          <a:bodyPr/>
          <a:lstStyle/>
          <a:p>
            <a:fld id="{4B8C9073-CDC2-4129-B764-39E2D6231931}" type="datetimeFigureOut">
              <a:rPr lang="es-VE" smtClean="0"/>
              <a:pPr/>
              <a:t>03/08/2023</a:t>
            </a:fld>
            <a:endParaRPr lang="es-VE"/>
          </a:p>
        </p:txBody>
      </p:sp>
      <p:sp>
        <p:nvSpPr>
          <p:cNvPr id="5" name="Marcador de pie de página 4">
            <a:extLst>
              <a:ext uri="{FF2B5EF4-FFF2-40B4-BE49-F238E27FC236}">
                <a16:creationId xmlns:a16="http://schemas.microsoft.com/office/drawing/2014/main" id="{785C6D8A-B4A5-77CC-2149-544E5B32A422}"/>
              </a:ext>
            </a:extLst>
          </p:cNvPr>
          <p:cNvSpPr>
            <a:spLocks noGrp="1"/>
          </p:cNvSpPr>
          <p:nvPr>
            <p:ph type="ftr" sz="quarter" idx="11"/>
          </p:nvPr>
        </p:nvSpPr>
        <p:spPr/>
        <p:txBody>
          <a:bodyPr/>
          <a:lstStyle/>
          <a:p>
            <a:endParaRPr lang="es-VE"/>
          </a:p>
        </p:txBody>
      </p:sp>
      <p:sp>
        <p:nvSpPr>
          <p:cNvPr id="6" name="Marcador de número de diapositiva 5">
            <a:extLst>
              <a:ext uri="{FF2B5EF4-FFF2-40B4-BE49-F238E27FC236}">
                <a16:creationId xmlns:a16="http://schemas.microsoft.com/office/drawing/2014/main" id="{A02F107D-5A4D-C8BD-720C-BFB592DD98C0}"/>
              </a:ext>
            </a:extLst>
          </p:cNvPr>
          <p:cNvSpPr>
            <a:spLocks noGrp="1"/>
          </p:cNvSpPr>
          <p:nvPr>
            <p:ph type="sldNum" sz="quarter" idx="12"/>
          </p:nvPr>
        </p:nvSpPr>
        <p:spPr/>
        <p:txBody>
          <a:bodyPr/>
          <a:lstStyle/>
          <a:p>
            <a:fld id="{B994240D-30AA-440B-A6FF-CFB799252856}" type="slidenum">
              <a:rPr lang="es-VE" smtClean="0"/>
              <a:pPr/>
              <a:t>‹Nº›</a:t>
            </a:fld>
            <a:endParaRPr lang="es-VE"/>
          </a:p>
        </p:txBody>
      </p:sp>
    </p:spTree>
    <p:extLst>
      <p:ext uri="{BB962C8B-B14F-4D97-AF65-F5344CB8AC3E}">
        <p14:creationId xmlns:p14="http://schemas.microsoft.com/office/powerpoint/2010/main" val="10141962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645FAEE-1974-28EA-4322-85F03684B7E5}"/>
              </a:ext>
            </a:extLst>
          </p:cNvPr>
          <p:cNvSpPr>
            <a:spLocks noGrp="1"/>
          </p:cNvSpPr>
          <p:nvPr>
            <p:ph type="title"/>
          </p:nvPr>
        </p:nvSpPr>
        <p:spPr/>
        <p:txBody>
          <a:bodyPr/>
          <a:lstStyle/>
          <a:p>
            <a:r>
              <a:rPr lang="es-ES" smtClean="0"/>
              <a:t>Haga clic para modificar el estilo de título del patrón</a:t>
            </a:r>
            <a:endParaRPr lang="es-VE"/>
          </a:p>
        </p:txBody>
      </p:sp>
      <p:sp>
        <p:nvSpPr>
          <p:cNvPr id="3" name="Marcador de contenido 2">
            <a:extLst>
              <a:ext uri="{FF2B5EF4-FFF2-40B4-BE49-F238E27FC236}">
                <a16:creationId xmlns:a16="http://schemas.microsoft.com/office/drawing/2014/main" id="{7229B877-4A22-0FB9-4723-59D02703E3F1}"/>
              </a:ext>
            </a:extLst>
          </p:cNvPr>
          <p:cNvSpPr>
            <a:spLocks noGrp="1"/>
          </p:cNvSpPr>
          <p:nvPr>
            <p:ph sz="half" idx="1"/>
          </p:nvPr>
        </p:nvSpPr>
        <p:spPr>
          <a:xfrm>
            <a:off x="628650" y="1825625"/>
            <a:ext cx="3886200" cy="4351338"/>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VE"/>
          </a:p>
        </p:txBody>
      </p:sp>
      <p:sp>
        <p:nvSpPr>
          <p:cNvPr id="4" name="Marcador de contenido 3">
            <a:extLst>
              <a:ext uri="{FF2B5EF4-FFF2-40B4-BE49-F238E27FC236}">
                <a16:creationId xmlns:a16="http://schemas.microsoft.com/office/drawing/2014/main" id="{E94D0D32-D2DF-C36B-AD1F-4F00C6B80982}"/>
              </a:ext>
            </a:extLst>
          </p:cNvPr>
          <p:cNvSpPr>
            <a:spLocks noGrp="1"/>
          </p:cNvSpPr>
          <p:nvPr>
            <p:ph sz="half" idx="2"/>
          </p:nvPr>
        </p:nvSpPr>
        <p:spPr>
          <a:xfrm>
            <a:off x="4629150" y="1825625"/>
            <a:ext cx="3886200" cy="4351338"/>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VE"/>
          </a:p>
        </p:txBody>
      </p:sp>
      <p:sp>
        <p:nvSpPr>
          <p:cNvPr id="5" name="Marcador de fecha 4">
            <a:extLst>
              <a:ext uri="{FF2B5EF4-FFF2-40B4-BE49-F238E27FC236}">
                <a16:creationId xmlns:a16="http://schemas.microsoft.com/office/drawing/2014/main" id="{9C75B6E7-754C-1AA5-C707-CA95D6093CE6}"/>
              </a:ext>
            </a:extLst>
          </p:cNvPr>
          <p:cNvSpPr>
            <a:spLocks noGrp="1"/>
          </p:cNvSpPr>
          <p:nvPr>
            <p:ph type="dt" sz="half" idx="10"/>
          </p:nvPr>
        </p:nvSpPr>
        <p:spPr/>
        <p:txBody>
          <a:bodyPr/>
          <a:lstStyle/>
          <a:p>
            <a:fld id="{4B8C9073-CDC2-4129-B764-39E2D6231931}" type="datetimeFigureOut">
              <a:rPr lang="es-VE" smtClean="0"/>
              <a:pPr/>
              <a:t>03/08/2023</a:t>
            </a:fld>
            <a:endParaRPr lang="es-VE"/>
          </a:p>
        </p:txBody>
      </p:sp>
      <p:sp>
        <p:nvSpPr>
          <p:cNvPr id="6" name="Marcador de pie de página 5">
            <a:extLst>
              <a:ext uri="{FF2B5EF4-FFF2-40B4-BE49-F238E27FC236}">
                <a16:creationId xmlns:a16="http://schemas.microsoft.com/office/drawing/2014/main" id="{2B78FC5C-E289-A198-E113-3DFC454429A6}"/>
              </a:ext>
            </a:extLst>
          </p:cNvPr>
          <p:cNvSpPr>
            <a:spLocks noGrp="1"/>
          </p:cNvSpPr>
          <p:nvPr>
            <p:ph type="ftr" sz="quarter" idx="11"/>
          </p:nvPr>
        </p:nvSpPr>
        <p:spPr/>
        <p:txBody>
          <a:bodyPr/>
          <a:lstStyle/>
          <a:p>
            <a:endParaRPr lang="es-VE"/>
          </a:p>
        </p:txBody>
      </p:sp>
      <p:sp>
        <p:nvSpPr>
          <p:cNvPr id="7" name="Marcador de número de diapositiva 6">
            <a:extLst>
              <a:ext uri="{FF2B5EF4-FFF2-40B4-BE49-F238E27FC236}">
                <a16:creationId xmlns:a16="http://schemas.microsoft.com/office/drawing/2014/main" id="{84D49A57-04E2-0843-4FA5-BC63FA2F7E31}"/>
              </a:ext>
            </a:extLst>
          </p:cNvPr>
          <p:cNvSpPr>
            <a:spLocks noGrp="1"/>
          </p:cNvSpPr>
          <p:nvPr>
            <p:ph type="sldNum" sz="quarter" idx="12"/>
          </p:nvPr>
        </p:nvSpPr>
        <p:spPr/>
        <p:txBody>
          <a:bodyPr/>
          <a:lstStyle/>
          <a:p>
            <a:fld id="{B994240D-30AA-440B-A6FF-CFB799252856}" type="slidenum">
              <a:rPr lang="es-VE" smtClean="0"/>
              <a:pPr/>
              <a:t>‹Nº›</a:t>
            </a:fld>
            <a:endParaRPr lang="es-VE"/>
          </a:p>
        </p:txBody>
      </p:sp>
    </p:spTree>
    <p:extLst>
      <p:ext uri="{BB962C8B-B14F-4D97-AF65-F5344CB8AC3E}">
        <p14:creationId xmlns:p14="http://schemas.microsoft.com/office/powerpoint/2010/main" val="35726001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D4F8B54-7487-498B-08B1-A9F7C3A68138}"/>
              </a:ext>
            </a:extLst>
          </p:cNvPr>
          <p:cNvSpPr>
            <a:spLocks noGrp="1"/>
          </p:cNvSpPr>
          <p:nvPr>
            <p:ph type="title"/>
          </p:nvPr>
        </p:nvSpPr>
        <p:spPr>
          <a:xfrm>
            <a:off x="629841" y="365126"/>
            <a:ext cx="7886700" cy="1325563"/>
          </a:xfrm>
        </p:spPr>
        <p:txBody>
          <a:bodyPr/>
          <a:lstStyle/>
          <a:p>
            <a:r>
              <a:rPr lang="es-ES" smtClean="0"/>
              <a:t>Haga clic para modificar el estilo de título del patrón</a:t>
            </a:r>
            <a:endParaRPr lang="es-VE"/>
          </a:p>
        </p:txBody>
      </p:sp>
      <p:sp>
        <p:nvSpPr>
          <p:cNvPr id="3" name="Marcador de texto 2">
            <a:extLst>
              <a:ext uri="{FF2B5EF4-FFF2-40B4-BE49-F238E27FC236}">
                <a16:creationId xmlns:a16="http://schemas.microsoft.com/office/drawing/2014/main" id="{65E8DA89-DB87-791B-7DFB-776B4C6F8FFA}"/>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s-ES" smtClean="0"/>
              <a:t>Haga clic para modificar el estilo de texto del patrón</a:t>
            </a:r>
          </a:p>
        </p:txBody>
      </p:sp>
      <p:sp>
        <p:nvSpPr>
          <p:cNvPr id="4" name="Marcador de contenido 3">
            <a:extLst>
              <a:ext uri="{FF2B5EF4-FFF2-40B4-BE49-F238E27FC236}">
                <a16:creationId xmlns:a16="http://schemas.microsoft.com/office/drawing/2014/main" id="{41C502A7-121B-A79A-E05D-2C50AA055FD2}"/>
              </a:ext>
            </a:extLst>
          </p:cNvPr>
          <p:cNvSpPr>
            <a:spLocks noGrp="1"/>
          </p:cNvSpPr>
          <p:nvPr>
            <p:ph sz="half" idx="2"/>
          </p:nvPr>
        </p:nvSpPr>
        <p:spPr>
          <a:xfrm>
            <a:off x="629842" y="2505075"/>
            <a:ext cx="3868340" cy="3684588"/>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VE"/>
          </a:p>
        </p:txBody>
      </p:sp>
      <p:sp>
        <p:nvSpPr>
          <p:cNvPr id="5" name="Marcador de texto 4">
            <a:extLst>
              <a:ext uri="{FF2B5EF4-FFF2-40B4-BE49-F238E27FC236}">
                <a16:creationId xmlns:a16="http://schemas.microsoft.com/office/drawing/2014/main" id="{C1945597-AB7E-6443-868F-CA48AA41ABFB}"/>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s-ES" smtClean="0"/>
              <a:t>Haga clic para modificar el estilo de texto del patrón</a:t>
            </a:r>
          </a:p>
        </p:txBody>
      </p:sp>
      <p:sp>
        <p:nvSpPr>
          <p:cNvPr id="6" name="Marcador de contenido 5">
            <a:extLst>
              <a:ext uri="{FF2B5EF4-FFF2-40B4-BE49-F238E27FC236}">
                <a16:creationId xmlns:a16="http://schemas.microsoft.com/office/drawing/2014/main" id="{F1807428-E4F0-3838-EC16-10340B1573EB}"/>
              </a:ext>
            </a:extLst>
          </p:cNvPr>
          <p:cNvSpPr>
            <a:spLocks noGrp="1"/>
          </p:cNvSpPr>
          <p:nvPr>
            <p:ph sz="quarter" idx="4"/>
          </p:nvPr>
        </p:nvSpPr>
        <p:spPr>
          <a:xfrm>
            <a:off x="4629150" y="2505075"/>
            <a:ext cx="3887391" cy="3684588"/>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VE"/>
          </a:p>
        </p:txBody>
      </p:sp>
      <p:sp>
        <p:nvSpPr>
          <p:cNvPr id="7" name="Marcador de fecha 6">
            <a:extLst>
              <a:ext uri="{FF2B5EF4-FFF2-40B4-BE49-F238E27FC236}">
                <a16:creationId xmlns:a16="http://schemas.microsoft.com/office/drawing/2014/main" id="{AAC20B8C-3295-29A4-C641-7768B421755A}"/>
              </a:ext>
            </a:extLst>
          </p:cNvPr>
          <p:cNvSpPr>
            <a:spLocks noGrp="1"/>
          </p:cNvSpPr>
          <p:nvPr>
            <p:ph type="dt" sz="half" idx="10"/>
          </p:nvPr>
        </p:nvSpPr>
        <p:spPr/>
        <p:txBody>
          <a:bodyPr/>
          <a:lstStyle/>
          <a:p>
            <a:fld id="{4B8C9073-CDC2-4129-B764-39E2D6231931}" type="datetimeFigureOut">
              <a:rPr lang="es-VE" smtClean="0"/>
              <a:pPr/>
              <a:t>03/08/2023</a:t>
            </a:fld>
            <a:endParaRPr lang="es-VE"/>
          </a:p>
        </p:txBody>
      </p:sp>
      <p:sp>
        <p:nvSpPr>
          <p:cNvPr id="8" name="Marcador de pie de página 7">
            <a:extLst>
              <a:ext uri="{FF2B5EF4-FFF2-40B4-BE49-F238E27FC236}">
                <a16:creationId xmlns:a16="http://schemas.microsoft.com/office/drawing/2014/main" id="{3B608B71-041F-BDDD-3669-31CBA9287F08}"/>
              </a:ext>
            </a:extLst>
          </p:cNvPr>
          <p:cNvSpPr>
            <a:spLocks noGrp="1"/>
          </p:cNvSpPr>
          <p:nvPr>
            <p:ph type="ftr" sz="quarter" idx="11"/>
          </p:nvPr>
        </p:nvSpPr>
        <p:spPr/>
        <p:txBody>
          <a:bodyPr/>
          <a:lstStyle/>
          <a:p>
            <a:endParaRPr lang="es-VE"/>
          </a:p>
        </p:txBody>
      </p:sp>
      <p:sp>
        <p:nvSpPr>
          <p:cNvPr id="9" name="Marcador de número de diapositiva 8">
            <a:extLst>
              <a:ext uri="{FF2B5EF4-FFF2-40B4-BE49-F238E27FC236}">
                <a16:creationId xmlns:a16="http://schemas.microsoft.com/office/drawing/2014/main" id="{7CA437EB-2646-A6A1-229C-F6CB3B8B801E}"/>
              </a:ext>
            </a:extLst>
          </p:cNvPr>
          <p:cNvSpPr>
            <a:spLocks noGrp="1"/>
          </p:cNvSpPr>
          <p:nvPr>
            <p:ph type="sldNum" sz="quarter" idx="12"/>
          </p:nvPr>
        </p:nvSpPr>
        <p:spPr/>
        <p:txBody>
          <a:bodyPr/>
          <a:lstStyle/>
          <a:p>
            <a:fld id="{B994240D-30AA-440B-A6FF-CFB799252856}" type="slidenum">
              <a:rPr lang="es-VE" smtClean="0"/>
              <a:pPr/>
              <a:t>‹Nº›</a:t>
            </a:fld>
            <a:endParaRPr lang="es-VE"/>
          </a:p>
        </p:txBody>
      </p:sp>
    </p:spTree>
    <p:extLst>
      <p:ext uri="{BB962C8B-B14F-4D97-AF65-F5344CB8AC3E}">
        <p14:creationId xmlns:p14="http://schemas.microsoft.com/office/powerpoint/2010/main" val="15572101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0292BD-DDA3-C00B-0B04-8FDE81A8A5A7}"/>
              </a:ext>
            </a:extLst>
          </p:cNvPr>
          <p:cNvSpPr>
            <a:spLocks noGrp="1"/>
          </p:cNvSpPr>
          <p:nvPr>
            <p:ph type="title"/>
          </p:nvPr>
        </p:nvSpPr>
        <p:spPr/>
        <p:txBody>
          <a:bodyPr/>
          <a:lstStyle/>
          <a:p>
            <a:r>
              <a:rPr lang="es-ES" smtClean="0"/>
              <a:t>Haga clic para modificar el estilo de título del patrón</a:t>
            </a:r>
            <a:endParaRPr lang="es-VE"/>
          </a:p>
        </p:txBody>
      </p:sp>
      <p:sp>
        <p:nvSpPr>
          <p:cNvPr id="3" name="Marcador de fecha 2">
            <a:extLst>
              <a:ext uri="{FF2B5EF4-FFF2-40B4-BE49-F238E27FC236}">
                <a16:creationId xmlns:a16="http://schemas.microsoft.com/office/drawing/2014/main" id="{5B61AE77-6983-804E-B490-A0B928B44E21}"/>
              </a:ext>
            </a:extLst>
          </p:cNvPr>
          <p:cNvSpPr>
            <a:spLocks noGrp="1"/>
          </p:cNvSpPr>
          <p:nvPr>
            <p:ph type="dt" sz="half" idx="10"/>
          </p:nvPr>
        </p:nvSpPr>
        <p:spPr/>
        <p:txBody>
          <a:bodyPr/>
          <a:lstStyle/>
          <a:p>
            <a:fld id="{4B8C9073-CDC2-4129-B764-39E2D6231931}" type="datetimeFigureOut">
              <a:rPr lang="es-VE" smtClean="0"/>
              <a:pPr/>
              <a:t>03/08/2023</a:t>
            </a:fld>
            <a:endParaRPr lang="es-VE"/>
          </a:p>
        </p:txBody>
      </p:sp>
      <p:sp>
        <p:nvSpPr>
          <p:cNvPr id="4" name="Marcador de pie de página 3">
            <a:extLst>
              <a:ext uri="{FF2B5EF4-FFF2-40B4-BE49-F238E27FC236}">
                <a16:creationId xmlns:a16="http://schemas.microsoft.com/office/drawing/2014/main" id="{8912ABC8-BD8F-77CE-6683-230BC6A98686}"/>
              </a:ext>
            </a:extLst>
          </p:cNvPr>
          <p:cNvSpPr>
            <a:spLocks noGrp="1"/>
          </p:cNvSpPr>
          <p:nvPr>
            <p:ph type="ftr" sz="quarter" idx="11"/>
          </p:nvPr>
        </p:nvSpPr>
        <p:spPr/>
        <p:txBody>
          <a:bodyPr/>
          <a:lstStyle/>
          <a:p>
            <a:endParaRPr lang="es-VE"/>
          </a:p>
        </p:txBody>
      </p:sp>
      <p:sp>
        <p:nvSpPr>
          <p:cNvPr id="5" name="Marcador de número de diapositiva 4">
            <a:extLst>
              <a:ext uri="{FF2B5EF4-FFF2-40B4-BE49-F238E27FC236}">
                <a16:creationId xmlns:a16="http://schemas.microsoft.com/office/drawing/2014/main" id="{90387717-222D-B263-D9BD-E0177848CC09}"/>
              </a:ext>
            </a:extLst>
          </p:cNvPr>
          <p:cNvSpPr>
            <a:spLocks noGrp="1"/>
          </p:cNvSpPr>
          <p:nvPr>
            <p:ph type="sldNum" sz="quarter" idx="12"/>
          </p:nvPr>
        </p:nvSpPr>
        <p:spPr/>
        <p:txBody>
          <a:bodyPr/>
          <a:lstStyle/>
          <a:p>
            <a:fld id="{B994240D-30AA-440B-A6FF-CFB799252856}" type="slidenum">
              <a:rPr lang="es-VE" smtClean="0"/>
              <a:pPr/>
              <a:t>‹Nº›</a:t>
            </a:fld>
            <a:endParaRPr lang="es-VE"/>
          </a:p>
        </p:txBody>
      </p:sp>
    </p:spTree>
    <p:extLst>
      <p:ext uri="{BB962C8B-B14F-4D97-AF65-F5344CB8AC3E}">
        <p14:creationId xmlns:p14="http://schemas.microsoft.com/office/powerpoint/2010/main" val="37004491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0DF20DD5-F9E3-1BDD-93E9-E49026FE4BED}"/>
              </a:ext>
            </a:extLst>
          </p:cNvPr>
          <p:cNvSpPr>
            <a:spLocks noGrp="1"/>
          </p:cNvSpPr>
          <p:nvPr>
            <p:ph type="dt" sz="half" idx="10"/>
          </p:nvPr>
        </p:nvSpPr>
        <p:spPr/>
        <p:txBody>
          <a:bodyPr/>
          <a:lstStyle/>
          <a:p>
            <a:fld id="{4B8C9073-CDC2-4129-B764-39E2D6231931}" type="datetimeFigureOut">
              <a:rPr lang="es-VE" smtClean="0"/>
              <a:pPr/>
              <a:t>03/08/2023</a:t>
            </a:fld>
            <a:endParaRPr lang="es-VE"/>
          </a:p>
        </p:txBody>
      </p:sp>
      <p:sp>
        <p:nvSpPr>
          <p:cNvPr id="3" name="Marcador de pie de página 2">
            <a:extLst>
              <a:ext uri="{FF2B5EF4-FFF2-40B4-BE49-F238E27FC236}">
                <a16:creationId xmlns:a16="http://schemas.microsoft.com/office/drawing/2014/main" id="{63F01B87-0BB6-8285-2544-1483DD175A61}"/>
              </a:ext>
            </a:extLst>
          </p:cNvPr>
          <p:cNvSpPr>
            <a:spLocks noGrp="1"/>
          </p:cNvSpPr>
          <p:nvPr>
            <p:ph type="ftr" sz="quarter" idx="11"/>
          </p:nvPr>
        </p:nvSpPr>
        <p:spPr/>
        <p:txBody>
          <a:bodyPr/>
          <a:lstStyle/>
          <a:p>
            <a:endParaRPr lang="es-VE"/>
          </a:p>
        </p:txBody>
      </p:sp>
      <p:sp>
        <p:nvSpPr>
          <p:cNvPr id="4" name="Marcador de número de diapositiva 3">
            <a:extLst>
              <a:ext uri="{FF2B5EF4-FFF2-40B4-BE49-F238E27FC236}">
                <a16:creationId xmlns:a16="http://schemas.microsoft.com/office/drawing/2014/main" id="{386F0086-E115-D13F-8FE2-565424F0BF00}"/>
              </a:ext>
            </a:extLst>
          </p:cNvPr>
          <p:cNvSpPr>
            <a:spLocks noGrp="1"/>
          </p:cNvSpPr>
          <p:nvPr>
            <p:ph type="sldNum" sz="quarter" idx="12"/>
          </p:nvPr>
        </p:nvSpPr>
        <p:spPr/>
        <p:txBody>
          <a:bodyPr/>
          <a:lstStyle/>
          <a:p>
            <a:fld id="{B994240D-30AA-440B-A6FF-CFB799252856}" type="slidenum">
              <a:rPr lang="es-VE" smtClean="0"/>
              <a:pPr/>
              <a:t>‹Nº›</a:t>
            </a:fld>
            <a:endParaRPr lang="es-VE"/>
          </a:p>
        </p:txBody>
      </p:sp>
    </p:spTree>
    <p:extLst>
      <p:ext uri="{BB962C8B-B14F-4D97-AF65-F5344CB8AC3E}">
        <p14:creationId xmlns:p14="http://schemas.microsoft.com/office/powerpoint/2010/main" val="4072234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5E82521-CCC8-3AFC-B81E-3172ED254E97}"/>
              </a:ext>
            </a:extLst>
          </p:cNvPr>
          <p:cNvSpPr>
            <a:spLocks noGrp="1"/>
          </p:cNvSpPr>
          <p:nvPr>
            <p:ph type="title"/>
          </p:nvPr>
        </p:nvSpPr>
        <p:spPr>
          <a:xfrm>
            <a:off x="629841" y="457200"/>
            <a:ext cx="2949178" cy="1600200"/>
          </a:xfrm>
        </p:spPr>
        <p:txBody>
          <a:bodyPr anchor="b"/>
          <a:lstStyle>
            <a:lvl1pPr>
              <a:defRPr sz="2400"/>
            </a:lvl1pPr>
          </a:lstStyle>
          <a:p>
            <a:r>
              <a:rPr lang="es-ES" smtClean="0"/>
              <a:t>Haga clic para modificar el estilo de título del patrón</a:t>
            </a:r>
            <a:endParaRPr lang="es-VE"/>
          </a:p>
        </p:txBody>
      </p:sp>
      <p:sp>
        <p:nvSpPr>
          <p:cNvPr id="3" name="Marcador de contenido 2">
            <a:extLst>
              <a:ext uri="{FF2B5EF4-FFF2-40B4-BE49-F238E27FC236}">
                <a16:creationId xmlns:a16="http://schemas.microsoft.com/office/drawing/2014/main" id="{C4AEBA1F-915B-9FDA-781D-29B598EA1133}"/>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VE"/>
          </a:p>
        </p:txBody>
      </p:sp>
      <p:sp>
        <p:nvSpPr>
          <p:cNvPr id="4" name="Marcador de texto 3">
            <a:extLst>
              <a:ext uri="{FF2B5EF4-FFF2-40B4-BE49-F238E27FC236}">
                <a16:creationId xmlns:a16="http://schemas.microsoft.com/office/drawing/2014/main" id="{090A3E79-AD0E-A76D-7E97-737FD6B359ED}"/>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s-ES" smtClean="0"/>
              <a:t>Haga clic para modificar el estilo de texto del patrón</a:t>
            </a:r>
          </a:p>
        </p:txBody>
      </p:sp>
      <p:sp>
        <p:nvSpPr>
          <p:cNvPr id="5" name="Marcador de fecha 4">
            <a:extLst>
              <a:ext uri="{FF2B5EF4-FFF2-40B4-BE49-F238E27FC236}">
                <a16:creationId xmlns:a16="http://schemas.microsoft.com/office/drawing/2014/main" id="{6E2A7931-D2CE-F02B-0188-AB2F1CB5DBAD}"/>
              </a:ext>
            </a:extLst>
          </p:cNvPr>
          <p:cNvSpPr>
            <a:spLocks noGrp="1"/>
          </p:cNvSpPr>
          <p:nvPr>
            <p:ph type="dt" sz="half" idx="10"/>
          </p:nvPr>
        </p:nvSpPr>
        <p:spPr/>
        <p:txBody>
          <a:bodyPr/>
          <a:lstStyle/>
          <a:p>
            <a:fld id="{4B8C9073-CDC2-4129-B764-39E2D6231931}" type="datetimeFigureOut">
              <a:rPr lang="es-VE" smtClean="0"/>
              <a:pPr/>
              <a:t>03/08/2023</a:t>
            </a:fld>
            <a:endParaRPr lang="es-VE"/>
          </a:p>
        </p:txBody>
      </p:sp>
      <p:sp>
        <p:nvSpPr>
          <p:cNvPr id="6" name="Marcador de pie de página 5">
            <a:extLst>
              <a:ext uri="{FF2B5EF4-FFF2-40B4-BE49-F238E27FC236}">
                <a16:creationId xmlns:a16="http://schemas.microsoft.com/office/drawing/2014/main" id="{AA42FFB7-7346-C1C1-2384-19BD1A6A2CE3}"/>
              </a:ext>
            </a:extLst>
          </p:cNvPr>
          <p:cNvSpPr>
            <a:spLocks noGrp="1"/>
          </p:cNvSpPr>
          <p:nvPr>
            <p:ph type="ftr" sz="quarter" idx="11"/>
          </p:nvPr>
        </p:nvSpPr>
        <p:spPr/>
        <p:txBody>
          <a:bodyPr/>
          <a:lstStyle/>
          <a:p>
            <a:endParaRPr lang="es-VE"/>
          </a:p>
        </p:txBody>
      </p:sp>
      <p:sp>
        <p:nvSpPr>
          <p:cNvPr id="7" name="Marcador de número de diapositiva 6">
            <a:extLst>
              <a:ext uri="{FF2B5EF4-FFF2-40B4-BE49-F238E27FC236}">
                <a16:creationId xmlns:a16="http://schemas.microsoft.com/office/drawing/2014/main" id="{FF305443-163F-A41E-AF59-62389C861864}"/>
              </a:ext>
            </a:extLst>
          </p:cNvPr>
          <p:cNvSpPr>
            <a:spLocks noGrp="1"/>
          </p:cNvSpPr>
          <p:nvPr>
            <p:ph type="sldNum" sz="quarter" idx="12"/>
          </p:nvPr>
        </p:nvSpPr>
        <p:spPr/>
        <p:txBody>
          <a:bodyPr/>
          <a:lstStyle/>
          <a:p>
            <a:fld id="{B994240D-30AA-440B-A6FF-CFB799252856}" type="slidenum">
              <a:rPr lang="es-VE" smtClean="0"/>
              <a:pPr/>
              <a:t>‹Nº›</a:t>
            </a:fld>
            <a:endParaRPr lang="es-VE"/>
          </a:p>
        </p:txBody>
      </p:sp>
    </p:spTree>
    <p:extLst>
      <p:ext uri="{BB962C8B-B14F-4D97-AF65-F5344CB8AC3E}">
        <p14:creationId xmlns:p14="http://schemas.microsoft.com/office/powerpoint/2010/main" val="10838637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4ECCE6A-538C-D7E5-56B2-FA93F80A0215}"/>
              </a:ext>
            </a:extLst>
          </p:cNvPr>
          <p:cNvSpPr>
            <a:spLocks noGrp="1"/>
          </p:cNvSpPr>
          <p:nvPr>
            <p:ph type="title"/>
          </p:nvPr>
        </p:nvSpPr>
        <p:spPr>
          <a:xfrm>
            <a:off x="629841" y="457200"/>
            <a:ext cx="2949178" cy="1600200"/>
          </a:xfrm>
        </p:spPr>
        <p:txBody>
          <a:bodyPr anchor="b"/>
          <a:lstStyle>
            <a:lvl1pPr>
              <a:defRPr sz="2400"/>
            </a:lvl1pPr>
          </a:lstStyle>
          <a:p>
            <a:r>
              <a:rPr lang="es-ES" smtClean="0"/>
              <a:t>Haga clic para modificar el estilo de título del patrón</a:t>
            </a:r>
            <a:endParaRPr lang="es-VE"/>
          </a:p>
        </p:txBody>
      </p:sp>
      <p:sp>
        <p:nvSpPr>
          <p:cNvPr id="3" name="Marcador de posición de imagen 2">
            <a:extLst>
              <a:ext uri="{FF2B5EF4-FFF2-40B4-BE49-F238E27FC236}">
                <a16:creationId xmlns:a16="http://schemas.microsoft.com/office/drawing/2014/main" id="{F366D8AD-6D05-AEEC-32EA-93ACAF0B1F6D}"/>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s-ES" smtClean="0"/>
              <a:t>Haga clic en el icono para agregar una imagen</a:t>
            </a:r>
            <a:endParaRPr lang="es-VE"/>
          </a:p>
        </p:txBody>
      </p:sp>
      <p:sp>
        <p:nvSpPr>
          <p:cNvPr id="4" name="Marcador de texto 3">
            <a:extLst>
              <a:ext uri="{FF2B5EF4-FFF2-40B4-BE49-F238E27FC236}">
                <a16:creationId xmlns:a16="http://schemas.microsoft.com/office/drawing/2014/main" id="{41CFC213-CC5C-580F-8640-76F7CC98B14D}"/>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s-ES" smtClean="0"/>
              <a:t>Haga clic para modificar el estilo de texto del patrón</a:t>
            </a:r>
          </a:p>
        </p:txBody>
      </p:sp>
      <p:sp>
        <p:nvSpPr>
          <p:cNvPr id="5" name="Marcador de fecha 4">
            <a:extLst>
              <a:ext uri="{FF2B5EF4-FFF2-40B4-BE49-F238E27FC236}">
                <a16:creationId xmlns:a16="http://schemas.microsoft.com/office/drawing/2014/main" id="{44B96481-030D-7069-A7D0-4F436ACE7D8A}"/>
              </a:ext>
            </a:extLst>
          </p:cNvPr>
          <p:cNvSpPr>
            <a:spLocks noGrp="1"/>
          </p:cNvSpPr>
          <p:nvPr>
            <p:ph type="dt" sz="half" idx="10"/>
          </p:nvPr>
        </p:nvSpPr>
        <p:spPr/>
        <p:txBody>
          <a:bodyPr/>
          <a:lstStyle/>
          <a:p>
            <a:fld id="{4B8C9073-CDC2-4129-B764-39E2D6231931}" type="datetimeFigureOut">
              <a:rPr lang="es-VE" smtClean="0"/>
              <a:pPr/>
              <a:t>03/08/2023</a:t>
            </a:fld>
            <a:endParaRPr lang="es-VE"/>
          </a:p>
        </p:txBody>
      </p:sp>
      <p:sp>
        <p:nvSpPr>
          <p:cNvPr id="6" name="Marcador de pie de página 5">
            <a:extLst>
              <a:ext uri="{FF2B5EF4-FFF2-40B4-BE49-F238E27FC236}">
                <a16:creationId xmlns:a16="http://schemas.microsoft.com/office/drawing/2014/main" id="{EB94E785-A55C-0853-485B-0527B89F47CD}"/>
              </a:ext>
            </a:extLst>
          </p:cNvPr>
          <p:cNvSpPr>
            <a:spLocks noGrp="1"/>
          </p:cNvSpPr>
          <p:nvPr>
            <p:ph type="ftr" sz="quarter" idx="11"/>
          </p:nvPr>
        </p:nvSpPr>
        <p:spPr/>
        <p:txBody>
          <a:bodyPr/>
          <a:lstStyle/>
          <a:p>
            <a:endParaRPr lang="es-VE"/>
          </a:p>
        </p:txBody>
      </p:sp>
      <p:sp>
        <p:nvSpPr>
          <p:cNvPr id="7" name="Marcador de número de diapositiva 6">
            <a:extLst>
              <a:ext uri="{FF2B5EF4-FFF2-40B4-BE49-F238E27FC236}">
                <a16:creationId xmlns:a16="http://schemas.microsoft.com/office/drawing/2014/main" id="{768BAC42-5306-29B8-59B8-BF498A506E84}"/>
              </a:ext>
            </a:extLst>
          </p:cNvPr>
          <p:cNvSpPr>
            <a:spLocks noGrp="1"/>
          </p:cNvSpPr>
          <p:nvPr>
            <p:ph type="sldNum" sz="quarter" idx="12"/>
          </p:nvPr>
        </p:nvSpPr>
        <p:spPr/>
        <p:txBody>
          <a:bodyPr/>
          <a:lstStyle/>
          <a:p>
            <a:fld id="{B994240D-30AA-440B-A6FF-CFB799252856}" type="slidenum">
              <a:rPr lang="es-VE" smtClean="0"/>
              <a:pPr/>
              <a:t>‹Nº›</a:t>
            </a:fld>
            <a:endParaRPr lang="es-VE"/>
          </a:p>
        </p:txBody>
      </p:sp>
    </p:spTree>
    <p:extLst>
      <p:ext uri="{BB962C8B-B14F-4D97-AF65-F5344CB8AC3E}">
        <p14:creationId xmlns:p14="http://schemas.microsoft.com/office/powerpoint/2010/main" val="18241657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588FB3C-1DD1-97D7-F3D3-82DE3159BB84}"/>
              </a:ext>
            </a:extLst>
          </p:cNvPr>
          <p:cNvSpPr>
            <a:spLocks noGrp="1"/>
          </p:cNvSpPr>
          <p:nvPr>
            <p:ph type="title"/>
          </p:nvPr>
        </p:nvSpPr>
        <p:spPr/>
        <p:txBody>
          <a:bodyPr/>
          <a:lstStyle/>
          <a:p>
            <a:r>
              <a:rPr lang="es-ES" smtClean="0"/>
              <a:t>Haga clic para modificar el estilo de título del patrón</a:t>
            </a:r>
            <a:endParaRPr lang="es-VE"/>
          </a:p>
        </p:txBody>
      </p:sp>
      <p:sp>
        <p:nvSpPr>
          <p:cNvPr id="3" name="Marcador de texto vertical 2">
            <a:extLst>
              <a:ext uri="{FF2B5EF4-FFF2-40B4-BE49-F238E27FC236}">
                <a16:creationId xmlns:a16="http://schemas.microsoft.com/office/drawing/2014/main" id="{380300DA-8D9F-BFD7-D93F-0B9C95D11F37}"/>
              </a:ext>
            </a:extLst>
          </p:cNvPr>
          <p:cNvSpPr>
            <a:spLocks noGrp="1"/>
          </p:cNvSpPr>
          <p:nvPr>
            <p:ph type="body" orient="vert" idx="1"/>
          </p:nvPr>
        </p:nvSpPr>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VE"/>
          </a:p>
        </p:txBody>
      </p:sp>
      <p:sp>
        <p:nvSpPr>
          <p:cNvPr id="4" name="Marcador de fecha 3">
            <a:extLst>
              <a:ext uri="{FF2B5EF4-FFF2-40B4-BE49-F238E27FC236}">
                <a16:creationId xmlns:a16="http://schemas.microsoft.com/office/drawing/2014/main" id="{424A6390-A069-7AC2-E8EE-DA084DCEB4F0}"/>
              </a:ext>
            </a:extLst>
          </p:cNvPr>
          <p:cNvSpPr>
            <a:spLocks noGrp="1"/>
          </p:cNvSpPr>
          <p:nvPr>
            <p:ph type="dt" sz="half" idx="10"/>
          </p:nvPr>
        </p:nvSpPr>
        <p:spPr/>
        <p:txBody>
          <a:bodyPr/>
          <a:lstStyle/>
          <a:p>
            <a:fld id="{4B8C9073-CDC2-4129-B764-39E2D6231931}" type="datetimeFigureOut">
              <a:rPr lang="es-VE" smtClean="0"/>
              <a:pPr/>
              <a:t>03/08/2023</a:t>
            </a:fld>
            <a:endParaRPr lang="es-VE"/>
          </a:p>
        </p:txBody>
      </p:sp>
      <p:sp>
        <p:nvSpPr>
          <p:cNvPr id="5" name="Marcador de pie de página 4">
            <a:extLst>
              <a:ext uri="{FF2B5EF4-FFF2-40B4-BE49-F238E27FC236}">
                <a16:creationId xmlns:a16="http://schemas.microsoft.com/office/drawing/2014/main" id="{A4A5FFDF-4808-8459-79A4-5D3383DC2091}"/>
              </a:ext>
            </a:extLst>
          </p:cNvPr>
          <p:cNvSpPr>
            <a:spLocks noGrp="1"/>
          </p:cNvSpPr>
          <p:nvPr>
            <p:ph type="ftr" sz="quarter" idx="11"/>
          </p:nvPr>
        </p:nvSpPr>
        <p:spPr/>
        <p:txBody>
          <a:bodyPr/>
          <a:lstStyle/>
          <a:p>
            <a:endParaRPr lang="es-VE"/>
          </a:p>
        </p:txBody>
      </p:sp>
      <p:sp>
        <p:nvSpPr>
          <p:cNvPr id="6" name="Marcador de número de diapositiva 5">
            <a:extLst>
              <a:ext uri="{FF2B5EF4-FFF2-40B4-BE49-F238E27FC236}">
                <a16:creationId xmlns:a16="http://schemas.microsoft.com/office/drawing/2014/main" id="{97470D75-5DB2-94DF-5B67-A7FDE4CF63C8}"/>
              </a:ext>
            </a:extLst>
          </p:cNvPr>
          <p:cNvSpPr>
            <a:spLocks noGrp="1"/>
          </p:cNvSpPr>
          <p:nvPr>
            <p:ph type="sldNum" sz="quarter" idx="12"/>
          </p:nvPr>
        </p:nvSpPr>
        <p:spPr/>
        <p:txBody>
          <a:bodyPr/>
          <a:lstStyle/>
          <a:p>
            <a:fld id="{B994240D-30AA-440B-A6FF-CFB799252856}" type="slidenum">
              <a:rPr lang="es-VE" smtClean="0"/>
              <a:pPr/>
              <a:t>‹Nº›</a:t>
            </a:fld>
            <a:endParaRPr lang="es-VE"/>
          </a:p>
        </p:txBody>
      </p:sp>
    </p:spTree>
    <p:extLst>
      <p:ext uri="{BB962C8B-B14F-4D97-AF65-F5344CB8AC3E}">
        <p14:creationId xmlns:p14="http://schemas.microsoft.com/office/powerpoint/2010/main" val="27841416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F8FFD3D8-520A-09D3-81F8-06C36F901A01}"/>
              </a:ext>
            </a:extLst>
          </p:cNvPr>
          <p:cNvSpPr>
            <a:spLocks noGrp="1"/>
          </p:cNvSpPr>
          <p:nvPr>
            <p:ph type="title" orient="vert"/>
          </p:nvPr>
        </p:nvSpPr>
        <p:spPr>
          <a:xfrm>
            <a:off x="6543675" y="365125"/>
            <a:ext cx="1971675" cy="5811838"/>
          </a:xfrm>
        </p:spPr>
        <p:txBody>
          <a:bodyPr vert="eaVert"/>
          <a:lstStyle/>
          <a:p>
            <a:r>
              <a:rPr lang="es-ES" smtClean="0"/>
              <a:t>Haga clic para modificar el estilo de título del patrón</a:t>
            </a:r>
            <a:endParaRPr lang="es-VE"/>
          </a:p>
        </p:txBody>
      </p:sp>
      <p:sp>
        <p:nvSpPr>
          <p:cNvPr id="3" name="Marcador de texto vertical 2">
            <a:extLst>
              <a:ext uri="{FF2B5EF4-FFF2-40B4-BE49-F238E27FC236}">
                <a16:creationId xmlns:a16="http://schemas.microsoft.com/office/drawing/2014/main" id="{B22C14C5-ED69-1B4B-906B-4CF7FE71DC86}"/>
              </a:ext>
            </a:extLst>
          </p:cNvPr>
          <p:cNvSpPr>
            <a:spLocks noGrp="1"/>
          </p:cNvSpPr>
          <p:nvPr>
            <p:ph type="body" orient="vert" idx="1"/>
          </p:nvPr>
        </p:nvSpPr>
        <p:spPr>
          <a:xfrm>
            <a:off x="628650" y="365125"/>
            <a:ext cx="5800725" cy="5811838"/>
          </a:xfrm>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VE"/>
          </a:p>
        </p:txBody>
      </p:sp>
      <p:sp>
        <p:nvSpPr>
          <p:cNvPr id="4" name="Marcador de fecha 3">
            <a:extLst>
              <a:ext uri="{FF2B5EF4-FFF2-40B4-BE49-F238E27FC236}">
                <a16:creationId xmlns:a16="http://schemas.microsoft.com/office/drawing/2014/main" id="{4F75F89A-6CBB-9242-F216-95FF3B09022B}"/>
              </a:ext>
            </a:extLst>
          </p:cNvPr>
          <p:cNvSpPr>
            <a:spLocks noGrp="1"/>
          </p:cNvSpPr>
          <p:nvPr>
            <p:ph type="dt" sz="half" idx="10"/>
          </p:nvPr>
        </p:nvSpPr>
        <p:spPr/>
        <p:txBody>
          <a:bodyPr/>
          <a:lstStyle/>
          <a:p>
            <a:fld id="{4B8C9073-CDC2-4129-B764-39E2D6231931}" type="datetimeFigureOut">
              <a:rPr lang="es-VE" smtClean="0"/>
              <a:pPr/>
              <a:t>03/08/2023</a:t>
            </a:fld>
            <a:endParaRPr lang="es-VE"/>
          </a:p>
        </p:txBody>
      </p:sp>
      <p:sp>
        <p:nvSpPr>
          <p:cNvPr id="5" name="Marcador de pie de página 4">
            <a:extLst>
              <a:ext uri="{FF2B5EF4-FFF2-40B4-BE49-F238E27FC236}">
                <a16:creationId xmlns:a16="http://schemas.microsoft.com/office/drawing/2014/main" id="{C4A7D410-8108-358C-82E2-4F28D0C758A0}"/>
              </a:ext>
            </a:extLst>
          </p:cNvPr>
          <p:cNvSpPr>
            <a:spLocks noGrp="1"/>
          </p:cNvSpPr>
          <p:nvPr>
            <p:ph type="ftr" sz="quarter" idx="11"/>
          </p:nvPr>
        </p:nvSpPr>
        <p:spPr/>
        <p:txBody>
          <a:bodyPr/>
          <a:lstStyle/>
          <a:p>
            <a:endParaRPr lang="es-VE"/>
          </a:p>
        </p:txBody>
      </p:sp>
      <p:sp>
        <p:nvSpPr>
          <p:cNvPr id="6" name="Marcador de número de diapositiva 5">
            <a:extLst>
              <a:ext uri="{FF2B5EF4-FFF2-40B4-BE49-F238E27FC236}">
                <a16:creationId xmlns:a16="http://schemas.microsoft.com/office/drawing/2014/main" id="{7B77523B-0D23-D852-558C-DB6A06C85241}"/>
              </a:ext>
            </a:extLst>
          </p:cNvPr>
          <p:cNvSpPr>
            <a:spLocks noGrp="1"/>
          </p:cNvSpPr>
          <p:nvPr>
            <p:ph type="sldNum" sz="quarter" idx="12"/>
          </p:nvPr>
        </p:nvSpPr>
        <p:spPr/>
        <p:txBody>
          <a:bodyPr/>
          <a:lstStyle/>
          <a:p>
            <a:fld id="{B994240D-30AA-440B-A6FF-CFB799252856}" type="slidenum">
              <a:rPr lang="es-VE" smtClean="0"/>
              <a:pPr/>
              <a:t>‹Nº›</a:t>
            </a:fld>
            <a:endParaRPr lang="es-VE"/>
          </a:p>
        </p:txBody>
      </p:sp>
    </p:spTree>
    <p:extLst>
      <p:ext uri="{BB962C8B-B14F-4D97-AF65-F5344CB8AC3E}">
        <p14:creationId xmlns:p14="http://schemas.microsoft.com/office/powerpoint/2010/main" val="2627519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2">
                <a:lumMod val="0"/>
                <a:lumOff val="100000"/>
              </a:schemeClr>
            </a:gs>
            <a:gs pos="43000">
              <a:schemeClr val="accent2">
                <a:lumMod val="0"/>
                <a:lumOff val="100000"/>
              </a:schemeClr>
            </a:gs>
            <a:gs pos="100000">
              <a:srgbClr val="72CFFA"/>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7018514E-DEE6-5DF2-43CC-4FA13C3D0E23}"/>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s-MX"/>
              <a:t>Haz clic para modificar el estilo de título del patrón</a:t>
            </a:r>
            <a:endParaRPr lang="es-VE"/>
          </a:p>
        </p:txBody>
      </p:sp>
      <p:sp>
        <p:nvSpPr>
          <p:cNvPr id="3" name="Marcador de texto 2">
            <a:extLst>
              <a:ext uri="{FF2B5EF4-FFF2-40B4-BE49-F238E27FC236}">
                <a16:creationId xmlns:a16="http://schemas.microsoft.com/office/drawing/2014/main" id="{5A612245-5EC6-48D0-A51F-310FC041B05F}"/>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VE"/>
          </a:p>
        </p:txBody>
      </p:sp>
      <p:sp>
        <p:nvSpPr>
          <p:cNvPr id="4" name="Marcador de fecha 3">
            <a:extLst>
              <a:ext uri="{FF2B5EF4-FFF2-40B4-BE49-F238E27FC236}">
                <a16:creationId xmlns:a16="http://schemas.microsoft.com/office/drawing/2014/main" id="{B3E79396-08C5-D630-7F18-F78091B9C229}"/>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4B8C9073-CDC2-4129-B764-39E2D6231931}" type="datetimeFigureOut">
              <a:rPr lang="es-VE" smtClean="0"/>
              <a:pPr/>
              <a:t>03/08/2023</a:t>
            </a:fld>
            <a:endParaRPr lang="es-VE"/>
          </a:p>
        </p:txBody>
      </p:sp>
      <p:sp>
        <p:nvSpPr>
          <p:cNvPr id="5" name="Marcador de pie de página 4">
            <a:extLst>
              <a:ext uri="{FF2B5EF4-FFF2-40B4-BE49-F238E27FC236}">
                <a16:creationId xmlns:a16="http://schemas.microsoft.com/office/drawing/2014/main" id="{449D00CB-3B3F-CAF3-3B67-EBFA0F1E90C2}"/>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s-VE"/>
          </a:p>
        </p:txBody>
      </p:sp>
      <p:sp>
        <p:nvSpPr>
          <p:cNvPr id="6" name="Marcador de número de diapositiva 5">
            <a:extLst>
              <a:ext uri="{FF2B5EF4-FFF2-40B4-BE49-F238E27FC236}">
                <a16:creationId xmlns:a16="http://schemas.microsoft.com/office/drawing/2014/main" id="{832453EB-4ED4-428F-95EE-D23503EC7228}"/>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994240D-30AA-440B-A6FF-CFB799252856}" type="slidenum">
              <a:rPr lang="es-VE" smtClean="0"/>
              <a:pPr/>
              <a:t>‹Nº›</a:t>
            </a:fld>
            <a:endParaRPr lang="es-VE"/>
          </a:p>
        </p:txBody>
      </p:sp>
    </p:spTree>
    <p:extLst>
      <p:ext uri="{BB962C8B-B14F-4D97-AF65-F5344CB8AC3E}">
        <p14:creationId xmlns:p14="http://schemas.microsoft.com/office/powerpoint/2010/main" val="112003871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s-VE"/>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comments" Target="../comments/commen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 Id="rId5" Type="http://schemas.openxmlformats.org/officeDocument/2006/relationships/image" Target="../media/image1.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17.png"/><Relationship Id="rId4" Type="http://schemas.openxmlformats.org/officeDocument/2006/relationships/image" Target="../media/image16.png"/></Relationships>
</file>

<file path=ppt/slides/_rels/slide17.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9.png"/></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21.jpeg"/></Relationships>
</file>

<file path=ppt/slides/_rels/slide1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23.png"/></Relationships>
</file>

<file path=ppt/slides/_rels/slide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25.png"/></Relationships>
</file>

<file path=ppt/slides/_rels/slide2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27.png"/></Relationships>
</file>

<file path=ppt/slides/_rels/slide2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0.png"/></Relationships>
</file>

<file path=ppt/slides/_rels/slide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7.xml"/><Relationship Id="rId4" Type="http://schemas.openxmlformats.org/officeDocument/2006/relationships/image" Target="../media/image3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550F80E7-BE42-CF0B-4F68-37EF0052C65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92249"/>
            <a:ext cx="1956113" cy="2041872"/>
          </a:xfrm>
          <a:prstGeom prst="rect">
            <a:avLst/>
          </a:prstGeom>
        </p:spPr>
      </p:pic>
      <p:sp>
        <p:nvSpPr>
          <p:cNvPr id="3" name="Marcador de contenido 2">
            <a:extLst>
              <a:ext uri="{FF2B5EF4-FFF2-40B4-BE49-F238E27FC236}">
                <a16:creationId xmlns:a16="http://schemas.microsoft.com/office/drawing/2014/main" id="{794D5AC0-6105-70EF-BADB-EA639E6B6D97}"/>
              </a:ext>
            </a:extLst>
          </p:cNvPr>
          <p:cNvSpPr txBox="1">
            <a:spLocks/>
          </p:cNvSpPr>
          <p:nvPr/>
        </p:nvSpPr>
        <p:spPr>
          <a:xfrm>
            <a:off x="857224" y="2357430"/>
            <a:ext cx="7429552" cy="2912220"/>
          </a:xfrm>
          <a:prstGeom prst="rect">
            <a:avLst/>
          </a:prstGeom>
        </p:spPr>
        <p:txBody>
          <a:bodyPr>
            <a:normAutofit/>
          </a:bodyPr>
          <a:lstStyle/>
          <a:p>
            <a:pPr marL="171450" marR="0" lvl="0" indent="-171450" algn="just" defTabSz="685800" rtl="0" eaLnBrk="1" fontAlgn="auto" latinLnBrk="0" hangingPunct="1">
              <a:lnSpc>
                <a:spcPct val="90000"/>
              </a:lnSpc>
              <a:spcBef>
                <a:spcPts val="750"/>
              </a:spcBef>
              <a:spcAft>
                <a:spcPts val="0"/>
              </a:spcAft>
              <a:buClrTx/>
              <a:buSzTx/>
              <a:buFont typeface="Arial" panose="020B0604020202020204" pitchFamily="34" charset="0"/>
              <a:buChar char="•"/>
              <a:tabLst/>
              <a:defRPr/>
            </a:pPr>
            <a:endParaRPr kumimoji="0" lang="es-VE" altLang="es-VE" sz="1400" b="1" i="0" u="none" strike="noStrike" kern="1200" cap="none" spc="0" normalizeH="0" baseline="0" noProof="0" dirty="0" smtClean="0">
              <a:ln>
                <a:noFill/>
              </a:ln>
              <a:solidFill>
                <a:schemeClr val="tx1"/>
              </a:solidFill>
              <a:effectLst/>
              <a:uLnTx/>
              <a:uFillTx/>
              <a:latin typeface="+mn-lt"/>
              <a:ea typeface="+mn-ea"/>
              <a:cs typeface="+mn-cs"/>
            </a:endParaRPr>
          </a:p>
          <a:p>
            <a:pPr marL="171450" marR="0" lvl="0" indent="-171450" algn="just" defTabSz="685800" rtl="0" eaLnBrk="1" fontAlgn="auto" latinLnBrk="0" hangingPunct="1">
              <a:lnSpc>
                <a:spcPct val="90000"/>
              </a:lnSpc>
              <a:spcBef>
                <a:spcPts val="750"/>
              </a:spcBef>
              <a:spcAft>
                <a:spcPts val="0"/>
              </a:spcAft>
              <a:buClrTx/>
              <a:buSzTx/>
              <a:tabLst/>
              <a:defRPr/>
            </a:pPr>
            <a:r>
              <a:rPr kumimoji="0" lang="es-VE" altLang="es-VE" sz="2800" b="1" i="0" u="none" strike="noStrike" kern="1200" cap="none" spc="0" normalizeH="0" baseline="0" noProof="0" dirty="0" smtClean="0">
                <a:ln>
                  <a:noFill/>
                </a:ln>
                <a:solidFill>
                  <a:srgbClr val="005B9D"/>
                </a:solidFill>
                <a:effectLst/>
                <a:uLnTx/>
                <a:uFillTx/>
                <a:latin typeface="+mn-lt"/>
                <a:ea typeface="+mn-ea"/>
                <a:cs typeface="+mn-cs"/>
              </a:rPr>
              <a:t>  UNIDAD DE ADMINISTRACCION DE RIESGOS PARA LA PREVENCION DE LEGITIMACION DE CAPITALES, FINANCIAMIENTO AL TERRORISMO Y FINANCIAMIENTO A LA PROLIFERACION DE ARMAS DE DESTRUCCION MASIVA.</a:t>
            </a:r>
            <a:endParaRPr kumimoji="0" lang="es-VE" altLang="es-VE" sz="2800" b="1" i="0" u="none" strike="noStrike" kern="1200" cap="none" spc="0" normalizeH="0" baseline="0" noProof="0" dirty="0">
              <a:ln>
                <a:noFill/>
              </a:ln>
              <a:solidFill>
                <a:srgbClr val="005B9D"/>
              </a:solidFill>
              <a:effectLst/>
              <a:uLnTx/>
              <a:uFillTx/>
              <a:latin typeface="+mn-lt"/>
              <a:ea typeface="+mn-ea"/>
              <a:cs typeface="+mn-cs"/>
            </a:endParaRPr>
          </a:p>
        </p:txBody>
      </p:sp>
      <p:pic>
        <p:nvPicPr>
          <p:cNvPr id="5" name="4 Imagen" descr="C:\Users\contablidad\Downloads\9be860_prevencion-de-legitimacion-de-capitales_w688.jpg"/>
          <p:cNvPicPr>
            <a:picLocks noChangeAspect="1" noChangeArrowheads="1"/>
          </p:cNvPicPr>
          <p:nvPr/>
        </p:nvPicPr>
        <p:blipFill>
          <a:blip r:embed="rId3" cstate="print"/>
          <a:srcRect/>
          <a:stretch>
            <a:fillRect/>
          </a:stretch>
        </p:blipFill>
        <p:spPr bwMode="auto">
          <a:xfrm>
            <a:off x="5929290" y="0"/>
            <a:ext cx="3214710" cy="1571621"/>
          </a:xfrm>
          <a:prstGeom prst="rect">
            <a:avLst/>
          </a:prstGeom>
          <a:noFill/>
          <a:ln w="9525">
            <a:noFill/>
            <a:miter lim="800000"/>
            <a:headEnd/>
            <a:tailEnd/>
          </a:ln>
        </p:spPr>
      </p:pic>
      <p:sp>
        <p:nvSpPr>
          <p:cNvPr id="6" name="Rectángulo 15">
            <a:extLst>
              <a:ext uri="{FF2B5EF4-FFF2-40B4-BE49-F238E27FC236}">
                <a16:creationId xmlns:a16="http://schemas.microsoft.com/office/drawing/2014/main" id="{96AC2CD0-40AC-9ABA-17F6-DAB2A09BC61A}"/>
              </a:ext>
            </a:extLst>
          </p:cNvPr>
          <p:cNvSpPr/>
          <p:nvPr/>
        </p:nvSpPr>
        <p:spPr>
          <a:xfrm>
            <a:off x="5857875" y="5684838"/>
            <a:ext cx="3286125" cy="1173162"/>
          </a:xfrm>
          <a:prstGeom prst="rect">
            <a:avLst/>
          </a:prstGeom>
          <a:solidFill>
            <a:srgbClr val="72CFFA"/>
          </a:solidFill>
          <a:ln>
            <a:noFill/>
          </a:ln>
        </p:spPr>
        <p:style>
          <a:lnRef idx="1">
            <a:schemeClr val="accent2"/>
          </a:lnRef>
          <a:fillRef idx="2">
            <a:schemeClr val="accent2"/>
          </a:fillRef>
          <a:effectRef idx="1">
            <a:schemeClr val="accent2"/>
          </a:effectRef>
          <a:fontRef idx="minor">
            <a:schemeClr val="dk1"/>
          </a:fontRef>
        </p:style>
        <p:txBody>
          <a:bodyPr anchor="ctr"/>
          <a:lstStyle/>
          <a:p>
            <a:pPr algn="ctr" fontAlgn="auto">
              <a:spcBef>
                <a:spcPts val="0"/>
              </a:spcBef>
              <a:spcAft>
                <a:spcPts val="0"/>
              </a:spcAft>
              <a:defRPr/>
            </a:pPr>
            <a:r>
              <a:rPr lang="es-VE" sz="2400" b="1" dirty="0">
                <a:solidFill>
                  <a:srgbClr val="002060"/>
                </a:solidFill>
                <a:latin typeface="Calibri" panose="020F0502020204030204" pitchFamily="34" charset="0"/>
                <a:cs typeface="Calibri" panose="020F0502020204030204" pitchFamily="34" charset="0"/>
              </a:rPr>
              <a:t>José Gregorio Rosales</a:t>
            </a:r>
          </a:p>
          <a:p>
            <a:pPr algn="ctr" fontAlgn="auto">
              <a:spcBef>
                <a:spcPts val="0"/>
              </a:spcBef>
              <a:spcAft>
                <a:spcPts val="0"/>
              </a:spcAft>
              <a:defRPr/>
            </a:pPr>
            <a:r>
              <a:rPr lang="es-VE" sz="2400" b="1" dirty="0">
                <a:solidFill>
                  <a:srgbClr val="002060"/>
                </a:solidFill>
                <a:latin typeface="Calibri" panose="020F0502020204030204" pitchFamily="34" charset="0"/>
                <a:cs typeface="Calibri" panose="020F0502020204030204" pitchFamily="34" charset="0"/>
              </a:rPr>
              <a:t>Oficial de Cumplimiento</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550F80E7-BE42-CF0B-4F68-37EF0052C65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92249"/>
            <a:ext cx="1956113" cy="2041872"/>
          </a:xfrm>
          <a:prstGeom prst="rect">
            <a:avLst/>
          </a:prstGeom>
        </p:spPr>
      </p:pic>
      <p:sp>
        <p:nvSpPr>
          <p:cNvPr id="3" name="2 Rectángulo"/>
          <p:cNvSpPr/>
          <p:nvPr/>
        </p:nvSpPr>
        <p:spPr>
          <a:xfrm>
            <a:off x="642910" y="2428868"/>
            <a:ext cx="8143932" cy="3139321"/>
          </a:xfrm>
          <a:prstGeom prst="rect">
            <a:avLst/>
          </a:prstGeom>
        </p:spPr>
        <p:txBody>
          <a:bodyPr wrap="square">
            <a:spAutoFit/>
          </a:bodyPr>
          <a:lstStyle/>
          <a:p>
            <a:pPr algn="ctr"/>
            <a:r>
              <a:rPr lang="es-VE" sz="3600" b="1" dirty="0">
                <a:solidFill>
                  <a:srgbClr val="002060"/>
                </a:solidFill>
                <a:effectLst>
                  <a:outerShdw blurRad="38100" dist="25400" dir="5400000" algn="tl" rotWithShape="0">
                    <a:srgbClr val="000000">
                      <a:alpha val="43000"/>
                    </a:srgbClr>
                  </a:outerShdw>
                </a:effectLst>
                <a:latin typeface="Constantia"/>
                <a:ea typeface="+mj-ea"/>
                <a:cs typeface="+mj-cs"/>
              </a:rPr>
              <a:t>ASPECTOS RELEVANTES </a:t>
            </a:r>
            <a:r>
              <a:rPr lang="es-VE" sz="3600" b="1" dirty="0" smtClean="0">
                <a:solidFill>
                  <a:srgbClr val="002060"/>
                </a:solidFill>
                <a:effectLst>
                  <a:outerShdw blurRad="38100" dist="25400" dir="5400000" algn="tl" rotWithShape="0">
                    <a:srgbClr val="000000">
                      <a:alpha val="43000"/>
                    </a:srgbClr>
                  </a:outerShdw>
                </a:effectLst>
                <a:latin typeface="Constantia"/>
                <a:ea typeface="+mj-ea"/>
                <a:cs typeface="+mj-cs"/>
              </a:rPr>
              <a:t>DE LA  </a:t>
            </a:r>
            <a:r>
              <a:rPr lang="es-VE" sz="3600" b="1" dirty="0">
                <a:solidFill>
                  <a:srgbClr val="002060"/>
                </a:solidFill>
                <a:effectLst>
                  <a:outerShdw blurRad="38100" dist="25400" dir="5400000" algn="tl" rotWithShape="0">
                    <a:srgbClr val="000000">
                      <a:alpha val="43000"/>
                    </a:srgbClr>
                  </a:outerShdw>
                </a:effectLst>
                <a:latin typeface="Constantia"/>
                <a:ea typeface="+mj-ea"/>
                <a:cs typeface="+mj-cs"/>
              </a:rPr>
              <a:t>LEY ORGÁNICA CONTRA LA DELINCUENCIA ORGANIZADA EN </a:t>
            </a:r>
            <a:r>
              <a:rPr lang="es-VE" sz="3600" b="1" dirty="0" smtClean="0">
                <a:solidFill>
                  <a:srgbClr val="002060"/>
                </a:solidFill>
                <a:effectLst>
                  <a:outerShdw blurRad="38100" dist="25400" dir="5400000" algn="tl" rotWithShape="0">
                    <a:srgbClr val="000000">
                      <a:alpha val="43000"/>
                    </a:srgbClr>
                  </a:outerShdw>
                </a:effectLst>
                <a:latin typeface="Constantia"/>
                <a:ea typeface="+mj-ea"/>
                <a:cs typeface="+mj-cs"/>
              </a:rPr>
              <a:t>VENEZUELA Y FINANCIAMIENTO AL TERRORISMO</a:t>
            </a:r>
          </a:p>
          <a:p>
            <a:pPr algn="ctr"/>
            <a:endParaRPr lang="es-VE" dirty="0">
              <a:solidFill>
                <a:srgbClr val="002060"/>
              </a:solidFill>
            </a:endParaRPr>
          </a:p>
        </p:txBody>
      </p:sp>
      <p:pic>
        <p:nvPicPr>
          <p:cNvPr id="5" name="4 Imagen" descr="C:\Users\contablidad\Downloads\9be860_prevencion-de-legitimacion-de-capitales_w688.jpg"/>
          <p:cNvPicPr>
            <a:picLocks noChangeAspect="1" noChangeArrowheads="1"/>
          </p:cNvPicPr>
          <p:nvPr/>
        </p:nvPicPr>
        <p:blipFill>
          <a:blip r:embed="rId3" cstate="print"/>
          <a:srcRect/>
          <a:stretch>
            <a:fillRect/>
          </a:stretch>
        </p:blipFill>
        <p:spPr bwMode="auto">
          <a:xfrm>
            <a:off x="5929290" y="0"/>
            <a:ext cx="3214710" cy="1571621"/>
          </a:xfrm>
          <a:prstGeom prst="rect">
            <a:avLst/>
          </a:prstGeom>
          <a:noFill/>
          <a:ln w="9525">
            <a:noFill/>
            <a:miter lim="800000"/>
            <a:headEnd/>
            <a:tailEnd/>
          </a:ln>
        </p:spPr>
      </p:pic>
      <p:sp>
        <p:nvSpPr>
          <p:cNvPr id="6" name="7 Rectángulo">
            <a:extLst>
              <a:ext uri="{FF2B5EF4-FFF2-40B4-BE49-F238E27FC236}">
                <a16:creationId xmlns:a16="http://schemas.microsoft.com/office/drawing/2014/main" id="{E5393A96-7784-3CFA-ED8C-2684A031F061}"/>
              </a:ext>
            </a:extLst>
          </p:cNvPr>
          <p:cNvSpPr>
            <a:spLocks noChangeArrowheads="1"/>
          </p:cNvSpPr>
          <p:nvPr/>
        </p:nvSpPr>
        <p:spPr bwMode="auto">
          <a:xfrm>
            <a:off x="3500438" y="6072188"/>
            <a:ext cx="5643562"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r>
              <a:rPr lang="es-VE" altLang="es-VE" b="1" dirty="0">
                <a:latin typeface="Calibri" panose="020F0502020204030204" pitchFamily="34" charset="0"/>
                <a:cs typeface="Calibri" panose="020F0502020204030204" pitchFamily="34" charset="0"/>
              </a:rPr>
              <a:t>18 años ofreciendo bienestar y servicios </a:t>
            </a:r>
          </a:p>
          <a:p>
            <a:pPr algn="r" eaLnBrk="1" hangingPunct="1"/>
            <a:r>
              <a:rPr lang="es-VE" altLang="es-VE" b="1" dirty="0">
                <a:latin typeface="Calibri" panose="020F0502020204030204" pitchFamily="34" charset="0"/>
                <a:cs typeface="Calibri" panose="020F0502020204030204" pitchFamily="34" charset="0"/>
              </a:rPr>
              <a:t>Porque su salud no es un gasto, es una sana inversión </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550F80E7-BE42-CF0B-4F68-37EF0052C65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53032"/>
            <a:ext cx="1956113" cy="2041872"/>
          </a:xfrm>
          <a:prstGeom prst="rect">
            <a:avLst/>
          </a:prstGeom>
        </p:spPr>
      </p:pic>
      <p:sp>
        <p:nvSpPr>
          <p:cNvPr id="16" name="Rectangle 2"/>
          <p:cNvSpPr>
            <a:spLocks noChangeArrowheads="1"/>
          </p:cNvSpPr>
          <p:nvPr/>
        </p:nvSpPr>
        <p:spPr bwMode="auto">
          <a:xfrm rot="10800000" flipV="1">
            <a:off x="3643306" y="2000240"/>
            <a:ext cx="3357586" cy="707886"/>
          </a:xfrm>
          <a:prstGeom prst="rect">
            <a:avLst/>
          </a:prstGeom>
          <a:solidFill>
            <a:schemeClr val="accent5">
              <a:lumMod val="40000"/>
              <a:lumOff val="60000"/>
            </a:schemeClr>
          </a:solidFill>
          <a:ln>
            <a:headEnd/>
            <a:tailEnd/>
          </a:ln>
        </p:spPr>
        <p:style>
          <a:lnRef idx="1">
            <a:schemeClr val="accent3"/>
          </a:lnRef>
          <a:fillRef idx="2">
            <a:schemeClr val="accent3"/>
          </a:fillRef>
          <a:effectRef idx="1">
            <a:schemeClr val="accent3"/>
          </a:effectRef>
          <a:fontRef idx="minor">
            <a:schemeClr val="dk1"/>
          </a:fontRef>
        </p:style>
        <p:txBody>
          <a:bodyPr vert="horz" wrap="square" lIns="91440" tIns="45720" rIns="91440" bIns="45720" numCol="1" anchor="ctr" anchorCtr="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s-VE" sz="2000" b="1" i="0" u="none" strike="noStrike" cap="none" normalizeH="0" baseline="0" dirty="0" smtClean="0">
                <a:ln>
                  <a:noFill/>
                </a:ln>
                <a:solidFill>
                  <a:srgbClr val="333333"/>
                </a:solidFill>
                <a:effectLst/>
                <a:ea typeface="Times New Roman" pitchFamily="18" charset="0"/>
                <a:cs typeface="Arial" pitchFamily="34" charset="0"/>
              </a:rPr>
              <a:t>Gaceta Oficial N° 39.912 del 30 de abril de 2012</a:t>
            </a:r>
            <a:endParaRPr kumimoji="0" lang="es-VE" sz="2000" b="0" i="0" u="none" strike="noStrike" cap="none" normalizeH="0" baseline="0" dirty="0" smtClean="0">
              <a:ln>
                <a:noFill/>
              </a:ln>
              <a:solidFill>
                <a:schemeClr val="tx1"/>
              </a:solidFill>
              <a:effectLst/>
              <a:cs typeface="Arial" pitchFamily="34" charset="0"/>
            </a:endParaRPr>
          </a:p>
        </p:txBody>
      </p:sp>
      <p:sp>
        <p:nvSpPr>
          <p:cNvPr id="17" name="16 Flecha abajo"/>
          <p:cNvSpPr/>
          <p:nvPr/>
        </p:nvSpPr>
        <p:spPr>
          <a:xfrm rot="4238713">
            <a:off x="2631808" y="2043036"/>
            <a:ext cx="484632" cy="1169876"/>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VE" dirty="0"/>
          </a:p>
        </p:txBody>
      </p:sp>
      <p:sp>
        <p:nvSpPr>
          <p:cNvPr id="18" name="17 Rectángulo redondeado"/>
          <p:cNvSpPr/>
          <p:nvPr/>
        </p:nvSpPr>
        <p:spPr>
          <a:xfrm>
            <a:off x="163862" y="2132856"/>
            <a:ext cx="2071702" cy="4104456"/>
          </a:xfrm>
          <a:prstGeom prst="roundRect">
            <a:avLst/>
          </a:prstGeom>
          <a:solidFill>
            <a:schemeClr val="bg1"/>
          </a:solidFill>
          <a:ln>
            <a:solidFill>
              <a:schemeClr val="accent2">
                <a:lumMod val="75000"/>
              </a:schemeClr>
            </a:solidFill>
          </a:ln>
        </p:spPr>
        <p:style>
          <a:lnRef idx="1">
            <a:schemeClr val="accent3"/>
          </a:lnRef>
          <a:fillRef idx="2">
            <a:schemeClr val="accent3"/>
          </a:fillRef>
          <a:effectRef idx="1">
            <a:schemeClr val="accent3"/>
          </a:effectRef>
          <a:fontRef idx="minor">
            <a:schemeClr val="dk1"/>
          </a:fontRef>
        </p:style>
        <p:txBody>
          <a:bodyPr rtlCol="0" anchor="t"/>
          <a:lstStyle/>
          <a:p>
            <a:pPr algn="ctr"/>
            <a:r>
              <a:rPr lang="es-VE" sz="2400" b="1" u="sng" dirty="0" smtClean="0"/>
              <a:t>Objeto</a:t>
            </a:r>
          </a:p>
          <a:p>
            <a:pPr algn="ctr"/>
            <a:r>
              <a:rPr lang="es-VE" sz="2000" b="1" dirty="0" smtClean="0"/>
              <a:t>Prevenir</a:t>
            </a:r>
          </a:p>
          <a:p>
            <a:pPr algn="ctr"/>
            <a:r>
              <a:rPr lang="es-VE" sz="2000" b="1" dirty="0" smtClean="0"/>
              <a:t>Controlar</a:t>
            </a:r>
          </a:p>
          <a:p>
            <a:pPr algn="ctr"/>
            <a:r>
              <a:rPr lang="es-VE" sz="2000" b="1" dirty="0" smtClean="0"/>
              <a:t>Regular</a:t>
            </a:r>
          </a:p>
          <a:p>
            <a:pPr algn="ctr"/>
            <a:r>
              <a:rPr lang="es-VE" sz="2000" b="1" dirty="0" smtClean="0"/>
              <a:t>Inspeccionar</a:t>
            </a:r>
          </a:p>
          <a:p>
            <a:pPr algn="ctr"/>
            <a:r>
              <a:rPr lang="es-VE" sz="2000" b="1" dirty="0" smtClean="0"/>
              <a:t>Investigar</a:t>
            </a:r>
          </a:p>
          <a:p>
            <a:pPr algn="ctr"/>
            <a:r>
              <a:rPr lang="es-VE" sz="2000" b="1" dirty="0" smtClean="0"/>
              <a:t>Perseguir</a:t>
            </a:r>
          </a:p>
          <a:p>
            <a:pPr algn="ctr"/>
            <a:r>
              <a:rPr lang="es-VE" sz="2000" b="1" dirty="0" smtClean="0"/>
              <a:t>Congelamiento e Incautación de fondos</a:t>
            </a:r>
          </a:p>
          <a:p>
            <a:pPr algn="ctr"/>
            <a:r>
              <a:rPr lang="es-VE" sz="2000" b="1" dirty="0" smtClean="0"/>
              <a:t>Tipificar</a:t>
            </a:r>
          </a:p>
          <a:p>
            <a:pPr algn="ctr"/>
            <a:r>
              <a:rPr lang="es-VE" sz="2000" b="1" dirty="0" smtClean="0"/>
              <a:t>Sancionar </a:t>
            </a:r>
          </a:p>
        </p:txBody>
      </p:sp>
      <p:sp>
        <p:nvSpPr>
          <p:cNvPr id="19" name="18 Rectángulo redondeado"/>
          <p:cNvSpPr/>
          <p:nvPr/>
        </p:nvSpPr>
        <p:spPr>
          <a:xfrm>
            <a:off x="3000364" y="3071810"/>
            <a:ext cx="2428892" cy="2143140"/>
          </a:xfrm>
          <a:prstGeom prst="roundRect">
            <a:avLst/>
          </a:prstGeom>
          <a:solidFill>
            <a:schemeClr val="bg1"/>
          </a:solidFill>
          <a:ln>
            <a:solidFill>
              <a:schemeClr val="accent2">
                <a:lumMod val="75000"/>
              </a:schemeClr>
            </a:solidFill>
          </a:ln>
        </p:spPr>
        <p:style>
          <a:lnRef idx="1">
            <a:schemeClr val="accent2"/>
          </a:lnRef>
          <a:fillRef idx="2">
            <a:schemeClr val="accent2"/>
          </a:fillRef>
          <a:effectRef idx="1">
            <a:schemeClr val="accent2"/>
          </a:effectRef>
          <a:fontRef idx="minor">
            <a:schemeClr val="dk1"/>
          </a:fontRef>
        </p:style>
        <p:txBody>
          <a:bodyPr rtlCol="0" anchor="ctr"/>
          <a:lstStyle/>
          <a:p>
            <a:pPr algn="ctr"/>
            <a:r>
              <a:rPr lang="es-VE" b="1" dirty="0" smtClean="0">
                <a:solidFill>
                  <a:schemeClr val="tx1"/>
                </a:solidFill>
              </a:rPr>
              <a:t>Los delitos contra la Delincuencia organizada y el Financiamiento al Terrorismo</a:t>
            </a:r>
            <a:endParaRPr lang="es-VE" b="1" dirty="0">
              <a:solidFill>
                <a:schemeClr val="tx1"/>
              </a:solidFill>
            </a:endParaRPr>
          </a:p>
        </p:txBody>
      </p:sp>
      <p:cxnSp>
        <p:nvCxnSpPr>
          <p:cNvPr id="20" name="19 Conector recto de flecha"/>
          <p:cNvCxnSpPr/>
          <p:nvPr/>
        </p:nvCxnSpPr>
        <p:spPr>
          <a:xfrm>
            <a:off x="2357422" y="4000504"/>
            <a:ext cx="571504" cy="1588"/>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21" name="20 CuadroTexto"/>
          <p:cNvSpPr txBox="1"/>
          <p:nvPr/>
        </p:nvSpPr>
        <p:spPr>
          <a:xfrm>
            <a:off x="3862862" y="1285860"/>
            <a:ext cx="2821926" cy="646331"/>
          </a:xfrm>
          <a:prstGeom prst="rect">
            <a:avLst/>
          </a:prstGeom>
          <a:noFill/>
        </p:spPr>
        <p:txBody>
          <a:bodyPr wrap="none" rtlCol="0">
            <a:spAutoFit/>
          </a:bodyPr>
          <a:lstStyle/>
          <a:p>
            <a:pPr algn="ctr"/>
            <a:r>
              <a:rPr lang="es-VE" b="1" dirty="0" smtClean="0"/>
              <a:t>TITULO I</a:t>
            </a:r>
          </a:p>
          <a:p>
            <a:pPr algn="ctr"/>
            <a:r>
              <a:rPr lang="es-VE" b="1" dirty="0" smtClean="0"/>
              <a:t>DISPOSICIONES GENERALES</a:t>
            </a:r>
            <a:endParaRPr lang="es-VE" b="1" dirty="0"/>
          </a:p>
        </p:txBody>
      </p:sp>
      <p:pic>
        <p:nvPicPr>
          <p:cNvPr id="22" name="Picture 2"/>
          <p:cNvPicPr>
            <a:picLocks noChangeAspect="1" noChangeArrowheads="1"/>
          </p:cNvPicPr>
          <p:nvPr/>
        </p:nvPicPr>
        <p:blipFill>
          <a:blip r:embed="rId3" cstate="print"/>
          <a:srcRect/>
          <a:stretch>
            <a:fillRect/>
          </a:stretch>
        </p:blipFill>
        <p:spPr bwMode="auto">
          <a:xfrm>
            <a:off x="7429520" y="3214687"/>
            <a:ext cx="1714480" cy="2214578"/>
          </a:xfrm>
          <a:prstGeom prst="rect">
            <a:avLst/>
          </a:prstGeom>
          <a:noFill/>
          <a:ln w="9525">
            <a:noFill/>
            <a:miter lim="800000"/>
            <a:headEnd/>
            <a:tailEnd/>
          </a:ln>
          <a:effectLst/>
        </p:spPr>
      </p:pic>
      <p:sp>
        <p:nvSpPr>
          <p:cNvPr id="23" name="22 Flecha derecha"/>
          <p:cNvSpPr/>
          <p:nvPr/>
        </p:nvSpPr>
        <p:spPr>
          <a:xfrm>
            <a:off x="5643570" y="3500438"/>
            <a:ext cx="1857388" cy="1071570"/>
          </a:xfrm>
          <a:prstGeom prst="rightArrow">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VE" b="1" dirty="0" smtClean="0">
                <a:solidFill>
                  <a:schemeClr val="tx1"/>
                </a:solidFill>
              </a:rPr>
              <a:t> Conformidad</a:t>
            </a:r>
            <a:endParaRPr lang="es-VE" b="1" dirty="0">
              <a:solidFill>
                <a:schemeClr val="tx1"/>
              </a:solidFill>
            </a:endParaRPr>
          </a:p>
        </p:txBody>
      </p:sp>
      <p:sp>
        <p:nvSpPr>
          <p:cNvPr id="24" name="23 CuadroTexto"/>
          <p:cNvSpPr txBox="1"/>
          <p:nvPr/>
        </p:nvSpPr>
        <p:spPr>
          <a:xfrm>
            <a:off x="2071670" y="0"/>
            <a:ext cx="6500858" cy="1015663"/>
          </a:xfrm>
          <a:prstGeom prst="rect">
            <a:avLst/>
          </a:prstGeom>
          <a:noFill/>
        </p:spPr>
        <p:txBody>
          <a:bodyPr wrap="square" rtlCol="0">
            <a:spAutoFit/>
          </a:bodyPr>
          <a:lstStyle/>
          <a:p>
            <a:pPr algn="ctr"/>
            <a:r>
              <a:rPr lang="es-VE" sz="2000" b="1" dirty="0" smtClean="0"/>
              <a:t>ASPECTOS  RELEVANTES LEY ORGANICA CONTRA LA DELINCUENCIA  ORGANIZADA EN VENEZUELA Y FINANCIAMIENTO AL TERRORISMO</a:t>
            </a:r>
            <a:endParaRPr lang="es-VE" sz="2000" b="1" dirty="0"/>
          </a:p>
        </p:txBody>
      </p:sp>
      <p:sp>
        <p:nvSpPr>
          <p:cNvPr id="2" name="Flecha abajo 1"/>
          <p:cNvSpPr/>
          <p:nvPr/>
        </p:nvSpPr>
        <p:spPr>
          <a:xfrm>
            <a:off x="6201105" y="4461603"/>
            <a:ext cx="484632" cy="792311"/>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3" name="17 Rectángulo redondeado"/>
          <p:cNvSpPr/>
          <p:nvPr/>
        </p:nvSpPr>
        <p:spPr>
          <a:xfrm>
            <a:off x="5500694" y="5340492"/>
            <a:ext cx="2071702" cy="1136516"/>
          </a:xfrm>
          <a:prstGeom prst="roundRect">
            <a:avLst/>
          </a:prstGeom>
          <a:solidFill>
            <a:schemeClr val="bg1"/>
          </a:solidFill>
          <a:ln>
            <a:solidFill>
              <a:schemeClr val="accent2">
                <a:lumMod val="75000"/>
              </a:schemeClr>
            </a:solidFill>
          </a:ln>
        </p:spPr>
        <p:style>
          <a:lnRef idx="1">
            <a:schemeClr val="accent3"/>
          </a:lnRef>
          <a:fillRef idx="2">
            <a:schemeClr val="accent3"/>
          </a:fillRef>
          <a:effectRef idx="1">
            <a:schemeClr val="accent3"/>
          </a:effectRef>
          <a:fontRef idx="minor">
            <a:schemeClr val="dk1"/>
          </a:fontRef>
        </p:style>
        <p:txBody>
          <a:bodyPr rtlCol="0" anchor="t"/>
          <a:lstStyle/>
          <a:p>
            <a:pPr algn="ctr"/>
            <a:r>
              <a:rPr lang="es-VE" sz="2000" b="1" dirty="0" smtClean="0"/>
              <a:t>Preámbulo</a:t>
            </a:r>
          </a:p>
          <a:p>
            <a:pPr algn="ctr"/>
            <a:r>
              <a:rPr lang="es-VE" sz="2000" b="1" dirty="0" smtClean="0"/>
              <a:t>Art. 2</a:t>
            </a:r>
          </a:p>
          <a:p>
            <a:pPr algn="ctr"/>
            <a:r>
              <a:rPr lang="es-VE" sz="2000" b="1" dirty="0" smtClean="0"/>
              <a:t>Art. 271</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550F80E7-BE42-CF0B-4F68-37EF0052C65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92249"/>
            <a:ext cx="1956113" cy="2041872"/>
          </a:xfrm>
          <a:prstGeom prst="rect">
            <a:avLst/>
          </a:prstGeom>
        </p:spPr>
      </p:pic>
      <p:sp>
        <p:nvSpPr>
          <p:cNvPr id="6" name="5 Flecha abajo"/>
          <p:cNvSpPr/>
          <p:nvPr/>
        </p:nvSpPr>
        <p:spPr>
          <a:xfrm rot="2893939">
            <a:off x="2095583" y="1942168"/>
            <a:ext cx="484632" cy="1430439"/>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VE" dirty="0"/>
          </a:p>
        </p:txBody>
      </p:sp>
      <p:sp>
        <p:nvSpPr>
          <p:cNvPr id="7" name="Rectangle 2"/>
          <p:cNvSpPr>
            <a:spLocks noChangeArrowheads="1"/>
          </p:cNvSpPr>
          <p:nvPr/>
        </p:nvSpPr>
        <p:spPr bwMode="auto">
          <a:xfrm rot="10800000" flipV="1">
            <a:off x="285720" y="3530086"/>
            <a:ext cx="1928794" cy="830997"/>
          </a:xfrm>
          <a:prstGeom prst="rect">
            <a:avLst/>
          </a:prstGeom>
          <a:solidFill>
            <a:schemeClr val="accent5">
              <a:lumMod val="20000"/>
              <a:lumOff val="80000"/>
            </a:schemeClr>
          </a:solidFill>
          <a:ln>
            <a:headEnd/>
            <a:tailEnd/>
          </a:ln>
        </p:spPr>
        <p:style>
          <a:lnRef idx="1">
            <a:schemeClr val="accent3"/>
          </a:lnRef>
          <a:fillRef idx="2">
            <a:schemeClr val="accent3"/>
          </a:fillRef>
          <a:effectRef idx="1">
            <a:schemeClr val="accent3"/>
          </a:effectRef>
          <a:fontRef idx="minor">
            <a:schemeClr val="dk1"/>
          </a:fontRef>
        </p:style>
        <p:txBody>
          <a:bodyPr vert="horz" wrap="square" lIns="91440" tIns="45720" rIns="91440" bIns="45720" numCol="1" anchor="ctr" anchorCtr="0" compatLnSpc="1">
            <a:prstTxWarp prst="textNoShape">
              <a:avLst/>
            </a:prstTxWarp>
            <a:spAutoFit/>
          </a:bodyPr>
          <a:lstStyle/>
          <a:p>
            <a:pPr lvl="0" algn="ctr"/>
            <a:r>
              <a:rPr lang="es-VE" sz="2400" b="1" dirty="0" smtClean="0">
                <a:solidFill>
                  <a:prstClr val="black"/>
                </a:solidFill>
              </a:rPr>
              <a:t>Ámbito de </a:t>
            </a:r>
          </a:p>
          <a:p>
            <a:pPr lvl="0" algn="ctr"/>
            <a:r>
              <a:rPr lang="es-VE" sz="2400" b="1" dirty="0" smtClean="0">
                <a:solidFill>
                  <a:prstClr val="black"/>
                </a:solidFill>
              </a:rPr>
              <a:t>Aplicación</a:t>
            </a:r>
            <a:endParaRPr lang="es-VE" sz="2400" b="1" dirty="0">
              <a:solidFill>
                <a:prstClr val="black"/>
              </a:solidFill>
            </a:endParaRPr>
          </a:p>
        </p:txBody>
      </p:sp>
      <p:sp>
        <p:nvSpPr>
          <p:cNvPr id="8" name="7 Rectángulo redondeado"/>
          <p:cNvSpPr/>
          <p:nvPr/>
        </p:nvSpPr>
        <p:spPr>
          <a:xfrm>
            <a:off x="2714612" y="2928934"/>
            <a:ext cx="3071834" cy="2214578"/>
          </a:xfrm>
          <a:prstGeom prst="roundRect">
            <a:avLst/>
          </a:prstGeom>
          <a:solidFill>
            <a:schemeClr val="bg1"/>
          </a:solidFill>
        </p:spPr>
        <p:style>
          <a:lnRef idx="1">
            <a:schemeClr val="accent3"/>
          </a:lnRef>
          <a:fillRef idx="2">
            <a:schemeClr val="accent3"/>
          </a:fillRef>
          <a:effectRef idx="1">
            <a:schemeClr val="accent3"/>
          </a:effectRef>
          <a:fontRef idx="minor">
            <a:schemeClr val="dk1"/>
          </a:fontRef>
        </p:style>
        <p:txBody>
          <a:bodyPr rtlCol="0" anchor="t"/>
          <a:lstStyle/>
          <a:p>
            <a:pPr algn="ctr"/>
            <a:r>
              <a:rPr lang="es-VE" b="1" dirty="0"/>
              <a:t>P</a:t>
            </a:r>
            <a:r>
              <a:rPr lang="es-VE" b="1" dirty="0" smtClean="0"/>
              <a:t>ersonas Naturales </a:t>
            </a:r>
            <a:r>
              <a:rPr lang="es-VE" b="1" dirty="0"/>
              <a:t>y </a:t>
            </a:r>
            <a:r>
              <a:rPr lang="es-VE" b="1" dirty="0" smtClean="0"/>
              <a:t>Jurídicas</a:t>
            </a:r>
            <a:r>
              <a:rPr lang="es-VE" b="1" dirty="0"/>
              <a:t>, </a:t>
            </a:r>
            <a:endParaRPr lang="es-VE" b="1" dirty="0" smtClean="0"/>
          </a:p>
          <a:p>
            <a:pPr algn="ctr"/>
            <a:r>
              <a:rPr lang="es-VE" b="1" dirty="0" smtClean="0"/>
              <a:t>Públicas </a:t>
            </a:r>
            <a:r>
              <a:rPr lang="es-VE" b="1" dirty="0"/>
              <a:t>y </a:t>
            </a:r>
            <a:r>
              <a:rPr lang="es-VE" b="1" dirty="0" smtClean="0"/>
              <a:t>Privadas</a:t>
            </a:r>
            <a:r>
              <a:rPr lang="es-VE" b="1" dirty="0"/>
              <a:t>, </a:t>
            </a:r>
            <a:endParaRPr lang="es-VE" b="1" dirty="0" smtClean="0"/>
          </a:p>
          <a:p>
            <a:pPr algn="ctr"/>
            <a:r>
              <a:rPr lang="es-VE" b="1" dirty="0" smtClean="0"/>
              <a:t>así </a:t>
            </a:r>
            <a:r>
              <a:rPr lang="es-VE" b="1" dirty="0"/>
              <a:t>como los </a:t>
            </a:r>
            <a:r>
              <a:rPr lang="es-VE" b="1" dirty="0" smtClean="0"/>
              <a:t>Órganos </a:t>
            </a:r>
            <a:r>
              <a:rPr lang="es-VE" b="1" dirty="0"/>
              <a:t>o entes de control y tutela en los términos que en esta Ley se mencionan.</a:t>
            </a:r>
            <a:endParaRPr lang="es-VE" dirty="0"/>
          </a:p>
          <a:p>
            <a:pPr algn="ctr"/>
            <a:endParaRPr lang="es-VE" sz="2000" b="1" dirty="0" smtClean="0"/>
          </a:p>
        </p:txBody>
      </p:sp>
      <p:sp>
        <p:nvSpPr>
          <p:cNvPr id="9" name="8 Flecha abajo"/>
          <p:cNvSpPr/>
          <p:nvPr/>
        </p:nvSpPr>
        <p:spPr>
          <a:xfrm rot="16200000">
            <a:off x="5857884" y="3857628"/>
            <a:ext cx="484632" cy="35719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VE" dirty="0"/>
          </a:p>
        </p:txBody>
      </p:sp>
      <p:sp>
        <p:nvSpPr>
          <p:cNvPr id="10" name="9 Rectángulo redondeado"/>
          <p:cNvSpPr/>
          <p:nvPr/>
        </p:nvSpPr>
        <p:spPr>
          <a:xfrm>
            <a:off x="6429388" y="3000372"/>
            <a:ext cx="2500330" cy="2143140"/>
          </a:xfrm>
          <a:prstGeom prst="roundRect">
            <a:avLst/>
          </a:prstGeom>
          <a:solidFill>
            <a:schemeClr val="accent5">
              <a:lumMod val="40000"/>
              <a:lumOff val="60000"/>
            </a:schemeClr>
          </a:solidFill>
        </p:spPr>
        <p:style>
          <a:lnRef idx="1">
            <a:schemeClr val="accent2"/>
          </a:lnRef>
          <a:fillRef idx="2">
            <a:schemeClr val="accent2"/>
          </a:fillRef>
          <a:effectRef idx="1">
            <a:schemeClr val="accent2"/>
          </a:effectRef>
          <a:fontRef idx="minor">
            <a:schemeClr val="dk1"/>
          </a:fontRef>
        </p:style>
        <p:txBody>
          <a:bodyPr rtlCol="0" anchor="t"/>
          <a:lstStyle/>
          <a:p>
            <a:pPr algn="ctr"/>
            <a:r>
              <a:rPr lang="es-VE" sz="2000" b="1" dirty="0" smtClean="0">
                <a:solidFill>
                  <a:schemeClr val="tx1"/>
                </a:solidFill>
              </a:rPr>
              <a:t>Alcance extraterritorial</a:t>
            </a:r>
          </a:p>
          <a:p>
            <a:pPr algn="ctr"/>
            <a:r>
              <a:rPr lang="es-VE" sz="1600" b="1" dirty="0" smtClean="0">
                <a:solidFill>
                  <a:schemeClr val="tx1"/>
                </a:solidFill>
              </a:rPr>
              <a:t>Obligatorio cumplimiento por  los órganos de control y Sujetos </a:t>
            </a:r>
            <a:r>
              <a:rPr lang="es-VE" sz="1600" b="1" dirty="0">
                <a:solidFill>
                  <a:schemeClr val="tx1"/>
                </a:solidFill>
              </a:rPr>
              <a:t>O</a:t>
            </a:r>
            <a:r>
              <a:rPr lang="es-VE" sz="1600" b="1" dirty="0" smtClean="0">
                <a:solidFill>
                  <a:schemeClr val="tx1"/>
                </a:solidFill>
              </a:rPr>
              <a:t>bligados</a:t>
            </a:r>
            <a:endParaRPr lang="es-VE" sz="1600" b="1" dirty="0">
              <a:solidFill>
                <a:schemeClr val="tx1"/>
              </a:solidFill>
            </a:endParaRPr>
          </a:p>
        </p:txBody>
      </p:sp>
      <p:cxnSp>
        <p:nvCxnSpPr>
          <p:cNvPr id="11" name="10 Conector recto de flecha"/>
          <p:cNvCxnSpPr>
            <a:stCxn id="7" idx="1"/>
          </p:cNvCxnSpPr>
          <p:nvPr/>
        </p:nvCxnSpPr>
        <p:spPr>
          <a:xfrm>
            <a:off x="2214514" y="3945585"/>
            <a:ext cx="428692" cy="2681"/>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13" name="12 CuadroTexto"/>
          <p:cNvSpPr txBox="1"/>
          <p:nvPr/>
        </p:nvSpPr>
        <p:spPr>
          <a:xfrm>
            <a:off x="2143108" y="285728"/>
            <a:ext cx="6500858" cy="1015663"/>
          </a:xfrm>
          <a:prstGeom prst="rect">
            <a:avLst/>
          </a:prstGeom>
          <a:noFill/>
        </p:spPr>
        <p:txBody>
          <a:bodyPr wrap="square" rtlCol="0">
            <a:spAutoFit/>
          </a:bodyPr>
          <a:lstStyle/>
          <a:p>
            <a:pPr algn="ctr"/>
            <a:r>
              <a:rPr lang="es-VE" sz="2000" b="1" dirty="0" smtClean="0"/>
              <a:t>ASPECTOS  RELEVANTES LEY ORGANICA CONTRA LA DELINCUENCIA  ORGANIZADA EN VENEZUELA Y FINANCIAMIENTO AL TERRORISMO</a:t>
            </a:r>
            <a:endParaRPr lang="es-VE" sz="2000" b="1" dirty="0"/>
          </a:p>
        </p:txBody>
      </p:sp>
      <p:sp>
        <p:nvSpPr>
          <p:cNvPr id="14" name="13 Rectángulo"/>
          <p:cNvSpPr/>
          <p:nvPr/>
        </p:nvSpPr>
        <p:spPr>
          <a:xfrm>
            <a:off x="2928926" y="1571612"/>
            <a:ext cx="4572000" cy="646331"/>
          </a:xfrm>
          <a:prstGeom prst="rect">
            <a:avLst/>
          </a:prstGeom>
        </p:spPr>
        <p:txBody>
          <a:bodyPr>
            <a:spAutoFit/>
          </a:bodyPr>
          <a:lstStyle/>
          <a:p>
            <a:pPr algn="ctr"/>
            <a:r>
              <a:rPr lang="es-VE" b="1" dirty="0" smtClean="0"/>
              <a:t>TITULO I</a:t>
            </a:r>
          </a:p>
          <a:p>
            <a:pPr algn="ctr"/>
            <a:r>
              <a:rPr lang="es-VE" b="1" dirty="0" smtClean="0"/>
              <a:t>DISPOSICIONES GENRALES</a:t>
            </a:r>
            <a:endParaRPr lang="es-VE" b="1"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Rectángulo redondeado"/>
          <p:cNvSpPr/>
          <p:nvPr/>
        </p:nvSpPr>
        <p:spPr>
          <a:xfrm>
            <a:off x="3357554" y="3357562"/>
            <a:ext cx="4500594" cy="1714512"/>
          </a:xfrm>
          <a:prstGeom prst="roundRect">
            <a:avLst/>
          </a:prstGeom>
          <a:solidFill>
            <a:schemeClr val="bg1"/>
          </a:solidFill>
          <a:scene3d>
            <a:camera prst="isometricOffAxis2Left"/>
            <a:lightRig rig="threePt" dir="t"/>
          </a:scene3d>
        </p:spPr>
        <p:style>
          <a:lnRef idx="1">
            <a:schemeClr val="accent1"/>
          </a:lnRef>
          <a:fillRef idx="2">
            <a:schemeClr val="accent1"/>
          </a:fillRef>
          <a:effectRef idx="1">
            <a:schemeClr val="accent1"/>
          </a:effectRef>
          <a:fontRef idx="minor">
            <a:schemeClr val="dk1"/>
          </a:fontRef>
        </p:style>
        <p:txBody>
          <a:bodyPr rtlCol="0" anchor="ctr"/>
          <a:lstStyle/>
          <a:p>
            <a:pPr algn="ctr"/>
            <a:r>
              <a:rPr lang="es-VE" sz="5400" dirty="0" smtClean="0"/>
              <a:t>Definiciones</a:t>
            </a:r>
            <a:endParaRPr lang="es-VE" sz="5400" dirty="0"/>
          </a:p>
        </p:txBody>
      </p:sp>
      <p:pic>
        <p:nvPicPr>
          <p:cNvPr id="5" name="Picture 1"/>
          <p:cNvPicPr>
            <a:picLocks noChangeAspect="1" noChangeArrowheads="1"/>
          </p:cNvPicPr>
          <p:nvPr/>
        </p:nvPicPr>
        <p:blipFill>
          <a:blip r:embed="rId2" cstate="print"/>
          <a:srcRect/>
          <a:stretch>
            <a:fillRect/>
          </a:stretch>
        </p:blipFill>
        <p:spPr bwMode="auto">
          <a:xfrm>
            <a:off x="0" y="1571612"/>
            <a:ext cx="2643174" cy="1785950"/>
          </a:xfrm>
          <a:prstGeom prst="rect">
            <a:avLst/>
          </a:prstGeom>
          <a:noFill/>
          <a:ln w="9525">
            <a:noFill/>
            <a:miter lim="800000"/>
            <a:headEnd/>
            <a:tailEnd/>
          </a:ln>
          <a:effectLst/>
        </p:spPr>
      </p:pic>
      <p:pic>
        <p:nvPicPr>
          <p:cNvPr id="6" name="Picture 2"/>
          <p:cNvPicPr>
            <a:picLocks noChangeAspect="1" noChangeArrowheads="1"/>
          </p:cNvPicPr>
          <p:nvPr/>
        </p:nvPicPr>
        <p:blipFill>
          <a:blip r:embed="rId3" cstate="print"/>
          <a:srcRect/>
          <a:stretch>
            <a:fillRect/>
          </a:stretch>
        </p:blipFill>
        <p:spPr bwMode="auto">
          <a:xfrm>
            <a:off x="0" y="3429000"/>
            <a:ext cx="2643174" cy="1785950"/>
          </a:xfrm>
          <a:prstGeom prst="rect">
            <a:avLst/>
          </a:prstGeom>
          <a:noFill/>
          <a:ln w="9525">
            <a:noFill/>
            <a:miter lim="800000"/>
            <a:headEnd/>
            <a:tailEnd/>
          </a:ln>
          <a:effectLst/>
        </p:spPr>
      </p:pic>
      <p:pic>
        <p:nvPicPr>
          <p:cNvPr id="7" name="Picture 5"/>
          <p:cNvPicPr>
            <a:picLocks noChangeAspect="1" noChangeArrowheads="1"/>
          </p:cNvPicPr>
          <p:nvPr/>
        </p:nvPicPr>
        <p:blipFill>
          <a:blip r:embed="rId4" cstate="print"/>
          <a:srcRect/>
          <a:stretch>
            <a:fillRect/>
          </a:stretch>
        </p:blipFill>
        <p:spPr bwMode="auto">
          <a:xfrm>
            <a:off x="0" y="5214950"/>
            <a:ext cx="2643174" cy="1643050"/>
          </a:xfrm>
          <a:prstGeom prst="rect">
            <a:avLst/>
          </a:prstGeom>
          <a:noFill/>
          <a:ln w="9525">
            <a:noFill/>
            <a:miter lim="800000"/>
            <a:headEnd/>
            <a:tailEnd/>
          </a:ln>
          <a:effectLst/>
        </p:spPr>
      </p:pic>
      <p:sp>
        <p:nvSpPr>
          <p:cNvPr id="8" name="7 Rectángulo"/>
          <p:cNvSpPr/>
          <p:nvPr/>
        </p:nvSpPr>
        <p:spPr>
          <a:xfrm>
            <a:off x="3000364" y="214290"/>
            <a:ext cx="5786478" cy="1015663"/>
          </a:xfrm>
          <a:prstGeom prst="rect">
            <a:avLst/>
          </a:prstGeom>
        </p:spPr>
        <p:txBody>
          <a:bodyPr wrap="square">
            <a:spAutoFit/>
          </a:bodyPr>
          <a:lstStyle/>
          <a:p>
            <a:pPr lvl="0" algn="ctr">
              <a:spcBef>
                <a:spcPct val="0"/>
              </a:spcBef>
              <a:defRPr/>
            </a:pPr>
            <a:r>
              <a:rPr lang="es-VE" sz="2000" b="1" dirty="0" smtClean="0">
                <a:effectLst>
                  <a:outerShdw blurRad="38100" dist="25400" dir="5400000" algn="tl" rotWithShape="0">
                    <a:srgbClr val="000000">
                      <a:alpha val="43000"/>
                    </a:srgbClr>
                  </a:outerShdw>
                </a:effectLst>
              </a:rPr>
              <a:t>ASPECTOS RELEVANTES  LEY ORGÁNICA CONTRA LA DELINCUENCIA ORGANIZADA EN VENEZUELA Y FINANCIAMIENTO AL TERRORISMO</a:t>
            </a:r>
            <a:endParaRPr lang="es-VE" sz="2000" b="1" dirty="0">
              <a:effectLst>
                <a:outerShdw blurRad="38100" dist="25400" dir="5400000" algn="tl" rotWithShape="0">
                  <a:srgbClr val="000000">
                    <a:alpha val="43000"/>
                  </a:srgbClr>
                </a:outerShdw>
              </a:effectLst>
            </a:endParaRPr>
          </a:p>
        </p:txBody>
      </p:sp>
      <p:pic>
        <p:nvPicPr>
          <p:cNvPr id="9" name="Imagen 3">
            <a:extLst>
              <a:ext uri="{FF2B5EF4-FFF2-40B4-BE49-F238E27FC236}">
                <a16:creationId xmlns:a16="http://schemas.microsoft.com/office/drawing/2014/main" id="{550F80E7-BE42-CF0B-4F68-37EF0052C654}"/>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0" y="-92249"/>
            <a:ext cx="1956113" cy="1949613"/>
          </a:xfrm>
          <a:prstGeom prst="rect">
            <a:avLst/>
          </a:prstGeom>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3">
            <a:extLst>
              <a:ext uri="{FF2B5EF4-FFF2-40B4-BE49-F238E27FC236}">
                <a16:creationId xmlns:a16="http://schemas.microsoft.com/office/drawing/2014/main" id="{550F80E7-BE42-CF0B-4F68-37EF0052C65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956113" cy="1949613"/>
          </a:xfrm>
          <a:prstGeom prst="rect">
            <a:avLst/>
          </a:prstGeom>
        </p:spPr>
      </p:pic>
      <p:sp>
        <p:nvSpPr>
          <p:cNvPr id="5" name="4 Rectángulo"/>
          <p:cNvSpPr/>
          <p:nvPr/>
        </p:nvSpPr>
        <p:spPr>
          <a:xfrm>
            <a:off x="500034" y="2857496"/>
            <a:ext cx="4357718" cy="3571900"/>
          </a:xfrm>
          <a:prstGeom prst="rect">
            <a:avLst/>
          </a:prstGeom>
        </p:spPr>
        <p:txBody>
          <a:bodyPr wrap="square">
            <a:spAutoFit/>
          </a:bodyPr>
          <a:lstStyle/>
          <a:p>
            <a:pPr marL="342900" lvl="0" indent="-342900">
              <a:buFont typeface="+mj-lt"/>
              <a:buAutoNum type="arabicPeriod"/>
            </a:pPr>
            <a:r>
              <a:rPr lang="es-VE" sz="2000" b="1" dirty="0" smtClean="0"/>
              <a:t>Acto Terrorista                                    </a:t>
            </a:r>
          </a:p>
          <a:p>
            <a:pPr marL="342900" lvl="0" indent="-342900">
              <a:buFont typeface="+mj-lt"/>
              <a:buAutoNum type="arabicPeriod"/>
            </a:pPr>
            <a:r>
              <a:rPr lang="es-VE" sz="2000" b="1" dirty="0" smtClean="0"/>
              <a:t>Actividad Sospechosa</a:t>
            </a:r>
          </a:p>
          <a:p>
            <a:pPr marL="342900" lvl="0" indent="-342900">
              <a:buFont typeface="+mj-lt"/>
              <a:buAutoNum type="arabicPeriod"/>
            </a:pPr>
            <a:r>
              <a:rPr lang="es-VE" sz="2000" b="1" dirty="0" smtClean="0"/>
              <a:t>Agente de Operaciones Encubiertas</a:t>
            </a:r>
          </a:p>
          <a:p>
            <a:pPr marL="342900" lvl="0" indent="-342900">
              <a:buFont typeface="+mj-lt"/>
              <a:buAutoNum type="arabicPeriod"/>
            </a:pPr>
            <a:r>
              <a:rPr lang="es-VE" sz="2000" b="1" dirty="0" smtClean="0"/>
              <a:t>Aseguramiento Preventivo</a:t>
            </a:r>
          </a:p>
          <a:p>
            <a:pPr marL="342900" lvl="0" indent="-342900">
              <a:buFont typeface="+mj-lt"/>
              <a:buAutoNum type="arabicPeriod"/>
            </a:pPr>
            <a:r>
              <a:rPr lang="es-VE" sz="2000" b="1" dirty="0" smtClean="0"/>
              <a:t>Bienes Abandonados</a:t>
            </a:r>
          </a:p>
          <a:p>
            <a:pPr marL="342900" lvl="0" indent="-342900">
              <a:buFont typeface="+mj-lt"/>
              <a:buAutoNum type="arabicPeriod"/>
            </a:pPr>
            <a:r>
              <a:rPr lang="es-VE" sz="2000" b="1" dirty="0" smtClean="0"/>
              <a:t>Bienes</a:t>
            </a:r>
          </a:p>
          <a:p>
            <a:pPr marL="342900" lvl="0" indent="-342900">
              <a:buFont typeface="+mj-lt"/>
              <a:buAutoNum type="arabicPeriod"/>
            </a:pPr>
            <a:r>
              <a:rPr lang="es-VE" sz="2000" b="1" dirty="0" smtClean="0"/>
              <a:t>Confiscación</a:t>
            </a:r>
          </a:p>
          <a:p>
            <a:pPr marL="342900" lvl="0" indent="-342900">
              <a:buFont typeface="+mj-lt"/>
              <a:buAutoNum type="arabicPeriod"/>
            </a:pPr>
            <a:r>
              <a:rPr lang="es-VE" sz="2000" b="1" dirty="0" smtClean="0"/>
              <a:t>Decomiso</a:t>
            </a:r>
          </a:p>
          <a:p>
            <a:pPr marL="342900" lvl="0" indent="-342900">
              <a:buFont typeface="+mj-lt"/>
              <a:buAutoNum type="arabicPeriod"/>
            </a:pPr>
            <a:r>
              <a:rPr lang="es-VE" sz="2000" b="1" dirty="0" smtClean="0"/>
              <a:t>Delincuencia Organizada</a:t>
            </a:r>
          </a:p>
          <a:p>
            <a:pPr marL="342900" lvl="0" indent="-342900">
              <a:buFont typeface="+mj-lt"/>
              <a:buAutoNum type="arabicPeriod"/>
            </a:pPr>
            <a:r>
              <a:rPr lang="es-VE" sz="2000" b="1" dirty="0" smtClean="0"/>
              <a:t>Delitos Graves</a:t>
            </a:r>
          </a:p>
          <a:p>
            <a:pPr marL="342900" lvl="0" indent="-342900">
              <a:buFont typeface="+mj-lt"/>
              <a:buAutoNum type="arabicPeriod"/>
            </a:pPr>
            <a:r>
              <a:rPr lang="es-VE" sz="2000" b="1" dirty="0" smtClean="0"/>
              <a:t>Fondos</a:t>
            </a:r>
            <a:endParaRPr lang="es-VE" sz="2000" b="1" dirty="0"/>
          </a:p>
        </p:txBody>
      </p:sp>
      <p:sp>
        <p:nvSpPr>
          <p:cNvPr id="6" name="5 Rectángulo"/>
          <p:cNvSpPr/>
          <p:nvPr/>
        </p:nvSpPr>
        <p:spPr>
          <a:xfrm>
            <a:off x="5286380" y="2643182"/>
            <a:ext cx="3857620" cy="3785652"/>
          </a:xfrm>
          <a:prstGeom prst="rect">
            <a:avLst/>
          </a:prstGeom>
        </p:spPr>
        <p:txBody>
          <a:bodyPr wrap="square">
            <a:spAutoFit/>
          </a:bodyPr>
          <a:lstStyle/>
          <a:p>
            <a:pPr marL="342900" lvl="0" indent="-342900"/>
            <a:r>
              <a:rPr lang="es-VE" sz="2000" b="1" dirty="0" smtClean="0"/>
              <a:t>12.</a:t>
            </a:r>
            <a:r>
              <a:rPr lang="es-VE" b="1" dirty="0" smtClean="0"/>
              <a:t>  </a:t>
            </a:r>
            <a:r>
              <a:rPr lang="es-VE" sz="2000" b="1" dirty="0" smtClean="0"/>
              <a:t>Grupo Estructurado</a:t>
            </a:r>
          </a:p>
          <a:p>
            <a:pPr marL="342900" lvl="0" indent="-342900"/>
            <a:r>
              <a:rPr lang="es-VE" sz="2000" b="1" dirty="0" smtClean="0"/>
              <a:t>13.  Interpuesta Persona</a:t>
            </a:r>
          </a:p>
          <a:p>
            <a:pPr lvl="0"/>
            <a:r>
              <a:rPr lang="es-VE" sz="2000" b="1" dirty="0" smtClean="0"/>
              <a:t>14.  Intimo Asociado</a:t>
            </a:r>
          </a:p>
          <a:p>
            <a:pPr lvl="0"/>
            <a:r>
              <a:rPr lang="es-VE" sz="2000" b="1" dirty="0" smtClean="0"/>
              <a:t>15.  Legitimación de Capitales</a:t>
            </a:r>
          </a:p>
          <a:p>
            <a:pPr lvl="0"/>
            <a:r>
              <a:rPr lang="es-VE" sz="2000" b="1" dirty="0" smtClean="0"/>
              <a:t>16.  Operación Inusual</a:t>
            </a:r>
          </a:p>
          <a:p>
            <a:pPr lvl="0"/>
            <a:r>
              <a:rPr lang="es-VE" sz="2000" b="1" dirty="0" smtClean="0"/>
              <a:t>17.  Organización Terrorista</a:t>
            </a:r>
          </a:p>
          <a:p>
            <a:pPr lvl="0"/>
            <a:r>
              <a:rPr lang="es-VE" sz="2000" b="1" dirty="0" smtClean="0"/>
              <a:t>18.  Órgano o ente de Control</a:t>
            </a:r>
          </a:p>
          <a:p>
            <a:pPr lvl="0"/>
            <a:r>
              <a:rPr lang="es-VE" sz="2000" b="1" dirty="0" smtClean="0"/>
              <a:t>19.  Persona Expuesta Políticamente</a:t>
            </a:r>
          </a:p>
          <a:p>
            <a:pPr lvl="0"/>
            <a:r>
              <a:rPr lang="es-VE" sz="2000" b="1" dirty="0" smtClean="0"/>
              <a:t>20.  Producto del delito</a:t>
            </a:r>
          </a:p>
          <a:p>
            <a:pPr lvl="0"/>
            <a:r>
              <a:rPr lang="es-VE" sz="2000" b="1" dirty="0" smtClean="0"/>
              <a:t>21. Sujetos Obligados</a:t>
            </a:r>
          </a:p>
          <a:p>
            <a:pPr lvl="0"/>
            <a:r>
              <a:rPr lang="es-VE" sz="2000" b="1" dirty="0" smtClean="0"/>
              <a:t>22. Terrorista Individual </a:t>
            </a:r>
            <a:endParaRPr lang="es-VE" sz="2000" b="1" dirty="0"/>
          </a:p>
        </p:txBody>
      </p:sp>
      <p:sp>
        <p:nvSpPr>
          <p:cNvPr id="7" name="6 Rectángulo redondeado"/>
          <p:cNvSpPr/>
          <p:nvPr/>
        </p:nvSpPr>
        <p:spPr>
          <a:xfrm>
            <a:off x="2428860" y="428604"/>
            <a:ext cx="4500594" cy="1714512"/>
          </a:xfrm>
          <a:prstGeom prst="roundRect">
            <a:avLst/>
          </a:prstGeom>
          <a:solidFill>
            <a:schemeClr val="bg1"/>
          </a:solidFill>
          <a:scene3d>
            <a:camera prst="isometricOffAxis2Left"/>
            <a:lightRig rig="threePt" dir="t"/>
          </a:scene3d>
        </p:spPr>
        <p:style>
          <a:lnRef idx="1">
            <a:schemeClr val="accent1"/>
          </a:lnRef>
          <a:fillRef idx="2">
            <a:schemeClr val="accent1"/>
          </a:fillRef>
          <a:effectRef idx="1">
            <a:schemeClr val="accent1"/>
          </a:effectRef>
          <a:fontRef idx="minor">
            <a:schemeClr val="dk1"/>
          </a:fontRef>
        </p:style>
        <p:txBody>
          <a:bodyPr rtlCol="0" anchor="ctr"/>
          <a:lstStyle/>
          <a:p>
            <a:pPr algn="ctr"/>
            <a:r>
              <a:rPr lang="es-VE" sz="5400" dirty="0" smtClean="0"/>
              <a:t>Definiciones</a:t>
            </a:r>
            <a:endParaRPr lang="es-VE" sz="5400" dirty="0"/>
          </a:p>
        </p:txBody>
      </p:sp>
      <p:pic>
        <p:nvPicPr>
          <p:cNvPr id="8" name="Picture 1"/>
          <p:cNvPicPr>
            <a:picLocks noChangeAspect="1" noChangeArrowheads="1"/>
          </p:cNvPicPr>
          <p:nvPr/>
        </p:nvPicPr>
        <p:blipFill>
          <a:blip r:embed="rId3" cstate="print"/>
          <a:srcRect/>
          <a:stretch>
            <a:fillRect/>
          </a:stretch>
        </p:blipFill>
        <p:spPr bwMode="auto">
          <a:xfrm>
            <a:off x="7000892" y="0"/>
            <a:ext cx="2143108" cy="1142984"/>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550F80E7-BE42-CF0B-4F68-37EF0052C65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92249"/>
            <a:ext cx="1956113" cy="2041872"/>
          </a:xfrm>
          <a:prstGeom prst="rect">
            <a:avLst/>
          </a:prstGeom>
        </p:spPr>
      </p:pic>
      <p:graphicFrame>
        <p:nvGraphicFramePr>
          <p:cNvPr id="21" name="20 Diagrama"/>
          <p:cNvGraphicFramePr/>
          <p:nvPr>
            <p:extLst>
              <p:ext uri="{D42A27DB-BD31-4B8C-83A1-F6EECF244321}">
                <p14:modId xmlns:p14="http://schemas.microsoft.com/office/powerpoint/2010/main" val="3987287469"/>
              </p:ext>
            </p:extLst>
          </p:nvPr>
        </p:nvGraphicFramePr>
        <p:xfrm>
          <a:off x="0" y="1285860"/>
          <a:ext cx="9144000" cy="557214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6 Rectángulo"/>
          <p:cNvSpPr/>
          <p:nvPr/>
        </p:nvSpPr>
        <p:spPr>
          <a:xfrm>
            <a:off x="1857356" y="214290"/>
            <a:ext cx="6286544" cy="646331"/>
          </a:xfrm>
          <a:prstGeom prst="rect">
            <a:avLst/>
          </a:prstGeom>
        </p:spPr>
        <p:txBody>
          <a:bodyPr wrap="square">
            <a:spAutoFit/>
          </a:bodyPr>
          <a:lstStyle/>
          <a:p>
            <a:pPr lvl="0" algn="ctr">
              <a:lnSpc>
                <a:spcPct val="100000"/>
              </a:lnSpc>
            </a:pPr>
            <a:r>
              <a:rPr lang="es-VE" b="1" dirty="0" smtClean="0">
                <a:solidFill>
                  <a:sysClr val="windowText" lastClr="000000"/>
                </a:solidFill>
                <a:latin typeface="Constantia"/>
              </a:rPr>
              <a:t>Oficina Nacional Contra la Delincuencia Organizada y Financiamiento al Terrorismo</a:t>
            </a:r>
            <a:endParaRPr lang="es-VE"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Imagen 6"/>
          <p:cNvPicPr>
            <a:picLocks noChangeAspect="1"/>
          </p:cNvPicPr>
          <p:nvPr/>
        </p:nvPicPr>
        <p:blipFill>
          <a:blip r:embed="rId2" cstate="print"/>
          <a:srcRect/>
          <a:stretch>
            <a:fillRect/>
          </a:stretch>
        </p:blipFill>
        <p:spPr bwMode="auto">
          <a:xfrm>
            <a:off x="0" y="0"/>
            <a:ext cx="2000200" cy="1571611"/>
          </a:xfrm>
          <a:prstGeom prst="rect">
            <a:avLst/>
          </a:prstGeom>
          <a:noFill/>
          <a:ln w="9525">
            <a:noFill/>
            <a:miter lim="800000"/>
            <a:headEnd/>
            <a:tailEnd/>
          </a:ln>
        </p:spPr>
      </p:pic>
      <p:graphicFrame>
        <p:nvGraphicFramePr>
          <p:cNvPr id="16" name="15 Diagrama"/>
          <p:cNvGraphicFramePr/>
          <p:nvPr>
            <p:extLst>
              <p:ext uri="{D42A27DB-BD31-4B8C-83A1-F6EECF244321}">
                <p14:modId xmlns:p14="http://schemas.microsoft.com/office/powerpoint/2010/main" val="2902283872"/>
              </p:ext>
            </p:extLst>
          </p:nvPr>
        </p:nvGraphicFramePr>
        <p:xfrm>
          <a:off x="107504" y="1571611"/>
          <a:ext cx="2016224" cy="401762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7" name="16 CuadroTexto"/>
          <p:cNvSpPr txBox="1"/>
          <p:nvPr/>
        </p:nvSpPr>
        <p:spPr>
          <a:xfrm>
            <a:off x="2267744" y="260648"/>
            <a:ext cx="6369051" cy="707886"/>
          </a:xfrm>
          <a:prstGeom prst="rect">
            <a:avLst/>
          </a:prstGeom>
          <a:noFill/>
        </p:spPr>
        <p:txBody>
          <a:bodyPr wrap="non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s-VE" sz="2000" b="1" i="0" u="none" strike="noStrike" kern="0" cap="none" spc="0" normalizeH="0" baseline="0" noProof="0" dirty="0" smtClean="0">
                <a:ln>
                  <a:noFill/>
                </a:ln>
                <a:solidFill>
                  <a:sysClr val="windowText" lastClr="000000"/>
                </a:solidFill>
                <a:effectLst/>
                <a:uLnTx/>
                <a:uFillTx/>
              </a:rPr>
              <a:t>TITULO II</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s-VE" sz="2000" b="1" i="0" u="none" strike="noStrike" kern="0" cap="none" spc="0" normalizeH="0" baseline="0" noProof="0" dirty="0" smtClean="0">
                <a:ln>
                  <a:noFill/>
                </a:ln>
                <a:solidFill>
                  <a:sysClr val="windowText" lastClr="000000"/>
                </a:solidFill>
                <a:effectLst/>
                <a:uLnTx/>
                <a:uFillTx/>
              </a:rPr>
              <a:t>DE LA PREVENCIÓN, CONTROL, FISCALIZACIÓN Y SANCIÓN</a:t>
            </a:r>
          </a:p>
        </p:txBody>
      </p:sp>
      <p:sp>
        <p:nvSpPr>
          <p:cNvPr id="2" name="CuadroTexto 1"/>
          <p:cNvSpPr txBox="1"/>
          <p:nvPr/>
        </p:nvSpPr>
        <p:spPr>
          <a:xfrm>
            <a:off x="2406390" y="1120394"/>
            <a:ext cx="6624737" cy="4801314"/>
          </a:xfrm>
          <a:prstGeom prst="rect">
            <a:avLst/>
          </a:prstGeom>
          <a:noFill/>
        </p:spPr>
        <p:txBody>
          <a:bodyPr wrap="square" rtlCol="0">
            <a:spAutoFit/>
          </a:bodyPr>
          <a:lstStyle/>
          <a:p>
            <a:pPr marL="342900" indent="-342900">
              <a:buFont typeface="+mj-lt"/>
              <a:buAutoNum type="arabicPeriod"/>
            </a:pPr>
            <a:r>
              <a:rPr lang="es-ES" dirty="0" smtClean="0">
                <a:latin typeface="Constantia" panose="02030602050306030303" pitchFamily="18" charset="0"/>
              </a:rPr>
              <a:t>Superintendencia de Bancos</a:t>
            </a:r>
          </a:p>
          <a:p>
            <a:pPr marL="342900" indent="-342900">
              <a:buFont typeface="+mj-lt"/>
              <a:buAutoNum type="arabicPeriod"/>
            </a:pPr>
            <a:r>
              <a:rPr lang="es-ES" dirty="0" smtClean="0">
                <a:latin typeface="Constantia" panose="02030602050306030303" pitchFamily="18" charset="0"/>
              </a:rPr>
              <a:t>Superintendencia de la Actividad Aseguradora</a:t>
            </a:r>
          </a:p>
          <a:p>
            <a:pPr marL="342900" indent="-342900">
              <a:buFont typeface="+mj-lt"/>
              <a:buAutoNum type="arabicPeriod"/>
            </a:pPr>
            <a:r>
              <a:rPr lang="es-ES" dirty="0" smtClean="0">
                <a:latin typeface="Constantia" panose="02030602050306030303" pitchFamily="18" charset="0"/>
              </a:rPr>
              <a:t>Banco Central de Venezuela</a:t>
            </a:r>
          </a:p>
          <a:p>
            <a:pPr marL="342900" indent="-342900">
              <a:buFont typeface="+mj-lt"/>
              <a:buAutoNum type="arabicPeriod"/>
            </a:pPr>
            <a:r>
              <a:rPr lang="es-ES" dirty="0" smtClean="0">
                <a:latin typeface="Constantia" panose="02030602050306030303" pitchFamily="18" charset="0"/>
              </a:rPr>
              <a:t>Superintendencia nacional de Valores</a:t>
            </a:r>
          </a:p>
          <a:p>
            <a:pPr marL="342900" indent="-342900">
              <a:buFont typeface="+mj-lt"/>
              <a:buAutoNum type="arabicPeriod"/>
            </a:pPr>
            <a:r>
              <a:rPr lang="es-ES" dirty="0" smtClean="0">
                <a:latin typeface="Constantia" panose="02030602050306030303" pitchFamily="18" charset="0"/>
              </a:rPr>
              <a:t>Ministerio del Poder Popular Relaciones Interiores y Justicia</a:t>
            </a:r>
          </a:p>
          <a:p>
            <a:pPr marL="342900" indent="-342900">
              <a:buFont typeface="+mj-lt"/>
              <a:buAutoNum type="arabicPeriod"/>
            </a:pPr>
            <a:r>
              <a:rPr lang="es-ES" dirty="0" smtClean="0">
                <a:latin typeface="Constantia" panose="02030602050306030303" pitchFamily="18" charset="0"/>
              </a:rPr>
              <a:t>Servicio Nacional Integrado de Adm. Aduanera y Tributaria</a:t>
            </a:r>
          </a:p>
          <a:p>
            <a:pPr marL="342900" indent="-342900">
              <a:buFont typeface="+mj-lt"/>
              <a:buAutoNum type="arabicPeriod"/>
            </a:pPr>
            <a:r>
              <a:rPr lang="es-ES" dirty="0" smtClean="0">
                <a:latin typeface="Constantia" panose="02030602050306030303" pitchFamily="18" charset="0"/>
              </a:rPr>
              <a:t>Servicio Autónomo de Registros y Notarias</a:t>
            </a:r>
          </a:p>
          <a:p>
            <a:pPr marL="342900" indent="-342900">
              <a:buFont typeface="+mj-lt"/>
              <a:buAutoNum type="arabicPeriod"/>
            </a:pPr>
            <a:r>
              <a:rPr lang="es-ES" dirty="0" smtClean="0">
                <a:latin typeface="Constantia" panose="02030602050306030303" pitchFamily="18" charset="0"/>
              </a:rPr>
              <a:t>Ministerio del Poder Popular con competencia en Petróleo</a:t>
            </a:r>
          </a:p>
          <a:p>
            <a:pPr marL="342900" indent="-342900">
              <a:buFont typeface="+mj-lt"/>
              <a:buAutoNum type="arabicPeriod"/>
            </a:pPr>
            <a:r>
              <a:rPr lang="es-ES" dirty="0" smtClean="0">
                <a:latin typeface="Constantia" panose="02030602050306030303" pitchFamily="18" charset="0"/>
              </a:rPr>
              <a:t>Ministerio del Poder Popular en materia de </a:t>
            </a:r>
            <a:r>
              <a:rPr lang="es-ES" dirty="0">
                <a:latin typeface="Constantia" panose="02030602050306030303" pitchFamily="18" charset="0"/>
              </a:rPr>
              <a:t>E</a:t>
            </a:r>
            <a:r>
              <a:rPr lang="es-ES" dirty="0" smtClean="0">
                <a:latin typeface="Constantia" panose="02030602050306030303" pitchFamily="18" charset="0"/>
              </a:rPr>
              <a:t>nergía Eléctrica</a:t>
            </a:r>
          </a:p>
          <a:p>
            <a:pPr marL="342900" indent="-342900">
              <a:buFont typeface="+mj-lt"/>
              <a:buAutoNum type="arabicPeriod"/>
            </a:pPr>
            <a:r>
              <a:rPr lang="es-ES" dirty="0" smtClean="0">
                <a:latin typeface="Constantia" panose="02030602050306030303" pitchFamily="18" charset="0"/>
              </a:rPr>
              <a:t>Ministerio del Poder Popular de Planificación y Finanzas</a:t>
            </a:r>
          </a:p>
          <a:p>
            <a:pPr marL="342900" indent="-342900">
              <a:buFont typeface="+mj-lt"/>
              <a:buAutoNum type="arabicPeriod"/>
            </a:pPr>
            <a:r>
              <a:rPr lang="es-ES" dirty="0" smtClean="0">
                <a:latin typeface="Constantia" panose="02030602050306030303" pitchFamily="18" charset="0"/>
              </a:rPr>
              <a:t>Comisión Nacional de Casinos</a:t>
            </a:r>
          </a:p>
          <a:p>
            <a:pPr marL="342900" indent="-342900">
              <a:buFont typeface="+mj-lt"/>
              <a:buAutoNum type="arabicPeriod"/>
            </a:pPr>
            <a:r>
              <a:rPr lang="es-ES" dirty="0" smtClean="0">
                <a:latin typeface="Constantia" panose="02030602050306030303" pitchFamily="18" charset="0"/>
              </a:rPr>
              <a:t>Ministerio del Poder Popular del Turismo</a:t>
            </a:r>
          </a:p>
          <a:p>
            <a:pPr marL="342900" indent="-342900">
              <a:buFont typeface="+mj-lt"/>
              <a:buAutoNum type="arabicPeriod"/>
            </a:pPr>
            <a:r>
              <a:rPr lang="es-ES" dirty="0" smtClean="0">
                <a:latin typeface="Constantia" panose="02030602050306030303" pitchFamily="18" charset="0"/>
              </a:rPr>
              <a:t>Ministerio del Poder Popular de Ciencia y Tecnología</a:t>
            </a:r>
          </a:p>
          <a:p>
            <a:pPr marL="342900" indent="-342900">
              <a:buFont typeface="+mj-lt"/>
              <a:buAutoNum type="arabicPeriod"/>
            </a:pPr>
            <a:r>
              <a:rPr lang="es-ES" dirty="0" smtClean="0">
                <a:latin typeface="Constantia" panose="02030602050306030303" pitchFamily="18" charset="0"/>
              </a:rPr>
              <a:t>Ministerio del Poder Popular en materia de Industria</a:t>
            </a:r>
          </a:p>
          <a:p>
            <a:pPr marL="342900" indent="-342900">
              <a:buFont typeface="+mj-lt"/>
              <a:buAutoNum type="arabicPeriod"/>
            </a:pPr>
            <a:r>
              <a:rPr lang="es-ES" dirty="0" smtClean="0">
                <a:latin typeface="Constantia" panose="02030602050306030303" pitchFamily="18" charset="0"/>
              </a:rPr>
              <a:t>Ministerio del Poder Popular en materia de Comercio</a:t>
            </a:r>
          </a:p>
          <a:p>
            <a:pPr marL="342900" indent="-342900">
              <a:buFont typeface="+mj-lt"/>
              <a:buAutoNum type="arabicPeriod"/>
            </a:pPr>
            <a:r>
              <a:rPr lang="es-ES" dirty="0" smtClean="0">
                <a:latin typeface="Constantia" panose="02030602050306030303" pitchFamily="18" charset="0"/>
              </a:rPr>
              <a:t>El Consejo Nacional Electoral</a:t>
            </a:r>
          </a:p>
          <a:p>
            <a:pPr marL="342900" indent="-342900">
              <a:buFont typeface="+mj-lt"/>
              <a:buAutoNum type="arabicPeriod"/>
            </a:pPr>
            <a:r>
              <a:rPr lang="es-ES" dirty="0" smtClean="0">
                <a:latin typeface="Constantia" panose="02030602050306030303" pitchFamily="18" charset="0"/>
              </a:rPr>
              <a:t>Cualquier otro que sea designado mediante ley o decreto.</a:t>
            </a:r>
            <a:endParaRPr lang="es-ES" dirty="0">
              <a:latin typeface="Constantia" panose="02030602050306030303" pitchFamily="18" charset="0"/>
            </a:endParaRPr>
          </a:p>
        </p:txBody>
      </p:sp>
      <p:sp>
        <p:nvSpPr>
          <p:cNvPr id="3" name="Rectángulo 2"/>
          <p:cNvSpPr/>
          <p:nvPr/>
        </p:nvSpPr>
        <p:spPr>
          <a:xfrm>
            <a:off x="96180" y="5921708"/>
            <a:ext cx="2356158" cy="584775"/>
          </a:xfrm>
          <a:prstGeom prst="rect">
            <a:avLst/>
          </a:prstGeom>
          <a:solidFill>
            <a:schemeClr val="accent5">
              <a:lumMod val="50000"/>
            </a:schemeClr>
          </a:solidFill>
        </p:spPr>
        <p:txBody>
          <a:bodyPr wrap="none" lIns="91440" tIns="45720" rIns="91440" bIns="45720">
            <a:spAutoFit/>
          </a:bodyPr>
          <a:lstStyle/>
          <a:p>
            <a:pPr algn="ctr"/>
            <a:r>
              <a:rPr lang="es-ES" sz="3200" b="1" dirty="0" smtClean="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Obligaciones</a:t>
            </a:r>
            <a:endParaRPr lang="es-ES" sz="3200" b="1" cap="none" spc="0"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Imagen 6"/>
          <p:cNvPicPr>
            <a:picLocks noChangeAspect="1"/>
          </p:cNvPicPr>
          <p:nvPr/>
        </p:nvPicPr>
        <p:blipFill>
          <a:blip r:embed="rId2" cstate="print"/>
          <a:srcRect/>
          <a:stretch>
            <a:fillRect/>
          </a:stretch>
        </p:blipFill>
        <p:spPr bwMode="auto">
          <a:xfrm>
            <a:off x="1" y="1"/>
            <a:ext cx="1403648" cy="1268760"/>
          </a:xfrm>
          <a:prstGeom prst="rect">
            <a:avLst/>
          </a:prstGeom>
          <a:noFill/>
          <a:ln w="9525">
            <a:noFill/>
            <a:miter lim="800000"/>
            <a:headEnd/>
            <a:tailEnd/>
          </a:ln>
        </p:spPr>
      </p:pic>
      <p:sp>
        <p:nvSpPr>
          <p:cNvPr id="15" name="CuadroTexto 14"/>
          <p:cNvSpPr txBox="1"/>
          <p:nvPr/>
        </p:nvSpPr>
        <p:spPr>
          <a:xfrm>
            <a:off x="2051720" y="961271"/>
            <a:ext cx="6768752" cy="5355312"/>
          </a:xfrm>
          <a:prstGeom prst="rect">
            <a:avLst/>
          </a:prstGeom>
          <a:noFill/>
        </p:spPr>
        <p:txBody>
          <a:bodyPr wrap="square" rtlCol="0">
            <a:spAutoFit/>
          </a:bodyPr>
          <a:lstStyle/>
          <a:p>
            <a:pPr marL="342900" indent="-342900" algn="just">
              <a:buFont typeface="+mj-lt"/>
              <a:buAutoNum type="arabicPeriod"/>
            </a:pPr>
            <a:r>
              <a:rPr lang="es-ES" dirty="0" smtClean="0">
                <a:latin typeface="Constantia" panose="02030602050306030303" pitchFamily="18" charset="0"/>
              </a:rPr>
              <a:t>Persona Naturales y Jurídicas cuya actividad se encuentra regulada por la ley que rige el sector bancario. </a:t>
            </a:r>
          </a:p>
          <a:p>
            <a:pPr marL="342900" indent="-342900" algn="just">
              <a:buFont typeface="+mj-lt"/>
              <a:buAutoNum type="arabicPeriod"/>
            </a:pPr>
            <a:r>
              <a:rPr lang="es-ES" dirty="0">
                <a:latin typeface="Constantia" panose="02030602050306030303" pitchFamily="18" charset="0"/>
              </a:rPr>
              <a:t>Persona Naturales y Jurídicas cuya actividad se encuentra regulada por la ley que rige el sector </a:t>
            </a:r>
            <a:r>
              <a:rPr lang="es-ES" dirty="0" smtClean="0">
                <a:latin typeface="Constantia" panose="02030602050306030303" pitchFamily="18" charset="0"/>
              </a:rPr>
              <a:t>asegurador.</a:t>
            </a:r>
          </a:p>
          <a:p>
            <a:pPr marL="342900" indent="-342900" algn="just">
              <a:buFont typeface="+mj-lt"/>
              <a:buAutoNum type="arabicPeriod"/>
            </a:pPr>
            <a:r>
              <a:rPr lang="es-ES" dirty="0">
                <a:latin typeface="Constantia" panose="02030602050306030303" pitchFamily="18" charset="0"/>
              </a:rPr>
              <a:t>Persona Naturales y Jurídicas cuya actividad se encuentra regulada por la ley que rige el sector </a:t>
            </a:r>
            <a:r>
              <a:rPr lang="es-ES" dirty="0" smtClean="0">
                <a:latin typeface="Constantia" panose="02030602050306030303" pitchFamily="18" charset="0"/>
              </a:rPr>
              <a:t>Valores.</a:t>
            </a:r>
          </a:p>
          <a:p>
            <a:pPr marL="342900" indent="-342900" algn="just">
              <a:buFont typeface="+mj-lt"/>
              <a:buAutoNum type="arabicPeriod"/>
            </a:pPr>
            <a:r>
              <a:rPr lang="es-ES" dirty="0">
                <a:latin typeface="Constantia" panose="02030602050306030303" pitchFamily="18" charset="0"/>
              </a:rPr>
              <a:t>Persona Naturales y Jurídicas cuya actividad se encuentra regulada por la ley que rige el sector </a:t>
            </a:r>
            <a:r>
              <a:rPr lang="es-ES" dirty="0" smtClean="0">
                <a:latin typeface="Constantia" panose="02030602050306030303" pitchFamily="18" charset="0"/>
              </a:rPr>
              <a:t>Bingos y Casinos.</a:t>
            </a:r>
          </a:p>
          <a:p>
            <a:pPr marL="342900" indent="-342900" algn="just">
              <a:buFont typeface="+mj-lt"/>
              <a:buAutoNum type="arabicPeriod"/>
            </a:pPr>
            <a:r>
              <a:rPr lang="es-ES" dirty="0" smtClean="0">
                <a:latin typeface="Constantia" panose="02030602050306030303" pitchFamily="18" charset="0"/>
              </a:rPr>
              <a:t>Los Hoteles, empresas y centros de turismo autorizados a realizar operaciones de cambio de divisas.</a:t>
            </a:r>
          </a:p>
          <a:p>
            <a:pPr marL="342900" indent="-342900" algn="just">
              <a:buFont typeface="+mj-lt"/>
              <a:buAutoNum type="arabicPeriod"/>
            </a:pPr>
            <a:r>
              <a:rPr lang="es-ES" dirty="0" smtClean="0">
                <a:latin typeface="Constantia" panose="02030602050306030303" pitchFamily="18" charset="0"/>
              </a:rPr>
              <a:t>Las fundaciones, asociaciones civiles y demás organizaciones sin fines de lucro</a:t>
            </a:r>
          </a:p>
          <a:p>
            <a:pPr marL="342900" indent="-342900" algn="just">
              <a:buFont typeface="+mj-lt"/>
              <a:buAutoNum type="arabicPeriod"/>
            </a:pPr>
            <a:r>
              <a:rPr lang="es-ES" dirty="0" smtClean="0">
                <a:latin typeface="Constantia" panose="02030602050306030303" pitchFamily="18" charset="0"/>
              </a:rPr>
              <a:t>Las organizaciones con fines políticos, los grupos de electores, agrupaciones de ciudadanos y ciudadanas y de las personas que se postulen por iniciativa propia para cargos de elección popular.</a:t>
            </a:r>
          </a:p>
          <a:p>
            <a:pPr marL="342900" indent="-342900" algn="just">
              <a:buFont typeface="+mj-lt"/>
              <a:buAutoNum type="arabicPeriod"/>
            </a:pPr>
            <a:r>
              <a:rPr lang="es-ES" dirty="0" smtClean="0">
                <a:latin typeface="Constantia" panose="02030602050306030303" pitchFamily="18" charset="0"/>
              </a:rPr>
              <a:t>Oficinas Subalternas de Registros Públicos y Notarias Pùblicas.</a:t>
            </a:r>
          </a:p>
          <a:p>
            <a:pPr marL="342900" indent="-342900" algn="just">
              <a:buFont typeface="+mj-lt"/>
              <a:buAutoNum type="arabicPeriod"/>
            </a:pPr>
            <a:r>
              <a:rPr lang="es-ES" dirty="0" smtClean="0">
                <a:latin typeface="Constantia" panose="02030602050306030303" pitchFamily="18" charset="0"/>
              </a:rPr>
              <a:t>Profesiones de libre ejercicio.</a:t>
            </a:r>
          </a:p>
          <a:p>
            <a:pPr marL="342900" indent="-342900" algn="just">
              <a:buFont typeface="+mj-lt"/>
              <a:buAutoNum type="arabicPeriod"/>
            </a:pPr>
            <a:r>
              <a:rPr lang="es-ES" dirty="0" smtClean="0">
                <a:latin typeface="Constantia" panose="02030602050306030303" pitchFamily="18" charset="0"/>
              </a:rPr>
              <a:t>Personas naturales y Jurídicas con actividades económicas</a:t>
            </a:r>
            <a:endParaRPr lang="es-ES" dirty="0">
              <a:latin typeface="Constantia" panose="02030602050306030303" pitchFamily="18" charset="0"/>
            </a:endParaRPr>
          </a:p>
        </p:txBody>
      </p:sp>
      <p:grpSp>
        <p:nvGrpSpPr>
          <p:cNvPr id="5" name="Grupo 4"/>
          <p:cNvGrpSpPr/>
          <p:nvPr/>
        </p:nvGrpSpPr>
        <p:grpSpPr>
          <a:xfrm>
            <a:off x="72009" y="1772816"/>
            <a:ext cx="1763687" cy="4017629"/>
            <a:chOff x="1969" y="-1"/>
            <a:chExt cx="2014255" cy="4017629"/>
          </a:xfrm>
          <a:solidFill>
            <a:schemeClr val="accent5">
              <a:lumMod val="40000"/>
              <a:lumOff val="60000"/>
            </a:schemeClr>
          </a:solidFill>
        </p:grpSpPr>
        <p:sp>
          <p:nvSpPr>
            <p:cNvPr id="6" name="Operación manual 5"/>
            <p:cNvSpPr/>
            <p:nvPr/>
          </p:nvSpPr>
          <p:spPr>
            <a:xfrm rot="16200000">
              <a:off x="-999718" y="1001686"/>
              <a:ext cx="4017629" cy="2014255"/>
            </a:xfrm>
            <a:prstGeom prst="flowChartManualOperation">
              <a:avLst/>
            </a:prstGeom>
            <a:grpFill/>
            <a:ln w="25400" cap="flat" cmpd="sng" algn="ctr">
              <a:solidFill>
                <a:schemeClr val="accent5"/>
              </a:solidFill>
              <a:prstDash val="solid"/>
            </a:ln>
            <a:effectLst/>
          </p:spPr>
          <p:style>
            <a:lnRef idx="2">
              <a:schemeClr val="accent1"/>
            </a:lnRef>
            <a:fillRef idx="1">
              <a:schemeClr val="lt1"/>
            </a:fillRef>
            <a:effectRef idx="0">
              <a:schemeClr val="accent1"/>
            </a:effectRef>
            <a:fontRef idx="minor">
              <a:schemeClr val="dk1"/>
            </a:fontRef>
          </p:style>
        </p:sp>
        <p:sp>
          <p:nvSpPr>
            <p:cNvPr id="7" name="Operación manual 4"/>
            <p:cNvSpPr txBox="1"/>
            <p:nvPr/>
          </p:nvSpPr>
          <p:spPr>
            <a:xfrm rot="21600000">
              <a:off x="1969" y="803525"/>
              <a:ext cx="2014255" cy="2410577"/>
            </a:xfrm>
            <a:prstGeom prst="rect">
              <a:avLst/>
            </a:prstGeom>
            <a:grpFill/>
          </p:spPr>
          <p:style>
            <a:lnRef idx="0">
              <a:scrgbClr r="0" g="0" b="0"/>
            </a:lnRef>
            <a:fillRef idx="0">
              <a:scrgbClr r="0" g="0" b="0"/>
            </a:fillRef>
            <a:effectRef idx="0">
              <a:scrgbClr r="0" g="0" b="0"/>
            </a:effectRef>
            <a:fontRef idx="minor">
              <a:schemeClr val="dk1"/>
            </a:fontRef>
          </p:style>
          <p:txBody>
            <a:bodyPr spcFirstLastPara="0" vert="horz" wrap="square" lIns="127000" tIns="0" rIns="127000" bIns="0" numCol="1" spcCol="1270" anchor="ctr" anchorCtr="0">
              <a:noAutofit/>
            </a:bodyPr>
            <a:lstStyle/>
            <a:p>
              <a:pPr lvl="0" algn="ctr" defTabSz="889000">
                <a:lnSpc>
                  <a:spcPct val="90000"/>
                </a:lnSpc>
                <a:spcBef>
                  <a:spcPct val="0"/>
                </a:spcBef>
                <a:spcAft>
                  <a:spcPct val="35000"/>
                </a:spcAft>
              </a:pPr>
              <a:endParaRPr lang="es-VE" sz="2000" b="1" kern="1200" dirty="0">
                <a:solidFill>
                  <a:sysClr val="windowText" lastClr="000000"/>
                </a:solidFill>
                <a:latin typeface="Constantia"/>
                <a:ea typeface="+mn-ea"/>
                <a:cs typeface="+mn-cs"/>
              </a:endParaRPr>
            </a:p>
          </p:txBody>
        </p:sp>
      </p:grpSp>
      <p:sp>
        <p:nvSpPr>
          <p:cNvPr id="2" name="Rectángulo 1"/>
          <p:cNvSpPr/>
          <p:nvPr/>
        </p:nvSpPr>
        <p:spPr>
          <a:xfrm>
            <a:off x="107504" y="3284984"/>
            <a:ext cx="1512168" cy="707886"/>
          </a:xfrm>
          <a:prstGeom prst="rect">
            <a:avLst/>
          </a:prstGeom>
        </p:spPr>
        <p:txBody>
          <a:bodyPr wrap="square">
            <a:spAutoFit/>
          </a:bodyPr>
          <a:lstStyle/>
          <a:p>
            <a:pPr lvl="0" algn="ctr">
              <a:defRPr/>
            </a:pPr>
            <a:r>
              <a:rPr lang="es-VE" sz="2000" b="1" kern="0" dirty="0">
                <a:solidFill>
                  <a:sysClr val="windowText" lastClr="000000"/>
                </a:solidFill>
              </a:rPr>
              <a:t>SUJETOS OBLIGADOS</a:t>
            </a:r>
          </a:p>
        </p:txBody>
      </p:sp>
      <p:sp>
        <p:nvSpPr>
          <p:cNvPr id="3" name="Rectángulo 2"/>
          <p:cNvSpPr/>
          <p:nvPr/>
        </p:nvSpPr>
        <p:spPr>
          <a:xfrm>
            <a:off x="2051720" y="153266"/>
            <a:ext cx="6768752" cy="646331"/>
          </a:xfrm>
          <a:prstGeom prst="rect">
            <a:avLst/>
          </a:prstGeom>
        </p:spPr>
        <p:txBody>
          <a:bodyPr wrap="square">
            <a:spAutoFit/>
          </a:bodyPr>
          <a:lstStyle/>
          <a:p>
            <a:pPr lvl="0" algn="ctr">
              <a:defRPr/>
            </a:pPr>
            <a:r>
              <a:rPr lang="es-VE" b="1" kern="0" dirty="0">
                <a:solidFill>
                  <a:sysClr val="windowText" lastClr="000000"/>
                </a:solidFill>
              </a:rPr>
              <a:t>TITULO II</a:t>
            </a:r>
          </a:p>
          <a:p>
            <a:pPr lvl="0" algn="ctr">
              <a:defRPr/>
            </a:pPr>
            <a:r>
              <a:rPr lang="es-VE" b="1" kern="0" dirty="0">
                <a:solidFill>
                  <a:sysClr val="windowText" lastClr="000000"/>
                </a:solidFill>
              </a:rPr>
              <a:t>DE LA PREVENCIÓN, CONTROL, FISCALIZACIÓN Y SANCIÓN</a:t>
            </a:r>
          </a:p>
        </p:txBody>
      </p:sp>
    </p:spTree>
    <p:extLst>
      <p:ext uri="{BB962C8B-B14F-4D97-AF65-F5344CB8AC3E}">
        <p14:creationId xmlns:p14="http://schemas.microsoft.com/office/powerpoint/2010/main" val="214273067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Rectángulo"/>
          <p:cNvSpPr/>
          <p:nvPr/>
        </p:nvSpPr>
        <p:spPr>
          <a:xfrm>
            <a:off x="2571736" y="214290"/>
            <a:ext cx="5857916" cy="1200329"/>
          </a:xfrm>
          <a:prstGeom prst="rect">
            <a:avLst/>
          </a:prstGeom>
        </p:spPr>
        <p:txBody>
          <a:bodyPr wrap="square">
            <a:spAutoFit/>
          </a:bodyPr>
          <a:lstStyle/>
          <a:p>
            <a:pPr algn="ctr"/>
            <a:r>
              <a:rPr lang="es-VE" sz="2400" b="1" dirty="0" smtClean="0"/>
              <a:t> TITULO II</a:t>
            </a:r>
          </a:p>
          <a:p>
            <a:pPr algn="ctr"/>
            <a:r>
              <a:rPr lang="es-VE" sz="2400" b="1" dirty="0" smtClean="0"/>
              <a:t>Capítulo II</a:t>
            </a:r>
          </a:p>
          <a:p>
            <a:pPr algn="ctr"/>
            <a:r>
              <a:rPr lang="es-VE" sz="2400" b="1" dirty="0" smtClean="0"/>
              <a:t>De las Obligaciones y Sanciones </a:t>
            </a:r>
            <a:endParaRPr lang="es-VE" sz="2400" dirty="0"/>
          </a:p>
        </p:txBody>
      </p:sp>
      <p:pic>
        <p:nvPicPr>
          <p:cNvPr id="3" name="Imagen 6"/>
          <p:cNvPicPr>
            <a:picLocks noChangeAspect="1"/>
          </p:cNvPicPr>
          <p:nvPr/>
        </p:nvPicPr>
        <p:blipFill>
          <a:blip r:embed="rId2" cstate="print"/>
          <a:srcRect/>
          <a:stretch>
            <a:fillRect/>
          </a:stretch>
        </p:blipFill>
        <p:spPr bwMode="auto">
          <a:xfrm>
            <a:off x="0" y="0"/>
            <a:ext cx="2000200" cy="1571611"/>
          </a:xfrm>
          <a:prstGeom prst="rect">
            <a:avLst/>
          </a:prstGeom>
          <a:noFill/>
          <a:ln w="9525">
            <a:noFill/>
            <a:miter lim="800000"/>
            <a:headEnd/>
            <a:tailEnd/>
          </a:ln>
        </p:spPr>
      </p:pic>
      <p:sp>
        <p:nvSpPr>
          <p:cNvPr id="4" name="3 Rectángulo"/>
          <p:cNvSpPr/>
          <p:nvPr/>
        </p:nvSpPr>
        <p:spPr>
          <a:xfrm>
            <a:off x="2339752" y="1500174"/>
            <a:ext cx="6518528" cy="6093976"/>
          </a:xfrm>
          <a:prstGeom prst="rect">
            <a:avLst/>
          </a:prstGeom>
        </p:spPr>
        <p:txBody>
          <a:bodyPr wrap="square">
            <a:spAutoFit/>
          </a:bodyPr>
          <a:lstStyle/>
          <a:p>
            <a:pPr algn="just">
              <a:buFont typeface="Arial" pitchFamily="34" charset="0"/>
              <a:buChar char="•"/>
            </a:pPr>
            <a:r>
              <a:rPr lang="es-VE" sz="2400" dirty="0" smtClean="0">
                <a:latin typeface="Constantia" panose="02030602050306030303" pitchFamily="18" charset="0"/>
              </a:rPr>
              <a:t>Obligación de conservar registros y controlar transacciones.</a:t>
            </a:r>
          </a:p>
          <a:p>
            <a:pPr algn="just">
              <a:buFont typeface="Arial" pitchFamily="34" charset="0"/>
              <a:buChar char="•"/>
            </a:pPr>
            <a:r>
              <a:rPr lang="es-VE" sz="2400" dirty="0" smtClean="0">
                <a:latin typeface="Constantia" panose="02030602050306030303" pitchFamily="18" charset="0"/>
              </a:rPr>
              <a:t>Obligación de identificación del cliente.</a:t>
            </a:r>
          </a:p>
          <a:p>
            <a:pPr algn="just">
              <a:buFont typeface="Arial" pitchFamily="34" charset="0"/>
              <a:buChar char="•"/>
            </a:pPr>
            <a:r>
              <a:rPr lang="es-VE" sz="2400" dirty="0" smtClean="0">
                <a:latin typeface="Constantia" panose="02030602050306030303" pitchFamily="18" charset="0"/>
              </a:rPr>
              <a:t>Destino de las transacciones.</a:t>
            </a:r>
          </a:p>
          <a:p>
            <a:pPr algn="just">
              <a:buFont typeface="Arial" pitchFamily="34" charset="0"/>
              <a:buChar char="•"/>
            </a:pPr>
            <a:r>
              <a:rPr lang="es-VE" sz="2400" dirty="0" smtClean="0">
                <a:latin typeface="Constantia" panose="02030602050306030303" pitchFamily="18" charset="0"/>
              </a:rPr>
              <a:t>Obligación del reporte de actividades sospechosas.</a:t>
            </a:r>
          </a:p>
          <a:p>
            <a:pPr algn="just">
              <a:buFont typeface="Arial" pitchFamily="34" charset="0"/>
              <a:buChar char="•"/>
            </a:pPr>
            <a:r>
              <a:rPr lang="es-VE" sz="2400" dirty="0" smtClean="0">
                <a:latin typeface="Constantia" panose="02030602050306030303" pitchFamily="18" charset="0"/>
              </a:rPr>
              <a:t>Obligación de confidencialidad.</a:t>
            </a:r>
          </a:p>
          <a:p>
            <a:pPr algn="just">
              <a:buFont typeface="Arial" pitchFamily="34" charset="0"/>
              <a:buChar char="•"/>
            </a:pPr>
            <a:r>
              <a:rPr lang="es-VE" sz="2400" dirty="0" smtClean="0">
                <a:latin typeface="Constantia" panose="02030602050306030303" pitchFamily="18" charset="0"/>
              </a:rPr>
              <a:t>Obligación de no cerrar cuentas.</a:t>
            </a:r>
          </a:p>
          <a:p>
            <a:pPr algn="just">
              <a:buFont typeface="Arial" pitchFamily="34" charset="0"/>
              <a:buChar char="•"/>
            </a:pPr>
            <a:r>
              <a:rPr lang="es-VE" sz="2400" dirty="0" smtClean="0">
                <a:latin typeface="Constantia" panose="02030602050306030303" pitchFamily="18" charset="0"/>
              </a:rPr>
              <a:t>Obligación de identificar a terceros intervinientes.</a:t>
            </a:r>
          </a:p>
          <a:p>
            <a:pPr algn="just">
              <a:buFont typeface="Arial" pitchFamily="34" charset="0"/>
              <a:buChar char="•"/>
            </a:pPr>
            <a:r>
              <a:rPr lang="es-VE" sz="2400" dirty="0" smtClean="0">
                <a:latin typeface="Constantia" panose="02030602050306030303" pitchFamily="18" charset="0"/>
              </a:rPr>
              <a:t>Obligación de reportes de transacciones en efectivo.</a:t>
            </a:r>
          </a:p>
          <a:p>
            <a:pPr algn="just">
              <a:buFont typeface="Arial" pitchFamily="34" charset="0"/>
              <a:buChar char="•"/>
            </a:pPr>
            <a:r>
              <a:rPr lang="es-VE" sz="2400" dirty="0" smtClean="0">
                <a:latin typeface="Constantia" panose="02030602050306030303" pitchFamily="18" charset="0"/>
              </a:rPr>
              <a:t>De las personas expuestas políticamente</a:t>
            </a:r>
          </a:p>
          <a:p>
            <a:pPr>
              <a:buFont typeface="Arial" pitchFamily="34" charset="0"/>
              <a:buChar char="•"/>
            </a:pPr>
            <a:endParaRPr lang="es-VE" sz="2400" i="1" dirty="0" smtClean="0"/>
          </a:p>
          <a:p>
            <a:pPr>
              <a:buFont typeface="Arial" pitchFamily="34" charset="0"/>
              <a:buChar char="•"/>
            </a:pPr>
            <a:endParaRPr lang="es-VE" i="1" dirty="0" smtClean="0"/>
          </a:p>
          <a:p>
            <a:pPr>
              <a:buFont typeface="Arial" pitchFamily="34" charset="0"/>
              <a:buChar char="•"/>
            </a:pPr>
            <a:endParaRPr lang="es-VE" i="1" dirty="0" smtClean="0"/>
          </a:p>
          <a:p>
            <a:endParaRPr lang="es-VE" dirty="0"/>
          </a:p>
        </p:txBody>
      </p:sp>
      <p:pic>
        <p:nvPicPr>
          <p:cNvPr id="2050" name="Picture 2"/>
          <p:cNvPicPr>
            <a:picLocks noChangeAspect="1" noChangeArrowheads="1"/>
          </p:cNvPicPr>
          <p:nvPr/>
        </p:nvPicPr>
        <p:blipFill>
          <a:blip r:embed="rId3" cstate="print"/>
          <a:srcRect/>
          <a:stretch>
            <a:fillRect/>
          </a:stretch>
        </p:blipFill>
        <p:spPr bwMode="auto">
          <a:xfrm>
            <a:off x="195536" y="5493859"/>
            <a:ext cx="2000200" cy="1329480"/>
          </a:xfrm>
          <a:prstGeom prst="rect">
            <a:avLst/>
          </a:prstGeom>
          <a:noFill/>
          <a:ln w="9525">
            <a:noFill/>
            <a:miter lim="800000"/>
            <a:headEnd/>
            <a:tailEnd/>
          </a:ln>
          <a:effectLst/>
        </p:spPr>
      </p:pic>
      <p:grpSp>
        <p:nvGrpSpPr>
          <p:cNvPr id="6" name="Grupo 5"/>
          <p:cNvGrpSpPr/>
          <p:nvPr/>
        </p:nvGrpSpPr>
        <p:grpSpPr>
          <a:xfrm>
            <a:off x="72009" y="1772817"/>
            <a:ext cx="2123727" cy="3456383"/>
            <a:chOff x="1969" y="-1"/>
            <a:chExt cx="2014255" cy="4017629"/>
          </a:xfrm>
          <a:solidFill>
            <a:schemeClr val="accent5">
              <a:lumMod val="40000"/>
              <a:lumOff val="60000"/>
            </a:schemeClr>
          </a:solidFill>
        </p:grpSpPr>
        <p:sp>
          <p:nvSpPr>
            <p:cNvPr id="7" name="Operación manual 6"/>
            <p:cNvSpPr/>
            <p:nvPr/>
          </p:nvSpPr>
          <p:spPr>
            <a:xfrm rot="16200000">
              <a:off x="-999718" y="1001686"/>
              <a:ext cx="4017629" cy="2014255"/>
            </a:xfrm>
            <a:prstGeom prst="flowChartManualOperation">
              <a:avLst/>
            </a:prstGeom>
            <a:grpFill/>
            <a:ln w="25400" cap="flat" cmpd="sng" algn="ctr">
              <a:solidFill>
                <a:schemeClr val="accent5"/>
              </a:solidFill>
              <a:prstDash val="solid"/>
            </a:ln>
            <a:effectLst/>
          </p:spPr>
          <p:style>
            <a:lnRef idx="2">
              <a:schemeClr val="accent1"/>
            </a:lnRef>
            <a:fillRef idx="1">
              <a:schemeClr val="lt1"/>
            </a:fillRef>
            <a:effectRef idx="0">
              <a:schemeClr val="accent1"/>
            </a:effectRef>
            <a:fontRef idx="minor">
              <a:schemeClr val="dk1"/>
            </a:fontRef>
          </p:style>
        </p:sp>
        <p:sp>
          <p:nvSpPr>
            <p:cNvPr id="8" name="Operación manual 4"/>
            <p:cNvSpPr txBox="1"/>
            <p:nvPr/>
          </p:nvSpPr>
          <p:spPr>
            <a:xfrm rot="21600000">
              <a:off x="1969" y="803525"/>
              <a:ext cx="2014255" cy="2410577"/>
            </a:xfrm>
            <a:prstGeom prst="rect">
              <a:avLst/>
            </a:prstGeom>
            <a:grpFill/>
          </p:spPr>
          <p:style>
            <a:lnRef idx="0">
              <a:scrgbClr r="0" g="0" b="0"/>
            </a:lnRef>
            <a:fillRef idx="0">
              <a:scrgbClr r="0" g="0" b="0"/>
            </a:fillRef>
            <a:effectRef idx="0">
              <a:scrgbClr r="0" g="0" b="0"/>
            </a:effectRef>
            <a:fontRef idx="minor">
              <a:schemeClr val="dk1"/>
            </a:fontRef>
          </p:style>
          <p:txBody>
            <a:bodyPr spcFirstLastPara="0" vert="horz" wrap="square" lIns="127000" tIns="0" rIns="127000" bIns="0" numCol="1" spcCol="1270" anchor="ctr" anchorCtr="0">
              <a:noAutofit/>
            </a:bodyPr>
            <a:lstStyle/>
            <a:p>
              <a:pPr lvl="0" algn="ctr" defTabSz="889000">
                <a:lnSpc>
                  <a:spcPct val="90000"/>
                </a:lnSpc>
                <a:spcBef>
                  <a:spcPct val="0"/>
                </a:spcBef>
                <a:spcAft>
                  <a:spcPct val="35000"/>
                </a:spcAft>
              </a:pPr>
              <a:r>
                <a:rPr lang="es-VE" b="1" kern="1200" dirty="0" smtClean="0">
                  <a:solidFill>
                    <a:sysClr val="windowText" lastClr="000000"/>
                  </a:solidFill>
                  <a:latin typeface="Constantia"/>
                  <a:ea typeface="+mn-ea"/>
                  <a:cs typeface="+mn-cs"/>
                </a:rPr>
                <a:t>OBLIGACIONES Y </a:t>
              </a:r>
            </a:p>
            <a:p>
              <a:pPr lvl="0" algn="ctr" defTabSz="889000">
                <a:lnSpc>
                  <a:spcPct val="90000"/>
                </a:lnSpc>
                <a:spcBef>
                  <a:spcPct val="0"/>
                </a:spcBef>
                <a:spcAft>
                  <a:spcPct val="35000"/>
                </a:spcAft>
              </a:pPr>
              <a:r>
                <a:rPr lang="es-VE" b="1" dirty="0" smtClean="0">
                  <a:solidFill>
                    <a:sysClr val="windowText" lastClr="000000"/>
                  </a:solidFill>
                  <a:latin typeface="Constantia"/>
                </a:rPr>
                <a:t>SANCIONES</a:t>
              </a:r>
              <a:r>
                <a:rPr lang="es-VE" b="1" kern="1200" dirty="0" smtClean="0">
                  <a:solidFill>
                    <a:sysClr val="windowText" lastClr="000000"/>
                  </a:solidFill>
                  <a:latin typeface="Constantia"/>
                  <a:ea typeface="+mn-ea"/>
                  <a:cs typeface="+mn-cs"/>
                </a:rPr>
                <a:t> </a:t>
              </a:r>
              <a:endParaRPr lang="es-VE" b="1" kern="1200" dirty="0">
                <a:solidFill>
                  <a:sysClr val="windowText" lastClr="000000"/>
                </a:solidFill>
                <a:latin typeface="Constantia"/>
                <a:ea typeface="+mn-ea"/>
                <a:cs typeface="+mn-cs"/>
              </a:endParaRPr>
            </a:p>
          </p:txBody>
        </p:sp>
      </p:gr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Rectángulo"/>
          <p:cNvSpPr/>
          <p:nvPr/>
        </p:nvSpPr>
        <p:spPr>
          <a:xfrm>
            <a:off x="2714612" y="285728"/>
            <a:ext cx="5643602" cy="1015663"/>
          </a:xfrm>
          <a:prstGeom prst="rect">
            <a:avLst/>
          </a:prstGeom>
        </p:spPr>
        <p:txBody>
          <a:bodyPr wrap="square">
            <a:spAutoFit/>
          </a:bodyPr>
          <a:lstStyle/>
          <a:p>
            <a:pPr algn="ctr"/>
            <a:r>
              <a:rPr lang="es-VE" sz="2000" b="1" dirty="0" smtClean="0"/>
              <a:t>TITULO II</a:t>
            </a:r>
          </a:p>
          <a:p>
            <a:pPr algn="ctr"/>
            <a:r>
              <a:rPr lang="es-VE" sz="2000" b="1" dirty="0" smtClean="0"/>
              <a:t>Capítulo IV</a:t>
            </a:r>
          </a:p>
          <a:p>
            <a:pPr algn="ctr"/>
            <a:r>
              <a:rPr lang="es-VE" sz="2000" b="1" dirty="0" smtClean="0"/>
              <a:t>De la Unidad Nacional de Inteligencia Financiera </a:t>
            </a:r>
          </a:p>
        </p:txBody>
      </p:sp>
      <p:pic>
        <p:nvPicPr>
          <p:cNvPr id="3" name="Imagen 6"/>
          <p:cNvPicPr>
            <a:picLocks noChangeAspect="1"/>
          </p:cNvPicPr>
          <p:nvPr/>
        </p:nvPicPr>
        <p:blipFill>
          <a:blip r:embed="rId2" cstate="print"/>
          <a:srcRect/>
          <a:stretch>
            <a:fillRect/>
          </a:stretch>
        </p:blipFill>
        <p:spPr bwMode="auto">
          <a:xfrm>
            <a:off x="0" y="0"/>
            <a:ext cx="2000200" cy="1571611"/>
          </a:xfrm>
          <a:prstGeom prst="rect">
            <a:avLst/>
          </a:prstGeom>
          <a:noFill/>
          <a:ln w="9525">
            <a:noFill/>
            <a:miter lim="800000"/>
            <a:headEnd/>
            <a:tailEnd/>
          </a:ln>
        </p:spPr>
      </p:pic>
      <p:sp>
        <p:nvSpPr>
          <p:cNvPr id="4" name="3 Rectángulo"/>
          <p:cNvSpPr/>
          <p:nvPr/>
        </p:nvSpPr>
        <p:spPr>
          <a:xfrm>
            <a:off x="2357422" y="1643050"/>
            <a:ext cx="6215106" cy="3416320"/>
          </a:xfrm>
          <a:prstGeom prst="rect">
            <a:avLst/>
          </a:prstGeom>
        </p:spPr>
        <p:txBody>
          <a:bodyPr wrap="square">
            <a:spAutoFit/>
          </a:bodyPr>
          <a:lstStyle/>
          <a:p>
            <a:pPr algn="just"/>
            <a:r>
              <a:rPr lang="es-VE" b="1" dirty="0" smtClean="0"/>
              <a:t>Artículo 24. La Unidad Nacional de Inteligencia Financiera es un órgano  desconcentrado con capacidad de gestión presupuestaria, administrativa y financiera, dependiente jerárquicamente del Ministerio del Poder Popular con competencia en  materia de planificación y finanzas.  </a:t>
            </a:r>
          </a:p>
          <a:p>
            <a:pPr algn="just"/>
            <a:endParaRPr lang="es-VE" b="1" dirty="0" smtClean="0"/>
          </a:p>
          <a:p>
            <a:pPr algn="just"/>
            <a:r>
              <a:rPr lang="es-VE" b="1" dirty="0" smtClean="0"/>
              <a:t>Asimismo, contribuirá con la Oficina Nacional Contra la Delincuencia Organizada y Financiamiento al Terrorismo en el diseño, planificación y ejecución de las estrategias</a:t>
            </a:r>
          </a:p>
          <a:p>
            <a:pPr algn="just"/>
            <a:r>
              <a:rPr lang="es-VE" b="1" dirty="0" smtClean="0"/>
              <a:t>del Estado en materia de prevención, supervisión y control de la legitimación de capitales y del financiamiento al terrorismo y la cooperación internacional en esta materia. </a:t>
            </a:r>
          </a:p>
        </p:txBody>
      </p:sp>
      <p:sp>
        <p:nvSpPr>
          <p:cNvPr id="5" name="4 Rectángulo"/>
          <p:cNvSpPr/>
          <p:nvPr/>
        </p:nvSpPr>
        <p:spPr>
          <a:xfrm>
            <a:off x="2357422" y="5143512"/>
            <a:ext cx="6215106" cy="1477328"/>
          </a:xfrm>
          <a:prstGeom prst="rect">
            <a:avLst/>
          </a:prstGeom>
        </p:spPr>
        <p:txBody>
          <a:bodyPr wrap="square">
            <a:spAutoFit/>
          </a:bodyPr>
          <a:lstStyle/>
          <a:p>
            <a:pPr algn="just"/>
            <a:r>
              <a:rPr lang="es-VE" b="1" dirty="0" smtClean="0"/>
              <a:t>Centralizar a nivel nacional los reportes de actividades sospechosas que generen o emitan los sujetos obligados definidos en la presente Ley, dentro del cumplimiento de los deberes de cuidado para prevenir los delitos de legitimación de capitales y el financiamiento al terrorismo. </a:t>
            </a:r>
            <a:endParaRPr lang="es-VE" b="1" dirty="0"/>
          </a:p>
        </p:txBody>
      </p:sp>
      <p:sp>
        <p:nvSpPr>
          <p:cNvPr id="7" name="6 Rectángulo"/>
          <p:cNvSpPr/>
          <p:nvPr/>
        </p:nvSpPr>
        <p:spPr>
          <a:xfrm rot="20390923">
            <a:off x="-7452" y="5761730"/>
            <a:ext cx="2841629" cy="461665"/>
          </a:xfrm>
          <a:prstGeom prst="rect">
            <a:avLst/>
          </a:prstGeom>
          <a:noFill/>
        </p:spPr>
        <p:txBody>
          <a:bodyPr wrap="square" lIns="91440" tIns="45720" rIns="91440" bIns="45720">
            <a:spAutoFit/>
            <a:scene3d>
              <a:camera prst="orthographicFront"/>
              <a:lightRig rig="brightRoom" dir="t"/>
            </a:scene3d>
            <a:sp3d contourW="6350" prstMaterial="plastic">
              <a:bevelT w="20320" h="20320" prst="angle"/>
              <a:contourClr>
                <a:schemeClr val="accent1">
                  <a:tint val="100000"/>
                  <a:shade val="100000"/>
                  <a:hueMod val="100000"/>
                  <a:satMod val="100000"/>
                </a:schemeClr>
              </a:contourClr>
            </a:sp3d>
          </a:bodyPr>
          <a:lstStyle/>
          <a:p>
            <a:pPr algn="ctr"/>
            <a:r>
              <a:rPr lang="es-ES" sz="2400" b="1" cap="all" spc="0" dirty="0" smtClean="0">
                <a:ln/>
                <a:solidFill>
                  <a:srgbClr val="FF0000"/>
                </a:solidFill>
                <a:effectLst>
                  <a:outerShdw blurRad="19685" dist="12700" dir="5400000" algn="tl" rotWithShape="0">
                    <a:schemeClr val="accent1">
                      <a:satMod val="130000"/>
                      <a:alpha val="60000"/>
                    </a:schemeClr>
                  </a:outerShdw>
                  <a:reflection blurRad="10000" stA="55000" endPos="48000" dist="500" dir="5400000" sy="-100000" algn="bl" rotWithShape="0"/>
                </a:effectLst>
              </a:rPr>
              <a:t>ATRIBUCIONES</a:t>
            </a:r>
            <a:endParaRPr lang="es-ES" sz="2400" b="1" cap="all" spc="0" dirty="0">
              <a:ln/>
              <a:solidFill>
                <a:srgbClr val="FF0000"/>
              </a:solidFill>
              <a:effectLst>
                <a:outerShdw blurRad="19685" dist="12700" dir="5400000" algn="tl" rotWithShape="0">
                  <a:schemeClr val="accent1">
                    <a:satMod val="130000"/>
                    <a:alpha val="60000"/>
                  </a:schemeClr>
                </a:outerShdw>
                <a:reflection blurRad="10000" stA="55000" endPos="48000" dist="500" dir="5400000" sy="-100000" algn="bl" rotWithShape="0"/>
              </a:effectLst>
            </a:endParaRPr>
          </a:p>
        </p:txBody>
      </p:sp>
      <p:pic>
        <p:nvPicPr>
          <p:cNvPr id="3074" name="Picture 2"/>
          <p:cNvPicPr>
            <a:picLocks noChangeAspect="1" noChangeArrowheads="1"/>
          </p:cNvPicPr>
          <p:nvPr/>
        </p:nvPicPr>
        <p:blipFill>
          <a:blip r:embed="rId3" cstate="print"/>
          <a:srcRect/>
          <a:stretch>
            <a:fillRect/>
          </a:stretch>
        </p:blipFill>
        <p:spPr bwMode="auto">
          <a:xfrm rot="20149757">
            <a:off x="43170" y="2733288"/>
            <a:ext cx="2346394" cy="959244"/>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550F80E7-BE42-CF0B-4F68-37EF0052C65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92249"/>
            <a:ext cx="1956113" cy="2041872"/>
          </a:xfrm>
          <a:prstGeom prst="rect">
            <a:avLst/>
          </a:prstGeom>
        </p:spPr>
      </p:pic>
      <p:sp>
        <p:nvSpPr>
          <p:cNvPr id="6" name="5 Flecha abajo"/>
          <p:cNvSpPr/>
          <p:nvPr/>
        </p:nvSpPr>
        <p:spPr>
          <a:xfrm>
            <a:off x="4857752" y="1071546"/>
            <a:ext cx="484632" cy="554569"/>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VE" dirty="0"/>
          </a:p>
        </p:txBody>
      </p:sp>
      <p:sp>
        <p:nvSpPr>
          <p:cNvPr id="7" name="6 Rectángulo redondeado"/>
          <p:cNvSpPr/>
          <p:nvPr/>
        </p:nvSpPr>
        <p:spPr>
          <a:xfrm>
            <a:off x="4000496" y="1643050"/>
            <a:ext cx="2143140" cy="914400"/>
          </a:xfrm>
          <a:prstGeom prst="roundRect">
            <a:avLst/>
          </a:prstGeom>
          <a:solidFill>
            <a:schemeClr val="bg1"/>
          </a:solidFill>
          <a:ln>
            <a:solidFill>
              <a:schemeClr val="bg1"/>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s-VE" sz="1400" b="1" dirty="0" smtClean="0">
                <a:solidFill>
                  <a:schemeClr val="tx1"/>
                </a:solidFill>
              </a:rPr>
              <a:t>DELITOS  Y  PENAS TIPIFICADOS EN ESTA LEY </a:t>
            </a:r>
            <a:endParaRPr lang="es-VE" sz="1400" b="1" dirty="0">
              <a:solidFill>
                <a:schemeClr val="tx1"/>
              </a:solidFill>
            </a:endParaRPr>
          </a:p>
        </p:txBody>
      </p:sp>
      <p:sp>
        <p:nvSpPr>
          <p:cNvPr id="8" name="7 Rectángulo redondeado"/>
          <p:cNvSpPr/>
          <p:nvPr/>
        </p:nvSpPr>
        <p:spPr>
          <a:xfrm>
            <a:off x="357158" y="1643050"/>
            <a:ext cx="2286016" cy="985838"/>
          </a:xfrm>
          <a:prstGeom prst="roundRect">
            <a:avLst/>
          </a:prstGeom>
          <a:solidFill>
            <a:schemeClr val="bg1"/>
          </a:solidFill>
          <a:ln>
            <a:solidFill>
              <a:schemeClr val="bg1"/>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s-VE" sz="1600" b="1" dirty="0" smtClean="0">
                <a:solidFill>
                  <a:schemeClr val="tx1"/>
                </a:solidFill>
              </a:rPr>
              <a:t>Tráfico y comercio ilícito de recursos  </a:t>
            </a:r>
          </a:p>
          <a:p>
            <a:pPr algn="ctr"/>
            <a:r>
              <a:rPr lang="es-VE" sz="1600" b="1" dirty="0" smtClean="0">
                <a:solidFill>
                  <a:schemeClr val="tx1"/>
                </a:solidFill>
              </a:rPr>
              <a:t>o materiales estratégicos</a:t>
            </a:r>
          </a:p>
        </p:txBody>
      </p:sp>
      <p:sp>
        <p:nvSpPr>
          <p:cNvPr id="9" name="8 Rectángulo redondeado"/>
          <p:cNvSpPr/>
          <p:nvPr/>
        </p:nvSpPr>
        <p:spPr>
          <a:xfrm>
            <a:off x="428596" y="3214686"/>
            <a:ext cx="2428892" cy="985838"/>
          </a:xfrm>
          <a:prstGeom prst="roundRect">
            <a:avLst/>
          </a:prstGeom>
          <a:solidFill>
            <a:schemeClr val="bg1"/>
          </a:solidFill>
          <a:ln>
            <a:solidFill>
              <a:schemeClr val="bg1"/>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s-VE" sz="1600" b="1" dirty="0" smtClean="0">
                <a:solidFill>
                  <a:schemeClr val="tx1"/>
                </a:solidFill>
              </a:rPr>
              <a:t>De los delitos contra el orden público</a:t>
            </a:r>
            <a:endParaRPr lang="es-VE" sz="1600" dirty="0">
              <a:solidFill>
                <a:schemeClr val="tx1"/>
              </a:solidFill>
            </a:endParaRPr>
          </a:p>
        </p:txBody>
      </p:sp>
      <p:cxnSp>
        <p:nvCxnSpPr>
          <p:cNvPr id="10" name="9 Conector recto de flecha"/>
          <p:cNvCxnSpPr/>
          <p:nvPr/>
        </p:nvCxnSpPr>
        <p:spPr>
          <a:xfrm rot="10800000">
            <a:off x="2928926" y="2214554"/>
            <a:ext cx="928694"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1" name="10 CuadroTexto"/>
          <p:cNvSpPr txBox="1"/>
          <p:nvPr/>
        </p:nvSpPr>
        <p:spPr>
          <a:xfrm>
            <a:off x="2714612" y="1785926"/>
            <a:ext cx="1097288" cy="307777"/>
          </a:xfrm>
          <a:prstGeom prst="rect">
            <a:avLst/>
          </a:prstGeom>
          <a:noFill/>
        </p:spPr>
        <p:txBody>
          <a:bodyPr wrap="none" rtlCol="0">
            <a:spAutoFit/>
          </a:bodyPr>
          <a:lstStyle/>
          <a:p>
            <a:r>
              <a:rPr lang="es-VE" sz="1400" b="1" dirty="0" smtClean="0"/>
              <a:t>Capitulo II</a:t>
            </a:r>
            <a:endParaRPr lang="es-VE" sz="1400" b="1" dirty="0"/>
          </a:p>
        </p:txBody>
      </p:sp>
      <p:cxnSp>
        <p:nvCxnSpPr>
          <p:cNvPr id="12" name="11 Conector recto de flecha"/>
          <p:cNvCxnSpPr/>
          <p:nvPr/>
        </p:nvCxnSpPr>
        <p:spPr>
          <a:xfrm rot="5400000">
            <a:off x="1286646" y="2928140"/>
            <a:ext cx="571504"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3" name="12 CuadroTexto"/>
          <p:cNvSpPr txBox="1"/>
          <p:nvPr/>
        </p:nvSpPr>
        <p:spPr>
          <a:xfrm>
            <a:off x="1714480" y="2714620"/>
            <a:ext cx="1211101" cy="307777"/>
          </a:xfrm>
          <a:prstGeom prst="rect">
            <a:avLst/>
          </a:prstGeom>
          <a:noFill/>
        </p:spPr>
        <p:txBody>
          <a:bodyPr wrap="none" rtlCol="0">
            <a:spAutoFit/>
          </a:bodyPr>
          <a:lstStyle/>
          <a:p>
            <a:r>
              <a:rPr lang="es-VE" sz="1400" b="1" dirty="0" smtClean="0"/>
              <a:t>Capitulo  III</a:t>
            </a:r>
            <a:endParaRPr lang="es-VE" sz="1400" b="1" dirty="0"/>
          </a:p>
        </p:txBody>
      </p:sp>
      <p:sp>
        <p:nvSpPr>
          <p:cNvPr id="14" name="13 Rectángulo redondeado"/>
          <p:cNvSpPr/>
          <p:nvPr/>
        </p:nvSpPr>
        <p:spPr>
          <a:xfrm>
            <a:off x="357158" y="4857760"/>
            <a:ext cx="2428892" cy="985838"/>
          </a:xfrm>
          <a:prstGeom prst="roundRect">
            <a:avLst/>
          </a:prstGeom>
          <a:solidFill>
            <a:schemeClr val="bg1"/>
          </a:solidFill>
          <a:ln>
            <a:solidFill>
              <a:schemeClr val="bg1"/>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s-VE" sz="1600" b="1" dirty="0" smtClean="0">
                <a:solidFill>
                  <a:schemeClr val="tx1"/>
                </a:solidFill>
              </a:rPr>
              <a:t>De los delitos contra las personas</a:t>
            </a:r>
            <a:endParaRPr lang="es-VE" sz="1600" dirty="0">
              <a:solidFill>
                <a:schemeClr val="tx1"/>
              </a:solidFill>
            </a:endParaRPr>
          </a:p>
        </p:txBody>
      </p:sp>
      <p:cxnSp>
        <p:nvCxnSpPr>
          <p:cNvPr id="15" name="14 Conector recto de flecha"/>
          <p:cNvCxnSpPr/>
          <p:nvPr/>
        </p:nvCxnSpPr>
        <p:spPr>
          <a:xfrm rot="5400000">
            <a:off x="1215208" y="4499776"/>
            <a:ext cx="571504"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6" name="15 CuadroTexto"/>
          <p:cNvSpPr txBox="1"/>
          <p:nvPr/>
        </p:nvSpPr>
        <p:spPr>
          <a:xfrm>
            <a:off x="1785918" y="4429132"/>
            <a:ext cx="1188659" cy="307777"/>
          </a:xfrm>
          <a:prstGeom prst="rect">
            <a:avLst/>
          </a:prstGeom>
          <a:noFill/>
        </p:spPr>
        <p:txBody>
          <a:bodyPr wrap="none" rtlCol="0">
            <a:spAutoFit/>
          </a:bodyPr>
          <a:lstStyle/>
          <a:p>
            <a:r>
              <a:rPr lang="es-VE" sz="1400" b="1" dirty="0" smtClean="0"/>
              <a:t>Capitulo  IV</a:t>
            </a:r>
            <a:endParaRPr lang="es-VE" sz="1400" b="1" dirty="0"/>
          </a:p>
        </p:txBody>
      </p:sp>
      <p:sp>
        <p:nvSpPr>
          <p:cNvPr id="17" name="16 Rectángulo redondeado"/>
          <p:cNvSpPr/>
          <p:nvPr/>
        </p:nvSpPr>
        <p:spPr>
          <a:xfrm>
            <a:off x="4000496" y="3000372"/>
            <a:ext cx="2428892" cy="985838"/>
          </a:xfrm>
          <a:prstGeom prst="roundRect">
            <a:avLst/>
          </a:prstGeom>
          <a:solidFill>
            <a:schemeClr val="bg1"/>
          </a:solidFill>
          <a:ln>
            <a:solidFill>
              <a:schemeClr val="bg1"/>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s-VE" sz="1600" b="1" dirty="0" smtClean="0">
                <a:solidFill>
                  <a:schemeClr val="tx1"/>
                </a:solidFill>
              </a:rPr>
              <a:t>De los delitos contra La Administración de Justicia</a:t>
            </a:r>
            <a:endParaRPr lang="es-VE" sz="1600" dirty="0">
              <a:solidFill>
                <a:schemeClr val="tx1"/>
              </a:solidFill>
            </a:endParaRPr>
          </a:p>
        </p:txBody>
      </p:sp>
      <p:cxnSp>
        <p:nvCxnSpPr>
          <p:cNvPr id="18" name="17 Conector recto de flecha"/>
          <p:cNvCxnSpPr/>
          <p:nvPr/>
        </p:nvCxnSpPr>
        <p:spPr>
          <a:xfrm rot="5400000">
            <a:off x="7180281" y="3678239"/>
            <a:ext cx="35719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9" name="18 CuadroTexto"/>
          <p:cNvSpPr txBox="1"/>
          <p:nvPr/>
        </p:nvSpPr>
        <p:spPr>
          <a:xfrm>
            <a:off x="5357818" y="2571744"/>
            <a:ext cx="1113831" cy="307777"/>
          </a:xfrm>
          <a:prstGeom prst="rect">
            <a:avLst/>
          </a:prstGeom>
          <a:noFill/>
        </p:spPr>
        <p:txBody>
          <a:bodyPr wrap="none" rtlCol="0">
            <a:spAutoFit/>
          </a:bodyPr>
          <a:lstStyle/>
          <a:p>
            <a:r>
              <a:rPr lang="es-VE" sz="1400" b="1" dirty="0" smtClean="0"/>
              <a:t>Capitulo  V</a:t>
            </a:r>
            <a:endParaRPr lang="es-VE" sz="1400" b="1" dirty="0"/>
          </a:p>
        </p:txBody>
      </p:sp>
      <p:sp>
        <p:nvSpPr>
          <p:cNvPr id="20" name="19 Rectángulo redondeado"/>
          <p:cNvSpPr/>
          <p:nvPr/>
        </p:nvSpPr>
        <p:spPr>
          <a:xfrm>
            <a:off x="4000496" y="4357694"/>
            <a:ext cx="2428892" cy="985838"/>
          </a:xfrm>
          <a:prstGeom prst="roundRect">
            <a:avLst/>
          </a:prstGeom>
          <a:solidFill>
            <a:schemeClr val="bg1"/>
          </a:solidFill>
          <a:ln>
            <a:solidFill>
              <a:schemeClr val="bg1"/>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s-VE" sz="1600" b="1" dirty="0" smtClean="0">
                <a:solidFill>
                  <a:schemeClr val="tx1"/>
                </a:solidFill>
              </a:rPr>
              <a:t>De los delitos contra la indemnidad sexual</a:t>
            </a:r>
            <a:endParaRPr lang="es-VE" sz="1600" dirty="0">
              <a:solidFill>
                <a:schemeClr val="tx1"/>
              </a:solidFill>
            </a:endParaRPr>
          </a:p>
        </p:txBody>
      </p:sp>
      <p:cxnSp>
        <p:nvCxnSpPr>
          <p:cNvPr id="21" name="20 Conector recto de flecha"/>
          <p:cNvCxnSpPr/>
          <p:nvPr/>
        </p:nvCxnSpPr>
        <p:spPr>
          <a:xfrm rot="5400000">
            <a:off x="4894265" y="4178305"/>
            <a:ext cx="35719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2" name="21 CuadroTexto"/>
          <p:cNvSpPr txBox="1"/>
          <p:nvPr/>
        </p:nvSpPr>
        <p:spPr>
          <a:xfrm>
            <a:off x="5500694" y="4000504"/>
            <a:ext cx="1227644" cy="307777"/>
          </a:xfrm>
          <a:prstGeom prst="rect">
            <a:avLst/>
          </a:prstGeom>
          <a:noFill/>
        </p:spPr>
        <p:txBody>
          <a:bodyPr wrap="none" rtlCol="0">
            <a:spAutoFit/>
          </a:bodyPr>
          <a:lstStyle/>
          <a:p>
            <a:r>
              <a:rPr lang="es-VE" sz="1400" b="1" dirty="0" smtClean="0"/>
              <a:t>Capitulo  VI </a:t>
            </a:r>
            <a:endParaRPr lang="es-VE" sz="1400" b="1" dirty="0"/>
          </a:p>
        </p:txBody>
      </p:sp>
      <p:sp>
        <p:nvSpPr>
          <p:cNvPr id="23" name="22 Rectángulo redondeado"/>
          <p:cNvSpPr/>
          <p:nvPr/>
        </p:nvSpPr>
        <p:spPr>
          <a:xfrm>
            <a:off x="4000496" y="5872162"/>
            <a:ext cx="2428892" cy="985838"/>
          </a:xfrm>
          <a:prstGeom prst="roundRect">
            <a:avLst/>
          </a:prstGeom>
          <a:solidFill>
            <a:schemeClr val="bg1"/>
          </a:solidFill>
          <a:ln>
            <a:solidFill>
              <a:schemeClr val="bg1"/>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s-VE" sz="1600" b="1" dirty="0" smtClean="0">
                <a:solidFill>
                  <a:schemeClr val="tx1"/>
                </a:solidFill>
              </a:rPr>
              <a:t>De los delitos contra la libertad de industria y comercio </a:t>
            </a:r>
            <a:endParaRPr lang="es-VE" sz="1600" dirty="0">
              <a:solidFill>
                <a:schemeClr val="tx1"/>
              </a:solidFill>
            </a:endParaRPr>
          </a:p>
        </p:txBody>
      </p:sp>
      <p:cxnSp>
        <p:nvCxnSpPr>
          <p:cNvPr id="24" name="23 Conector recto de flecha"/>
          <p:cNvCxnSpPr/>
          <p:nvPr/>
        </p:nvCxnSpPr>
        <p:spPr>
          <a:xfrm rot="5400000">
            <a:off x="4965703" y="5464189"/>
            <a:ext cx="35719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5" name="24 CuadroTexto"/>
          <p:cNvSpPr txBox="1"/>
          <p:nvPr/>
        </p:nvSpPr>
        <p:spPr>
          <a:xfrm>
            <a:off x="5643570" y="5429264"/>
            <a:ext cx="1254895" cy="307777"/>
          </a:xfrm>
          <a:prstGeom prst="rect">
            <a:avLst/>
          </a:prstGeom>
          <a:noFill/>
        </p:spPr>
        <p:txBody>
          <a:bodyPr wrap="none" rtlCol="0">
            <a:spAutoFit/>
          </a:bodyPr>
          <a:lstStyle/>
          <a:p>
            <a:r>
              <a:rPr lang="es-VE" sz="1400" b="1" dirty="0" smtClean="0"/>
              <a:t>Capitulo  VII</a:t>
            </a:r>
            <a:endParaRPr lang="es-VE" sz="1400" b="1" dirty="0"/>
          </a:p>
        </p:txBody>
      </p:sp>
      <p:sp>
        <p:nvSpPr>
          <p:cNvPr id="26" name="25 Rectángulo redondeado"/>
          <p:cNvSpPr/>
          <p:nvPr/>
        </p:nvSpPr>
        <p:spPr>
          <a:xfrm>
            <a:off x="6715108" y="2428868"/>
            <a:ext cx="2428892" cy="985838"/>
          </a:xfrm>
          <a:prstGeom prst="roundRect">
            <a:avLst/>
          </a:prstGeom>
          <a:solidFill>
            <a:schemeClr val="bg1"/>
          </a:solidFill>
          <a:ln>
            <a:solidFill>
              <a:schemeClr val="bg1"/>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s-VE" sz="1600" b="1" dirty="0" smtClean="0">
                <a:solidFill>
                  <a:schemeClr val="tx1"/>
                </a:solidFill>
              </a:rPr>
              <a:t>Otros delitos de la delincuencia organizada</a:t>
            </a:r>
            <a:endParaRPr lang="es-VE" sz="1600" dirty="0">
              <a:solidFill>
                <a:schemeClr val="tx1"/>
              </a:solidFill>
            </a:endParaRPr>
          </a:p>
        </p:txBody>
      </p:sp>
      <p:sp>
        <p:nvSpPr>
          <p:cNvPr id="27" name="26 CuadroTexto"/>
          <p:cNvSpPr txBox="1"/>
          <p:nvPr/>
        </p:nvSpPr>
        <p:spPr>
          <a:xfrm>
            <a:off x="7429520" y="2000240"/>
            <a:ext cx="1325427" cy="307777"/>
          </a:xfrm>
          <a:prstGeom prst="rect">
            <a:avLst/>
          </a:prstGeom>
          <a:noFill/>
        </p:spPr>
        <p:txBody>
          <a:bodyPr wrap="none" rtlCol="0">
            <a:spAutoFit/>
          </a:bodyPr>
          <a:lstStyle/>
          <a:p>
            <a:r>
              <a:rPr lang="es-VE" sz="1400" b="1" dirty="0" smtClean="0"/>
              <a:t>Capitulo  VIII</a:t>
            </a:r>
            <a:endParaRPr lang="es-VE" sz="1400" b="1" dirty="0"/>
          </a:p>
        </p:txBody>
      </p:sp>
      <p:cxnSp>
        <p:nvCxnSpPr>
          <p:cNvPr id="28" name="27 Conector recto de flecha"/>
          <p:cNvCxnSpPr/>
          <p:nvPr/>
        </p:nvCxnSpPr>
        <p:spPr>
          <a:xfrm>
            <a:off x="6359538" y="1928802"/>
            <a:ext cx="784230" cy="42862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9" name="28 Rectángulo redondeado"/>
          <p:cNvSpPr/>
          <p:nvPr/>
        </p:nvSpPr>
        <p:spPr>
          <a:xfrm>
            <a:off x="6715108" y="4000504"/>
            <a:ext cx="2428892" cy="985838"/>
          </a:xfrm>
          <a:prstGeom prst="roundRect">
            <a:avLst/>
          </a:prstGeom>
          <a:solidFill>
            <a:schemeClr val="bg1"/>
          </a:solidFill>
          <a:ln>
            <a:solidFill>
              <a:schemeClr val="bg1"/>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s-VE" sz="1600" b="1" dirty="0" smtClean="0">
                <a:solidFill>
                  <a:schemeClr val="tx1"/>
                </a:solidFill>
              </a:rPr>
              <a:t>Del Financiamiento al terrorismo </a:t>
            </a:r>
            <a:endParaRPr lang="es-VE" sz="1600" dirty="0">
              <a:solidFill>
                <a:schemeClr val="tx1"/>
              </a:solidFill>
            </a:endParaRPr>
          </a:p>
        </p:txBody>
      </p:sp>
      <p:sp>
        <p:nvSpPr>
          <p:cNvPr id="30" name="29 CuadroTexto"/>
          <p:cNvSpPr txBox="1"/>
          <p:nvPr/>
        </p:nvSpPr>
        <p:spPr>
          <a:xfrm>
            <a:off x="7572396" y="3571876"/>
            <a:ext cx="1035861" cy="307777"/>
          </a:xfrm>
          <a:prstGeom prst="rect">
            <a:avLst/>
          </a:prstGeom>
          <a:noFill/>
        </p:spPr>
        <p:txBody>
          <a:bodyPr wrap="none" rtlCol="0">
            <a:spAutoFit/>
          </a:bodyPr>
          <a:lstStyle/>
          <a:p>
            <a:r>
              <a:rPr lang="es-VE" sz="1400" b="1" dirty="0" smtClean="0"/>
              <a:t>Capitulo  IX</a:t>
            </a:r>
            <a:endParaRPr lang="es-VE" sz="1400" b="1" dirty="0"/>
          </a:p>
        </p:txBody>
      </p:sp>
      <p:pic>
        <p:nvPicPr>
          <p:cNvPr id="31" name="Picture 1"/>
          <p:cNvPicPr>
            <a:picLocks noChangeAspect="1" noChangeArrowheads="1"/>
          </p:cNvPicPr>
          <p:nvPr/>
        </p:nvPicPr>
        <p:blipFill>
          <a:blip r:embed="rId3" cstate="print"/>
          <a:srcRect/>
          <a:stretch>
            <a:fillRect/>
          </a:stretch>
        </p:blipFill>
        <p:spPr bwMode="auto">
          <a:xfrm>
            <a:off x="7143768" y="5643578"/>
            <a:ext cx="2000232" cy="1214422"/>
          </a:xfrm>
          <a:prstGeom prst="rect">
            <a:avLst/>
          </a:prstGeom>
          <a:noFill/>
          <a:ln w="9525">
            <a:noFill/>
            <a:miter lim="800000"/>
            <a:headEnd/>
            <a:tailEnd/>
          </a:ln>
          <a:effectLst/>
        </p:spPr>
      </p:pic>
      <p:pic>
        <p:nvPicPr>
          <p:cNvPr id="32" name="Picture 2"/>
          <p:cNvPicPr>
            <a:picLocks noChangeAspect="1" noChangeArrowheads="1"/>
          </p:cNvPicPr>
          <p:nvPr/>
        </p:nvPicPr>
        <p:blipFill>
          <a:blip r:embed="rId4" cstate="print"/>
          <a:srcRect/>
          <a:stretch>
            <a:fillRect/>
          </a:stretch>
        </p:blipFill>
        <p:spPr bwMode="auto">
          <a:xfrm>
            <a:off x="0" y="5929330"/>
            <a:ext cx="2143108" cy="928670"/>
          </a:xfrm>
          <a:prstGeom prst="rect">
            <a:avLst/>
          </a:prstGeom>
          <a:noFill/>
          <a:ln w="9525">
            <a:noFill/>
            <a:miter lim="800000"/>
            <a:headEnd/>
            <a:tailEnd/>
          </a:ln>
          <a:effectLst/>
        </p:spPr>
      </p:pic>
      <p:pic>
        <p:nvPicPr>
          <p:cNvPr id="33" name="Picture 5"/>
          <p:cNvPicPr>
            <a:picLocks noChangeAspect="1" noChangeArrowheads="1"/>
          </p:cNvPicPr>
          <p:nvPr/>
        </p:nvPicPr>
        <p:blipFill>
          <a:blip r:embed="rId5" cstate="print"/>
          <a:srcRect/>
          <a:stretch>
            <a:fillRect/>
          </a:stretch>
        </p:blipFill>
        <p:spPr bwMode="auto">
          <a:xfrm>
            <a:off x="2143108" y="5929330"/>
            <a:ext cx="1785950" cy="928670"/>
          </a:xfrm>
          <a:prstGeom prst="rect">
            <a:avLst/>
          </a:prstGeom>
          <a:noFill/>
          <a:ln w="9525">
            <a:noFill/>
            <a:miter lim="800000"/>
            <a:headEnd/>
            <a:tailEnd/>
          </a:ln>
          <a:effectLst/>
        </p:spPr>
      </p:pic>
      <p:sp>
        <p:nvSpPr>
          <p:cNvPr id="34" name="33 CuadroTexto"/>
          <p:cNvSpPr txBox="1"/>
          <p:nvPr/>
        </p:nvSpPr>
        <p:spPr>
          <a:xfrm>
            <a:off x="3103165" y="1214422"/>
            <a:ext cx="1254575" cy="338554"/>
          </a:xfrm>
          <a:prstGeom prst="rect">
            <a:avLst/>
          </a:prstGeom>
          <a:noFill/>
        </p:spPr>
        <p:txBody>
          <a:bodyPr wrap="none" rtlCol="0">
            <a:spAutoFit/>
          </a:bodyPr>
          <a:lstStyle/>
          <a:p>
            <a:pPr algn="ctr"/>
            <a:r>
              <a:rPr lang="es-VE" sz="1600" b="1" dirty="0" smtClean="0"/>
              <a:t>TITULO III</a:t>
            </a:r>
          </a:p>
        </p:txBody>
      </p:sp>
      <p:cxnSp>
        <p:nvCxnSpPr>
          <p:cNvPr id="35" name="34 Conector recto de flecha"/>
          <p:cNvCxnSpPr/>
          <p:nvPr/>
        </p:nvCxnSpPr>
        <p:spPr>
          <a:xfrm rot="5400000">
            <a:off x="4965703" y="2749545"/>
            <a:ext cx="35719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36" name="35 Rectángulo"/>
          <p:cNvSpPr/>
          <p:nvPr/>
        </p:nvSpPr>
        <p:spPr>
          <a:xfrm>
            <a:off x="3214678" y="285728"/>
            <a:ext cx="4500594" cy="400110"/>
          </a:xfrm>
          <a:prstGeom prst="rect">
            <a:avLst/>
          </a:prstGeom>
        </p:spPr>
        <p:txBody>
          <a:bodyPr wrap="square">
            <a:spAutoFit/>
          </a:bodyPr>
          <a:lstStyle/>
          <a:p>
            <a:r>
              <a:rPr lang="es-VE" sz="2000" b="1" dirty="0" smtClean="0"/>
              <a:t>DE LOS DELITOS Y LAS PENAS</a:t>
            </a:r>
            <a:endParaRPr lang="es-VE" sz="2000"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550F80E7-BE42-CF0B-4F68-37EF0052C65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92249"/>
            <a:ext cx="1956113" cy="2041872"/>
          </a:xfrm>
          <a:prstGeom prst="rect">
            <a:avLst/>
          </a:prstGeom>
        </p:spPr>
      </p:pic>
      <p:pic>
        <p:nvPicPr>
          <p:cNvPr id="5" name="Picture 4"/>
          <p:cNvPicPr>
            <a:picLocks noChangeAspect="1" noChangeArrowheads="1"/>
          </p:cNvPicPr>
          <p:nvPr/>
        </p:nvPicPr>
        <p:blipFill>
          <a:blip r:embed="rId3" cstate="print"/>
          <a:srcRect/>
          <a:stretch>
            <a:fillRect/>
          </a:stretch>
        </p:blipFill>
        <p:spPr bwMode="auto">
          <a:xfrm>
            <a:off x="1928794" y="4929198"/>
            <a:ext cx="2786082" cy="1743075"/>
          </a:xfrm>
          <a:prstGeom prst="rect">
            <a:avLst/>
          </a:prstGeom>
          <a:noFill/>
          <a:ln w="9525">
            <a:noFill/>
            <a:miter lim="800000"/>
            <a:headEnd/>
            <a:tailEnd/>
          </a:ln>
          <a:effectLst/>
        </p:spPr>
      </p:pic>
      <p:pic>
        <p:nvPicPr>
          <p:cNvPr id="11" name="Picture 3"/>
          <p:cNvPicPr>
            <a:picLocks noChangeAspect="1" noChangeArrowheads="1"/>
          </p:cNvPicPr>
          <p:nvPr/>
        </p:nvPicPr>
        <p:blipFill>
          <a:blip r:embed="rId4" cstate="print"/>
          <a:srcRect/>
          <a:stretch>
            <a:fillRect/>
          </a:stretch>
        </p:blipFill>
        <p:spPr bwMode="auto">
          <a:xfrm>
            <a:off x="214282" y="2714620"/>
            <a:ext cx="2643206" cy="2143125"/>
          </a:xfrm>
          <a:prstGeom prst="rect">
            <a:avLst/>
          </a:prstGeom>
          <a:noFill/>
          <a:ln w="9525">
            <a:noFill/>
            <a:miter lim="800000"/>
            <a:headEnd/>
            <a:tailEnd/>
          </a:ln>
          <a:effectLst/>
        </p:spPr>
      </p:pic>
      <p:sp>
        <p:nvSpPr>
          <p:cNvPr id="15" name="14 CuadroTexto"/>
          <p:cNvSpPr txBox="1"/>
          <p:nvPr/>
        </p:nvSpPr>
        <p:spPr>
          <a:xfrm>
            <a:off x="2071670" y="500042"/>
            <a:ext cx="2214578" cy="400110"/>
          </a:xfrm>
          <a:prstGeom prst="rect">
            <a:avLst/>
          </a:prstGeom>
          <a:noFill/>
        </p:spPr>
        <p:txBody>
          <a:bodyPr wrap="square" rtlCol="0">
            <a:spAutoFit/>
          </a:bodyPr>
          <a:lstStyle/>
          <a:p>
            <a:r>
              <a:rPr lang="es-VE" sz="2000" b="1" dirty="0" smtClean="0"/>
              <a:t>CAPITULO II </a:t>
            </a:r>
            <a:endParaRPr lang="es-VE" sz="2000" b="1" dirty="0"/>
          </a:p>
        </p:txBody>
      </p:sp>
      <p:sp>
        <p:nvSpPr>
          <p:cNvPr id="17" name="16 CuadroTexto"/>
          <p:cNvSpPr txBox="1"/>
          <p:nvPr/>
        </p:nvSpPr>
        <p:spPr>
          <a:xfrm>
            <a:off x="214282" y="1857364"/>
            <a:ext cx="3929058" cy="584775"/>
          </a:xfrm>
          <a:prstGeom prst="rect">
            <a:avLst/>
          </a:prstGeom>
          <a:noFill/>
        </p:spPr>
        <p:txBody>
          <a:bodyPr wrap="square" rtlCol="0">
            <a:spAutoFit/>
          </a:bodyPr>
          <a:lstStyle/>
          <a:p>
            <a:pPr algn="ctr"/>
            <a:r>
              <a:rPr lang="es-VE" sz="1600" b="1" dirty="0" smtClean="0"/>
              <a:t>TRAFICO Y COMERCIO ILICITO DE RECURSOS O MATERIALES ESTRATEGICOS  Art. 34</a:t>
            </a:r>
            <a:endParaRPr lang="es-VE" sz="1600" b="1" dirty="0"/>
          </a:p>
        </p:txBody>
      </p:sp>
      <p:sp>
        <p:nvSpPr>
          <p:cNvPr id="18" name="17 Rectángulo"/>
          <p:cNvSpPr/>
          <p:nvPr/>
        </p:nvSpPr>
        <p:spPr>
          <a:xfrm>
            <a:off x="4214810" y="1643050"/>
            <a:ext cx="4572000" cy="1477328"/>
          </a:xfrm>
          <a:prstGeom prst="rect">
            <a:avLst/>
          </a:prstGeom>
        </p:spPr>
        <p:txBody>
          <a:bodyPr>
            <a:spAutoFit/>
          </a:bodyPr>
          <a:lstStyle/>
          <a:p>
            <a:pPr algn="just"/>
            <a:r>
              <a:rPr lang="es-VE" b="1" dirty="0" smtClean="0"/>
              <a:t>Incurre en delito quien  trafique o comercialice ilícitamente con metales o piedras preciosas,  recursos o materiales estratégicos, nucleares o radiactivos, sus productos o derivados, </a:t>
            </a:r>
            <a:endParaRPr lang="es-VE" b="1" dirty="0"/>
          </a:p>
        </p:txBody>
      </p:sp>
      <p:sp>
        <p:nvSpPr>
          <p:cNvPr id="19" name="18 Rectángulo"/>
          <p:cNvSpPr/>
          <p:nvPr/>
        </p:nvSpPr>
        <p:spPr>
          <a:xfrm>
            <a:off x="4214810" y="3214686"/>
            <a:ext cx="4572000" cy="646331"/>
          </a:xfrm>
          <a:prstGeom prst="rect">
            <a:avLst/>
          </a:prstGeom>
        </p:spPr>
        <p:txBody>
          <a:bodyPr>
            <a:spAutoFit/>
          </a:bodyPr>
          <a:lstStyle/>
          <a:p>
            <a:pPr algn="just"/>
            <a:r>
              <a:rPr lang="es-VE" b="1" dirty="0" smtClean="0"/>
              <a:t>Será penado o penada con prisión de ocho a doce años. </a:t>
            </a:r>
            <a:endParaRPr lang="es-VE" dirty="0"/>
          </a:p>
        </p:txBody>
      </p:sp>
      <p:sp>
        <p:nvSpPr>
          <p:cNvPr id="20" name="19 Rectángulo"/>
          <p:cNvSpPr/>
          <p:nvPr/>
        </p:nvSpPr>
        <p:spPr>
          <a:xfrm>
            <a:off x="4286248" y="4000504"/>
            <a:ext cx="4572000" cy="923330"/>
          </a:xfrm>
          <a:prstGeom prst="rect">
            <a:avLst/>
          </a:prstGeom>
        </p:spPr>
        <p:txBody>
          <a:bodyPr>
            <a:spAutoFit/>
          </a:bodyPr>
          <a:lstStyle/>
          <a:p>
            <a:pPr algn="just"/>
            <a:r>
              <a:rPr lang="es-VE" b="1" dirty="0" smtClean="0"/>
              <a:t>Se entenderá por  recursos o materiales estratégicos los insumos básicos que se  utilizan en los procesos productivos del país.</a:t>
            </a:r>
            <a:endParaRPr lang="es-VE" b="1" dirty="0"/>
          </a:p>
        </p:txBody>
      </p:sp>
      <p:sp>
        <p:nvSpPr>
          <p:cNvPr id="29" name="28 Rectángulo"/>
          <p:cNvSpPr/>
          <p:nvPr/>
        </p:nvSpPr>
        <p:spPr>
          <a:xfrm>
            <a:off x="4286248" y="214290"/>
            <a:ext cx="4572000" cy="707886"/>
          </a:xfrm>
          <a:prstGeom prst="rect">
            <a:avLst/>
          </a:prstGeom>
        </p:spPr>
        <p:txBody>
          <a:bodyPr>
            <a:spAutoFit/>
          </a:bodyPr>
          <a:lstStyle/>
          <a:p>
            <a:pPr algn="ctr"/>
            <a:r>
              <a:rPr lang="es-VE" sz="2000" b="1" dirty="0" smtClean="0"/>
              <a:t>TRAFICO Y COMERCIO ILICITO DE RECURSOS O MATERIALES ESTRATEGICOS</a:t>
            </a:r>
            <a:endParaRPr lang="es-VE" sz="2000" b="1"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550F80E7-BE42-CF0B-4F68-37EF0052C65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92249"/>
            <a:ext cx="1956113" cy="2041872"/>
          </a:xfrm>
          <a:prstGeom prst="rect">
            <a:avLst/>
          </a:prstGeom>
        </p:spPr>
      </p:pic>
      <p:sp>
        <p:nvSpPr>
          <p:cNvPr id="6" name="5 Rectángulo"/>
          <p:cNvSpPr/>
          <p:nvPr/>
        </p:nvSpPr>
        <p:spPr>
          <a:xfrm>
            <a:off x="2000232" y="3429000"/>
            <a:ext cx="2000264" cy="923330"/>
          </a:xfrm>
          <a:prstGeom prst="rect">
            <a:avLst/>
          </a:prstGeom>
          <a:solidFill>
            <a:schemeClr val="bg1"/>
          </a:solidFill>
          <a:ln>
            <a:solidFill>
              <a:schemeClr val="accent1"/>
            </a:solidFill>
          </a:ln>
        </p:spPr>
        <p:style>
          <a:lnRef idx="1">
            <a:schemeClr val="accent1"/>
          </a:lnRef>
          <a:fillRef idx="2">
            <a:schemeClr val="accent1"/>
          </a:fillRef>
          <a:effectRef idx="1">
            <a:schemeClr val="accent1"/>
          </a:effectRef>
          <a:fontRef idx="minor">
            <a:schemeClr val="dk1"/>
          </a:fontRef>
        </p:style>
        <p:txBody>
          <a:bodyPr wrap="square">
            <a:spAutoFit/>
          </a:bodyPr>
          <a:lstStyle/>
          <a:p>
            <a:pPr algn="ctr"/>
            <a:r>
              <a:rPr lang="es-VE" b="1" dirty="0" smtClean="0"/>
              <a:t>Legitimación de capitales  </a:t>
            </a:r>
          </a:p>
          <a:p>
            <a:pPr algn="ctr"/>
            <a:r>
              <a:rPr lang="es-VE" b="1" dirty="0" smtClean="0"/>
              <a:t>Art. 35</a:t>
            </a:r>
            <a:endParaRPr lang="es-VE" b="1" dirty="0"/>
          </a:p>
        </p:txBody>
      </p:sp>
      <p:sp>
        <p:nvSpPr>
          <p:cNvPr id="7" name="6 Rectángulo"/>
          <p:cNvSpPr/>
          <p:nvPr/>
        </p:nvSpPr>
        <p:spPr>
          <a:xfrm>
            <a:off x="4286248" y="3286124"/>
            <a:ext cx="4572000" cy="2862322"/>
          </a:xfrm>
          <a:prstGeom prst="rect">
            <a:avLst/>
          </a:prstGeom>
          <a:solidFill>
            <a:schemeClr val="bg1"/>
          </a:solidFill>
          <a:ln/>
        </p:spPr>
        <p:style>
          <a:lnRef idx="1">
            <a:schemeClr val="accent1"/>
          </a:lnRef>
          <a:fillRef idx="2">
            <a:schemeClr val="accent1"/>
          </a:fillRef>
          <a:effectRef idx="1">
            <a:schemeClr val="accent1"/>
          </a:effectRef>
          <a:fontRef idx="minor">
            <a:schemeClr val="dk1"/>
          </a:fontRef>
        </p:style>
        <p:txBody>
          <a:bodyPr>
            <a:spAutoFit/>
          </a:bodyPr>
          <a:lstStyle/>
          <a:p>
            <a:pPr algn="just"/>
            <a:r>
              <a:rPr lang="es-VE" b="1" dirty="0" smtClean="0"/>
              <a:t>Quien por sí o por interpuesta persona sea propietario o propietaria,  poseedor o poseedora de capitales, bienes, fondos, haberes o beneficios, a sabiendas de que provienen directa o indirectamente de una actividad ilícita, será penado o penada con prisión de diez a quince años y multa equivalente al valor del incremento patrimonial ilícitamente obtenido.</a:t>
            </a:r>
          </a:p>
        </p:txBody>
      </p:sp>
      <p:sp>
        <p:nvSpPr>
          <p:cNvPr id="9" name="8 Rectángulo"/>
          <p:cNvSpPr/>
          <p:nvPr/>
        </p:nvSpPr>
        <p:spPr>
          <a:xfrm>
            <a:off x="2714612" y="1714488"/>
            <a:ext cx="6429388" cy="1200329"/>
          </a:xfrm>
          <a:prstGeom prst="rect">
            <a:avLst/>
          </a:prstGeom>
        </p:spPr>
        <p:txBody>
          <a:bodyPr wrap="square">
            <a:spAutoFit/>
          </a:bodyPr>
          <a:lstStyle/>
          <a:p>
            <a:pPr algn="just"/>
            <a:r>
              <a:rPr lang="es-VE" b="1" dirty="0" smtClean="0"/>
              <a:t>Acción por la cual una persona u organización delictiva otorga apariencia de licitud y legalidad a fondos o capitales provenientes de actividades comerciales penadas por la ley</a:t>
            </a:r>
            <a:endParaRPr lang="es-VE" b="1" dirty="0"/>
          </a:p>
        </p:txBody>
      </p:sp>
      <p:pic>
        <p:nvPicPr>
          <p:cNvPr id="10" name="Picture 3"/>
          <p:cNvPicPr>
            <a:picLocks noChangeAspect="1" noChangeArrowheads="1"/>
          </p:cNvPicPr>
          <p:nvPr/>
        </p:nvPicPr>
        <p:blipFill>
          <a:blip r:embed="rId3" cstate="print"/>
          <a:srcRect/>
          <a:stretch>
            <a:fillRect/>
          </a:stretch>
        </p:blipFill>
        <p:spPr bwMode="auto">
          <a:xfrm>
            <a:off x="0" y="1785926"/>
            <a:ext cx="2714612" cy="1262062"/>
          </a:xfrm>
          <a:prstGeom prst="rect">
            <a:avLst/>
          </a:prstGeom>
          <a:noFill/>
          <a:ln w="9525">
            <a:noFill/>
            <a:miter lim="800000"/>
            <a:headEnd/>
            <a:tailEnd/>
          </a:ln>
          <a:effectLst/>
        </p:spPr>
      </p:pic>
      <p:pic>
        <p:nvPicPr>
          <p:cNvPr id="11" name="Picture 4"/>
          <p:cNvPicPr>
            <a:picLocks noChangeAspect="1" noChangeArrowheads="1"/>
          </p:cNvPicPr>
          <p:nvPr/>
        </p:nvPicPr>
        <p:blipFill>
          <a:blip r:embed="rId4" cstate="print"/>
          <a:srcRect/>
          <a:stretch>
            <a:fillRect/>
          </a:stretch>
        </p:blipFill>
        <p:spPr bwMode="auto">
          <a:xfrm>
            <a:off x="571472" y="4643446"/>
            <a:ext cx="2928958" cy="1928826"/>
          </a:xfrm>
          <a:prstGeom prst="rect">
            <a:avLst/>
          </a:prstGeom>
          <a:noFill/>
          <a:ln w="9525">
            <a:noFill/>
            <a:miter lim="800000"/>
            <a:headEnd/>
            <a:tailEnd/>
          </a:ln>
          <a:effectLst/>
        </p:spPr>
      </p:pic>
      <p:sp>
        <p:nvSpPr>
          <p:cNvPr id="12" name="11 Rectángulo"/>
          <p:cNvSpPr/>
          <p:nvPr/>
        </p:nvSpPr>
        <p:spPr>
          <a:xfrm>
            <a:off x="4214810" y="214290"/>
            <a:ext cx="4572000" cy="707886"/>
          </a:xfrm>
          <a:prstGeom prst="rect">
            <a:avLst/>
          </a:prstGeom>
        </p:spPr>
        <p:txBody>
          <a:bodyPr>
            <a:spAutoFit/>
          </a:bodyPr>
          <a:lstStyle/>
          <a:p>
            <a:pPr algn="ctr"/>
            <a:r>
              <a:rPr lang="es-VE" sz="2000" b="1" dirty="0" smtClean="0"/>
              <a:t>TRAFICO Y COMERCIO ILICITO DE RECURSOS O MATERIALES ESTRATEGICOS</a:t>
            </a:r>
            <a:endParaRPr lang="es-VE" sz="2000" b="1" dirty="0"/>
          </a:p>
        </p:txBody>
      </p:sp>
      <p:sp>
        <p:nvSpPr>
          <p:cNvPr id="13" name="12 CuadroTexto"/>
          <p:cNvSpPr txBox="1"/>
          <p:nvPr/>
        </p:nvSpPr>
        <p:spPr>
          <a:xfrm>
            <a:off x="2071670" y="500042"/>
            <a:ext cx="2214578" cy="400110"/>
          </a:xfrm>
          <a:prstGeom prst="rect">
            <a:avLst/>
          </a:prstGeom>
          <a:noFill/>
        </p:spPr>
        <p:txBody>
          <a:bodyPr wrap="square" rtlCol="0">
            <a:spAutoFit/>
          </a:bodyPr>
          <a:lstStyle/>
          <a:p>
            <a:r>
              <a:rPr lang="es-VE" sz="2000" b="1" dirty="0" smtClean="0"/>
              <a:t>CAPITULO II </a:t>
            </a:r>
            <a:endParaRPr lang="es-VE" sz="2000" b="1"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550F80E7-BE42-CF0B-4F68-37EF0052C65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92249"/>
            <a:ext cx="1956113" cy="2041872"/>
          </a:xfrm>
          <a:prstGeom prst="rect">
            <a:avLst/>
          </a:prstGeom>
        </p:spPr>
      </p:pic>
      <p:sp>
        <p:nvSpPr>
          <p:cNvPr id="6" name="5 Rectángulo"/>
          <p:cNvSpPr/>
          <p:nvPr/>
        </p:nvSpPr>
        <p:spPr>
          <a:xfrm>
            <a:off x="785786" y="2143116"/>
            <a:ext cx="2000264" cy="923330"/>
          </a:xfrm>
          <a:prstGeom prst="rect">
            <a:avLst/>
          </a:prstGeom>
          <a:solidFill>
            <a:schemeClr val="bg1"/>
          </a:solidFill>
          <a:ln/>
        </p:spPr>
        <p:style>
          <a:lnRef idx="1">
            <a:schemeClr val="accent1"/>
          </a:lnRef>
          <a:fillRef idx="2">
            <a:schemeClr val="accent1"/>
          </a:fillRef>
          <a:effectRef idx="1">
            <a:schemeClr val="accent1"/>
          </a:effectRef>
          <a:fontRef idx="minor">
            <a:schemeClr val="dk1"/>
          </a:fontRef>
        </p:style>
        <p:txBody>
          <a:bodyPr wrap="square">
            <a:spAutoFit/>
          </a:bodyPr>
          <a:lstStyle/>
          <a:p>
            <a:pPr algn="ctr"/>
            <a:r>
              <a:rPr lang="es-VE" b="1" dirty="0" smtClean="0"/>
              <a:t>Incumplimiento de los sujetos obligados Art. 36</a:t>
            </a:r>
            <a:endParaRPr lang="es-VE" b="1" dirty="0"/>
          </a:p>
        </p:txBody>
      </p:sp>
      <p:sp>
        <p:nvSpPr>
          <p:cNvPr id="7" name="6 Rectángulo"/>
          <p:cNvSpPr/>
          <p:nvPr/>
        </p:nvSpPr>
        <p:spPr>
          <a:xfrm>
            <a:off x="3357554" y="1500174"/>
            <a:ext cx="5429288" cy="2308324"/>
          </a:xfrm>
          <a:prstGeom prst="rect">
            <a:avLst/>
          </a:prstGeom>
          <a:solidFill>
            <a:schemeClr val="bg1"/>
          </a:solidFill>
          <a:ln/>
        </p:spPr>
        <p:style>
          <a:lnRef idx="1">
            <a:schemeClr val="accent1"/>
          </a:lnRef>
          <a:fillRef idx="2">
            <a:schemeClr val="accent1"/>
          </a:fillRef>
          <a:effectRef idx="1">
            <a:schemeClr val="accent1"/>
          </a:effectRef>
          <a:fontRef idx="minor">
            <a:schemeClr val="dk1"/>
          </a:fontRef>
        </p:style>
        <p:txBody>
          <a:bodyPr wrap="square">
            <a:spAutoFit/>
          </a:bodyPr>
          <a:lstStyle/>
          <a:p>
            <a:pPr algn="just"/>
            <a:r>
              <a:rPr lang="es-VE" b="1" dirty="0" smtClean="0"/>
              <a:t>Los directivos o directivas, empleados o empleadas de los sujetos obligados, que por imprudencia, impericia, negligencia, favorezcan o contribuyan a la comisión del delito de legitimación de capitales y financiamiento al terrorismo, sin haber tomado parte en él, serán penados o penadas con prisión de tres a seis años.</a:t>
            </a:r>
            <a:endParaRPr lang="es-VE" b="1" dirty="0"/>
          </a:p>
        </p:txBody>
      </p:sp>
      <p:pic>
        <p:nvPicPr>
          <p:cNvPr id="9" name="Picture 2"/>
          <p:cNvPicPr>
            <a:picLocks noChangeAspect="1" noChangeArrowheads="1"/>
          </p:cNvPicPr>
          <p:nvPr/>
        </p:nvPicPr>
        <p:blipFill>
          <a:blip r:embed="rId3" cstate="print"/>
          <a:srcRect/>
          <a:stretch>
            <a:fillRect/>
          </a:stretch>
        </p:blipFill>
        <p:spPr bwMode="auto">
          <a:xfrm>
            <a:off x="142844" y="3429000"/>
            <a:ext cx="3214710" cy="2143140"/>
          </a:xfrm>
          <a:prstGeom prst="rect">
            <a:avLst/>
          </a:prstGeom>
          <a:noFill/>
          <a:ln w="9525">
            <a:noFill/>
            <a:miter lim="800000"/>
            <a:headEnd/>
            <a:tailEnd/>
          </a:ln>
          <a:effectLst/>
        </p:spPr>
      </p:pic>
      <p:pic>
        <p:nvPicPr>
          <p:cNvPr id="10" name="Picture 3"/>
          <p:cNvPicPr>
            <a:picLocks noChangeAspect="1" noChangeArrowheads="1"/>
          </p:cNvPicPr>
          <p:nvPr/>
        </p:nvPicPr>
        <p:blipFill>
          <a:blip r:embed="rId4" cstate="print"/>
          <a:srcRect/>
          <a:stretch>
            <a:fillRect/>
          </a:stretch>
        </p:blipFill>
        <p:spPr bwMode="auto">
          <a:xfrm>
            <a:off x="3500430" y="4286256"/>
            <a:ext cx="3357586" cy="2133603"/>
          </a:xfrm>
          <a:prstGeom prst="rect">
            <a:avLst/>
          </a:prstGeom>
          <a:noFill/>
          <a:ln w="9525">
            <a:noFill/>
            <a:miter lim="800000"/>
            <a:headEnd/>
            <a:tailEnd/>
          </a:ln>
          <a:effectLst/>
        </p:spPr>
      </p:pic>
      <p:sp>
        <p:nvSpPr>
          <p:cNvPr id="12" name="11 Rectángulo"/>
          <p:cNvSpPr/>
          <p:nvPr/>
        </p:nvSpPr>
        <p:spPr>
          <a:xfrm>
            <a:off x="4214810" y="214290"/>
            <a:ext cx="4572000" cy="707886"/>
          </a:xfrm>
          <a:prstGeom prst="rect">
            <a:avLst/>
          </a:prstGeom>
        </p:spPr>
        <p:txBody>
          <a:bodyPr>
            <a:spAutoFit/>
          </a:bodyPr>
          <a:lstStyle/>
          <a:p>
            <a:pPr algn="ctr"/>
            <a:r>
              <a:rPr lang="es-VE" sz="2000" b="1" dirty="0" smtClean="0"/>
              <a:t>TRAFICO Y COMERCIO ILICITO DE RECURSOS O MATERIALES ESTRATEGICOS</a:t>
            </a:r>
            <a:endParaRPr lang="es-VE" sz="2000" b="1" dirty="0"/>
          </a:p>
        </p:txBody>
      </p:sp>
      <p:sp>
        <p:nvSpPr>
          <p:cNvPr id="13" name="12 CuadroTexto"/>
          <p:cNvSpPr txBox="1"/>
          <p:nvPr/>
        </p:nvSpPr>
        <p:spPr>
          <a:xfrm>
            <a:off x="2071670" y="500042"/>
            <a:ext cx="2214578" cy="400110"/>
          </a:xfrm>
          <a:prstGeom prst="rect">
            <a:avLst/>
          </a:prstGeom>
          <a:noFill/>
        </p:spPr>
        <p:txBody>
          <a:bodyPr wrap="square" rtlCol="0">
            <a:spAutoFit/>
          </a:bodyPr>
          <a:lstStyle/>
          <a:p>
            <a:r>
              <a:rPr lang="es-VE" sz="2000" b="1" dirty="0" smtClean="0"/>
              <a:t>CAPITULO II </a:t>
            </a:r>
            <a:endParaRPr lang="es-VE" sz="2000" b="1"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550F80E7-BE42-CF0B-4F68-37EF0052C65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956113" cy="1714488"/>
          </a:xfrm>
          <a:prstGeom prst="rect">
            <a:avLst/>
          </a:prstGeom>
        </p:spPr>
      </p:pic>
      <p:sp>
        <p:nvSpPr>
          <p:cNvPr id="8" name="7 Rectángulo"/>
          <p:cNvSpPr/>
          <p:nvPr/>
        </p:nvSpPr>
        <p:spPr>
          <a:xfrm>
            <a:off x="571472" y="2000240"/>
            <a:ext cx="2857520" cy="1323439"/>
          </a:xfrm>
          <a:prstGeom prst="rect">
            <a:avLst/>
          </a:prstGeom>
          <a:solidFill>
            <a:schemeClr val="bg1"/>
          </a:solidFill>
          <a:ln>
            <a:solidFill>
              <a:schemeClr val="bg1"/>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algn="just"/>
            <a:r>
              <a:rPr lang="es-VE" sz="1600" b="1" dirty="0" smtClean="0"/>
              <a:t>Quien forme parte de un grupo de delincuencia organizada, será penado o  penada por el solo hecho de la asociación con prisión de seis a diez años.</a:t>
            </a:r>
          </a:p>
        </p:txBody>
      </p:sp>
      <p:sp>
        <p:nvSpPr>
          <p:cNvPr id="9" name="8 Rectángulo"/>
          <p:cNvSpPr/>
          <p:nvPr/>
        </p:nvSpPr>
        <p:spPr>
          <a:xfrm>
            <a:off x="3571868" y="2000240"/>
            <a:ext cx="2643206" cy="4524315"/>
          </a:xfrm>
          <a:prstGeom prst="rect">
            <a:avLst/>
          </a:prstGeom>
          <a:solidFill>
            <a:schemeClr val="bg1"/>
          </a:solidFill>
          <a:ln>
            <a:solidFill>
              <a:schemeClr val="bg1"/>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algn="just"/>
            <a:r>
              <a:rPr lang="es-VE" sz="1600" b="1" dirty="0" smtClean="0"/>
              <a:t>Incurre quien importe, exporte, adquiera, venda, entregue, traslade, transfiera, suministre u oculte armas de fuego, sus piezas, componentes, municiones, explosivos y otros materiales relacionados, sin la debida autorización de la Fuerza Armada Nacional Bolivariana, será penado o penada con prisión de doce a dieciocho años. </a:t>
            </a:r>
          </a:p>
          <a:p>
            <a:pPr algn="just"/>
            <a:r>
              <a:rPr lang="es-VE" sz="1600" b="1" dirty="0" smtClean="0"/>
              <a:t>AGRAVANTE. Si se trata de armas de guerra la pena será de quince a veinticinco años de prisión</a:t>
            </a:r>
            <a:r>
              <a:rPr lang="es-VE" sz="1600" dirty="0" smtClean="0"/>
              <a:t>.</a:t>
            </a:r>
            <a:endParaRPr lang="es-VE" sz="1600" b="1" dirty="0" smtClean="0"/>
          </a:p>
        </p:txBody>
      </p:sp>
      <p:sp>
        <p:nvSpPr>
          <p:cNvPr id="10" name="9 Rectángulo"/>
          <p:cNvSpPr/>
          <p:nvPr/>
        </p:nvSpPr>
        <p:spPr>
          <a:xfrm>
            <a:off x="6286512" y="2000240"/>
            <a:ext cx="2571768" cy="4492408"/>
          </a:xfrm>
          <a:prstGeom prst="rect">
            <a:avLst/>
          </a:prstGeom>
          <a:solidFill>
            <a:schemeClr val="bg1"/>
          </a:solidFill>
          <a:ln>
            <a:solidFill>
              <a:schemeClr val="bg1"/>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algn="just"/>
            <a:r>
              <a:rPr lang="es-VE" sz="1600" b="1" dirty="0" smtClean="0"/>
              <a:t>Quien como parte integrante de un grupo de delincuencia organizada fabrique o ensamble armas de fuego, municiones, explosivos y otros materiales relacionados a partir de componentes, partes lícitas o ilícitamente fabricadas, o cuando no sean marcadas al momento de su fabricación, será penado o penada con prisión de doce a dieciocho años. AGRAVENTE. Si se trata de armas de guerra la pena será quince a veinticinco años de prisión.</a:t>
            </a:r>
            <a:endParaRPr lang="es-VE" sz="1600" b="1" dirty="0"/>
          </a:p>
        </p:txBody>
      </p:sp>
      <p:pic>
        <p:nvPicPr>
          <p:cNvPr id="11" name="Picture 1"/>
          <p:cNvPicPr>
            <a:picLocks noChangeAspect="1" noChangeArrowheads="1"/>
          </p:cNvPicPr>
          <p:nvPr/>
        </p:nvPicPr>
        <p:blipFill>
          <a:blip r:embed="rId3" cstate="print"/>
          <a:srcRect/>
          <a:stretch>
            <a:fillRect/>
          </a:stretch>
        </p:blipFill>
        <p:spPr bwMode="auto">
          <a:xfrm>
            <a:off x="0" y="3857628"/>
            <a:ext cx="1928794" cy="1357322"/>
          </a:xfrm>
          <a:prstGeom prst="rect">
            <a:avLst/>
          </a:prstGeom>
          <a:noFill/>
          <a:ln w="9525">
            <a:noFill/>
            <a:miter lim="800000"/>
            <a:headEnd/>
            <a:tailEnd/>
          </a:ln>
          <a:effectLst/>
        </p:spPr>
      </p:pic>
      <p:pic>
        <p:nvPicPr>
          <p:cNvPr id="13" name="Picture 2"/>
          <p:cNvPicPr>
            <a:picLocks noChangeAspect="1" noChangeArrowheads="1"/>
          </p:cNvPicPr>
          <p:nvPr/>
        </p:nvPicPr>
        <p:blipFill>
          <a:blip r:embed="rId4" cstate="print"/>
          <a:srcRect/>
          <a:stretch>
            <a:fillRect/>
          </a:stretch>
        </p:blipFill>
        <p:spPr bwMode="auto">
          <a:xfrm>
            <a:off x="2000232" y="3857628"/>
            <a:ext cx="1571636" cy="1347785"/>
          </a:xfrm>
          <a:prstGeom prst="rect">
            <a:avLst/>
          </a:prstGeom>
          <a:noFill/>
          <a:ln w="9525">
            <a:noFill/>
            <a:miter lim="800000"/>
            <a:headEnd/>
            <a:tailEnd/>
          </a:ln>
          <a:effectLst/>
        </p:spPr>
      </p:pic>
      <p:pic>
        <p:nvPicPr>
          <p:cNvPr id="14" name="Picture 3"/>
          <p:cNvPicPr>
            <a:picLocks noChangeAspect="1" noChangeArrowheads="1"/>
          </p:cNvPicPr>
          <p:nvPr/>
        </p:nvPicPr>
        <p:blipFill>
          <a:blip r:embed="rId5" cstate="print"/>
          <a:srcRect/>
          <a:stretch>
            <a:fillRect/>
          </a:stretch>
        </p:blipFill>
        <p:spPr bwMode="auto">
          <a:xfrm>
            <a:off x="785786" y="5286388"/>
            <a:ext cx="1976433" cy="1571612"/>
          </a:xfrm>
          <a:prstGeom prst="rect">
            <a:avLst/>
          </a:prstGeom>
          <a:noFill/>
          <a:ln w="9525">
            <a:noFill/>
            <a:miter lim="800000"/>
            <a:headEnd/>
            <a:tailEnd/>
          </a:ln>
          <a:effectLst/>
        </p:spPr>
      </p:pic>
      <p:sp>
        <p:nvSpPr>
          <p:cNvPr id="15" name="14 CuadroTexto"/>
          <p:cNvSpPr txBox="1"/>
          <p:nvPr/>
        </p:nvSpPr>
        <p:spPr>
          <a:xfrm>
            <a:off x="3857620" y="428604"/>
            <a:ext cx="5000660" cy="400110"/>
          </a:xfrm>
          <a:prstGeom prst="rect">
            <a:avLst/>
          </a:prstGeom>
          <a:noFill/>
        </p:spPr>
        <p:txBody>
          <a:bodyPr wrap="square" rtlCol="0">
            <a:spAutoFit/>
          </a:bodyPr>
          <a:lstStyle/>
          <a:p>
            <a:r>
              <a:rPr lang="es-VE" sz="2000" b="1" dirty="0" smtClean="0"/>
              <a:t>DE LOS DELITOS CONTRA EL ORDEN PUBLICO</a:t>
            </a:r>
            <a:endParaRPr lang="es-VE" sz="2000" b="1" dirty="0"/>
          </a:p>
        </p:txBody>
      </p:sp>
      <p:sp>
        <p:nvSpPr>
          <p:cNvPr id="16" name="15 CuadroTexto"/>
          <p:cNvSpPr txBox="1"/>
          <p:nvPr/>
        </p:nvSpPr>
        <p:spPr>
          <a:xfrm>
            <a:off x="2143108" y="428604"/>
            <a:ext cx="1517082" cy="400110"/>
          </a:xfrm>
          <a:prstGeom prst="rect">
            <a:avLst/>
          </a:prstGeom>
          <a:noFill/>
        </p:spPr>
        <p:txBody>
          <a:bodyPr wrap="none" rtlCol="0">
            <a:spAutoFit/>
          </a:bodyPr>
          <a:lstStyle/>
          <a:p>
            <a:r>
              <a:rPr lang="es-VE" sz="2000" b="1" dirty="0" smtClean="0"/>
              <a:t>CAPITULO III</a:t>
            </a:r>
            <a:endParaRPr lang="es-VE" sz="2000" b="1" dirty="0"/>
          </a:p>
        </p:txBody>
      </p:sp>
      <p:sp>
        <p:nvSpPr>
          <p:cNvPr id="18" name="17 Rectángulo"/>
          <p:cNvSpPr/>
          <p:nvPr/>
        </p:nvSpPr>
        <p:spPr>
          <a:xfrm>
            <a:off x="1000100" y="1428736"/>
            <a:ext cx="2012089" cy="369332"/>
          </a:xfrm>
          <a:prstGeom prst="rect">
            <a:avLst/>
          </a:prstGeom>
        </p:spPr>
        <p:txBody>
          <a:bodyPr wrap="none">
            <a:spAutoFit/>
          </a:bodyPr>
          <a:lstStyle/>
          <a:p>
            <a:r>
              <a:rPr lang="es-VE" b="1" dirty="0" smtClean="0"/>
              <a:t> Asociación </a:t>
            </a:r>
            <a:r>
              <a:rPr lang="es-VE" b="1" i="1" dirty="0" smtClean="0"/>
              <a:t> </a:t>
            </a:r>
            <a:r>
              <a:rPr lang="es-VE" b="1" dirty="0" smtClean="0"/>
              <a:t>Art. 37</a:t>
            </a:r>
            <a:endParaRPr lang="es-VE" dirty="0"/>
          </a:p>
        </p:txBody>
      </p:sp>
      <p:sp>
        <p:nvSpPr>
          <p:cNvPr id="19" name="18 Rectángulo"/>
          <p:cNvSpPr/>
          <p:nvPr/>
        </p:nvSpPr>
        <p:spPr>
          <a:xfrm>
            <a:off x="3500430" y="1357298"/>
            <a:ext cx="2571768" cy="646331"/>
          </a:xfrm>
          <a:prstGeom prst="rect">
            <a:avLst/>
          </a:prstGeom>
        </p:spPr>
        <p:txBody>
          <a:bodyPr wrap="square">
            <a:spAutoFit/>
          </a:bodyPr>
          <a:lstStyle/>
          <a:p>
            <a:pPr algn="ctr"/>
            <a:r>
              <a:rPr lang="es-VE" b="1" dirty="0" smtClean="0"/>
              <a:t>Tráfico ilícito de armas  </a:t>
            </a:r>
          </a:p>
          <a:p>
            <a:pPr algn="ctr"/>
            <a:r>
              <a:rPr lang="es-VE" b="1" dirty="0" smtClean="0"/>
              <a:t>Art. 38</a:t>
            </a:r>
          </a:p>
        </p:txBody>
      </p:sp>
      <p:sp>
        <p:nvSpPr>
          <p:cNvPr id="20" name="19 Rectángulo"/>
          <p:cNvSpPr/>
          <p:nvPr/>
        </p:nvSpPr>
        <p:spPr>
          <a:xfrm>
            <a:off x="6286512" y="1214422"/>
            <a:ext cx="2500330" cy="646331"/>
          </a:xfrm>
          <a:prstGeom prst="rect">
            <a:avLst/>
          </a:prstGeom>
        </p:spPr>
        <p:txBody>
          <a:bodyPr wrap="square">
            <a:spAutoFit/>
          </a:bodyPr>
          <a:lstStyle/>
          <a:p>
            <a:pPr algn="ctr"/>
            <a:r>
              <a:rPr lang="es-VE" b="1" dirty="0" smtClean="0"/>
              <a:t>Fabricación ilícita de armas Art. 39</a:t>
            </a:r>
            <a:endParaRPr lang="es-VE"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550F80E7-BE42-CF0B-4F68-37EF0052C65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92249"/>
            <a:ext cx="1956113" cy="2041872"/>
          </a:xfrm>
          <a:prstGeom prst="rect">
            <a:avLst/>
          </a:prstGeom>
        </p:spPr>
      </p:pic>
      <p:sp>
        <p:nvSpPr>
          <p:cNvPr id="6" name="5 Rectángulo"/>
          <p:cNvSpPr/>
          <p:nvPr/>
        </p:nvSpPr>
        <p:spPr>
          <a:xfrm>
            <a:off x="214282" y="4214818"/>
            <a:ext cx="2428892" cy="707886"/>
          </a:xfrm>
          <a:prstGeom prst="rect">
            <a:avLst/>
          </a:prstGeom>
          <a:solidFill>
            <a:schemeClr val="bg1"/>
          </a:solidFill>
          <a:ln>
            <a:solidFill>
              <a:schemeClr val="bg1"/>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algn="ctr"/>
            <a:r>
              <a:rPr lang="es-VE" sz="2000" b="1" i="1" dirty="0" smtClean="0"/>
              <a:t>Trata de personas</a:t>
            </a:r>
          </a:p>
          <a:p>
            <a:pPr algn="ctr"/>
            <a:r>
              <a:rPr lang="es-VE" sz="2000" b="1" dirty="0" smtClean="0"/>
              <a:t>Art. 41</a:t>
            </a:r>
            <a:endParaRPr lang="es-VE" sz="2000" b="1" dirty="0"/>
          </a:p>
        </p:txBody>
      </p:sp>
      <p:sp>
        <p:nvSpPr>
          <p:cNvPr id="7" name="6 Rectángulo"/>
          <p:cNvSpPr/>
          <p:nvPr/>
        </p:nvSpPr>
        <p:spPr>
          <a:xfrm>
            <a:off x="142844" y="1643050"/>
            <a:ext cx="2643206" cy="707886"/>
          </a:xfrm>
          <a:prstGeom prst="rect">
            <a:avLst/>
          </a:prstGeom>
          <a:solidFill>
            <a:schemeClr val="bg1"/>
          </a:solidFill>
          <a:ln>
            <a:solidFill>
              <a:schemeClr val="bg1"/>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algn="ctr"/>
            <a:r>
              <a:rPr lang="es-VE" sz="2000" b="1" i="1" dirty="0" smtClean="0"/>
              <a:t>Manipulación genética ilícita </a:t>
            </a:r>
            <a:r>
              <a:rPr lang="es-VE" sz="2000" b="1" dirty="0" smtClean="0"/>
              <a:t>Art. 40</a:t>
            </a:r>
            <a:endParaRPr lang="es-VE" sz="2000" b="1" dirty="0"/>
          </a:p>
        </p:txBody>
      </p:sp>
      <p:sp>
        <p:nvSpPr>
          <p:cNvPr id="8" name="7 Rectángulo"/>
          <p:cNvSpPr/>
          <p:nvPr/>
        </p:nvSpPr>
        <p:spPr>
          <a:xfrm>
            <a:off x="4357686" y="1285861"/>
            <a:ext cx="4572032" cy="584775"/>
          </a:xfrm>
          <a:prstGeom prst="rect">
            <a:avLst/>
          </a:prstGeom>
          <a:solidFill>
            <a:schemeClr val="bg1"/>
          </a:solidFill>
          <a:ln>
            <a:solidFill>
              <a:schemeClr val="bg1"/>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algn="just"/>
            <a:r>
              <a:rPr lang="es-VE" sz="1600" b="1" dirty="0" smtClean="0"/>
              <a:t>Quien manipule genes humanos será penado con prisión de  6 a 10. </a:t>
            </a:r>
          </a:p>
        </p:txBody>
      </p:sp>
      <p:sp>
        <p:nvSpPr>
          <p:cNvPr id="10" name="9 Rectángulo"/>
          <p:cNvSpPr/>
          <p:nvPr/>
        </p:nvSpPr>
        <p:spPr>
          <a:xfrm>
            <a:off x="4357686" y="4180344"/>
            <a:ext cx="4786314" cy="2554545"/>
          </a:xfrm>
          <a:prstGeom prst="rect">
            <a:avLst/>
          </a:prstGeom>
          <a:solidFill>
            <a:schemeClr val="bg1"/>
          </a:solidFill>
          <a:ln>
            <a:solidFill>
              <a:schemeClr val="bg1"/>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algn="just"/>
            <a:r>
              <a:rPr lang="es-VE" sz="1600" b="1" dirty="0" smtClean="0"/>
              <a:t>Incurre quien por  consentimiento de la victima, por si o por terceros, para el menoscabo de su integridad física, psicológica, moral y espiritual, entiéndase las diferentes formas como: mendicidad, trabajos o servicios forzados, servidumbre por deuda, adopción irregular, esclavitud o practicas análogas, la extracción de órganos, cualquier clase de explotación  sexual, pornografía, turismo sexual la pena será de 20 a 25 años. Agravante: si la victima es un niño o niña y adolecente.</a:t>
            </a:r>
          </a:p>
        </p:txBody>
      </p:sp>
      <p:sp>
        <p:nvSpPr>
          <p:cNvPr id="11" name="10 Rectángulo"/>
          <p:cNvSpPr/>
          <p:nvPr/>
        </p:nvSpPr>
        <p:spPr>
          <a:xfrm>
            <a:off x="4357686" y="1928803"/>
            <a:ext cx="4572032" cy="1292662"/>
          </a:xfrm>
          <a:prstGeom prst="rect">
            <a:avLst/>
          </a:prstGeom>
          <a:solidFill>
            <a:schemeClr val="bg1"/>
          </a:solidFill>
          <a:ln>
            <a:solidFill>
              <a:schemeClr val="bg1"/>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algn="just"/>
            <a:r>
              <a:rPr lang="es-VE" sz="1600" b="1" dirty="0" smtClean="0"/>
              <a:t>Quien fecunde los óvulos para realizar otro procedimiento distinto a la procreación , con el fin de alterar la genética  será sancionada  con una pena de 8 a 12 años. </a:t>
            </a:r>
          </a:p>
          <a:p>
            <a:pPr algn="just"/>
            <a:endParaRPr lang="es-VE" sz="1400" b="1" dirty="0" smtClean="0"/>
          </a:p>
        </p:txBody>
      </p:sp>
      <p:sp>
        <p:nvSpPr>
          <p:cNvPr id="12" name="11 Rectángulo"/>
          <p:cNvSpPr/>
          <p:nvPr/>
        </p:nvSpPr>
        <p:spPr>
          <a:xfrm>
            <a:off x="4357686" y="3214686"/>
            <a:ext cx="4572000" cy="830997"/>
          </a:xfrm>
          <a:prstGeom prst="rect">
            <a:avLst/>
          </a:prstGeom>
          <a:solidFill>
            <a:schemeClr val="bg1"/>
          </a:solidFill>
          <a:ln>
            <a:solidFill>
              <a:schemeClr val="bg1"/>
            </a:solidFill>
          </a:ln>
        </p:spPr>
        <p:style>
          <a:lnRef idx="1">
            <a:schemeClr val="accent2"/>
          </a:lnRef>
          <a:fillRef idx="2">
            <a:schemeClr val="accent2"/>
          </a:fillRef>
          <a:effectRef idx="1">
            <a:schemeClr val="accent2"/>
          </a:effectRef>
          <a:fontRef idx="minor">
            <a:schemeClr val="dk1"/>
          </a:fontRef>
        </p:style>
        <p:txBody>
          <a:bodyPr>
            <a:spAutoFit/>
          </a:bodyPr>
          <a:lstStyle/>
          <a:p>
            <a:pPr algn="just"/>
            <a:r>
              <a:rPr lang="es-VE" sz="1600" b="1" dirty="0" smtClean="0"/>
              <a:t>Si utiliza  la ingeniera genética para producir armas biológicas o exterminadoras de la especie humana  será penado con prisión de 15 a 30 años.</a:t>
            </a:r>
          </a:p>
        </p:txBody>
      </p:sp>
      <p:pic>
        <p:nvPicPr>
          <p:cNvPr id="13" name="Picture 2" descr="Rechazo a la modificación genética de embriones humanos - Gaceta UNAM"/>
          <p:cNvPicPr>
            <a:picLocks noChangeAspect="1" noChangeArrowheads="1"/>
          </p:cNvPicPr>
          <p:nvPr/>
        </p:nvPicPr>
        <p:blipFill>
          <a:blip r:embed="rId3" cstate="print"/>
          <a:srcRect/>
          <a:stretch>
            <a:fillRect/>
          </a:stretch>
        </p:blipFill>
        <p:spPr bwMode="auto">
          <a:xfrm>
            <a:off x="142844" y="2285992"/>
            <a:ext cx="3786214" cy="1814514"/>
          </a:xfrm>
          <a:prstGeom prst="rect">
            <a:avLst/>
          </a:prstGeom>
          <a:noFill/>
        </p:spPr>
      </p:pic>
      <p:pic>
        <p:nvPicPr>
          <p:cNvPr id="14" name="Picture 3"/>
          <p:cNvPicPr>
            <a:picLocks noChangeAspect="1" noChangeArrowheads="1"/>
          </p:cNvPicPr>
          <p:nvPr/>
        </p:nvPicPr>
        <p:blipFill>
          <a:blip r:embed="rId4" cstate="print"/>
          <a:srcRect/>
          <a:stretch>
            <a:fillRect/>
          </a:stretch>
        </p:blipFill>
        <p:spPr bwMode="auto">
          <a:xfrm>
            <a:off x="214282" y="4857760"/>
            <a:ext cx="3857652" cy="1743075"/>
          </a:xfrm>
          <a:prstGeom prst="rect">
            <a:avLst/>
          </a:prstGeom>
          <a:noFill/>
          <a:ln w="9525">
            <a:noFill/>
            <a:miter lim="800000"/>
            <a:headEnd/>
            <a:tailEnd/>
          </a:ln>
          <a:effectLst/>
        </p:spPr>
      </p:pic>
      <p:sp>
        <p:nvSpPr>
          <p:cNvPr id="15" name="14 CuadroTexto"/>
          <p:cNvSpPr txBox="1"/>
          <p:nvPr/>
        </p:nvSpPr>
        <p:spPr>
          <a:xfrm>
            <a:off x="4214810" y="285728"/>
            <a:ext cx="4471417" cy="400110"/>
          </a:xfrm>
          <a:prstGeom prst="rect">
            <a:avLst/>
          </a:prstGeom>
          <a:noFill/>
        </p:spPr>
        <p:txBody>
          <a:bodyPr wrap="none" rtlCol="0">
            <a:spAutoFit/>
          </a:bodyPr>
          <a:lstStyle/>
          <a:p>
            <a:r>
              <a:rPr lang="es-VE" sz="2000" b="1" dirty="0" smtClean="0"/>
              <a:t>DE LOS DELITOS CONTRA LAS PERSONAS</a:t>
            </a:r>
            <a:endParaRPr lang="es-VE" sz="2000" b="1" dirty="0"/>
          </a:p>
        </p:txBody>
      </p:sp>
      <p:sp>
        <p:nvSpPr>
          <p:cNvPr id="16" name="15 CuadroTexto"/>
          <p:cNvSpPr txBox="1"/>
          <p:nvPr/>
        </p:nvSpPr>
        <p:spPr>
          <a:xfrm>
            <a:off x="2143108" y="285728"/>
            <a:ext cx="1531510" cy="400110"/>
          </a:xfrm>
          <a:prstGeom prst="rect">
            <a:avLst/>
          </a:prstGeom>
          <a:noFill/>
        </p:spPr>
        <p:txBody>
          <a:bodyPr wrap="none" rtlCol="0">
            <a:spAutoFit/>
          </a:bodyPr>
          <a:lstStyle/>
          <a:p>
            <a:r>
              <a:rPr lang="es-VE" sz="2000" b="1" dirty="0" smtClean="0"/>
              <a:t>CAPITULO IV</a:t>
            </a:r>
            <a:endParaRPr lang="es-VE" sz="2000" b="1"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550F80E7-BE42-CF0B-4F68-37EF0052C65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92249"/>
            <a:ext cx="1956113" cy="2041872"/>
          </a:xfrm>
          <a:prstGeom prst="rect">
            <a:avLst/>
          </a:prstGeom>
        </p:spPr>
      </p:pic>
      <p:sp>
        <p:nvSpPr>
          <p:cNvPr id="6" name="5 Rectángulo"/>
          <p:cNvSpPr/>
          <p:nvPr/>
        </p:nvSpPr>
        <p:spPr>
          <a:xfrm>
            <a:off x="428596" y="1643050"/>
            <a:ext cx="3143272" cy="923330"/>
          </a:xfrm>
          <a:prstGeom prst="rect">
            <a:avLst/>
          </a:prstGeom>
          <a:solidFill>
            <a:schemeClr val="bg1"/>
          </a:solidFill>
          <a:ln>
            <a:solidFill>
              <a:schemeClr val="bg1"/>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algn="ctr"/>
            <a:r>
              <a:rPr lang="es-VE" i="1" dirty="0" smtClean="0"/>
              <a:t>Inmigración ilícita y tráfico ilegal de personas</a:t>
            </a:r>
          </a:p>
          <a:p>
            <a:pPr algn="ctr"/>
            <a:r>
              <a:rPr lang="es-VE" b="1" dirty="0" smtClean="0"/>
              <a:t>Art. 42</a:t>
            </a:r>
            <a:endParaRPr lang="es-VE" b="1" dirty="0"/>
          </a:p>
        </p:txBody>
      </p:sp>
      <p:sp>
        <p:nvSpPr>
          <p:cNvPr id="7" name="6 Rectángulo"/>
          <p:cNvSpPr/>
          <p:nvPr/>
        </p:nvSpPr>
        <p:spPr>
          <a:xfrm>
            <a:off x="3857620" y="785794"/>
            <a:ext cx="5072098" cy="2308324"/>
          </a:xfrm>
          <a:prstGeom prst="rect">
            <a:avLst/>
          </a:prstGeom>
          <a:solidFill>
            <a:schemeClr val="bg1"/>
          </a:solidFill>
          <a:ln>
            <a:solidFill>
              <a:schemeClr val="bg1"/>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algn="just"/>
            <a:r>
              <a:rPr lang="es-VE" b="1" dirty="0" smtClean="0"/>
              <a:t>Cualquier miembro de un grupo de delincuencia organizada, participe en la entrada o salida de extranjeros o tráfico ilegal de personas del territorio de la República, sin el cumplimiento de los requisitos legales, para obtener provecho económico o cualquier otro beneficio para sí o para un tercero, será penado o penada con prisión de ocho a doce años. </a:t>
            </a:r>
          </a:p>
        </p:txBody>
      </p:sp>
      <p:pic>
        <p:nvPicPr>
          <p:cNvPr id="9" name="Picture 1"/>
          <p:cNvPicPr>
            <a:picLocks noChangeAspect="1" noChangeArrowheads="1"/>
          </p:cNvPicPr>
          <p:nvPr/>
        </p:nvPicPr>
        <p:blipFill>
          <a:blip r:embed="rId3" cstate="print"/>
          <a:srcRect/>
          <a:stretch>
            <a:fillRect/>
          </a:stretch>
        </p:blipFill>
        <p:spPr bwMode="auto">
          <a:xfrm>
            <a:off x="142844" y="3214686"/>
            <a:ext cx="3643338" cy="2143140"/>
          </a:xfrm>
          <a:prstGeom prst="rect">
            <a:avLst/>
          </a:prstGeom>
          <a:noFill/>
          <a:ln w="9525">
            <a:noFill/>
            <a:miter lim="800000"/>
            <a:headEnd/>
            <a:tailEnd/>
          </a:ln>
          <a:effectLst/>
        </p:spPr>
      </p:pic>
      <p:pic>
        <p:nvPicPr>
          <p:cNvPr id="10" name="Picture 3" descr="Qué hacen Chile y Colombia para ser los únicos países de América Latina que  cumplen los requisitos de EE.UU. en la lucha contra el tráfico de personas  - BBC News Mundo"/>
          <p:cNvPicPr>
            <a:picLocks noChangeAspect="1" noChangeArrowheads="1"/>
          </p:cNvPicPr>
          <p:nvPr/>
        </p:nvPicPr>
        <p:blipFill>
          <a:blip r:embed="rId4" cstate="print"/>
          <a:srcRect/>
          <a:stretch>
            <a:fillRect/>
          </a:stretch>
        </p:blipFill>
        <p:spPr bwMode="auto">
          <a:xfrm>
            <a:off x="4000496" y="4686296"/>
            <a:ext cx="4500594" cy="2171704"/>
          </a:xfrm>
          <a:prstGeom prst="rect">
            <a:avLst/>
          </a:prstGeom>
          <a:noFill/>
        </p:spPr>
      </p:pic>
      <p:sp>
        <p:nvSpPr>
          <p:cNvPr id="11" name="10 Rectángulo"/>
          <p:cNvSpPr/>
          <p:nvPr/>
        </p:nvSpPr>
        <p:spPr>
          <a:xfrm>
            <a:off x="3857620" y="3071810"/>
            <a:ext cx="5072098" cy="1477328"/>
          </a:xfrm>
          <a:prstGeom prst="rect">
            <a:avLst/>
          </a:prstGeom>
          <a:solidFill>
            <a:schemeClr val="bg1"/>
          </a:solidFill>
          <a:ln>
            <a:solidFill>
              <a:schemeClr val="bg1"/>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algn="just"/>
            <a:r>
              <a:rPr lang="es-VE" b="1" dirty="0" smtClean="0"/>
              <a:t>El hecho que la victima haya dado su consentimiento no excluye la responsabilidad  penal. Tampoco exime de responsabilidad el consentimiento  dado por persona de  circulo cercano o funcionario publico.</a:t>
            </a:r>
            <a:endParaRPr lang="es-VE" b="1" dirty="0"/>
          </a:p>
        </p:txBody>
      </p:sp>
      <p:sp>
        <p:nvSpPr>
          <p:cNvPr id="12" name="11 CuadroTexto"/>
          <p:cNvSpPr txBox="1"/>
          <p:nvPr/>
        </p:nvSpPr>
        <p:spPr>
          <a:xfrm>
            <a:off x="4214810" y="285728"/>
            <a:ext cx="4572032" cy="400110"/>
          </a:xfrm>
          <a:prstGeom prst="rect">
            <a:avLst/>
          </a:prstGeom>
          <a:noFill/>
        </p:spPr>
        <p:txBody>
          <a:bodyPr wrap="square" rtlCol="0">
            <a:spAutoFit/>
          </a:bodyPr>
          <a:lstStyle/>
          <a:p>
            <a:r>
              <a:rPr lang="es-VE" sz="2000" b="1" dirty="0" smtClean="0"/>
              <a:t>DE LOS DELITOS CONTRA LAS PERSONAS</a:t>
            </a:r>
            <a:endParaRPr lang="es-VE" sz="2000" b="1" dirty="0"/>
          </a:p>
        </p:txBody>
      </p:sp>
      <p:sp>
        <p:nvSpPr>
          <p:cNvPr id="13" name="12 CuadroTexto"/>
          <p:cNvSpPr txBox="1"/>
          <p:nvPr/>
        </p:nvSpPr>
        <p:spPr>
          <a:xfrm>
            <a:off x="2357422" y="285728"/>
            <a:ext cx="1394100" cy="369332"/>
          </a:xfrm>
          <a:prstGeom prst="rect">
            <a:avLst/>
          </a:prstGeom>
          <a:noFill/>
        </p:spPr>
        <p:txBody>
          <a:bodyPr wrap="none" rtlCol="0">
            <a:spAutoFit/>
          </a:bodyPr>
          <a:lstStyle/>
          <a:p>
            <a:r>
              <a:rPr lang="es-VE" b="1" dirty="0" smtClean="0"/>
              <a:t>CAPITULO IV</a:t>
            </a:r>
            <a:endParaRPr lang="es-VE" b="1"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550F80E7-BE42-CF0B-4F68-37EF0052C65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92249"/>
            <a:ext cx="1956113" cy="2041872"/>
          </a:xfrm>
          <a:prstGeom prst="rect">
            <a:avLst/>
          </a:prstGeom>
        </p:spPr>
      </p:pic>
      <p:pic>
        <p:nvPicPr>
          <p:cNvPr id="14" name="Picture 1"/>
          <p:cNvPicPr>
            <a:picLocks noChangeAspect="1" noChangeArrowheads="1"/>
          </p:cNvPicPr>
          <p:nvPr/>
        </p:nvPicPr>
        <p:blipFill>
          <a:blip r:embed="rId3" cstate="print"/>
          <a:srcRect/>
          <a:stretch>
            <a:fillRect/>
          </a:stretch>
        </p:blipFill>
        <p:spPr bwMode="auto">
          <a:xfrm>
            <a:off x="0" y="1714488"/>
            <a:ext cx="2285984" cy="2109790"/>
          </a:xfrm>
          <a:prstGeom prst="rect">
            <a:avLst/>
          </a:prstGeom>
          <a:noFill/>
          <a:ln w="9525">
            <a:noFill/>
            <a:miter lim="800000"/>
            <a:headEnd/>
            <a:tailEnd/>
          </a:ln>
          <a:effectLst/>
        </p:spPr>
      </p:pic>
      <p:pic>
        <p:nvPicPr>
          <p:cNvPr id="15" name="Picture 2"/>
          <p:cNvPicPr>
            <a:picLocks noChangeAspect="1" noChangeArrowheads="1"/>
          </p:cNvPicPr>
          <p:nvPr/>
        </p:nvPicPr>
        <p:blipFill>
          <a:blip r:embed="rId4" cstate="print"/>
          <a:srcRect/>
          <a:stretch>
            <a:fillRect/>
          </a:stretch>
        </p:blipFill>
        <p:spPr bwMode="auto">
          <a:xfrm>
            <a:off x="0" y="4286256"/>
            <a:ext cx="2214546" cy="2214578"/>
          </a:xfrm>
          <a:prstGeom prst="rect">
            <a:avLst/>
          </a:prstGeom>
          <a:noFill/>
          <a:ln w="9525">
            <a:noFill/>
            <a:miter lim="800000"/>
            <a:headEnd/>
            <a:tailEnd/>
          </a:ln>
          <a:effectLst/>
        </p:spPr>
      </p:pic>
      <p:sp>
        <p:nvSpPr>
          <p:cNvPr id="16" name="15 CuadroTexto"/>
          <p:cNvSpPr txBox="1"/>
          <p:nvPr/>
        </p:nvSpPr>
        <p:spPr>
          <a:xfrm>
            <a:off x="4429124" y="357166"/>
            <a:ext cx="4471417" cy="400110"/>
          </a:xfrm>
          <a:prstGeom prst="rect">
            <a:avLst/>
          </a:prstGeom>
          <a:noFill/>
        </p:spPr>
        <p:txBody>
          <a:bodyPr wrap="none" rtlCol="0">
            <a:spAutoFit/>
          </a:bodyPr>
          <a:lstStyle/>
          <a:p>
            <a:r>
              <a:rPr lang="es-VE" sz="2000" b="1" dirty="0" smtClean="0"/>
              <a:t>DE LOS DELITOS CONTRA LAS PERSONAS</a:t>
            </a:r>
            <a:endParaRPr lang="es-VE" sz="2000" b="1" dirty="0"/>
          </a:p>
        </p:txBody>
      </p:sp>
      <p:sp>
        <p:nvSpPr>
          <p:cNvPr id="17" name="16 CuadroTexto"/>
          <p:cNvSpPr txBox="1"/>
          <p:nvPr/>
        </p:nvSpPr>
        <p:spPr>
          <a:xfrm>
            <a:off x="2500298" y="357166"/>
            <a:ext cx="1394100" cy="369332"/>
          </a:xfrm>
          <a:prstGeom prst="rect">
            <a:avLst/>
          </a:prstGeom>
          <a:noFill/>
        </p:spPr>
        <p:txBody>
          <a:bodyPr wrap="none" rtlCol="0">
            <a:spAutoFit/>
          </a:bodyPr>
          <a:lstStyle/>
          <a:p>
            <a:r>
              <a:rPr lang="es-VE" b="1" dirty="0" smtClean="0"/>
              <a:t>CAPITULO IV</a:t>
            </a:r>
            <a:endParaRPr lang="es-VE" b="1" dirty="0"/>
          </a:p>
        </p:txBody>
      </p:sp>
      <p:sp>
        <p:nvSpPr>
          <p:cNvPr id="18" name="17 Rectángulo"/>
          <p:cNvSpPr/>
          <p:nvPr/>
        </p:nvSpPr>
        <p:spPr>
          <a:xfrm>
            <a:off x="2714612" y="1142984"/>
            <a:ext cx="4572032" cy="400110"/>
          </a:xfrm>
          <a:prstGeom prst="rect">
            <a:avLst/>
          </a:prstGeom>
        </p:spPr>
        <p:txBody>
          <a:bodyPr wrap="square">
            <a:spAutoFit/>
          </a:bodyPr>
          <a:lstStyle/>
          <a:p>
            <a:pPr lvl="0" algn="ctr"/>
            <a:r>
              <a:rPr lang="es-VE" sz="2000" b="1" i="1" dirty="0" smtClean="0">
                <a:solidFill>
                  <a:sysClr val="windowText" lastClr="000000"/>
                </a:solidFill>
                <a:latin typeface="Constantia"/>
              </a:rPr>
              <a:t>Tráfico ilegal de órganos Art. 43</a:t>
            </a:r>
            <a:endParaRPr lang="es-VE" sz="2000" b="1" dirty="0">
              <a:solidFill>
                <a:sysClr val="windowText" lastClr="000000"/>
              </a:solidFill>
              <a:latin typeface="Constantia"/>
            </a:endParaRPr>
          </a:p>
        </p:txBody>
      </p:sp>
      <p:sp>
        <p:nvSpPr>
          <p:cNvPr id="19" name="18 Rectángulo"/>
          <p:cNvSpPr/>
          <p:nvPr/>
        </p:nvSpPr>
        <p:spPr>
          <a:xfrm>
            <a:off x="2357422" y="1571612"/>
            <a:ext cx="6500858" cy="2554545"/>
          </a:xfrm>
          <a:prstGeom prst="rect">
            <a:avLst/>
          </a:prstGeom>
        </p:spPr>
        <p:txBody>
          <a:bodyPr wrap="square">
            <a:spAutoFit/>
          </a:bodyPr>
          <a:lstStyle/>
          <a:p>
            <a:pPr lvl="0" algn="just"/>
            <a:r>
              <a:rPr lang="es-VE" sz="2000" b="1" dirty="0" smtClean="0">
                <a:solidFill>
                  <a:sysClr val="windowText" lastClr="000000"/>
                </a:solidFill>
                <a:latin typeface="Constantia"/>
              </a:rPr>
              <a:t>Quien como parte integrante de un grupo de delincuencia organizada  </a:t>
            </a:r>
            <a:r>
              <a:rPr lang="pt-BR" sz="2000" b="1" dirty="0" smtClean="0">
                <a:solidFill>
                  <a:sysClr val="windowText" lastClr="000000"/>
                </a:solidFill>
                <a:latin typeface="Constantia"/>
              </a:rPr>
              <a:t>trafique, transplante o disponga ilegalmente de órganos, sangre, concentrado globular, </a:t>
            </a:r>
            <a:r>
              <a:rPr lang="es-VE" sz="2000" b="1" dirty="0" smtClean="0">
                <a:solidFill>
                  <a:sysClr val="windowText" lastClr="000000"/>
                </a:solidFill>
                <a:latin typeface="Constantia"/>
              </a:rPr>
              <a:t>concentrado plaquetarios, plasma u otros tejidos derivados o materiales anatómicos provenientes de un ser humano, será penado o penada con prisión de veinticinco a treinta años</a:t>
            </a:r>
            <a:r>
              <a:rPr lang="es-VE" b="1" dirty="0" smtClean="0">
                <a:solidFill>
                  <a:sysClr val="windowText" lastClr="000000"/>
                </a:solidFill>
                <a:latin typeface="Constantia"/>
              </a:rPr>
              <a:t>.</a:t>
            </a:r>
            <a:endParaRPr lang="es-VE" dirty="0">
              <a:solidFill>
                <a:sysClr val="windowText" lastClr="000000"/>
              </a:solidFill>
              <a:latin typeface="Constantia"/>
            </a:endParaRPr>
          </a:p>
        </p:txBody>
      </p:sp>
      <p:sp>
        <p:nvSpPr>
          <p:cNvPr id="20" name="19 Rectángulo"/>
          <p:cNvSpPr/>
          <p:nvPr/>
        </p:nvSpPr>
        <p:spPr>
          <a:xfrm>
            <a:off x="3042700" y="4357694"/>
            <a:ext cx="2125134" cy="400110"/>
          </a:xfrm>
          <a:prstGeom prst="rect">
            <a:avLst/>
          </a:prstGeom>
        </p:spPr>
        <p:txBody>
          <a:bodyPr wrap="none">
            <a:spAutoFit/>
          </a:bodyPr>
          <a:lstStyle/>
          <a:p>
            <a:pPr lvl="0" algn="ctr"/>
            <a:r>
              <a:rPr lang="es-VE" sz="2000" b="1" i="1" dirty="0" smtClean="0">
                <a:solidFill>
                  <a:sysClr val="windowText" lastClr="000000"/>
                </a:solidFill>
                <a:latin typeface="Constantia"/>
              </a:rPr>
              <a:t>Sicariato Art. 44</a:t>
            </a:r>
            <a:endParaRPr lang="es-VE" sz="2000" b="1" dirty="0">
              <a:solidFill>
                <a:sysClr val="windowText" lastClr="000000"/>
              </a:solidFill>
              <a:latin typeface="Constantia"/>
            </a:endParaRPr>
          </a:p>
        </p:txBody>
      </p:sp>
      <p:sp>
        <p:nvSpPr>
          <p:cNvPr id="21" name="20 Rectángulo"/>
          <p:cNvSpPr/>
          <p:nvPr/>
        </p:nvSpPr>
        <p:spPr>
          <a:xfrm>
            <a:off x="2428860" y="4857760"/>
            <a:ext cx="6357982" cy="1631216"/>
          </a:xfrm>
          <a:prstGeom prst="rect">
            <a:avLst/>
          </a:prstGeom>
        </p:spPr>
        <p:txBody>
          <a:bodyPr wrap="square">
            <a:spAutoFit/>
          </a:bodyPr>
          <a:lstStyle/>
          <a:p>
            <a:pPr lvl="0" algn="just"/>
            <a:r>
              <a:rPr lang="es-VE" sz="2000" b="1" dirty="0" smtClean="0">
                <a:solidFill>
                  <a:sysClr val="windowText" lastClr="000000"/>
                </a:solidFill>
                <a:latin typeface="Constantia"/>
              </a:rPr>
              <a:t>Quien cometa un homicidio por encargo o cumpliendo órdenes de un  grupo de delincuencia organizada, será penado o penada con prisión de veinticinco a treinta años. Con igual pena será castigado quien encargue el homicidio</a:t>
            </a:r>
            <a:endParaRPr lang="es-VE" sz="2000" b="1" dirty="0">
              <a:solidFill>
                <a:sysClr val="windowText" lastClr="000000"/>
              </a:solidFill>
              <a:latin typeface="Constantia"/>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550F80E7-BE42-CF0B-4F68-37EF0052C65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92249"/>
            <a:ext cx="1956113" cy="2041872"/>
          </a:xfrm>
          <a:prstGeom prst="rect">
            <a:avLst/>
          </a:prstGeom>
        </p:spPr>
      </p:pic>
      <p:sp>
        <p:nvSpPr>
          <p:cNvPr id="10" name="9 Flecha doblada"/>
          <p:cNvSpPr/>
          <p:nvPr/>
        </p:nvSpPr>
        <p:spPr>
          <a:xfrm rot="10800000" flipH="1">
            <a:off x="1214414" y="2786058"/>
            <a:ext cx="906546" cy="2017843"/>
          </a:xfrm>
          <a:prstGeom prst="bentArrow">
            <a:avLst>
              <a:gd name="adj1" fmla="val 25000"/>
              <a:gd name="adj2" fmla="val 25000"/>
              <a:gd name="adj3" fmla="val 25000"/>
              <a:gd name="adj4" fmla="val 4407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VE" dirty="0">
              <a:solidFill>
                <a:schemeClr val="tx1"/>
              </a:solidFill>
            </a:endParaRPr>
          </a:p>
        </p:txBody>
      </p:sp>
      <p:sp>
        <p:nvSpPr>
          <p:cNvPr id="12" name="11 CuadroTexto"/>
          <p:cNvSpPr txBox="1"/>
          <p:nvPr/>
        </p:nvSpPr>
        <p:spPr>
          <a:xfrm>
            <a:off x="3357554" y="214290"/>
            <a:ext cx="5535361" cy="400110"/>
          </a:xfrm>
          <a:prstGeom prst="rect">
            <a:avLst/>
          </a:prstGeom>
          <a:noFill/>
        </p:spPr>
        <p:txBody>
          <a:bodyPr wrap="none" rtlCol="0">
            <a:spAutoFit/>
          </a:bodyPr>
          <a:lstStyle/>
          <a:p>
            <a:r>
              <a:rPr lang="es-VE" sz="2000" b="1" dirty="0" smtClean="0"/>
              <a:t>DE LOS DELITOS DE ADMINISTRACION DE JUSTICIA</a:t>
            </a:r>
            <a:endParaRPr lang="es-VE" sz="2000" b="1" dirty="0"/>
          </a:p>
        </p:txBody>
      </p:sp>
      <p:sp>
        <p:nvSpPr>
          <p:cNvPr id="13" name="12 CuadroTexto"/>
          <p:cNvSpPr txBox="1"/>
          <p:nvPr/>
        </p:nvSpPr>
        <p:spPr>
          <a:xfrm>
            <a:off x="1857356" y="214290"/>
            <a:ext cx="1333185" cy="369332"/>
          </a:xfrm>
          <a:prstGeom prst="rect">
            <a:avLst/>
          </a:prstGeom>
          <a:noFill/>
        </p:spPr>
        <p:txBody>
          <a:bodyPr wrap="none" rtlCol="0">
            <a:spAutoFit/>
          </a:bodyPr>
          <a:lstStyle/>
          <a:p>
            <a:r>
              <a:rPr lang="es-VE" b="1" dirty="0" smtClean="0"/>
              <a:t>CAPITULO V</a:t>
            </a:r>
            <a:endParaRPr lang="es-VE" b="1" dirty="0"/>
          </a:p>
        </p:txBody>
      </p:sp>
      <p:sp>
        <p:nvSpPr>
          <p:cNvPr id="14" name="13 Rectángulo"/>
          <p:cNvSpPr/>
          <p:nvPr/>
        </p:nvSpPr>
        <p:spPr>
          <a:xfrm>
            <a:off x="214282" y="1785926"/>
            <a:ext cx="2286016" cy="1015663"/>
          </a:xfrm>
          <a:prstGeom prst="rect">
            <a:avLst/>
          </a:prstGeom>
        </p:spPr>
        <p:txBody>
          <a:bodyPr wrap="square">
            <a:spAutoFit/>
          </a:bodyPr>
          <a:lstStyle/>
          <a:p>
            <a:pPr algn="ctr"/>
            <a:r>
              <a:rPr lang="es-VE" sz="2000" b="1" i="1" dirty="0" smtClean="0"/>
              <a:t>Obstrucción a la administración de justicia </a:t>
            </a:r>
            <a:r>
              <a:rPr lang="es-VE" sz="2000" b="1" dirty="0" smtClean="0"/>
              <a:t>Art. 45</a:t>
            </a:r>
            <a:endParaRPr lang="es-VE" sz="2000" b="1" dirty="0"/>
          </a:p>
        </p:txBody>
      </p:sp>
      <p:sp>
        <p:nvSpPr>
          <p:cNvPr id="15" name="14 Rectángulo"/>
          <p:cNvSpPr/>
          <p:nvPr/>
        </p:nvSpPr>
        <p:spPr>
          <a:xfrm>
            <a:off x="2500298" y="714356"/>
            <a:ext cx="6429420" cy="1323439"/>
          </a:xfrm>
          <a:prstGeom prst="rect">
            <a:avLst/>
          </a:prstGeom>
        </p:spPr>
        <p:txBody>
          <a:bodyPr wrap="square">
            <a:spAutoFit/>
          </a:bodyPr>
          <a:lstStyle/>
          <a:p>
            <a:pPr algn="just"/>
            <a:r>
              <a:rPr lang="es-VE" sz="2000" b="1" dirty="0" smtClean="0"/>
              <a:t>Quien obstruya la administración de justicia o la investigación penal en  beneficio de un grupo de delincuencia organizada o de algunos de sus miembros, será penado o penada de la manera siguiente:</a:t>
            </a:r>
          </a:p>
        </p:txBody>
      </p:sp>
      <p:sp>
        <p:nvSpPr>
          <p:cNvPr id="16" name="15 Rectángulo"/>
          <p:cNvSpPr/>
          <p:nvPr/>
        </p:nvSpPr>
        <p:spPr>
          <a:xfrm>
            <a:off x="2500298" y="2143116"/>
            <a:ext cx="6429420" cy="4708981"/>
          </a:xfrm>
          <a:prstGeom prst="rect">
            <a:avLst/>
          </a:prstGeom>
        </p:spPr>
        <p:txBody>
          <a:bodyPr wrap="square">
            <a:spAutoFit/>
          </a:bodyPr>
          <a:lstStyle/>
          <a:p>
            <a:pPr algn="just"/>
            <a:r>
              <a:rPr lang="es-VE" sz="2000" b="1" dirty="0" smtClean="0"/>
              <a:t>1. Si es por medio de violencia, con pena de seis a ocho años de prisión, sin perjuicio  de la pena correspondiente al delito de lesiones.</a:t>
            </a:r>
          </a:p>
          <a:p>
            <a:pPr algn="just"/>
            <a:r>
              <a:rPr lang="es-VE" sz="2000" b="1" dirty="0" smtClean="0"/>
              <a:t>2. Si es infringiendo el temor de grave daño a una persona, su cónyuge, familia, honor  o bienes, o bajo la apariencia de autoridad oficial, con pena de ocho a doce años de</a:t>
            </a:r>
          </a:p>
          <a:p>
            <a:pPr algn="just"/>
            <a:r>
              <a:rPr lang="es-VE" sz="2000" b="1" dirty="0" smtClean="0"/>
              <a:t>prisión. </a:t>
            </a:r>
          </a:p>
          <a:p>
            <a:pPr algn="just"/>
            <a:r>
              <a:rPr lang="es-VE" sz="2000" b="1" dirty="0" smtClean="0"/>
              <a:t>3. Si es prometiendo o dando dinero u otra utilidad para lograr su propósito, con pena de doce a dieciocho años de prisión, igual pena se aplicará al funcionario público o funcionaria pública, o auxiliar de la justicia que lo acepte o reciba. </a:t>
            </a:r>
          </a:p>
          <a:p>
            <a:pPr algn="just"/>
            <a:r>
              <a:rPr lang="es-VE" sz="2000" b="1" dirty="0" smtClean="0"/>
              <a:t>4. Si destruye, modifica, altera o desaparece evidencias o datos acumulados por cualquier medio, con pena de ocho a doce años prisión. </a:t>
            </a:r>
            <a:endParaRPr lang="es-VE" sz="2000" b="1"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550F80E7-BE42-CF0B-4F68-37EF0052C65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92249"/>
            <a:ext cx="1956113" cy="2041872"/>
          </a:xfrm>
          <a:prstGeom prst="rect">
            <a:avLst/>
          </a:prstGeom>
        </p:spPr>
      </p:pic>
      <p:pic>
        <p:nvPicPr>
          <p:cNvPr id="11" name="Picture 2"/>
          <p:cNvPicPr>
            <a:picLocks noChangeAspect="1" noChangeArrowheads="1"/>
          </p:cNvPicPr>
          <p:nvPr/>
        </p:nvPicPr>
        <p:blipFill>
          <a:blip r:embed="rId3" cstate="print"/>
          <a:srcRect/>
          <a:stretch>
            <a:fillRect/>
          </a:stretch>
        </p:blipFill>
        <p:spPr bwMode="auto">
          <a:xfrm>
            <a:off x="0" y="1643050"/>
            <a:ext cx="3500430" cy="2571768"/>
          </a:xfrm>
          <a:prstGeom prst="rect">
            <a:avLst/>
          </a:prstGeom>
          <a:noFill/>
          <a:ln w="9525">
            <a:noFill/>
            <a:miter lim="800000"/>
            <a:headEnd/>
            <a:tailEnd/>
          </a:ln>
          <a:effectLst/>
        </p:spPr>
      </p:pic>
      <p:pic>
        <p:nvPicPr>
          <p:cNvPr id="12" name="Picture 3"/>
          <p:cNvPicPr>
            <a:picLocks noChangeAspect="1" noChangeArrowheads="1"/>
          </p:cNvPicPr>
          <p:nvPr/>
        </p:nvPicPr>
        <p:blipFill>
          <a:blip r:embed="rId4" cstate="print"/>
          <a:srcRect/>
          <a:stretch>
            <a:fillRect/>
          </a:stretch>
        </p:blipFill>
        <p:spPr bwMode="auto">
          <a:xfrm>
            <a:off x="0" y="4500570"/>
            <a:ext cx="3500430" cy="2357430"/>
          </a:xfrm>
          <a:prstGeom prst="rect">
            <a:avLst/>
          </a:prstGeom>
          <a:noFill/>
          <a:ln w="9525">
            <a:noFill/>
            <a:miter lim="800000"/>
            <a:headEnd/>
            <a:tailEnd/>
          </a:ln>
          <a:effectLst/>
        </p:spPr>
      </p:pic>
      <p:sp>
        <p:nvSpPr>
          <p:cNvPr id="13" name="12 Rectángulo"/>
          <p:cNvSpPr/>
          <p:nvPr/>
        </p:nvSpPr>
        <p:spPr>
          <a:xfrm>
            <a:off x="3571868" y="357166"/>
            <a:ext cx="4664355" cy="400110"/>
          </a:xfrm>
          <a:prstGeom prst="rect">
            <a:avLst/>
          </a:prstGeom>
        </p:spPr>
        <p:txBody>
          <a:bodyPr wrap="none">
            <a:spAutoFit/>
          </a:bodyPr>
          <a:lstStyle/>
          <a:p>
            <a:pPr algn="ctr"/>
            <a:r>
              <a:rPr lang="es-VE" sz="2000" b="1" dirty="0" smtClean="0"/>
              <a:t>De los delitos contra la indemnidad sexual</a:t>
            </a:r>
            <a:endParaRPr lang="es-VE" sz="2000" dirty="0"/>
          </a:p>
        </p:txBody>
      </p:sp>
      <p:sp>
        <p:nvSpPr>
          <p:cNvPr id="14" name="13 Rectángulo"/>
          <p:cNvSpPr/>
          <p:nvPr/>
        </p:nvSpPr>
        <p:spPr>
          <a:xfrm>
            <a:off x="2000232" y="357166"/>
            <a:ext cx="1410964" cy="400110"/>
          </a:xfrm>
          <a:prstGeom prst="rect">
            <a:avLst/>
          </a:prstGeom>
        </p:spPr>
        <p:txBody>
          <a:bodyPr wrap="none">
            <a:spAutoFit/>
          </a:bodyPr>
          <a:lstStyle/>
          <a:p>
            <a:r>
              <a:rPr lang="es-VE" sz="2000" b="1" dirty="0" smtClean="0"/>
              <a:t>Capítulo  VI</a:t>
            </a:r>
          </a:p>
        </p:txBody>
      </p:sp>
      <p:sp>
        <p:nvSpPr>
          <p:cNvPr id="15" name="14 Rectángulo"/>
          <p:cNvSpPr/>
          <p:nvPr/>
        </p:nvSpPr>
        <p:spPr>
          <a:xfrm>
            <a:off x="3571868" y="1071546"/>
            <a:ext cx="2227597" cy="400110"/>
          </a:xfrm>
          <a:prstGeom prst="rect">
            <a:avLst/>
          </a:prstGeom>
        </p:spPr>
        <p:txBody>
          <a:bodyPr wrap="none">
            <a:spAutoFit/>
          </a:bodyPr>
          <a:lstStyle/>
          <a:p>
            <a:pPr algn="ctr"/>
            <a:r>
              <a:rPr lang="es-VE" sz="2000" b="1" i="1" dirty="0" smtClean="0"/>
              <a:t>Pornografía </a:t>
            </a:r>
            <a:r>
              <a:rPr lang="es-VE" sz="2000" b="1" dirty="0" smtClean="0"/>
              <a:t>Art. 46</a:t>
            </a:r>
            <a:endParaRPr lang="es-VE" sz="2000" b="1" dirty="0"/>
          </a:p>
        </p:txBody>
      </p:sp>
      <p:sp>
        <p:nvSpPr>
          <p:cNvPr id="16" name="15 Rectángulo"/>
          <p:cNvSpPr/>
          <p:nvPr/>
        </p:nvSpPr>
        <p:spPr>
          <a:xfrm>
            <a:off x="3500430" y="1500174"/>
            <a:ext cx="5429288" cy="2862322"/>
          </a:xfrm>
          <a:prstGeom prst="rect">
            <a:avLst/>
          </a:prstGeom>
        </p:spPr>
        <p:txBody>
          <a:bodyPr wrap="square">
            <a:spAutoFit/>
          </a:bodyPr>
          <a:lstStyle/>
          <a:p>
            <a:pPr algn="just"/>
            <a:r>
              <a:rPr lang="es-VE" sz="2000" b="1" dirty="0" smtClean="0"/>
              <a:t>Quien como parte integrante de un grupo de delincuencia organizada  explote la industria o el comercio de la pornografía para reproducir lo obsceno o impúdico a fin de divulgarlo al público en general, será penado o penada con prisión de diez a quince años. Si la pornografía fue realizada con niños, niñas o adolescentes o para ellos, será penado o penada con prisión de veinticinco a treinta años de prisión.</a:t>
            </a:r>
          </a:p>
        </p:txBody>
      </p:sp>
      <p:sp>
        <p:nvSpPr>
          <p:cNvPr id="17" name="16 Rectángulo"/>
          <p:cNvSpPr/>
          <p:nvPr/>
        </p:nvSpPr>
        <p:spPr>
          <a:xfrm>
            <a:off x="3571868" y="4429132"/>
            <a:ext cx="4857784" cy="400110"/>
          </a:xfrm>
          <a:prstGeom prst="rect">
            <a:avLst/>
          </a:prstGeom>
        </p:spPr>
        <p:txBody>
          <a:bodyPr wrap="square">
            <a:spAutoFit/>
          </a:bodyPr>
          <a:lstStyle/>
          <a:p>
            <a:r>
              <a:rPr lang="es-VE" sz="2000" b="1" i="1" dirty="0" smtClean="0"/>
              <a:t>Difusión de material pornográfico </a:t>
            </a:r>
            <a:r>
              <a:rPr lang="es-VE" sz="2000" b="1" dirty="0" smtClean="0"/>
              <a:t>Art. 47</a:t>
            </a:r>
            <a:endParaRPr lang="es-VE" sz="2000" b="1" dirty="0"/>
          </a:p>
        </p:txBody>
      </p:sp>
      <p:sp>
        <p:nvSpPr>
          <p:cNvPr id="18" name="17 Rectángulo"/>
          <p:cNvSpPr/>
          <p:nvPr/>
        </p:nvSpPr>
        <p:spPr>
          <a:xfrm>
            <a:off x="3571868" y="4857760"/>
            <a:ext cx="5214974" cy="1938992"/>
          </a:xfrm>
          <a:prstGeom prst="rect">
            <a:avLst/>
          </a:prstGeom>
        </p:spPr>
        <p:txBody>
          <a:bodyPr wrap="square">
            <a:spAutoFit/>
          </a:bodyPr>
          <a:lstStyle/>
          <a:p>
            <a:pPr algn="just"/>
            <a:r>
              <a:rPr lang="es-VE" sz="2000" b="1" dirty="0" smtClean="0"/>
              <a:t>Quien como parte integrante de un grupo de delincuencia organizada por  cualquier medio directo o indirecto, venda, difunda o exhiba material pornográfico a niños, niñas o adolescentes, será penado o penada con prisión de veinticinco a treinta años.</a:t>
            </a: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550F80E7-BE42-CF0B-4F68-37EF0052C65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92249"/>
            <a:ext cx="1956113" cy="2041872"/>
          </a:xfrm>
          <a:prstGeom prst="rect">
            <a:avLst/>
          </a:prstGeom>
        </p:spPr>
      </p:pic>
      <p:sp>
        <p:nvSpPr>
          <p:cNvPr id="12" name="AutoShape 2" descr="Aumentan cifras de explotación sexual infantil en Colombia"/>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VE" dirty="0"/>
          </a:p>
        </p:txBody>
      </p:sp>
      <p:pic>
        <p:nvPicPr>
          <p:cNvPr id="13" name="Picture 3"/>
          <p:cNvPicPr>
            <a:picLocks noChangeAspect="1" noChangeArrowheads="1"/>
          </p:cNvPicPr>
          <p:nvPr/>
        </p:nvPicPr>
        <p:blipFill>
          <a:blip r:embed="rId3" cstate="print"/>
          <a:srcRect/>
          <a:stretch>
            <a:fillRect/>
          </a:stretch>
        </p:blipFill>
        <p:spPr bwMode="auto">
          <a:xfrm>
            <a:off x="214282" y="1785926"/>
            <a:ext cx="3286148" cy="2357454"/>
          </a:xfrm>
          <a:prstGeom prst="rect">
            <a:avLst/>
          </a:prstGeom>
          <a:noFill/>
          <a:ln w="9525">
            <a:noFill/>
            <a:miter lim="800000"/>
            <a:headEnd/>
            <a:tailEnd/>
          </a:ln>
          <a:effectLst/>
        </p:spPr>
      </p:pic>
      <p:pic>
        <p:nvPicPr>
          <p:cNvPr id="14" name="Picture 4"/>
          <p:cNvPicPr>
            <a:picLocks noChangeAspect="1" noChangeArrowheads="1"/>
          </p:cNvPicPr>
          <p:nvPr/>
        </p:nvPicPr>
        <p:blipFill>
          <a:blip r:embed="rId4" cstate="print"/>
          <a:srcRect/>
          <a:stretch>
            <a:fillRect/>
          </a:stretch>
        </p:blipFill>
        <p:spPr bwMode="auto">
          <a:xfrm>
            <a:off x="214282" y="4500570"/>
            <a:ext cx="3286148" cy="2143140"/>
          </a:xfrm>
          <a:prstGeom prst="rect">
            <a:avLst/>
          </a:prstGeom>
          <a:noFill/>
          <a:ln w="9525">
            <a:noFill/>
            <a:miter lim="800000"/>
            <a:headEnd/>
            <a:tailEnd/>
          </a:ln>
          <a:effectLst/>
        </p:spPr>
      </p:pic>
      <p:sp>
        <p:nvSpPr>
          <p:cNvPr id="15" name="14 Rectángulo"/>
          <p:cNvSpPr/>
          <p:nvPr/>
        </p:nvSpPr>
        <p:spPr>
          <a:xfrm>
            <a:off x="3643306" y="214290"/>
            <a:ext cx="4664355" cy="400110"/>
          </a:xfrm>
          <a:prstGeom prst="rect">
            <a:avLst/>
          </a:prstGeom>
        </p:spPr>
        <p:txBody>
          <a:bodyPr wrap="none">
            <a:spAutoFit/>
          </a:bodyPr>
          <a:lstStyle/>
          <a:p>
            <a:pPr algn="ctr"/>
            <a:r>
              <a:rPr lang="es-VE" sz="2000" b="1" dirty="0" smtClean="0"/>
              <a:t>De los delitos contra la indemnidad sexual</a:t>
            </a:r>
            <a:endParaRPr lang="es-VE" sz="2000" dirty="0"/>
          </a:p>
        </p:txBody>
      </p:sp>
      <p:sp>
        <p:nvSpPr>
          <p:cNvPr id="16" name="15 Rectángulo"/>
          <p:cNvSpPr/>
          <p:nvPr/>
        </p:nvSpPr>
        <p:spPr>
          <a:xfrm>
            <a:off x="1857356" y="285728"/>
            <a:ext cx="1285929" cy="369332"/>
          </a:xfrm>
          <a:prstGeom prst="rect">
            <a:avLst/>
          </a:prstGeom>
        </p:spPr>
        <p:txBody>
          <a:bodyPr wrap="none">
            <a:spAutoFit/>
          </a:bodyPr>
          <a:lstStyle/>
          <a:p>
            <a:r>
              <a:rPr lang="es-VE" b="1" dirty="0" smtClean="0"/>
              <a:t>Capítulo  VI</a:t>
            </a:r>
          </a:p>
        </p:txBody>
      </p:sp>
      <p:sp>
        <p:nvSpPr>
          <p:cNvPr id="17" name="16 Rectángulo"/>
          <p:cNvSpPr/>
          <p:nvPr/>
        </p:nvSpPr>
        <p:spPr>
          <a:xfrm>
            <a:off x="3143240" y="714356"/>
            <a:ext cx="5786478" cy="1015663"/>
          </a:xfrm>
          <a:prstGeom prst="rect">
            <a:avLst/>
          </a:prstGeom>
        </p:spPr>
        <p:txBody>
          <a:bodyPr wrap="square">
            <a:spAutoFit/>
          </a:bodyPr>
          <a:lstStyle/>
          <a:p>
            <a:pPr algn="ctr"/>
            <a:r>
              <a:rPr lang="es-VE" sz="2000" b="1" i="1" dirty="0" smtClean="0"/>
              <a:t>Utilización de niños, niñas o adolescentes </a:t>
            </a:r>
          </a:p>
          <a:p>
            <a:pPr algn="ctr"/>
            <a:r>
              <a:rPr lang="es-VE" sz="2000" b="1" i="1" dirty="0" smtClean="0"/>
              <a:t>en la pornografía</a:t>
            </a:r>
          </a:p>
          <a:p>
            <a:pPr algn="ctr"/>
            <a:r>
              <a:rPr lang="es-VE" sz="2000" b="1" dirty="0" smtClean="0"/>
              <a:t>Art. 48</a:t>
            </a:r>
            <a:endParaRPr lang="es-VE" sz="2000" b="1" dirty="0"/>
          </a:p>
        </p:txBody>
      </p:sp>
      <p:sp>
        <p:nvSpPr>
          <p:cNvPr id="18" name="17 Rectángulo"/>
          <p:cNvSpPr/>
          <p:nvPr/>
        </p:nvSpPr>
        <p:spPr>
          <a:xfrm>
            <a:off x="3571868" y="1714488"/>
            <a:ext cx="5286412" cy="2554545"/>
          </a:xfrm>
          <a:prstGeom prst="rect">
            <a:avLst/>
          </a:prstGeom>
        </p:spPr>
        <p:txBody>
          <a:bodyPr wrap="square">
            <a:spAutoFit/>
          </a:bodyPr>
          <a:lstStyle/>
          <a:p>
            <a:pPr algn="just"/>
            <a:r>
              <a:rPr lang="es-VE" sz="2000" b="1" dirty="0" smtClean="0"/>
              <a:t>Incurre en delito quien utilice a niños, niñas o adolescentes o su imagen, con fines o en espectáculos exhibicionistas o pornográficos, tanto públicos como privados, o para elaborar cualquier clase de material pornográfico, cualquiera que sea su soporte, o financie cualquiera de estas actividades, será penado o penada con prisión de veinticinco a treinta años.</a:t>
            </a:r>
          </a:p>
        </p:txBody>
      </p:sp>
      <p:sp>
        <p:nvSpPr>
          <p:cNvPr id="19" name="18 Rectángulo"/>
          <p:cNvSpPr/>
          <p:nvPr/>
        </p:nvSpPr>
        <p:spPr>
          <a:xfrm>
            <a:off x="3643306" y="4429132"/>
            <a:ext cx="5000660" cy="707886"/>
          </a:xfrm>
          <a:prstGeom prst="rect">
            <a:avLst/>
          </a:prstGeom>
        </p:spPr>
        <p:txBody>
          <a:bodyPr wrap="square">
            <a:spAutoFit/>
          </a:bodyPr>
          <a:lstStyle/>
          <a:p>
            <a:pPr algn="ctr"/>
            <a:r>
              <a:rPr lang="es-VE" sz="2000" b="1" i="1" dirty="0" smtClean="0"/>
              <a:t>Elaboración de material pornográfico infantil </a:t>
            </a:r>
            <a:r>
              <a:rPr lang="es-VE" sz="2000" b="1" dirty="0" smtClean="0"/>
              <a:t>Art. 49</a:t>
            </a:r>
            <a:endParaRPr lang="es-VE" sz="2000" b="1" dirty="0"/>
          </a:p>
        </p:txBody>
      </p:sp>
      <p:sp>
        <p:nvSpPr>
          <p:cNvPr id="20" name="19 Rectángulo"/>
          <p:cNvSpPr/>
          <p:nvPr/>
        </p:nvSpPr>
        <p:spPr>
          <a:xfrm>
            <a:off x="3786182" y="5143512"/>
            <a:ext cx="5072098" cy="1323439"/>
          </a:xfrm>
          <a:prstGeom prst="rect">
            <a:avLst/>
          </a:prstGeom>
        </p:spPr>
        <p:txBody>
          <a:bodyPr wrap="square">
            <a:spAutoFit/>
          </a:bodyPr>
          <a:lstStyle/>
          <a:p>
            <a:pPr algn="just"/>
            <a:r>
              <a:rPr lang="es-VE" sz="2000" b="1" dirty="0" smtClean="0"/>
              <a:t>Quien  produzca, de material pornográfico, en cuya elaboración hayan sido utilizados niños, niñas o adolescentes, será penado o penada con prisión de veinte a veinticinco años. </a:t>
            </a:r>
            <a:endParaRPr lang="es-VE" sz="2000" b="1" dirty="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550F80E7-BE42-CF0B-4F68-37EF0052C65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92249"/>
            <a:ext cx="1956113" cy="2041872"/>
          </a:xfrm>
          <a:prstGeom prst="rect">
            <a:avLst/>
          </a:prstGeom>
        </p:spPr>
      </p:pic>
      <p:pic>
        <p:nvPicPr>
          <p:cNvPr id="9" name="Picture 1"/>
          <p:cNvPicPr>
            <a:picLocks noChangeAspect="1" noChangeArrowheads="1"/>
          </p:cNvPicPr>
          <p:nvPr/>
        </p:nvPicPr>
        <p:blipFill>
          <a:blip r:embed="rId3" cstate="print"/>
          <a:srcRect/>
          <a:stretch>
            <a:fillRect/>
          </a:stretch>
        </p:blipFill>
        <p:spPr bwMode="auto">
          <a:xfrm>
            <a:off x="0" y="2571744"/>
            <a:ext cx="3714744" cy="2714644"/>
          </a:xfrm>
          <a:prstGeom prst="rect">
            <a:avLst/>
          </a:prstGeom>
          <a:noFill/>
          <a:ln w="9525">
            <a:noFill/>
            <a:miter lim="800000"/>
            <a:headEnd/>
            <a:tailEnd/>
          </a:ln>
          <a:effectLst/>
        </p:spPr>
      </p:pic>
      <p:sp>
        <p:nvSpPr>
          <p:cNvPr id="10" name="9 Rectángulo"/>
          <p:cNvSpPr/>
          <p:nvPr/>
        </p:nvSpPr>
        <p:spPr>
          <a:xfrm>
            <a:off x="3500430" y="214290"/>
            <a:ext cx="5214974" cy="707886"/>
          </a:xfrm>
          <a:prstGeom prst="rect">
            <a:avLst/>
          </a:prstGeom>
        </p:spPr>
        <p:txBody>
          <a:bodyPr wrap="square">
            <a:spAutoFit/>
          </a:bodyPr>
          <a:lstStyle/>
          <a:p>
            <a:pPr algn="ctr"/>
            <a:r>
              <a:rPr lang="es-VE" sz="2000" b="1" dirty="0" smtClean="0"/>
              <a:t>De los delitos contra la libertad de industria y comercio </a:t>
            </a:r>
            <a:endParaRPr lang="es-VE" sz="2000" dirty="0"/>
          </a:p>
        </p:txBody>
      </p:sp>
      <p:sp>
        <p:nvSpPr>
          <p:cNvPr id="11" name="10 Rectángulo"/>
          <p:cNvSpPr/>
          <p:nvPr/>
        </p:nvSpPr>
        <p:spPr>
          <a:xfrm>
            <a:off x="1928794" y="357166"/>
            <a:ext cx="1346844" cy="369332"/>
          </a:xfrm>
          <a:prstGeom prst="rect">
            <a:avLst/>
          </a:prstGeom>
        </p:spPr>
        <p:txBody>
          <a:bodyPr wrap="none">
            <a:spAutoFit/>
          </a:bodyPr>
          <a:lstStyle/>
          <a:p>
            <a:r>
              <a:rPr lang="es-VE" b="1" dirty="0" smtClean="0"/>
              <a:t>Capítulo  VII</a:t>
            </a:r>
          </a:p>
        </p:txBody>
      </p:sp>
      <p:sp>
        <p:nvSpPr>
          <p:cNvPr id="12" name="11 Rectángulo"/>
          <p:cNvSpPr/>
          <p:nvPr/>
        </p:nvSpPr>
        <p:spPr>
          <a:xfrm>
            <a:off x="3857620" y="1714488"/>
            <a:ext cx="5022786" cy="400110"/>
          </a:xfrm>
          <a:prstGeom prst="rect">
            <a:avLst/>
          </a:prstGeom>
        </p:spPr>
        <p:txBody>
          <a:bodyPr wrap="none">
            <a:spAutoFit/>
          </a:bodyPr>
          <a:lstStyle/>
          <a:p>
            <a:pPr algn="ctr"/>
            <a:r>
              <a:rPr lang="es-VE" sz="2000" b="1" i="1" dirty="0" smtClean="0"/>
              <a:t>Obstrucción de la libertad de comercio </a:t>
            </a:r>
            <a:r>
              <a:rPr lang="es-VE" sz="2000" b="1" dirty="0" smtClean="0"/>
              <a:t>Art. 50</a:t>
            </a:r>
            <a:endParaRPr lang="es-VE" sz="2000" b="1" dirty="0"/>
          </a:p>
        </p:txBody>
      </p:sp>
      <p:sp>
        <p:nvSpPr>
          <p:cNvPr id="13" name="12 Rectángulo"/>
          <p:cNvSpPr/>
          <p:nvPr/>
        </p:nvSpPr>
        <p:spPr>
          <a:xfrm>
            <a:off x="3857620" y="2928934"/>
            <a:ext cx="5000660" cy="2246769"/>
          </a:xfrm>
          <a:prstGeom prst="rect">
            <a:avLst/>
          </a:prstGeom>
        </p:spPr>
        <p:txBody>
          <a:bodyPr wrap="square">
            <a:spAutoFit/>
          </a:bodyPr>
          <a:lstStyle/>
          <a:p>
            <a:pPr algn="just"/>
            <a:r>
              <a:rPr lang="es-VE" sz="2000" b="1" dirty="0" smtClean="0"/>
              <a:t>Quien en cualquier forma o grado obstruya, retrase, restrinja, suprima o  afecte el comercio o industria por medio de violencia o amenaza contra cualquier persona o propiedad, en apoyo o beneficio de un grupo delincuencia organizada, será penado o penada con prisión de ocho a diez años. </a:t>
            </a: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550F80E7-BE42-CF0B-4F68-37EF0052C65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92249"/>
            <a:ext cx="1956113" cy="2041872"/>
          </a:xfrm>
          <a:prstGeom prst="rect">
            <a:avLst/>
          </a:prstGeom>
        </p:spPr>
      </p:pic>
      <p:pic>
        <p:nvPicPr>
          <p:cNvPr id="9" name="Picture 2"/>
          <p:cNvPicPr>
            <a:picLocks noChangeAspect="1" noChangeArrowheads="1"/>
          </p:cNvPicPr>
          <p:nvPr/>
        </p:nvPicPr>
        <p:blipFill>
          <a:blip r:embed="rId3" cstate="print"/>
          <a:srcRect/>
          <a:stretch>
            <a:fillRect/>
          </a:stretch>
        </p:blipFill>
        <p:spPr bwMode="auto">
          <a:xfrm>
            <a:off x="214282" y="2571744"/>
            <a:ext cx="3571900" cy="2357454"/>
          </a:xfrm>
          <a:prstGeom prst="rect">
            <a:avLst/>
          </a:prstGeom>
          <a:noFill/>
          <a:ln w="9525">
            <a:noFill/>
            <a:miter lim="800000"/>
            <a:headEnd/>
            <a:tailEnd/>
          </a:ln>
          <a:effectLst/>
        </p:spPr>
      </p:pic>
      <p:sp>
        <p:nvSpPr>
          <p:cNvPr id="11" name="10 Rectángulo"/>
          <p:cNvSpPr/>
          <p:nvPr/>
        </p:nvSpPr>
        <p:spPr>
          <a:xfrm>
            <a:off x="3857620" y="357166"/>
            <a:ext cx="4714908" cy="400110"/>
          </a:xfrm>
          <a:prstGeom prst="rect">
            <a:avLst/>
          </a:prstGeom>
        </p:spPr>
        <p:txBody>
          <a:bodyPr wrap="square">
            <a:spAutoFit/>
          </a:bodyPr>
          <a:lstStyle/>
          <a:p>
            <a:pPr algn="ctr"/>
            <a:r>
              <a:rPr lang="es-VE" sz="2000" b="1" dirty="0" smtClean="0"/>
              <a:t>Otros delitos de delincuencia organizada</a:t>
            </a:r>
            <a:endParaRPr lang="es-VE" sz="2000" dirty="0"/>
          </a:p>
        </p:txBody>
      </p:sp>
      <p:sp>
        <p:nvSpPr>
          <p:cNvPr id="12" name="11 Rectángulo"/>
          <p:cNvSpPr/>
          <p:nvPr/>
        </p:nvSpPr>
        <p:spPr>
          <a:xfrm>
            <a:off x="2071670" y="357166"/>
            <a:ext cx="1548822" cy="400110"/>
          </a:xfrm>
          <a:prstGeom prst="rect">
            <a:avLst/>
          </a:prstGeom>
        </p:spPr>
        <p:txBody>
          <a:bodyPr wrap="none">
            <a:spAutoFit/>
          </a:bodyPr>
          <a:lstStyle/>
          <a:p>
            <a:r>
              <a:rPr lang="es-VE" sz="2000" b="1" dirty="0" smtClean="0"/>
              <a:t>Capítulo  VIII</a:t>
            </a:r>
          </a:p>
        </p:txBody>
      </p:sp>
      <p:sp>
        <p:nvSpPr>
          <p:cNvPr id="13" name="12 Rectángulo"/>
          <p:cNvSpPr/>
          <p:nvPr/>
        </p:nvSpPr>
        <p:spPr>
          <a:xfrm>
            <a:off x="4071934" y="1142984"/>
            <a:ext cx="4572000" cy="1015663"/>
          </a:xfrm>
          <a:prstGeom prst="rect">
            <a:avLst/>
          </a:prstGeom>
        </p:spPr>
        <p:txBody>
          <a:bodyPr>
            <a:spAutoFit/>
          </a:bodyPr>
          <a:lstStyle/>
          <a:p>
            <a:pPr algn="ctr"/>
            <a:r>
              <a:rPr lang="es-VE" sz="2000" b="1" i="1" dirty="0" smtClean="0"/>
              <a:t>Fabricación ilícita de monedas o títulos de crédito público</a:t>
            </a:r>
          </a:p>
          <a:p>
            <a:pPr algn="ctr"/>
            <a:r>
              <a:rPr lang="es-VE" sz="2000" b="1" dirty="0" smtClean="0"/>
              <a:t>Art. 51</a:t>
            </a:r>
            <a:endParaRPr lang="es-VE" sz="2000" b="1" dirty="0"/>
          </a:p>
        </p:txBody>
      </p:sp>
      <p:sp>
        <p:nvSpPr>
          <p:cNvPr id="14" name="13 Rectángulo"/>
          <p:cNvSpPr/>
          <p:nvPr/>
        </p:nvSpPr>
        <p:spPr>
          <a:xfrm>
            <a:off x="3857620" y="2571744"/>
            <a:ext cx="5000660" cy="2246769"/>
          </a:xfrm>
          <a:prstGeom prst="rect">
            <a:avLst/>
          </a:prstGeom>
        </p:spPr>
        <p:txBody>
          <a:bodyPr wrap="square">
            <a:spAutoFit/>
          </a:bodyPr>
          <a:lstStyle/>
          <a:p>
            <a:pPr algn="just"/>
            <a:r>
              <a:rPr lang="es-VE" sz="2000" b="1" dirty="0" smtClean="0"/>
              <a:t>Quien como parte integrante de un grupo de delincuencia organizada  </a:t>
            </a:r>
            <a:r>
              <a:rPr lang="pt-BR" sz="2000" b="1" dirty="0" smtClean="0"/>
              <a:t>fabrique, custodie, oculte o conserve instrumentos o equipos exclusivamente destinados </a:t>
            </a:r>
            <a:r>
              <a:rPr lang="es-VE" sz="2000" b="1" dirty="0" smtClean="0"/>
              <a:t>a la fabricación de monedas o títulos de crédito público, será penado o penada con prisión de doce a dieciocho años.</a:t>
            </a: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550F80E7-BE42-CF0B-4F68-37EF0052C65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92249"/>
            <a:ext cx="1956113" cy="2041872"/>
          </a:xfrm>
          <a:prstGeom prst="rect">
            <a:avLst/>
          </a:prstGeom>
        </p:spPr>
      </p:pic>
      <p:pic>
        <p:nvPicPr>
          <p:cNvPr id="47" name="Picture 2"/>
          <p:cNvPicPr>
            <a:picLocks noChangeAspect="1" noChangeArrowheads="1"/>
          </p:cNvPicPr>
          <p:nvPr/>
        </p:nvPicPr>
        <p:blipFill>
          <a:blip r:embed="rId3" cstate="print"/>
          <a:srcRect/>
          <a:stretch>
            <a:fillRect/>
          </a:stretch>
        </p:blipFill>
        <p:spPr bwMode="auto">
          <a:xfrm>
            <a:off x="0" y="1714488"/>
            <a:ext cx="3714744" cy="1928826"/>
          </a:xfrm>
          <a:prstGeom prst="rect">
            <a:avLst/>
          </a:prstGeom>
          <a:noFill/>
          <a:ln w="9525">
            <a:noFill/>
            <a:miter lim="800000"/>
            <a:headEnd/>
            <a:tailEnd/>
          </a:ln>
          <a:effectLst/>
        </p:spPr>
      </p:pic>
      <p:pic>
        <p:nvPicPr>
          <p:cNvPr id="48" name="Picture 1"/>
          <p:cNvPicPr>
            <a:picLocks noChangeAspect="1" noChangeArrowheads="1"/>
          </p:cNvPicPr>
          <p:nvPr/>
        </p:nvPicPr>
        <p:blipFill>
          <a:blip r:embed="rId4" cstate="print"/>
          <a:srcRect/>
          <a:stretch>
            <a:fillRect/>
          </a:stretch>
        </p:blipFill>
        <p:spPr bwMode="auto">
          <a:xfrm>
            <a:off x="0" y="4572008"/>
            <a:ext cx="3643306" cy="2285992"/>
          </a:xfrm>
          <a:prstGeom prst="rect">
            <a:avLst/>
          </a:prstGeom>
          <a:noFill/>
          <a:ln w="9525">
            <a:noFill/>
            <a:miter lim="800000"/>
            <a:headEnd/>
            <a:tailEnd/>
          </a:ln>
          <a:effectLst/>
        </p:spPr>
      </p:pic>
      <p:sp>
        <p:nvSpPr>
          <p:cNvPr id="49" name="48 Rectángulo"/>
          <p:cNvSpPr/>
          <p:nvPr/>
        </p:nvSpPr>
        <p:spPr>
          <a:xfrm>
            <a:off x="4286248" y="285728"/>
            <a:ext cx="4317209" cy="400110"/>
          </a:xfrm>
          <a:prstGeom prst="rect">
            <a:avLst/>
          </a:prstGeom>
        </p:spPr>
        <p:txBody>
          <a:bodyPr wrap="none">
            <a:spAutoFit/>
          </a:bodyPr>
          <a:lstStyle/>
          <a:p>
            <a:pPr lvl="0" algn="ctr">
              <a:defRPr/>
            </a:pPr>
            <a:r>
              <a:rPr lang="es-VE" sz="2000" b="1" kern="0" dirty="0" smtClean="0">
                <a:solidFill>
                  <a:sysClr val="windowText" lastClr="000000"/>
                </a:solidFill>
                <a:latin typeface="Constantia"/>
              </a:rPr>
              <a:t>Del Financiamiento al terrorismo </a:t>
            </a:r>
            <a:endParaRPr lang="es-VE" sz="2000" b="1" kern="0" dirty="0">
              <a:solidFill>
                <a:sysClr val="windowText" lastClr="000000"/>
              </a:solidFill>
              <a:latin typeface="Constantia"/>
            </a:endParaRPr>
          </a:p>
        </p:txBody>
      </p:sp>
      <p:sp>
        <p:nvSpPr>
          <p:cNvPr id="50" name="49 Rectángulo"/>
          <p:cNvSpPr/>
          <p:nvPr/>
        </p:nvSpPr>
        <p:spPr>
          <a:xfrm>
            <a:off x="1928794" y="285728"/>
            <a:ext cx="1632178" cy="400110"/>
          </a:xfrm>
          <a:prstGeom prst="rect">
            <a:avLst/>
          </a:prstGeom>
        </p:spPr>
        <p:txBody>
          <a:bodyPr wrap="none">
            <a:spAutoFit/>
          </a:bodyPr>
          <a:lstStyle/>
          <a:p>
            <a:pPr lvl="0">
              <a:defRPr/>
            </a:pPr>
            <a:r>
              <a:rPr lang="es-VE" sz="2000" b="1" kern="0" dirty="0" smtClean="0">
                <a:solidFill>
                  <a:sysClr val="windowText" lastClr="000000"/>
                </a:solidFill>
                <a:latin typeface="Constantia"/>
              </a:rPr>
              <a:t>Capítulo  IX</a:t>
            </a:r>
          </a:p>
        </p:txBody>
      </p:sp>
      <p:sp>
        <p:nvSpPr>
          <p:cNvPr id="51" name="50 Rectángulo"/>
          <p:cNvSpPr/>
          <p:nvPr/>
        </p:nvSpPr>
        <p:spPr>
          <a:xfrm>
            <a:off x="4643438" y="857232"/>
            <a:ext cx="2662908" cy="400110"/>
          </a:xfrm>
          <a:prstGeom prst="rect">
            <a:avLst/>
          </a:prstGeom>
        </p:spPr>
        <p:txBody>
          <a:bodyPr wrap="none">
            <a:spAutoFit/>
          </a:bodyPr>
          <a:lstStyle/>
          <a:p>
            <a:pPr lvl="0" algn="ctr">
              <a:defRPr/>
            </a:pPr>
            <a:r>
              <a:rPr lang="es-VE" sz="2000" b="1" i="1" kern="0" dirty="0" smtClean="0">
                <a:solidFill>
                  <a:sysClr val="windowText" lastClr="000000"/>
                </a:solidFill>
                <a:latin typeface="Constantia"/>
              </a:rPr>
              <a:t>Terrorismo      </a:t>
            </a:r>
            <a:r>
              <a:rPr lang="es-VE" sz="2000" b="1" kern="0" dirty="0" smtClean="0">
                <a:solidFill>
                  <a:sysClr val="windowText" lastClr="000000"/>
                </a:solidFill>
                <a:latin typeface="Constantia"/>
              </a:rPr>
              <a:t>Art. 52</a:t>
            </a:r>
            <a:endParaRPr lang="es-VE" sz="2000" b="1" kern="0" dirty="0">
              <a:solidFill>
                <a:sysClr val="windowText" lastClr="000000"/>
              </a:solidFill>
              <a:latin typeface="Constantia"/>
            </a:endParaRPr>
          </a:p>
        </p:txBody>
      </p:sp>
      <p:sp>
        <p:nvSpPr>
          <p:cNvPr id="52" name="51 Rectángulo"/>
          <p:cNvSpPr/>
          <p:nvPr/>
        </p:nvSpPr>
        <p:spPr>
          <a:xfrm>
            <a:off x="3929058" y="1214422"/>
            <a:ext cx="4929222" cy="1938992"/>
          </a:xfrm>
          <a:prstGeom prst="rect">
            <a:avLst/>
          </a:prstGeom>
        </p:spPr>
        <p:txBody>
          <a:bodyPr wrap="square">
            <a:spAutoFit/>
          </a:bodyPr>
          <a:lstStyle/>
          <a:p>
            <a:pPr lvl="0" algn="just">
              <a:defRPr/>
            </a:pPr>
            <a:r>
              <a:rPr lang="es-VE" sz="2000" b="1" kern="0" dirty="0" smtClean="0">
                <a:solidFill>
                  <a:sysClr val="windowText" lastClr="000000"/>
                </a:solidFill>
                <a:latin typeface="Constantia"/>
              </a:rPr>
              <a:t>El o la terrorista individual o quienes asociados mediante una organización  terrorista, realice o trate de realizar uno o varios actos terroristas, será penado o penada con prisión de veinticinco a treinta años. </a:t>
            </a:r>
          </a:p>
        </p:txBody>
      </p:sp>
      <p:sp>
        <p:nvSpPr>
          <p:cNvPr id="53" name="52 Rectángulo"/>
          <p:cNvSpPr/>
          <p:nvPr/>
        </p:nvSpPr>
        <p:spPr>
          <a:xfrm>
            <a:off x="3857620" y="3286124"/>
            <a:ext cx="4572000" cy="707886"/>
          </a:xfrm>
          <a:prstGeom prst="rect">
            <a:avLst/>
          </a:prstGeom>
        </p:spPr>
        <p:txBody>
          <a:bodyPr>
            <a:spAutoFit/>
          </a:bodyPr>
          <a:lstStyle/>
          <a:p>
            <a:pPr lvl="0" algn="ctr">
              <a:defRPr/>
            </a:pPr>
            <a:r>
              <a:rPr lang="es-VE" sz="2000" b="1" i="1" kern="0" dirty="0" smtClean="0">
                <a:solidFill>
                  <a:sysClr val="windowText" lastClr="000000"/>
                </a:solidFill>
                <a:latin typeface="Constantia"/>
              </a:rPr>
              <a:t>Financiamiento al terrorismo</a:t>
            </a:r>
          </a:p>
          <a:p>
            <a:pPr lvl="0" algn="ctr">
              <a:defRPr/>
            </a:pPr>
            <a:r>
              <a:rPr lang="es-VE" sz="2000" b="1" kern="0" dirty="0" smtClean="0">
                <a:solidFill>
                  <a:sysClr val="windowText" lastClr="000000"/>
                </a:solidFill>
                <a:latin typeface="Constantia"/>
              </a:rPr>
              <a:t>Art. 53</a:t>
            </a:r>
            <a:endParaRPr lang="es-VE" sz="2000" b="1" kern="0" dirty="0">
              <a:solidFill>
                <a:sysClr val="windowText" lastClr="000000"/>
              </a:solidFill>
              <a:latin typeface="Constantia"/>
            </a:endParaRPr>
          </a:p>
        </p:txBody>
      </p:sp>
      <p:sp>
        <p:nvSpPr>
          <p:cNvPr id="54" name="53 Rectángulo"/>
          <p:cNvSpPr/>
          <p:nvPr/>
        </p:nvSpPr>
        <p:spPr>
          <a:xfrm>
            <a:off x="3714744" y="3995678"/>
            <a:ext cx="5429256" cy="2862322"/>
          </a:xfrm>
          <a:prstGeom prst="rect">
            <a:avLst/>
          </a:prstGeom>
        </p:spPr>
        <p:txBody>
          <a:bodyPr wrap="square">
            <a:spAutoFit/>
          </a:bodyPr>
          <a:lstStyle/>
          <a:p>
            <a:pPr lvl="0" algn="just">
              <a:defRPr/>
            </a:pPr>
            <a:r>
              <a:rPr lang="es-VE" b="1" kern="0" dirty="0" smtClean="0">
                <a:solidFill>
                  <a:sysClr val="windowText" lastClr="000000"/>
                </a:solidFill>
                <a:latin typeface="Constantia"/>
              </a:rPr>
              <a:t>Quien proporcione, facilite, resguarde, administre, colecte o recabe fondos  por cualquier medio, directa o indirectamente, con el propósito de que éstos sean utilizados en su totalidad o en parte por un terrorista individual o por una organización terrorista, o para cometer uno o varios actos terroristas, será penado o penada con prisión de quince a veinticinco años, aunque los fondos no hayan sido efectivamente </a:t>
            </a: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upo 1"/>
          <p:cNvGrpSpPr/>
          <p:nvPr/>
        </p:nvGrpSpPr>
        <p:grpSpPr>
          <a:xfrm>
            <a:off x="388297" y="1719340"/>
            <a:ext cx="5472608" cy="2327162"/>
            <a:chOff x="64726" y="930560"/>
            <a:chExt cx="4204051" cy="1870795"/>
          </a:xfrm>
        </p:grpSpPr>
        <p:sp>
          <p:nvSpPr>
            <p:cNvPr id="3" name="Rectángulo redondeado 2"/>
            <p:cNvSpPr/>
            <p:nvPr/>
          </p:nvSpPr>
          <p:spPr>
            <a:xfrm>
              <a:off x="64726" y="930560"/>
              <a:ext cx="4204051" cy="1870795"/>
            </a:xfrm>
            <a:prstGeom prst="roundRect">
              <a:avLst>
                <a:gd name="adj" fmla="val 10000"/>
              </a:avLst>
            </a:prstGeom>
            <a:ln w="25400">
              <a:solidFill>
                <a:srgbClr val="FF8100"/>
              </a:solidFill>
            </a:ln>
          </p:spPr>
          <p:style>
            <a:lnRef idx="2">
              <a:scrgbClr r="0" g="0" b="0"/>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sp>
          <p:nvSpPr>
            <p:cNvPr id="4" name="CuadroTexto 3"/>
            <p:cNvSpPr txBox="1"/>
            <p:nvPr/>
          </p:nvSpPr>
          <p:spPr>
            <a:xfrm>
              <a:off x="107778" y="973612"/>
              <a:ext cx="4117947" cy="1383806"/>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123825" tIns="123825" rIns="123825" bIns="123825" numCol="1" spcCol="1270" anchor="t" anchorCtr="0">
              <a:noAutofit/>
            </a:bodyPr>
            <a:lstStyle/>
            <a:p>
              <a:pPr marL="0" lvl="1" algn="l" defTabSz="800100">
                <a:lnSpc>
                  <a:spcPct val="90000"/>
                </a:lnSpc>
                <a:spcBef>
                  <a:spcPct val="0"/>
                </a:spcBef>
                <a:spcAft>
                  <a:spcPct val="15000"/>
                </a:spcAft>
              </a:pPr>
              <a:endParaRPr lang="es-VE" sz="1800" b="0" kern="1200" dirty="0">
                <a:latin typeface="+mn-lt"/>
              </a:endParaRPr>
            </a:p>
          </p:txBody>
        </p:sp>
      </p:grpSp>
      <p:sp>
        <p:nvSpPr>
          <p:cNvPr id="5" name="Rectángulo 4"/>
          <p:cNvSpPr/>
          <p:nvPr/>
        </p:nvSpPr>
        <p:spPr>
          <a:xfrm>
            <a:off x="712333" y="1975637"/>
            <a:ext cx="4824536" cy="1754326"/>
          </a:xfrm>
          <a:prstGeom prst="rect">
            <a:avLst/>
          </a:prstGeom>
        </p:spPr>
        <p:txBody>
          <a:bodyPr wrap="square">
            <a:spAutoFit/>
          </a:bodyPr>
          <a:lstStyle/>
          <a:p>
            <a:pPr algn="just"/>
            <a:r>
              <a:rPr lang="es-VE" b="1" dirty="0">
                <a:latin typeface="Arial" panose="020B0604020202020204" pitchFamily="34" charset="0"/>
                <a:ea typeface="Calibri" panose="020F0502020204030204" pitchFamily="34" charset="0"/>
              </a:rPr>
              <a:t>Deberán diseñar, establecer y aplicar procedimientos de debida diligencia cuando mantengan relaciones comerciales con clientes que son, han sido o serán considerados bajo el perfil de una expuesta políticamente</a:t>
            </a:r>
            <a:endParaRPr lang="es-ES" dirty="0"/>
          </a:p>
        </p:txBody>
      </p:sp>
      <p:grpSp>
        <p:nvGrpSpPr>
          <p:cNvPr id="6" name="Grupo 5"/>
          <p:cNvGrpSpPr/>
          <p:nvPr/>
        </p:nvGrpSpPr>
        <p:grpSpPr>
          <a:xfrm>
            <a:off x="2843808" y="4365104"/>
            <a:ext cx="5976664" cy="2306240"/>
            <a:chOff x="64726" y="930560"/>
            <a:chExt cx="4204051" cy="1870795"/>
          </a:xfrm>
        </p:grpSpPr>
        <p:sp>
          <p:nvSpPr>
            <p:cNvPr id="7" name="Rectángulo redondeado 6"/>
            <p:cNvSpPr/>
            <p:nvPr/>
          </p:nvSpPr>
          <p:spPr>
            <a:xfrm>
              <a:off x="64726" y="930560"/>
              <a:ext cx="4204051" cy="1870795"/>
            </a:xfrm>
            <a:prstGeom prst="roundRect">
              <a:avLst>
                <a:gd name="adj" fmla="val 10000"/>
              </a:avLst>
            </a:prstGeom>
            <a:ln w="25400">
              <a:solidFill>
                <a:srgbClr val="FF8100"/>
              </a:solidFill>
            </a:ln>
          </p:spPr>
          <p:style>
            <a:lnRef idx="2">
              <a:scrgbClr r="0" g="0" b="0"/>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sp>
          <p:nvSpPr>
            <p:cNvPr id="8" name="CuadroTexto 7"/>
            <p:cNvSpPr txBox="1"/>
            <p:nvPr/>
          </p:nvSpPr>
          <p:spPr>
            <a:xfrm>
              <a:off x="107778" y="973612"/>
              <a:ext cx="4117947" cy="1383806"/>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123825" tIns="123825" rIns="123825" bIns="123825" numCol="1" spcCol="1270" anchor="t" anchorCtr="0">
              <a:noAutofit/>
            </a:bodyPr>
            <a:lstStyle/>
            <a:p>
              <a:pPr marL="0" lvl="1" algn="l" defTabSz="800100">
                <a:lnSpc>
                  <a:spcPct val="90000"/>
                </a:lnSpc>
                <a:spcBef>
                  <a:spcPct val="0"/>
                </a:spcBef>
                <a:spcAft>
                  <a:spcPct val="15000"/>
                </a:spcAft>
              </a:pPr>
              <a:endParaRPr lang="es-VE" sz="1800" b="0" kern="1200" dirty="0">
                <a:latin typeface="+mn-lt"/>
              </a:endParaRPr>
            </a:p>
          </p:txBody>
        </p:sp>
      </p:grpSp>
      <p:sp>
        <p:nvSpPr>
          <p:cNvPr id="9" name="Rectángulo 8"/>
          <p:cNvSpPr/>
          <p:nvPr/>
        </p:nvSpPr>
        <p:spPr>
          <a:xfrm>
            <a:off x="3252513" y="4502561"/>
            <a:ext cx="5216784" cy="1754326"/>
          </a:xfrm>
          <a:prstGeom prst="rect">
            <a:avLst/>
          </a:prstGeom>
        </p:spPr>
        <p:txBody>
          <a:bodyPr wrap="square">
            <a:spAutoFit/>
          </a:bodyPr>
          <a:lstStyle/>
          <a:p>
            <a:pPr algn="just">
              <a:spcAft>
                <a:spcPts val="0"/>
              </a:spcAft>
            </a:pPr>
            <a:r>
              <a:rPr lang="es-VE" b="1" dirty="0">
                <a:latin typeface="Arial" panose="020B0604020202020204" pitchFamily="34" charset="0"/>
                <a:ea typeface="Times New Roman" panose="02020603050405020304" pitchFamily="18" charset="0"/>
              </a:rPr>
              <a:t>Asimismo, deberán establecer sistemas apropiados en el manejo del riesgo, debiendo la alta gerencia de los sujetos obligados en el manejo del riesgo, </a:t>
            </a:r>
            <a:r>
              <a:rPr lang="es-VE" b="1" dirty="0" smtClean="0">
                <a:latin typeface="Arial" panose="020B0604020202020204" pitchFamily="34" charset="0"/>
                <a:ea typeface="Times New Roman" panose="02020603050405020304" pitchFamily="18" charset="0"/>
              </a:rPr>
              <a:t>aprobar </a:t>
            </a:r>
            <a:r>
              <a:rPr lang="es-VE" b="1" dirty="0">
                <a:latin typeface="Arial" panose="020B0604020202020204" pitchFamily="34" charset="0"/>
                <a:ea typeface="Times New Roman" panose="02020603050405020304" pitchFamily="18" charset="0"/>
              </a:rPr>
              <a:t>en todo momento la vinculación de estos clientes en la institución</a:t>
            </a:r>
            <a:r>
              <a:rPr lang="es-VE" dirty="0">
                <a:latin typeface="Arial" panose="020B0604020202020204" pitchFamily="34" charset="0"/>
                <a:ea typeface="Times New Roman" panose="02020603050405020304" pitchFamily="18" charset="0"/>
              </a:rPr>
              <a:t>.</a:t>
            </a:r>
            <a:endParaRPr lang="es-ES" sz="2800" dirty="0">
              <a:latin typeface="Times New Roman" panose="02020603050405020304" pitchFamily="18" charset="0"/>
              <a:ea typeface="Times New Roman" panose="02020603050405020304" pitchFamily="18" charset="0"/>
            </a:endParaRPr>
          </a:p>
        </p:txBody>
      </p:sp>
      <p:sp>
        <p:nvSpPr>
          <p:cNvPr id="10" name="Rectángulo 9"/>
          <p:cNvSpPr/>
          <p:nvPr/>
        </p:nvSpPr>
        <p:spPr>
          <a:xfrm>
            <a:off x="2278379" y="332656"/>
            <a:ext cx="6696744" cy="646331"/>
          </a:xfrm>
          <a:prstGeom prst="rect">
            <a:avLst/>
          </a:prstGeom>
        </p:spPr>
        <p:txBody>
          <a:bodyPr wrap="square">
            <a:spAutoFit/>
          </a:bodyPr>
          <a:lstStyle/>
          <a:p>
            <a:pPr algn="ctr"/>
            <a:r>
              <a:rPr lang="es-VE" b="1" dirty="0"/>
              <a:t>ASPECTOS  RELEVANTES LEY ORGANICA CONTRA LA DELINCUENCIA  ORGANIZADA EN VENEZUELA Y FINANCIAMIENTO AL TERRORISMO</a:t>
            </a:r>
          </a:p>
        </p:txBody>
      </p:sp>
      <p:pic>
        <p:nvPicPr>
          <p:cNvPr id="11" name="Imagen 10">
            <a:extLst>
              <a:ext uri="{FF2B5EF4-FFF2-40B4-BE49-F238E27FC236}">
                <a16:creationId xmlns:a16="http://schemas.microsoft.com/office/drawing/2014/main" id="{550F80E7-BE42-CF0B-4F68-37EF0052C65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92249"/>
            <a:ext cx="1956113" cy="2041872"/>
          </a:xfrm>
          <a:prstGeom prst="rect">
            <a:avLst/>
          </a:prstGeom>
        </p:spPr>
      </p:pic>
    </p:spTree>
    <p:extLst>
      <p:ext uri="{BB962C8B-B14F-4D97-AF65-F5344CB8AC3E}">
        <p14:creationId xmlns:p14="http://schemas.microsoft.com/office/powerpoint/2010/main" val="381735593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550F80E7-BE42-CF0B-4F68-37EF0052C65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92249"/>
            <a:ext cx="1956113" cy="2041872"/>
          </a:xfrm>
          <a:prstGeom prst="rect">
            <a:avLst/>
          </a:prstGeom>
        </p:spPr>
      </p:pic>
      <p:sp>
        <p:nvSpPr>
          <p:cNvPr id="12" name="Rectángulo 11"/>
          <p:cNvSpPr/>
          <p:nvPr/>
        </p:nvSpPr>
        <p:spPr>
          <a:xfrm>
            <a:off x="2123728" y="404664"/>
            <a:ext cx="6480720" cy="923330"/>
          </a:xfrm>
          <a:prstGeom prst="rect">
            <a:avLst/>
          </a:prstGeom>
        </p:spPr>
        <p:txBody>
          <a:bodyPr wrap="square">
            <a:spAutoFit/>
          </a:bodyPr>
          <a:lstStyle/>
          <a:p>
            <a:pPr algn="ctr"/>
            <a:r>
              <a:rPr lang="es-VE" b="1" dirty="0"/>
              <a:t>ASPECTOS  RELEVANTES LEY ORGANICA CONTRA LA DELINCUENCIA  ORGANIZADA EN VENEZUELA Y FINANCIAMIENTO AL TERRORISMO</a:t>
            </a:r>
          </a:p>
        </p:txBody>
      </p:sp>
      <p:sp>
        <p:nvSpPr>
          <p:cNvPr id="13" name="CuadroTexto 12"/>
          <p:cNvSpPr txBox="1"/>
          <p:nvPr/>
        </p:nvSpPr>
        <p:spPr>
          <a:xfrm>
            <a:off x="2123728" y="1949623"/>
            <a:ext cx="5256584" cy="830997"/>
          </a:xfrm>
          <a:prstGeom prst="rect">
            <a:avLst/>
          </a:prstGeom>
          <a:noFill/>
        </p:spPr>
        <p:txBody>
          <a:bodyPr wrap="square" rtlCol="0">
            <a:spAutoFit/>
          </a:bodyPr>
          <a:lstStyle/>
          <a:p>
            <a:pPr algn="ctr"/>
            <a:r>
              <a:rPr lang="es-ES" sz="2400" b="1" dirty="0" smtClean="0"/>
              <a:t>TITULO IV</a:t>
            </a:r>
          </a:p>
          <a:p>
            <a:pPr algn="ctr"/>
            <a:r>
              <a:rPr lang="es-ES" sz="2400" b="1" dirty="0" smtClean="0"/>
              <a:t>DE LOS BIENES Y SU ADMINISTRACION </a:t>
            </a:r>
            <a:endParaRPr lang="es-ES" sz="2400" b="1" dirty="0"/>
          </a:p>
        </p:txBody>
      </p:sp>
      <p:sp>
        <p:nvSpPr>
          <p:cNvPr id="14" name="CuadroTexto 13"/>
          <p:cNvSpPr txBox="1"/>
          <p:nvPr/>
        </p:nvSpPr>
        <p:spPr>
          <a:xfrm>
            <a:off x="1079612" y="3217583"/>
            <a:ext cx="7344816" cy="1200329"/>
          </a:xfrm>
          <a:prstGeom prst="rect">
            <a:avLst/>
          </a:prstGeom>
          <a:noFill/>
        </p:spPr>
        <p:txBody>
          <a:bodyPr wrap="square" rtlCol="0">
            <a:spAutoFit/>
          </a:bodyPr>
          <a:lstStyle/>
          <a:p>
            <a:pPr algn="ctr"/>
            <a:r>
              <a:rPr lang="es-ES" sz="2400" b="1" dirty="0" smtClean="0"/>
              <a:t>TITULO V</a:t>
            </a:r>
          </a:p>
          <a:p>
            <a:pPr algn="ctr"/>
            <a:r>
              <a:rPr lang="es-ES" sz="2400" b="1" dirty="0" smtClean="0"/>
              <a:t>DE LA JURISDICCION Y OTROS PROCEDIMIENTOS ESPECIALES</a:t>
            </a:r>
            <a:endParaRPr lang="es-ES" sz="2400" b="1" dirty="0"/>
          </a:p>
        </p:txBody>
      </p:sp>
      <p:sp>
        <p:nvSpPr>
          <p:cNvPr id="15" name="CuadroTexto 14"/>
          <p:cNvSpPr txBox="1"/>
          <p:nvPr/>
        </p:nvSpPr>
        <p:spPr>
          <a:xfrm>
            <a:off x="1233119" y="4854875"/>
            <a:ext cx="7344816" cy="461665"/>
          </a:xfrm>
          <a:prstGeom prst="rect">
            <a:avLst/>
          </a:prstGeom>
          <a:noFill/>
        </p:spPr>
        <p:txBody>
          <a:bodyPr wrap="square" rtlCol="0">
            <a:spAutoFit/>
          </a:bodyPr>
          <a:lstStyle/>
          <a:p>
            <a:pPr algn="ctr"/>
            <a:r>
              <a:rPr lang="es-ES" sz="2400" b="1" dirty="0" smtClean="0"/>
              <a:t>DISPOSICIONES FINALES</a:t>
            </a:r>
            <a:endParaRPr lang="es-ES" sz="2400" b="1" dirty="0"/>
          </a:p>
        </p:txBody>
      </p:sp>
    </p:spTree>
    <p:extLst>
      <p:ext uri="{BB962C8B-B14F-4D97-AF65-F5344CB8AC3E}">
        <p14:creationId xmlns:p14="http://schemas.microsoft.com/office/powerpoint/2010/main" val="657226956"/>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550F80E7-BE42-CF0B-4F68-37EF0052C65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92249"/>
            <a:ext cx="1956113" cy="2041872"/>
          </a:xfrm>
          <a:prstGeom prst="rect">
            <a:avLst/>
          </a:prstGeom>
        </p:spPr>
      </p:pic>
      <p:pic>
        <p:nvPicPr>
          <p:cNvPr id="5" name="Imagen 6"/>
          <p:cNvPicPr>
            <a:picLocks noChangeAspect="1"/>
          </p:cNvPicPr>
          <p:nvPr/>
        </p:nvPicPr>
        <p:blipFill>
          <a:blip r:embed="rId3" cstate="print"/>
          <a:srcRect/>
          <a:stretch>
            <a:fillRect/>
          </a:stretch>
        </p:blipFill>
        <p:spPr bwMode="auto">
          <a:xfrm>
            <a:off x="0" y="1"/>
            <a:ext cx="1785918" cy="1214421"/>
          </a:xfrm>
          <a:prstGeom prst="rect">
            <a:avLst/>
          </a:prstGeom>
          <a:noFill/>
          <a:ln w="9525">
            <a:noFill/>
            <a:miter lim="800000"/>
            <a:headEnd/>
            <a:tailEnd/>
          </a:ln>
        </p:spPr>
      </p:pic>
      <p:sp>
        <p:nvSpPr>
          <p:cNvPr id="6" name="5 CuadroTexto"/>
          <p:cNvSpPr txBox="1"/>
          <p:nvPr/>
        </p:nvSpPr>
        <p:spPr>
          <a:xfrm>
            <a:off x="978056" y="1628800"/>
            <a:ext cx="7429552" cy="2246769"/>
          </a:xfrm>
          <a:prstGeom prst="rect">
            <a:avLst/>
          </a:prstGeom>
          <a:noFill/>
        </p:spPr>
        <p:txBody>
          <a:bodyPr wrap="square" rtlCol="0">
            <a:spAutoFit/>
          </a:bodyPr>
          <a:lstStyle/>
          <a:p>
            <a:pPr algn="just"/>
            <a:r>
              <a:rPr lang="es-VE" sz="2000" b="1" dirty="0" smtClean="0"/>
              <a:t>En comparación con la anterior ley orgánica de Delincuencia Organizada  (2005) en esta nueva Ley se establece la posibilidad de que una  persona, en sus atribuciones de encargado, gerente, etc. Pueda responder por los delitos  referentes a la delincuencia organizada. En la derogada ley se establecía  que era necesario la asociación de 3 o mas personas para calificarse como delito  de delincuencia organizada.</a:t>
            </a:r>
          </a:p>
        </p:txBody>
      </p:sp>
      <p:sp>
        <p:nvSpPr>
          <p:cNvPr id="7" name="6 Rectángulo"/>
          <p:cNvSpPr/>
          <p:nvPr/>
        </p:nvSpPr>
        <p:spPr>
          <a:xfrm>
            <a:off x="2214546" y="285728"/>
            <a:ext cx="6500858" cy="923330"/>
          </a:xfrm>
          <a:prstGeom prst="rect">
            <a:avLst/>
          </a:prstGeom>
        </p:spPr>
        <p:txBody>
          <a:bodyPr wrap="square">
            <a:spAutoFit/>
          </a:bodyPr>
          <a:lstStyle/>
          <a:p>
            <a:pPr lvl="0" algn="ctr" defTabSz="685800">
              <a:lnSpc>
                <a:spcPct val="90000"/>
              </a:lnSpc>
              <a:spcBef>
                <a:spcPct val="0"/>
              </a:spcBef>
              <a:defRPr/>
            </a:pPr>
            <a:r>
              <a:rPr lang="es-VE" sz="2000" dirty="0" smtClean="0"/>
              <a:t>ASPECTOS RELEVANTES  LEY ORGÁNICA CONTRA LA DELINCUENCIA ORGANIZADA EN VENEZUELA Y FINANCIAMIENTO AL TERRORISMO</a:t>
            </a:r>
            <a:endParaRPr lang="es-VE" sz="2000" dirty="0"/>
          </a:p>
        </p:txBody>
      </p:sp>
      <p:sp>
        <p:nvSpPr>
          <p:cNvPr id="2" name="Rectángulo 1"/>
          <p:cNvSpPr/>
          <p:nvPr/>
        </p:nvSpPr>
        <p:spPr>
          <a:xfrm>
            <a:off x="978056" y="4077072"/>
            <a:ext cx="7429552" cy="1631216"/>
          </a:xfrm>
          <a:prstGeom prst="rect">
            <a:avLst/>
          </a:prstGeom>
        </p:spPr>
        <p:txBody>
          <a:bodyPr wrap="square">
            <a:spAutoFit/>
          </a:bodyPr>
          <a:lstStyle/>
          <a:p>
            <a:pPr algn="just">
              <a:spcAft>
                <a:spcPts val="0"/>
              </a:spcAft>
            </a:pPr>
            <a:r>
              <a:rPr lang="es-VE" sz="2000" b="1" dirty="0">
                <a:solidFill>
                  <a:srgbClr val="333333"/>
                </a:solidFill>
                <a:ea typeface="Times New Roman" panose="02020603050405020304" pitchFamily="18" charset="0"/>
              </a:rPr>
              <a:t>Se deroga la Ley Orgánica Contra la Delincuencia Organizada, publicada en la Gaceta Oficial de la República Bolivariana de Venezuela N° 5.789 Extraordinario de fecha 26 de octubre de 2005.</a:t>
            </a:r>
            <a:endParaRPr lang="es-ES" sz="2000" b="1" dirty="0">
              <a:ea typeface="Times New Roman" panose="02020603050405020304" pitchFamily="18" charset="0"/>
            </a:endParaRPr>
          </a:p>
          <a:p>
            <a:pPr algn="just">
              <a:spcAft>
                <a:spcPts val="0"/>
              </a:spcAft>
            </a:pPr>
            <a:r>
              <a:rPr lang="es-VE" sz="2000" b="1" dirty="0">
                <a:solidFill>
                  <a:srgbClr val="333333"/>
                </a:solidFill>
                <a:ea typeface="Times New Roman" panose="02020603050405020304" pitchFamily="18" charset="0"/>
              </a:rPr>
              <a:t>Esta Ley entrará en vigencia a partir de su publicación en la Gaceta Oficial N° 39.912 del 30 de abril de 2012</a:t>
            </a:r>
            <a:r>
              <a:rPr lang="es-VE" b="1" dirty="0">
                <a:solidFill>
                  <a:srgbClr val="333333"/>
                </a:solidFill>
                <a:latin typeface="+mj-lt"/>
                <a:ea typeface="Times New Roman" panose="02020603050405020304" pitchFamily="18" charset="0"/>
              </a:rPr>
              <a:t>.</a:t>
            </a:r>
            <a:endParaRPr lang="es-ES" sz="2800" b="1" dirty="0">
              <a:effectLst/>
              <a:latin typeface="+mj-lt"/>
              <a:ea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6"/>
          <p:cNvPicPr>
            <a:picLocks noChangeAspect="1"/>
          </p:cNvPicPr>
          <p:nvPr/>
        </p:nvPicPr>
        <p:blipFill>
          <a:blip r:embed="rId2" cstate="print"/>
          <a:srcRect/>
          <a:stretch>
            <a:fillRect/>
          </a:stretch>
        </p:blipFill>
        <p:spPr bwMode="auto">
          <a:xfrm>
            <a:off x="0" y="0"/>
            <a:ext cx="2214545" cy="2143115"/>
          </a:xfrm>
          <a:prstGeom prst="rect">
            <a:avLst/>
          </a:prstGeom>
          <a:noFill/>
          <a:ln w="9525">
            <a:noFill/>
            <a:miter lim="800000"/>
            <a:headEnd/>
            <a:tailEnd/>
          </a:ln>
        </p:spPr>
      </p:pic>
      <p:sp>
        <p:nvSpPr>
          <p:cNvPr id="3" name="5 Rectángulo"/>
          <p:cNvSpPr/>
          <p:nvPr/>
        </p:nvSpPr>
        <p:spPr>
          <a:xfrm>
            <a:off x="4137386" y="2714620"/>
            <a:ext cx="282449" cy="461665"/>
          </a:xfrm>
          <a:prstGeom prst="rect">
            <a:avLst/>
          </a:prstGeom>
        </p:spPr>
        <p:txBody>
          <a:bodyPr wrap="none">
            <a:spAutoFit/>
          </a:bodyPr>
          <a:lstStyle/>
          <a:p>
            <a:pPr algn="ctr"/>
            <a:r>
              <a:rPr lang="es-VE" sz="2400" dirty="0" smtClean="0"/>
              <a:t> </a:t>
            </a:r>
            <a:endParaRPr lang="es-VE" sz="2400" dirty="0"/>
          </a:p>
        </p:txBody>
      </p:sp>
      <p:sp>
        <p:nvSpPr>
          <p:cNvPr id="4" name="AutoShape 2" descr="C:\Users\contablidad\Desktop\IMAGEN EVALUACION DE RIESGO.webp"/>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VE" dirty="0"/>
          </a:p>
        </p:txBody>
      </p:sp>
      <p:sp>
        <p:nvSpPr>
          <p:cNvPr id="5" name="AutoShape 4" descr="C:\Users\contablidad\Desktop\ARCHIVOS JOSE GREGORIO\INDUCCIONES  Y TALLERES\MANUAL DE POLITICAS Y NORMAS LC FT FPADM\IMAGENES\IMAGEN EVALUACION DE RIESGO.webp"/>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VE" dirty="0"/>
          </a:p>
        </p:txBody>
      </p:sp>
      <p:sp>
        <p:nvSpPr>
          <p:cNvPr id="6" name="AutoShape 6" descr="C:\Users\contablidad\Desktop\ARCHIVOS JOSE GREGORIO\INDUCCIONES  Y TALLERES\MANUAL DE POLITICAS Y NORMAS LC FT FPADM\IMAGENES\IMAGEN EVALUACION DE RIESGO.webp"/>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VE" dirty="0"/>
          </a:p>
        </p:txBody>
      </p:sp>
      <p:sp>
        <p:nvSpPr>
          <p:cNvPr id="7" name="AutoShape 8" descr="¡Fácil y sencillo! Análisis de riesgos en 6 paso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VE" dirty="0"/>
          </a:p>
        </p:txBody>
      </p:sp>
      <p:sp>
        <p:nvSpPr>
          <p:cNvPr id="8" name="AutoShape 2" descr="https://www.provincial.com/content/dam/public-web/global/images/micro-illustrations/woman_user.svg"/>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VE" dirty="0"/>
          </a:p>
        </p:txBody>
      </p:sp>
      <p:sp>
        <p:nvSpPr>
          <p:cNvPr id="9" name="AutoShape 4" descr="Debida diligencia"/>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VE" dirty="0"/>
          </a:p>
        </p:txBody>
      </p:sp>
      <p:sp>
        <p:nvSpPr>
          <p:cNvPr id="10" name="AutoShape 2" descr="El Ciclo de un Reporte de Operación Sospechosa - ACAMS Today"/>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VE" dirty="0"/>
          </a:p>
        </p:txBody>
      </p:sp>
      <p:pic>
        <p:nvPicPr>
          <p:cNvPr id="11" name="Picture 11"/>
          <p:cNvPicPr>
            <a:picLocks noChangeAspect="1" noChangeArrowheads="1"/>
          </p:cNvPicPr>
          <p:nvPr/>
        </p:nvPicPr>
        <p:blipFill>
          <a:blip r:embed="rId3" cstate="print"/>
          <a:srcRect/>
          <a:stretch>
            <a:fillRect/>
          </a:stretch>
        </p:blipFill>
        <p:spPr bwMode="auto">
          <a:xfrm>
            <a:off x="7643834" y="0"/>
            <a:ext cx="1500166" cy="1285860"/>
          </a:xfrm>
          <a:prstGeom prst="rect">
            <a:avLst/>
          </a:prstGeom>
          <a:noFill/>
          <a:ln w="9525">
            <a:noFill/>
            <a:miter lim="800000"/>
            <a:headEnd/>
            <a:tailEnd/>
          </a:ln>
          <a:effectLst/>
        </p:spPr>
      </p:pic>
      <p:pic>
        <p:nvPicPr>
          <p:cNvPr id="12" name="Picture 2"/>
          <p:cNvPicPr>
            <a:picLocks noChangeAspect="1" noChangeArrowheads="1"/>
          </p:cNvPicPr>
          <p:nvPr/>
        </p:nvPicPr>
        <p:blipFill>
          <a:blip r:embed="rId4" cstate="print"/>
          <a:srcRect/>
          <a:stretch>
            <a:fillRect/>
          </a:stretch>
        </p:blipFill>
        <p:spPr bwMode="auto">
          <a:xfrm>
            <a:off x="6215074" y="0"/>
            <a:ext cx="1357322" cy="1357298"/>
          </a:xfrm>
          <a:prstGeom prst="rect">
            <a:avLst/>
          </a:prstGeom>
          <a:noFill/>
          <a:ln w="9525">
            <a:noFill/>
            <a:miter lim="800000"/>
            <a:headEnd/>
            <a:tailEnd/>
          </a:ln>
          <a:effectLst/>
        </p:spPr>
      </p:pic>
      <p:sp>
        <p:nvSpPr>
          <p:cNvPr id="13" name="AutoShape 6" descr="Superintendencia de la Actividad Aseguradora | Caracas">
            <a:extLst>
              <a:ext uri="{FF2B5EF4-FFF2-40B4-BE49-F238E27FC236}">
                <a16:creationId xmlns:a16="http://schemas.microsoft.com/office/drawing/2014/main" id="{81F9DB46-99E0-F7D8-A5FF-71420AEBDA06}"/>
              </a:ext>
            </a:extLst>
          </p:cNvPr>
          <p:cNvSpPr>
            <a:spLocks noChangeAspect="1" noChangeArrowheads="1"/>
          </p:cNvSpPr>
          <p:nvPr/>
        </p:nvSpPr>
        <p:spPr bwMode="auto">
          <a:xfrm>
            <a:off x="155575" y="-144463"/>
            <a:ext cx="304800" cy="304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s-VE" altLang="es-VE" dirty="0">
              <a:latin typeface="Lucida Sans Unicode" panose="020B0602030504020204" pitchFamily="34" charset="0"/>
            </a:endParaRPr>
          </a:p>
        </p:txBody>
      </p:sp>
      <p:sp>
        <p:nvSpPr>
          <p:cNvPr id="14" name="7 Rectángulo">
            <a:extLst>
              <a:ext uri="{FF2B5EF4-FFF2-40B4-BE49-F238E27FC236}">
                <a16:creationId xmlns:a16="http://schemas.microsoft.com/office/drawing/2014/main" id="{4E668D82-2BBB-557D-72E1-16DD0179387C}"/>
              </a:ext>
            </a:extLst>
          </p:cNvPr>
          <p:cNvSpPr>
            <a:spLocks noChangeArrowheads="1"/>
          </p:cNvSpPr>
          <p:nvPr/>
        </p:nvSpPr>
        <p:spPr bwMode="auto">
          <a:xfrm>
            <a:off x="4572000" y="6072188"/>
            <a:ext cx="4572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r>
              <a:rPr lang="es-VE" altLang="es-VE" b="1" dirty="0">
                <a:latin typeface="Agency FB" panose="020B0503020202020204" pitchFamily="34" charset="77"/>
              </a:rPr>
              <a:t>18 años ofreciendo bienestar y servicios </a:t>
            </a:r>
          </a:p>
          <a:p>
            <a:pPr algn="r" eaLnBrk="1" hangingPunct="1"/>
            <a:r>
              <a:rPr lang="es-VE" altLang="es-VE" b="1" dirty="0">
                <a:latin typeface="Agency FB" panose="020B0503020202020204" pitchFamily="34" charset="77"/>
              </a:rPr>
              <a:t>Porque su salud no es un gasto, es una sana inversión </a:t>
            </a:r>
          </a:p>
        </p:txBody>
      </p:sp>
      <p:sp>
        <p:nvSpPr>
          <p:cNvPr id="15" name="8 Título">
            <a:extLst>
              <a:ext uri="{FF2B5EF4-FFF2-40B4-BE49-F238E27FC236}">
                <a16:creationId xmlns:a16="http://schemas.microsoft.com/office/drawing/2014/main" id="{94C833C0-1136-51E0-BD0C-0A1FD065CD6C}"/>
              </a:ext>
            </a:extLst>
          </p:cNvPr>
          <p:cNvSpPr txBox="1">
            <a:spLocks/>
          </p:cNvSpPr>
          <p:nvPr/>
        </p:nvSpPr>
        <p:spPr>
          <a:xfrm>
            <a:off x="785786" y="1214422"/>
            <a:ext cx="7629524" cy="642942"/>
          </a:xfrm>
          <a:prstGeom prst="rect">
            <a:avLst/>
          </a:prstGeom>
        </p:spPr>
        <p:txBody>
          <a:bodyPr vert="horz" lIns="91440" tIns="45720" rIns="91440" bIns="45720" rtlCol="0" anchor="ctr">
            <a:noAutofit/>
          </a:bodyPr>
          <a:lstStyle/>
          <a:p>
            <a:pPr marL="0" marR="0" lvl="0" indent="0" algn="ctr" defTabSz="685800" rtl="0" eaLnBrk="1" fontAlgn="auto" latinLnBrk="0" hangingPunct="1">
              <a:lnSpc>
                <a:spcPct val="90000"/>
              </a:lnSpc>
              <a:spcBef>
                <a:spcPct val="0"/>
              </a:spcBef>
              <a:spcAft>
                <a:spcPts val="0"/>
              </a:spcAft>
              <a:buClrTx/>
              <a:buSzTx/>
              <a:buFontTx/>
              <a:buNone/>
              <a:tabLst/>
              <a:defRPr/>
            </a:pPr>
            <a:r>
              <a:rPr kumimoji="0" lang="es-VE" sz="2400" b="0" i="0" u="none" strike="noStrike" kern="1200" cap="none" spc="0" normalizeH="0" baseline="0" noProof="0" dirty="0" smtClean="0">
                <a:ln>
                  <a:noFill/>
                </a:ln>
                <a:solidFill>
                  <a:schemeClr val="tx1"/>
                </a:solidFill>
                <a:effectLst/>
                <a:uLnTx/>
                <a:uFillTx/>
                <a:latin typeface="+mj-lt"/>
                <a:ea typeface="+mj-ea"/>
                <a:cs typeface="+mj-cs"/>
              </a:rPr>
              <a:t/>
            </a:r>
            <a:br>
              <a:rPr kumimoji="0" lang="es-VE" sz="2400" b="0" i="0" u="none" strike="noStrike" kern="1200" cap="none" spc="0" normalizeH="0" baseline="0" noProof="0" dirty="0" smtClean="0">
                <a:ln>
                  <a:noFill/>
                </a:ln>
                <a:solidFill>
                  <a:schemeClr val="tx1"/>
                </a:solidFill>
                <a:effectLst/>
                <a:uLnTx/>
                <a:uFillTx/>
                <a:latin typeface="+mj-lt"/>
                <a:ea typeface="+mj-ea"/>
                <a:cs typeface="+mj-cs"/>
              </a:rPr>
            </a:br>
            <a:endParaRPr kumimoji="0" lang="es-VE" sz="2400" b="0" i="0" u="none" strike="noStrike" kern="1200" cap="none" spc="0" normalizeH="0" baseline="0" noProof="0" dirty="0">
              <a:ln>
                <a:noFill/>
              </a:ln>
              <a:solidFill>
                <a:schemeClr val="tx1"/>
              </a:solidFill>
              <a:effectLst/>
              <a:uLnTx/>
              <a:uFillTx/>
              <a:latin typeface="+mj-lt"/>
              <a:ea typeface="+mj-ea"/>
              <a:cs typeface="+mj-cs"/>
            </a:endParaRPr>
          </a:p>
        </p:txBody>
      </p:sp>
      <p:sp>
        <p:nvSpPr>
          <p:cNvPr id="16" name="AutoShape 2" descr="gracias por su atencion">
            <a:extLst>
              <a:ext uri="{FF2B5EF4-FFF2-40B4-BE49-F238E27FC236}">
                <a16:creationId xmlns:a16="http://schemas.microsoft.com/office/drawing/2014/main" id="{00C7892D-D178-9FD6-4A6E-BCFD72FFC3B0}"/>
              </a:ext>
            </a:extLst>
          </p:cNvPr>
          <p:cNvSpPr>
            <a:spLocks noChangeAspect="1" noChangeArrowheads="1"/>
          </p:cNvSpPr>
          <p:nvPr/>
        </p:nvSpPr>
        <p:spPr bwMode="auto">
          <a:xfrm>
            <a:off x="155575" y="-144463"/>
            <a:ext cx="304800" cy="304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s-VE" altLang="es-VE" dirty="0">
              <a:latin typeface="Lucida Sans Unicode" panose="020B0602030504020204" pitchFamily="34" charset="0"/>
            </a:endParaRPr>
          </a:p>
        </p:txBody>
      </p:sp>
      <p:sp>
        <p:nvSpPr>
          <p:cNvPr id="17" name="10 Rectángulo redondeado">
            <a:extLst>
              <a:ext uri="{FF2B5EF4-FFF2-40B4-BE49-F238E27FC236}">
                <a16:creationId xmlns:a16="http://schemas.microsoft.com/office/drawing/2014/main" id="{31A6A9AB-E304-B7C2-8AA6-BA563791FB7D}"/>
              </a:ext>
            </a:extLst>
          </p:cNvPr>
          <p:cNvSpPr/>
          <p:nvPr/>
        </p:nvSpPr>
        <p:spPr>
          <a:xfrm>
            <a:off x="1214437" y="2159104"/>
            <a:ext cx="6715125" cy="2724323"/>
          </a:xfrm>
          <a:prstGeom prst="roundRect">
            <a:avLst/>
          </a:prstGeom>
          <a:noFill/>
          <a:ln w="38100">
            <a:solidFill>
              <a:srgbClr val="FF81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VE" sz="6000" b="1" dirty="0">
                <a:solidFill>
                  <a:srgbClr val="005B9D"/>
                </a:solidFill>
              </a:rPr>
              <a:t>GRACIAS POR SU ATENCIÓN</a:t>
            </a:r>
          </a:p>
        </p:txBody>
      </p:sp>
    </p:spTree>
    <p:extLst>
      <p:ext uri="{BB962C8B-B14F-4D97-AF65-F5344CB8AC3E}">
        <p14:creationId xmlns:p14="http://schemas.microsoft.com/office/powerpoint/2010/main" val="3418551830"/>
      </p:ext>
    </p:extLst>
  </p:cSld>
  <p:clrMapOvr>
    <a:masterClrMapping/>
  </p:clrMapOvr>
</p:sld>
</file>

<file path=ppt/theme/theme1.xml><?xml version="1.0" encoding="utf-8"?>
<a:theme xmlns:a="http://schemas.openxmlformats.org/drawingml/2006/main" name="PLANTILLA PRESENTACIO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807</TotalTime>
  <Words>2864</Words>
  <Application>Microsoft Office PowerPoint</Application>
  <PresentationFormat>Presentación en pantalla (4:3)</PresentationFormat>
  <Paragraphs>257</Paragraphs>
  <Slides>29</Slides>
  <Notes>0</Notes>
  <HiddenSlides>0</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29</vt:i4>
      </vt:variant>
    </vt:vector>
  </HeadingPairs>
  <TitlesOfParts>
    <vt:vector size="37" baseType="lpstr">
      <vt:lpstr>Agency FB</vt:lpstr>
      <vt:lpstr>Arial</vt:lpstr>
      <vt:lpstr>Calibri</vt:lpstr>
      <vt:lpstr>Calibri Light</vt:lpstr>
      <vt:lpstr>Constantia</vt:lpstr>
      <vt:lpstr>Lucida Sans Unicode</vt:lpstr>
      <vt:lpstr>Times New Roman</vt:lpstr>
      <vt:lpstr>PLANTILLA PRESENTACION</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Diapositiva 1</dc:title>
  <dc:creator>contablidad</dc:creator>
  <cp:lastModifiedBy>operador</cp:lastModifiedBy>
  <cp:revision>168</cp:revision>
  <dcterms:created xsi:type="dcterms:W3CDTF">2023-03-10T19:32:00Z</dcterms:created>
  <dcterms:modified xsi:type="dcterms:W3CDTF">2023-08-03T17:58:02Z</dcterms:modified>
</cp:coreProperties>
</file>